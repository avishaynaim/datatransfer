
<file path=[Content_Types].xml><?xml version="1.0" encoding="utf-8"?>
<Types xmlns="http://schemas.openxmlformats.org/package/2006/content-types">
  <Default ContentType="image/gif" Extension="gif"/>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356" r:id="rId105"/>
    <p:sldId id="357" r:id="rId106"/>
    <p:sldId id="358" r:id="rId107"/>
    <p:sldId id="359" r:id="rId108"/>
    <p:sldId id="360" r:id="rId109"/>
    <p:sldId id="361" r:id="rId110"/>
    <p:sldId id="362" r:id="rId111"/>
    <p:sldId id="363" r:id="rId112"/>
    <p:sldId id="364" r:id="rId113"/>
    <p:sldId id="365" r:id="rId114"/>
    <p:sldId id="366" r:id="rId115"/>
    <p:sldId id="367" r:id="rId116"/>
    <p:sldId id="368" r:id="rId117"/>
    <p:sldId id="369" r:id="rId118"/>
    <p:sldId id="370" r:id="rId119"/>
    <p:sldId id="371" r:id="rId120"/>
    <p:sldId id="372" r:id="rId121"/>
    <p:sldId id="373" r:id="rId122"/>
    <p:sldId id="374" r:id="rId123"/>
    <p:sldId id="375" r:id="rId124"/>
    <p:sldId id="376" r:id="rId125"/>
    <p:sldId id="377" r:id="rId126"/>
    <p:sldId id="378" r:id="rId127"/>
    <p:sldId id="379" r:id="rId128"/>
    <p:sldId id="380" r:id="rId129"/>
    <p:sldId id="381" r:id="rId130"/>
    <p:sldId id="382" r:id="rId131"/>
    <p:sldId id="383" r:id="rId132"/>
    <p:sldId id="384" r:id="rId133"/>
    <p:sldId id="385" r:id="rId134"/>
    <p:sldId id="386" r:id="rId135"/>
    <p:sldId id="387" r:id="rId136"/>
    <p:sldId id="388" r:id="rId137"/>
    <p:sldId id="389" r:id="rId138"/>
    <p:sldId id="390" r:id="rId139"/>
    <p:sldId id="391" r:id="rId140"/>
    <p:sldId id="392" r:id="rId141"/>
    <p:sldId id="393" r:id="rId142"/>
    <p:sldId id="394" r:id="rId143"/>
    <p:sldId id="395" r:id="rId144"/>
    <p:sldId id="396" r:id="rId145"/>
    <p:sldId id="397" r:id="rId146"/>
    <p:sldId id="398" r:id="rId147"/>
    <p:sldId id="399" r:id="rId148"/>
  </p:sldIdLst>
  <p:sldSz cy="5143500" cx="9144000"/>
  <p:notesSz cx="5143500" cy="9144000"/>
  <p:defaultTextStyle>
    <a:defPPr lvl="0"/>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9" Type="http://schemas.openxmlformats.org/officeDocument/2006/relationships/slide" Target="slides/slide105.xml"/><Relationship Id="rId108" Type="http://schemas.openxmlformats.org/officeDocument/2006/relationships/slide" Target="slides/slide104.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26" Type="http://schemas.openxmlformats.org/officeDocument/2006/relationships/slide" Target="slides/slide22.xml"/><Relationship Id="rId121" Type="http://schemas.openxmlformats.org/officeDocument/2006/relationships/slide" Target="slides/slide117.xml"/><Relationship Id="rId25" Type="http://schemas.openxmlformats.org/officeDocument/2006/relationships/slide" Target="slides/slide21.xml"/><Relationship Id="rId120" Type="http://schemas.openxmlformats.org/officeDocument/2006/relationships/slide" Target="slides/slide116.xml"/><Relationship Id="rId28" Type="http://schemas.openxmlformats.org/officeDocument/2006/relationships/slide" Target="slides/slide24.xml"/><Relationship Id="rId27" Type="http://schemas.openxmlformats.org/officeDocument/2006/relationships/slide" Target="slides/slide23.xml"/><Relationship Id="rId125" Type="http://schemas.openxmlformats.org/officeDocument/2006/relationships/slide" Target="slides/slide121.xml"/><Relationship Id="rId29" Type="http://schemas.openxmlformats.org/officeDocument/2006/relationships/slide" Target="slides/slide25.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95" Type="http://schemas.openxmlformats.org/officeDocument/2006/relationships/slide" Target="slides/slide91.xml"/><Relationship Id="rId94" Type="http://schemas.openxmlformats.org/officeDocument/2006/relationships/slide" Target="slides/slide90.xml"/><Relationship Id="rId97" Type="http://schemas.openxmlformats.org/officeDocument/2006/relationships/slide" Target="slides/slide93.xml"/><Relationship Id="rId96" Type="http://schemas.openxmlformats.org/officeDocument/2006/relationships/slide" Target="slides/slide92.xml"/><Relationship Id="rId11" Type="http://schemas.openxmlformats.org/officeDocument/2006/relationships/slide" Target="slides/slide7.xml"/><Relationship Id="rId99" Type="http://schemas.openxmlformats.org/officeDocument/2006/relationships/slide" Target="slides/slide95.xml"/><Relationship Id="rId10" Type="http://schemas.openxmlformats.org/officeDocument/2006/relationships/slide" Target="slides/slide6.xml"/><Relationship Id="rId98" Type="http://schemas.openxmlformats.org/officeDocument/2006/relationships/slide" Target="slides/slide94.xml"/><Relationship Id="rId13" Type="http://schemas.openxmlformats.org/officeDocument/2006/relationships/slide" Target="slides/slide9.xml"/><Relationship Id="rId12" Type="http://schemas.openxmlformats.org/officeDocument/2006/relationships/slide" Target="slides/slide8.xml"/><Relationship Id="rId91" Type="http://schemas.openxmlformats.org/officeDocument/2006/relationships/slide" Target="slides/slide87.xml"/><Relationship Id="rId90" Type="http://schemas.openxmlformats.org/officeDocument/2006/relationships/slide" Target="slides/slide86.xml"/><Relationship Id="rId93" Type="http://schemas.openxmlformats.org/officeDocument/2006/relationships/slide" Target="slides/slide89.xml"/><Relationship Id="rId92" Type="http://schemas.openxmlformats.org/officeDocument/2006/relationships/slide" Target="slides/slide88.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9" Type="http://schemas.openxmlformats.org/officeDocument/2006/relationships/slide" Target="slides/slide115.xml"/><Relationship Id="rId15" Type="http://schemas.openxmlformats.org/officeDocument/2006/relationships/slide" Target="slides/slide11.xml"/><Relationship Id="rId110" Type="http://schemas.openxmlformats.org/officeDocument/2006/relationships/slide" Target="slides/slide106.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14" Type="http://schemas.openxmlformats.org/officeDocument/2006/relationships/slide" Target="slides/slide110.xml"/><Relationship Id="rId18" Type="http://schemas.openxmlformats.org/officeDocument/2006/relationships/slide" Target="slides/slide14.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84" Type="http://schemas.openxmlformats.org/officeDocument/2006/relationships/slide" Target="slides/slide80.xml"/><Relationship Id="rId83" Type="http://schemas.openxmlformats.org/officeDocument/2006/relationships/slide" Target="slides/slide79.xml"/><Relationship Id="rId86" Type="http://schemas.openxmlformats.org/officeDocument/2006/relationships/slide" Target="slides/slide82.xml"/><Relationship Id="rId85" Type="http://schemas.openxmlformats.org/officeDocument/2006/relationships/slide" Target="slides/slide81.xml"/><Relationship Id="rId88" Type="http://schemas.openxmlformats.org/officeDocument/2006/relationships/slide" Target="slides/slide84.xml"/><Relationship Id="rId87" Type="http://schemas.openxmlformats.org/officeDocument/2006/relationships/slide" Target="slides/slide83.xml"/><Relationship Id="rId89" Type="http://schemas.openxmlformats.org/officeDocument/2006/relationships/slide" Target="slides/slide85.xml"/><Relationship Id="rId80" Type="http://schemas.openxmlformats.org/officeDocument/2006/relationships/slide" Target="slides/slide76.xml"/><Relationship Id="rId82" Type="http://schemas.openxmlformats.org/officeDocument/2006/relationships/slide" Target="slides/slide78.xml"/><Relationship Id="rId81" Type="http://schemas.openxmlformats.org/officeDocument/2006/relationships/slide" Target="slides/slide77.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148" Type="http://schemas.openxmlformats.org/officeDocument/2006/relationships/slide" Target="slides/slide144.xml"/><Relationship Id="rId9" Type="http://schemas.openxmlformats.org/officeDocument/2006/relationships/slide" Target="slides/slide5.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5" Type="http://schemas.openxmlformats.org/officeDocument/2006/relationships/slide" Target="slides/slide1.xml"/><Relationship Id="rId147" Type="http://schemas.openxmlformats.org/officeDocument/2006/relationships/slide" Target="slides/slide143.xml"/><Relationship Id="rId6" Type="http://schemas.openxmlformats.org/officeDocument/2006/relationships/slide" Target="slides/slide2.xml"/><Relationship Id="rId146" Type="http://schemas.openxmlformats.org/officeDocument/2006/relationships/slide" Target="slides/slide142.xml"/><Relationship Id="rId7" Type="http://schemas.openxmlformats.org/officeDocument/2006/relationships/slide" Target="slides/slide3.xml"/><Relationship Id="rId145" Type="http://schemas.openxmlformats.org/officeDocument/2006/relationships/slide" Target="slides/slide141.xml"/><Relationship Id="rId8" Type="http://schemas.openxmlformats.org/officeDocument/2006/relationships/slide" Target="slides/slide4.xml"/><Relationship Id="rId144" Type="http://schemas.openxmlformats.org/officeDocument/2006/relationships/slide" Target="slides/slide140.xml"/><Relationship Id="rId73" Type="http://schemas.openxmlformats.org/officeDocument/2006/relationships/slide" Target="slides/slide69.xml"/><Relationship Id="rId72" Type="http://schemas.openxmlformats.org/officeDocument/2006/relationships/slide" Target="slides/slide68.xml"/><Relationship Id="rId75" Type="http://schemas.openxmlformats.org/officeDocument/2006/relationships/slide" Target="slides/slide71.xml"/><Relationship Id="rId74" Type="http://schemas.openxmlformats.org/officeDocument/2006/relationships/slide" Target="slides/slide70.xml"/><Relationship Id="rId77" Type="http://schemas.openxmlformats.org/officeDocument/2006/relationships/slide" Target="slides/slide73.xml"/><Relationship Id="rId76" Type="http://schemas.openxmlformats.org/officeDocument/2006/relationships/slide" Target="slides/slide72.xml"/><Relationship Id="rId79" Type="http://schemas.openxmlformats.org/officeDocument/2006/relationships/slide" Target="slides/slide75.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62" Type="http://schemas.openxmlformats.org/officeDocument/2006/relationships/slide" Target="slides/slide58.xml"/><Relationship Id="rId61" Type="http://schemas.openxmlformats.org/officeDocument/2006/relationships/slide" Target="slides/slide57.xml"/><Relationship Id="rId64" Type="http://schemas.openxmlformats.org/officeDocument/2006/relationships/slide" Target="slides/slide60.xml"/><Relationship Id="rId63" Type="http://schemas.openxmlformats.org/officeDocument/2006/relationships/slide" Target="slides/slide59.xml"/><Relationship Id="rId66" Type="http://schemas.openxmlformats.org/officeDocument/2006/relationships/slide" Target="slides/slide62.xml"/><Relationship Id="rId65" Type="http://schemas.openxmlformats.org/officeDocument/2006/relationships/slide" Target="slides/slide61.xml"/><Relationship Id="rId68" Type="http://schemas.openxmlformats.org/officeDocument/2006/relationships/slide" Target="slides/slide64.xml"/><Relationship Id="rId67" Type="http://schemas.openxmlformats.org/officeDocument/2006/relationships/slide" Target="slides/slide63.xml"/><Relationship Id="rId60" Type="http://schemas.openxmlformats.org/officeDocument/2006/relationships/slide" Target="slides/slide56.xml"/><Relationship Id="rId69" Type="http://schemas.openxmlformats.org/officeDocument/2006/relationships/slide" Target="slides/slide6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55" Type="http://schemas.openxmlformats.org/officeDocument/2006/relationships/slide" Target="slides/slide51.xml"/><Relationship Id="rId54" Type="http://schemas.openxmlformats.org/officeDocument/2006/relationships/slide" Target="slides/slide50.xml"/><Relationship Id="rId57" Type="http://schemas.openxmlformats.org/officeDocument/2006/relationships/slide" Target="slides/slide53.xml"/><Relationship Id="rId56" Type="http://schemas.openxmlformats.org/officeDocument/2006/relationships/slide" Target="slides/slide52.xml"/><Relationship Id="rId59" Type="http://schemas.openxmlformats.org/officeDocument/2006/relationships/slide" Target="slides/slide55.xml"/><Relationship Id="rId58" Type="http://schemas.openxmlformats.org/officeDocument/2006/relationships/slide" Target="slides/slide54.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Goal for the next hour: leave with a short list of habits that stop the most common attacks on our stack: Angular front end, .NET Core API, Oracle, SQL Server and SQLite. This is based on the OWASP Top 10:2025, the current edition. Every example is shown in Angular and in .NET Core. Meet Shieldy, our mascot: whenever you see him, the code is fixed. The purple hacker and the red bug show up when the code is vulnerable. Ask for questions at any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this as a story and click once per step. A citizen portal hides the admin menu in Angular. The attacker (the purple hacker) opens the browser dev tools, replays the request and changes the record ID. The .NET API never checked who owns the record, so it returns someone else's data. Nothing was hacked in the usual sense: the server simply trusted the client. Ask the room: where would you have caught this? Then promise to come back to it in A01.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One: architecture and trust boundaries, about 6 minutes. Two: all ten OWASP Top 10:2025 categories explained, one cartoon story and one fix each, about 20 minutes. Three: why we go deeper on five of them, because of our locked-down environment, about 3 minutes. Four: two code examples for each of those five, on Angular, .NET, Oracle, SQL Server, IIS and the update scripts, about 20 minutes. Five: checklist and questions. After that the optional Quiz Arena with code questions at ten levels for every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to build the picture from left to right. The browser runs Angular and is fully under the user's control. A reverse proxy terminates HTTPS. The .NET Core minimal API holds all business rules. Data lives in Oracle, sometimes SQL Server, and SQLite for local or embedded cases. The last click shows what people forget: where packages come from, where configuration and secrets live, where logs go, and how updates arrive on removable media in an air-gapped network. Each of these is an attack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message of the talk. Angular is not the security boundary. Anything running in the browser can be bypassed, edited or replayed, so route guards, hidden buttons and client-side validation are user experience, not security. Click once: the .NET Core API is the boundary, and Shieldy guards it. Click again for the things an attacker or a careless insider can influence: requests, tokens and headers, uploaded files, packages, configuration and update media. Every one of them needs a server-side or pipeline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ten categories of the 2025 edition. Please verify the list on owasp.org before presenting, since categories were reordered and renamed compared with 2021. Two are new: A03 Software Supply Chain Failures, which broadens the old vulnerable components item, and A10 Mishandling of Exceptional Conditions. Next we explain all ten, one story and one fix each. Then we say why some of them matter more in our locked-down environment. The Top 10 is an awareness list. For verification use OWASP ASVS 5.0, which is on the checklist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the attacker only changes an ID. Angular hid a button, the API trusted the client. Click through the four bubbles. Then show the defense: deny by default, ownership check on the server, guards are only UX. Ask the room where in their own code the API trusts the screen. Click once per speech bubble. The purple hacker walks in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the attacker only changes an ID. Angular hid a button, the API trusted the client. Click through the four bubbles. Then show the defense: deny by default, ownership check on the server, guards are only UX. Ask the room where in their own code the API trusts the screen. Shieldy blocks the hacker. Click to bring in the three rules, then the two stack-specific tips, then the takeaway.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a misconfigured system gives away everything without any hacking. Walk through the bubbles, then the three rules. Mention IIS specifically: environment variable, custom errors, removing the Server header, and that source maps should not ship. Click once per speech bubble. The purple hacker walks in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a misconfigured system gives away everything without any hacking. Walk through the bubbles, then the three rules. Mention IIS specifically: environment variable, custom errors, removing the Server header, and that source maps should not ship. Shieldy blocks the hacker. Click to bring in the three rules, then the two stack-specific tips, then the takeaway.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typosquatting plus install scripts. In an air-gapped network the risk moves to the moment packages are imported, so the approval step for the internal feed is the key control. Mention lockfiles and SBOM. Click once per speech bubble. The purple hacker walks in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typosquatting plus install scripts. In an air-gapped network the risk moves to the moment packages are imported, so the approval step for the internal feed is the key control. Mention lockfiles and SBOM. Shieldy blocks the hacker. Click to bring in the three rules, then the two stack-specific tips, then the takeaway.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stolen backup, weak hash. Emphasize that the question is not whether the database leaks but what happens when it does. Explain slow salted hashes and why a key in JavaScript is not a secret. Click once per speech bubble. The purple hacker walks in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stolen backup, weak hash. Emphasize that the question is not whether the database leaks but what happens when it does. Explain slow salted hashes and why a key in JavaScript is not a secret. Shieldy blocks the hacker. Click to bring in the three rules, then the two stack-specific tips, then the takeaway.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classic SQL injection. Then the defense: bind variables for every database in our stack. Remind them that a bind variable cannot replace a table or column name, so use an allow-list there. Angular escapes by default, the danger is bypassSecurityTrust. Click once per speech bubble. The purple hacker walks in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classic SQL injection. Then the defense: bind variables for every database in our stack. Remind them that a bind variable cannot replace a table or column name, so use an allow-list there. Angular escapes by default, the danger is bypassSecurityTrust. Shieldy blocks the hacker. Click to bring in the three rules, then the two stack-specific tips, then the takeaway.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nothing is technically broken, the workflow itself is flawed. This is the difference between a bug and a design flaw. Introduce threat modelling and abuse cases. Ask the room for a workflow in their own system where one person can do both steps. Click once per speech bubble. The purple hacker walks in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nothing is technically broken, the workflow itself is flawed. This is the difference between a bug and a design flaw. Introduce threat modelling and abuse cases. Ask the room for a workflow in their own system where one person can do both steps. Shieldy blocks the hacker. Click to bring in the three rules, then the two stack-specific tips, then the takeaway.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user enumeration, brute force and token theft. Defense: generic errors, lockout, full JWT validation, HttpOnly cookies. If the environment uses an internal identity provider, mention validating its issuer and audience. Click once per speech bubble. The purple hacker walks in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user enumeration, brute force and token theft. Defense: generic errors, lockout, full JWT validation, HttpOnly cookies. If the environment uses an internal identity provider, mention validating its issuer and audience. Shieldy blocks the hacker. Click to bring in the three rules, then the two stack-specific tips, then the takeaway.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tampered update and unsafe deserialization. In an offline network updates arrive by media or shared folders, so signature checks matter a lot. Mention the dangerous .NET settings by name. Click once per speech bubble. The purple hacker walks in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tampered update and unsafe deserialization. In an offline network updates arrive by media or shared folders, so signature checks matter a lot. Mention the dangerous .NET settings by name. Shieldy blocks the hacker. Click to bring in the three rules, then the two stack-specific tips, then the takeaway.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an attack nobody sees. Cover what to log, what never to log, and that logging without alerts and without protection of the logs does not help. Ask who gets paged when 5,000 logins fail in an hour. Click once per speech bubble. The purple hacker walks in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an attack nobody sees. Cover what to log, what never to log, and that logging without alerts and without protection of the logs does not help. Ask who gets paged when 5,000 logins fail in an hour. Shieldy blocks the hacker. Click to bring in the three rules, then the two stack-specific tips, then the takeaway.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error handling that leaks information and fails open. This is the newest category in the 2025 list. Show fail open versus fail closed, and the global exception handler. Test the negative paths on purpose. Click once per speech bubble. The purple hacker walks in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error handling that leaks information and fails open. This is the newest category in the 2025 list. Show fail open versus fail closed, and the global exception handler. Test the negative paths on purpose. Shieldy blocks the hacker. Click to bring in the three rules, then the two stack-specific tips, then the takeaway.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this down for the room. We just explained all ten categories. They all matter, but our environment shifts the weight. Click through four facts. One: we are air-gapped, so nobody attacks over the internet, but packages, updates and data still arrive by media and that entry is the weak point. Two: internal does not mean trusted, there are many users and roles, and a curious or careless insider is a real threat. Three: we run our own servers, IIS, Oracle and SQL Server, and nobody hardens them for us. Four: patches are slow and there is no cloud monitoring, so our own logs and alerts are all we have. On the next slide we pick the five topics that these facts point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reason aloud and tie it to the previous slide. A01: many internal users, the API is the only gate, and it is number one on the list. A05: Oracle and SQL Server sit right behind the API. A02: we run our own IIS and servers. A03: with no internet, every package enters by hand through the internal feed. A08: updates cross the air gap on media, so a hash or signature is the only proof. The other five categories were explained in the previous part and are in the checklist and in the Quiz Arena. If your environment differs, change this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opening story, now in both layers. Click 1 shows the vulnerable code and the hacker. In Angular the route guard only hides the page; the call behind it is unprotected. In .NET the endpoint trusts whatever ID arrives. Click 2 shows the fix: Shieldy appears. Angular still helps usability and handles a 403 or 404 gracefully, but the .NET endpoint requires authentication and checks that the record belongs to the caller. Deny by default and return NotFound rather than Forbidden so IDs cannot be probed. DEMO 1: play the recording of a changed ID being rejected by the API (30 to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example for A01, this time at the database. The vulnerable query returns whatever id arrives. The fixed query adds the owner so someone else's id returns no row, and the API answers 404. The same pattern works in SQL Server and SQLite with @user_id. Ask who in the room has queries without an owner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Injection is not only SQL. In .NET string concatenation lets input become SQL; the fix is bind variables, :name in Oracle and @name in SQL Server and SQLite. On the Angular side the injection cousin is cross-site scripting: Angular escapes by default, and bypassSecurityTrustHtml switches that protection off. The same applies to raw SQL helpers such as FromSqlRaw, and to PL/SQL and dynamic SQL. DEMO 2: play the recording of an injection attempt being blocked by parameterization.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example for A05. Dynamic SQL in PL/SQL is injectable exactly like C# string concatenation. Values go in as bind variables with USING. A table or column name cannot be bound, so validate it, for example with DBMS_ASSERT or an allow-list, before concatenating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misconfigurations are development conveniences that reach production. Angular: secrets and debug flags in environment files end up in a bundle every user can read, and source maps expose your code. .NET: Swagger exposed, developer exception pages with stack traces, permissive CORS, default credentials, debug logging, missing security headers. Keep one hardened production configuration, review it as code, and check it in the pipeline. DEMO 3: play the recording comparing the vulnerable and hardened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example for A02, on IIS. The vulnerable web.config runs the app in Development, which enables developer pages, and shows detailed errors to remote users. The fixed one sets Production, custom errors, and removes the Server header. Check these values in the deployment pipeline, not by hand. Verify the exact attribute names against your IIS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 air-gapped network packages arrive through a mirror or on media, which makes provenance the key question: who approved this package and is it exactly the version we tested? Angular side: no latest and no loose ranges, exact versions, an internal registry in .npmrc and npm ci in the pipeline. .NET side: no floating versions, a lock file and dotnet restore --locked-mode, an internal feed as the only source. Also hash verification, vulnerability scanning on the online side before import, and an SBOM. Typosquatting and compromised maintainers are real, so review new dependencies, not only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example for A03. The vulnerable config pulls from the public feed, which is useless offline and risky online. The fixed config clears all sources, uses only the internal feed, and maps every package pattern to it, so a package with the same name cannot come from somewhere else. Combine with locked restore.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Integrity is about trusting what you run. In Angular, never load scripts from places you cannot verify; use the internal feed, and turn on subresource integrity where external files are unavoidable. In .NET, deserializing untrusted data into rich types, for example with Newtonsoft TypeNameHandling.All or BinaryFormatter, can let crafted data run attacker code. Deserialize into a fixed type and verify signatures before installing anything. When the update is carried across the air gap on a USB drive, the signature and hash are the only proof of origin.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example for A08. In an air-gapped network the update arrives on media. The vulnerable script installs whatever is on the drive. The fixed script compares the SHA256 hash with a value delivered through a separate trusted channel and stops on a mismatch. A signature is stronger than a hash, use it where your tooling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rules to apply tomorrow. They appear one by one on their own. For a deeper, testable version use OWASP ASVS 5.0, which turns these ideas into verifiable requirements. Suggest printing the checklist and attaching it to code reviews and pull request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 message: Angular is not the security boundary, the API is. Point people to the official OWASP Top 10:2025, ASVS 5.0 for verification, and the OWASP Cheat Sheet Series for concrete guidance, plus your internal secure-coding standard. Then open the floor for questions. If there is time, jump to the Quiz Arena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game for the end of the session or a follow-up workshop. Each of the ten Top 10 topics has ten code questions, from Rookie to Legend. Levels 1 to 5 are for everyone. Levels 6 to 10 are written for strong programmers: subtle bugs, real attack techniques, races and design flaws. Pick a topic, show the code, give the room a minute, then click to reveal the answer. Split the room into teams and award points equal to the level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room answer first, then click to reveal. The answer: SQL injection through the q parameter, because input is concatenated into the query. Also broken access control: the query returns all documents, not only the caller's. The [Authorize] attribute only proves the user is logged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Angular quiz. Answer: bypassSecurityTrustHtml with user-controlled input is XSS (A05), and a token in localStorage is readable by that script (A07). Together they let an attacker steal a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Configuration quiz. Answer: hard-coded password in source control (A04, A02), the sys account violates least privilege (A01, A06), and Debug logging in production can leak sensitive data (A09, A02). Also restrict AllowedHosts.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Only the button is hidden. *ngIf is UX, not security. Anyone can call DELETE /api/users/{id} directly. The .NET endpoint must require the Admin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No authorization at all. Anyone, even anonymous, can delete users. Add .RequireAuthorization("AdminOnly") and return NotFound when the user does not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Logged in is not enough (IDOR). Any user can read any order by changing the ID. Filter by owner: o.Id == id &amp;&amp; o.OwnerId == UserId, and return NotFound if there is no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good about this code, and is anything still missing? Give them a minute, then click. Answer: Deny by default. The fallback policy protects every endpoint unless it is marked [AllowAnonymous]. Still add resource checks for per-record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Role only, not the resource. Any manager reads every order, and Forbid reveals that the order exists. Use IAuthorizationService.AuthorizeAsync(User, order, "SameDepartment") and return NotFound on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The tenant filter is switched off. IgnoreQueryFilters removes the tenant rule, so the count spans every tenant. Add the tenant predicate explicitly, or avoid the call, and review every IgnoreQueryFilters in code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Mass assignment: the client sets its own role. Sending Role=Admin in the body makes the caller an admin. Bind a DTO with only the allowed fields (Name) and map them explicitly. Role changes belong to an admin-only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Path traversal. Path.Combine returns the second path if it is rooted, and ".." escapes the folder. Use Path.GetFullPath and check it starts with the base folder plus a separator, or map IDs to files in a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good about this code, and is anything still missing? Give them a minute, then click. Answer: Good: ownership is inside the atomic UPDATE. No check-then-act race, and 404 hides existence. Still missing: ExecuteUpdate skips change tracking, so SaveChanges interceptors (audit fields, validation) do not run. Add a concurrency token and explicit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Stale role: the token is a snapshot. The demoted admin keeps access until the token expires at up to 8 hours. Use short lifetimes plus a refresh, and re-check roles or a security stamp on sensitive actions. Allow revocation.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A secret in the browser bundle. Everything in environment files ships to every user. Remove dbPassword: the database password lives only on the server, in a protected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Development mode on the production server. It turns on the developer exception page and verbose errors. Set ASPNETCORE_ENVIRONMENT to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Any website may call the API. Allow only known origins, for example WithOrigins("https://portal.gov.local"), and only the methods and headers you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good about this code, and is anything still missing? Give them a minute, then click. Answer: Good hardening. It removes the version-leaking header and adds nosniff and HSTS. Still missing: Content-Security-Policy and frame-ancestors.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Source maps in production. Users can read your original TypeScript and look for weak spots. Set sourceMap to false (or hidden) and optimization to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Every origin is allowed, with cookies. SetIsOriginAllowed(_ =&gt; true) reflects any Origin and AllowCredentials sends cookies, so any website can call the API as the logged-in user. Use WithOrigins(explicit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Anyone can spoof the client IP. Clearing the trusted proxies makes the app believe any X-Forwarded-For header. Attackers bypass IP allow-lists and rate limits and poison logs. Add only your reverse proxy to KnownProxies.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Request filtering is weakened three ways. Double escaping lets encoded tricks pass URL rules, removing the hidden bin segment can expose DLLs, and allowUnlisted opens every extension. Keep the defaults and add deny rules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The CSP does not stop XSS. unsafe-inline and unsafe-eval in script-src let injected scripts run. Use nonces or hashes (Angular supports ngCspNonce), no eval, and avoid whole-host allowances that can serve gadgets.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Encryption is optional and weak. "accepted" encrypts only if the client asks, so a downgrade or a misconfigured client sends clear text. RC4 and MD5 are obsolete. Use REQUIRED, AES256 and SHA256 or later, or TLS.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Unpinned dependencies. Builds differ between machines and a bad release is pulled automatically. Pin exact versions and commit package-lock.json.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good about this code, and is anything still missing? Give them a minute, then click. Answer: Repeatable and cautious. npm ci installs exactly the lockfile, locked-mode does the same for NuGet, and --ignore-scripts blocks malicious install scripts. Run the audit on the online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Public feed on an air-gapped build. Use only the internal mirror: add &lt;clear /&gt; and then the internal source. Packages are reviewed before they are imported.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Floating versions. Any new release, good or malicious, is pulled on the next restore. Pin exact versions and enable RestorePackagesWithLockFile.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good about this code, and is anything still missing? Give them a minute, then click. Answer: Internal feed only. &lt;clear /&gt; removes the public sources, and source mapping stops dependency confusion if more feeds are added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Dependency confusion. With two sources NuGet may pick the best version from either. An attacker publishes Corp.Billing.Core 99.0 on the public feed. Use packageSourceMapping so the internal prefix resolves only internally.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Lockfile poisoning. The version looks unchanged, but resolved points to a different host with its own integrity hash. Reviewers skip lockfile diffs. Enforce allowed hosts with lockfile-lint, add code owners and run npm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good about this code, and is anything still missing? Give them a minute, then click. Answer: Good: locked graph and required signatures. Locked mode stops drift and require mode checks signatures against trusted signers. Still missing: a signature proves who published a package, not that it is safe. Scan, review new dependencies, build in a sandbox.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Pinned, locked, and still runs its code. Packages can run code at build time through MSBuild targets, analyzers and source generators, on your build agent. Pinning does not help if the pinned package is hostile. Review such packages and build with least privilege.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A moving git branch is a dependency. It bypasses the internal registry and its scanning, and each install can fetch different code from outside. Publish an exact version to the internal registry, and reject git and URL dependencies in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MD5 for passwords. It is fast and unsalted, so it is cracked in seconds. Use PasswordHasher&lt;T&gt; (PBKDF2), bcrypt or Argon2.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The key is public. Anyone can read SECRET in the bundle. Use HTTPS to protect data in transit and encrypt or hash on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Certificate validation turned off. A man-in-the-middle is accepted without a warning. Install the internal CA on the machine and keep normal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good about this code, and is anything still missing? Give them a minute, then click. Answer: Salted, slow hashing. PasswordHasher uses PBKDF2 with a random salt. Check the result: SuccessRehashNeeded means the hash should be upgraded.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Fixed IV and no integrity check. An all-zero IV repeats patterns, and CBC does not detect tampering. Use AesGcm with a new random nonce for every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Timing leak in the comparison. SequenceEqual stops at the first different byte, so response time reveals how many bytes match and the MAC can be guessed byte by byte. Use CryptographicOperations.FixedTimeEquals.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The same nonce is used every time. Nonce reuse breaks GCM completely: XOR of two ciphertexts leaks plaintext and the authentication key can be recovered, enabling forgeries. Use a fresh unique 12-byte nonce per message and store it with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The kid header is attacker input. It is read before the signature is verified, so it is both SQL injection and a way to pick a key the attacker controls. Look kid up in a fixed in-memory allow-list of trusted keys, never in a query built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ECB mode, and the key sits next to the data. ECB gives equal ciphertext for equal values, which leaks patterns. A database dump contains both key and data. Use TDE with a wallet or HSM, or CBC with a random IV plus an HMAC, and keep keys outside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Old weak hashes never get upgraded. SuccessRehashNeeded counts as success but the hash is not replaced, so weak legacy hashes live on forever. On SuccessRehashNeeded save a new hash, and keep timing equal for unknown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SQL injection. Input becomes SQL: name = ' OR 1=1 -- returns every user. Use WHERE Name = @name and add a typed SqlParameter.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good about this code, and is anything still missing? Give them a minute, then click. Answer: Bind variable. The value is never part of the SQL text. BindByName = true makes named binds match by name instead of by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Sanitizer switched off (XSS). bypassSecurityTrustHtml lets script inside user text run. Remove it: Angular sanitizes [innerHTML] itself, or just use {{ text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Interpolation inside FromSqlRaw. The $"..." string is built before EF sees it, so nothing is parameterized. Use FromSqlInterpolated, or {0} placeholders with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Dynamic SQL built by concatenation. Pass the value as a bind: ... owner = :1 USING p_owner. For table or column names use DBMS_ASSERT or a fixed allow-list.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Bind variables cover values only. Column and direction are concatenated, so they are injectable (including blind attacks through CASE expressions). Map the sort field to an allow-list of column names and accept only ASC or DESC.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Second-order injection. The stored name was safe on the way in, but the job trusts the database. A name such as x'; DROP TABLE... runs later. Use sp_executesql with parameters, and treat stored data as untrusted.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Expression injection. Dynamic LINQ parses user text into code expressions. Attackers reach unintended members and methods and bypass filters, and some versions allowed code execution. Map allowed fields to typed expressions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Open redirect and DOM XSS. A crafted link with next=javascript:... runs a script, and next=https://evil.example redirects after a real login. Accept only relative paths (starts with one slash, not //) and use router.navigateByUrl.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Valid syntax is not permission. SIMPLE_SQL_NAME checks only the format, so the caller can name any table the owner can read, for example a salaries table. Use an allow-list, AUTHID CURRENT_USER, and treat validation as separate from authorization.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Any logged-in user can approve. That includes the requester. Enforce separation of duties on the server: Approver role and r.RequesterId != userId.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The client decides the price. A user can edit the total in the dev tools. The server must read the price from the database and compute the total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Weak design. A guessable 4-digit code with no expiry and no attempt limit can be brute-forced. Use RandomNumberGenerator, a longer one-time code, expiry and lockout.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good about this code, and is anything still missing? Give them a minute, then click. Answer: Separation of duties on the server. The requester cannot approve, only approvers can, and Approve records who did it. Also log the event for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Race condition. Two parallel requests both pass the check and overdraw the account. Use a rowversion concurrency token, a transaction, or an atomic UPDATE ... WHERE Balance &gt;= @amount.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Good randomness, weak design. No expiry, stored in clear text (a database read means account takeover), not single use, and not cancelled when the password changes. Store a hash, expire in minutes, use once, and rate limit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Negative quantity or price. Qty = -5 makes the total negative and increases the balance. Prices from the client are also untrusted. Validate Qty &gt; 0 on the server, read prices from the database, and use decimal with overflow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The security rule is a denial-of-service weapon. An attacker who knows the username locks out the on-duty officer or an admin at will. Prefer progressive delays, per-account plus per-IP throttling, step-up checks and alerts over long hard 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Host header poisoning. The attacker sends the reset request with Host: evil.example. The victim gets a genuine email whose link goes to the attacker, who captures the token. Use a configured base URL and restrict AllowedHosts.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The workflow exists only in the browser. Calling Pay directly skips Approval, and the amount comes from the client. Model the flow as a server-side state machine on the stored order, and verify the state and the amount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Token in localStorage. Any injected script can read it. Let the server set an HttpOnly, Secure, SameSite cookie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Different messages leak accounts. Attackers learn which usernames exist. Return one generic message such as "Invalid credentials", and add lockout or throttling.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Validation switched off. Expired tokens work forever, and tokens from other issuers or for other apps are accepted. Turn on issuer, audience and lifetime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good about this code, and is anything still missing? Give them a minute, then click. Answer: Cookie session, no token in JS. The browser sends the HttpOnly cookie, so scripts never see the token. Add CSRF protection (SameSite or an antiforgery token) on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Weak, eternal refresh token. A GUID is not a secure random value, and the token never expires. Use 32 random bytes, store a hash, rotate on every use and revoke on reuse.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Same message, different timing. For an unknown user no password hash is computed, so the answer arrives much faster. Attackers enumerate valid usernames by timing. Always run a hash check against a dummy hash, so both paths cost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HttpOnly does not stop CSRF. Scripts cannot read the cookie, but with SameSite=None other sites can still trigger authenticated requests. Use Lax or Strict, add an antiforgery token or Origin check, and keep the CORS list 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Confused deputy. Signature and issuer are fine, but a token issued for another application is accepted here. Require this API's audience and check scope or role claims, so each token works only where it was meant.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Race condition in rotation. Two parallel requests with one token both see Used = false and both receive valid pairs, so theft goes undetected. Flip the flag with an atomic UPDATE ... WHERE Used = 0, check one row changed, and revoke the whole family on reuse.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Prefix checks are not validation. https://app.corp.evil.com and https://app.corp@evil.com both pass, so the authorization code reaches the attacker. Compare against the exact registered URIs, and use state and PKCE.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Unverified external script. It fails offline, and a changed file would run inside your app. Host the library internally; if external, add integrity and crossorigin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The attacker chooses the types. Crafted JSON can create dangerous classes and run code. Deserialize into a fixed type and keep TypeNameHandling.None.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good about this code, and is anything still missing? Give them a minute, then click. Answer: Verifies before installing. It stops a damaged or swapped file. Better: also check a digital signature, and get the expected hash through a separate trusted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Unverified code in the pipeline. Piping a download into a shell runs whatever the server sends, and npm install is unpinned. Pin versions, verify checksums, use the internal mirror.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Runs whatever the manifest says. No signature check, and m.Path can point anywhere (path traversal). Verify a digital signature first and restrict paths to the install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Zip Slip. Entry names such as ..\..\inetpub\wwwroot\x.aspx write outside the target folder. Check that GetFullPath(dest) starts with the full target path plus a separator, and reject the whole archive if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Time-of-check to time-of-use. The file is read twice. On a shared folder it can be swapped between the check and the use. Parse exactly the bytes that were verified, and copy the file to a private location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Rollback and downgrade attack. An attacker replays an older, validly signed package that has a known vulnerability. Sign the metadata too (version, target, expiry) and refuse versions lower than the installed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Untrusted code with the signing key. Anyone who can open a pull request changes build.sh and exfiltrates the key, then signs malware. Run PR validation without secrets, and sign only in a protected release pipeline with approvals.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Prototype pollution. {"__proto__":{"isAdmin":true}} makes merge write into Object.prototype, so every object suddenly has isAdmin. Skip __proto__, constructor and prototype, use Map or Object.create(null), and validate against a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Password written to the log. Logs are widely readable and kept for years. Log only the user ID and the result, never 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good about this code, and is anything still missing? Give them a minute, then click. Answer: Structured security event. Who, what and where are recorded without secrets, and the fields can be searched and alerted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Interpolated log message. A value with new lines can forge fake log lines (log injection), and the message loses its structure. Use a template: "Search for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Failed logins leave no trace. A brute-force attack is invisible. Log each failure with user and IP, count them, and alert after a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The attacker can erase the evidence. Give the app INSERT only, with no UPDATE or DELETE, and ship the logs to a separate protected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Logs every secret, and buffers every body. The login request body with the password, tokens and ID numbers ends up in the log files. Large uploads are also read into memory. Log an allow-list of fields, redact the rest, and limit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Local time and unsynchronized clocks. DateTime.Now has no zone and shifts with daylight saving, and without NTP the clocks of offline servers drift. Incident timelines cannot be correlated. Log UTC and run an internal time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Log flooding. No rolling, size limit or retention. An attacker sending many requests fills the disk, which stops the app or the logging, or rotates evidence away. Use rolling files with limits, ship logs off the box, aggregate repeats and alert on disk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The audit can be switched off. db_owner can disable or drop the trigger silently, and triggers do not record reads. Use SQL Server Audit (server level) to a protected target, give the app least privilege and alert on DDL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The detection logic is blind. Behind a proxy, RemoteIpAddress is the proxy, so all users share one counter. A distributed attack, with few attempts per IP, never triggers it. Use trusted forwarded headers, per-account counters and a global failure-rate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Stack trace sent to the user. It reveals paths, classes and SQL. Return a generic ProblemDetails with a trace ID and log the exception on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Fails open. When the check breaks, access is granted. Fail closed: set allowed = false, log the error and return a generic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good about this code, and is anything still missing? Give them a minute, then click. Answer: Generic message plus trace ID. The user sees nothing sensitive and support can find the log entry. Log the details inside the handler.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Detailed errors for everyone. IIS shows paths and configuration to remote users. Use DetailedLocalOnly or Custom, with friendly error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Partial failure reported as success. Money is debited but never credited, and the user is told OK. Use one transaction, roll back on error and return a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Fire and forget. Exceptions in the task are never observed, the user is told it worked, the import may be half done, and the uploaded stream is disposed when the request ends. Use a background queue that saves the status and logs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Fail-open guard. When the check fails (network error, timeout, or an attacker blocking the call) the user gets access. On any error return of(false) and redirect to login. The API must still enforce access on every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Errors are swallowed. If the second update fails the caller thinks all is fine, and a later COMMIT can persist half a transfer. Use a SAVEPOINT, ROLLBACK, log SQLERRM with the backtrace, and re-raise with 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Regex denial of service (ReDoS). Nested quantifiers cause catastrophic backtracking, so a short crafted string uses all CPU for minutes. Set a match timeout, use RegexOptions.NonBacktracking (.NET 7+), and limit the input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is wrong with this code? Give them a minute, then click. Answer: The handler is in the wrong place. UseExceptionHandler catches only exceptions from components after it, so failures in earlier middleware leak default error pages. Put it first, and mark /error AllowAnonymous or the error page itself fails with 401.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5120640" cy="18288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3" name="Text 0"/>
          <p:cNvSpPr/>
          <p:nvPr>
            <p:ph idx="101" type="body" hasCustomPrompt="1"/>
          </p:nvPr>
        </p:nvSpPr>
        <p:spPr>
          <a:xfrm>
            <a:off x="548640" y="3200400"/>
            <a:ext cx="4937760" cy="822960"/>
          </a:xfrm>
          <a:prstGeom prst="rect">
            <a:avLst/>
          </a:prstGeom>
          <a:noFill/>
          <a:ln/>
        </p:spPr>
        <p:txBody>
          <a:bodyPr wrap="square" rtlCol="0"/>
          <a:lstStyle>
            <a:lvl1pPr algn="l" indent="0" marL="0">
              <a:buNone/>
              <a:defRPr lang="en-US" sz="1600" dirty="0">
                <a:solidFill>
                  <a:schemeClr val="tx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gif"/><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gif"/><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gif"/><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gif"/><Relationship Id="rId2" Type="http://schemas.openxmlformats.org/officeDocument/2006/relationships/image" Target="../media/image-7-2.gif"/><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gif"/><Relationship Id="rId2" Type="http://schemas.openxmlformats.org/officeDocument/2006/relationships/image" Target="../media/image-8-2.gif"/><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gif"/><Relationship Id="rId2" Type="http://schemas.openxmlformats.org/officeDocument/2006/relationships/image" Target="../media/image-9-2.gif"/><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gif"/><Relationship Id="rId2" Type="http://schemas.openxmlformats.org/officeDocument/2006/relationships/image" Target="../media/image-10-2.gif"/><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gif"/><Relationship Id="rId2" Type="http://schemas.openxmlformats.org/officeDocument/2006/relationships/image" Target="../media/image-11-2.gif"/><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gif"/><Relationship Id="rId2" Type="http://schemas.openxmlformats.org/officeDocument/2006/relationships/image" Target="../media/image-12-2.gif"/><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gif"/><Relationship Id="rId2" Type="http://schemas.openxmlformats.org/officeDocument/2006/relationships/image" Target="../media/image-13-2.gif"/><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gif"/><Relationship Id="rId2" Type="http://schemas.openxmlformats.org/officeDocument/2006/relationships/image" Target="../media/image-14-2.gif"/><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gif"/><Relationship Id="rId2" Type="http://schemas.openxmlformats.org/officeDocument/2006/relationships/image" Target="../media/image-15-2.gif"/><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gif"/><Relationship Id="rId2" Type="http://schemas.openxmlformats.org/officeDocument/2006/relationships/image" Target="../media/image-16-2.gif"/><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gif"/><Relationship Id="rId2" Type="http://schemas.openxmlformats.org/officeDocument/2006/relationships/image" Target="../media/image-17-2.gif"/><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image" Target="../media/image-18-2.gif"/><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image" Target="../media/image-19-2.gif"/><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gif"/><Relationship Id="rId2" Type="http://schemas.openxmlformats.org/officeDocument/2006/relationships/image" Target="../media/image-20-2.gif"/><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gif"/><Relationship Id="rId2" Type="http://schemas.openxmlformats.org/officeDocument/2006/relationships/image" Target="../media/image-21-2.gif"/><Relationship Id="rId3" Type="http://schemas.openxmlformats.org/officeDocument/2006/relationships/slideLayout" Target="../slideLayouts/slideLayou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gif"/><Relationship Id="rId2" Type="http://schemas.openxmlformats.org/officeDocument/2006/relationships/image" Target="../media/image-22-2.gif"/><Relationship Id="rId3" Type="http://schemas.openxmlformats.org/officeDocument/2006/relationships/slideLayout" Target="../slideLayouts/slideLayout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gif"/><Relationship Id="rId2" Type="http://schemas.openxmlformats.org/officeDocument/2006/relationships/image" Target="../media/image-23-2.gif"/><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gif"/><Relationship Id="rId2" Type="http://schemas.openxmlformats.org/officeDocument/2006/relationships/image" Target="../media/image-24-2.gif"/><Relationship Id="rId3" Type="http://schemas.openxmlformats.org/officeDocument/2006/relationships/slideLayout" Target="../slideLayouts/slideLayout3.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gif"/><Relationship Id="rId2" Type="http://schemas.openxmlformats.org/officeDocument/2006/relationships/image" Target="../media/image-25-2.gif"/><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gif"/><Relationship Id="rId2" Type="http://schemas.openxmlformats.org/officeDocument/2006/relationships/image" Target="../media/image-26-2.gif"/><Relationship Id="rId3" Type="http://schemas.openxmlformats.org/officeDocument/2006/relationships/slideLayout" Target="../slideLayouts/slideLayout3.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gif"/><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gif"/><Relationship Id="rId2" Type="http://schemas.openxmlformats.org/officeDocument/2006/relationships/image" Target="../media/image-29-2.gif"/><Relationship Id="rId3" Type="http://schemas.openxmlformats.org/officeDocument/2006/relationships/slideLayout" Target="../slideLayouts/slideLayout3.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gif"/><Relationship Id="rId2" Type="http://schemas.openxmlformats.org/officeDocument/2006/relationships/image" Target="../media/image-30-2.gif"/><Relationship Id="rId3" Type="http://schemas.openxmlformats.org/officeDocument/2006/relationships/slideLayout" Target="../slideLayouts/slideLayout3.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gif"/><Relationship Id="rId2" Type="http://schemas.openxmlformats.org/officeDocument/2006/relationships/image" Target="../media/image-31-2.gif"/><Relationship Id="rId3" Type="http://schemas.openxmlformats.org/officeDocument/2006/relationships/slideLayout" Target="../slideLayouts/slideLayout3.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gif"/><Relationship Id="rId2" Type="http://schemas.openxmlformats.org/officeDocument/2006/relationships/image" Target="../media/image-32-2.gif"/><Relationship Id="rId3" Type="http://schemas.openxmlformats.org/officeDocument/2006/relationships/slideLayout" Target="../slideLayouts/slideLayout3.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gif"/><Relationship Id="rId2" Type="http://schemas.openxmlformats.org/officeDocument/2006/relationships/image" Target="../media/image-33-2.gif"/><Relationship Id="rId3" Type="http://schemas.openxmlformats.org/officeDocument/2006/relationships/slideLayout" Target="../slideLayouts/slideLayout3.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gif"/><Relationship Id="rId2" Type="http://schemas.openxmlformats.org/officeDocument/2006/relationships/image" Target="../media/image-34-2.gif"/><Relationship Id="rId3" Type="http://schemas.openxmlformats.org/officeDocument/2006/relationships/slideLayout" Target="../slideLayouts/slideLayout3.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gif"/><Relationship Id="rId2" Type="http://schemas.openxmlformats.org/officeDocument/2006/relationships/image" Target="../media/image-35-2.gif"/><Relationship Id="rId3" Type="http://schemas.openxmlformats.org/officeDocument/2006/relationships/slideLayout" Target="../slideLayouts/slideLayout3.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gif"/><Relationship Id="rId2" Type="http://schemas.openxmlformats.org/officeDocument/2006/relationships/image" Target="../media/image-36-2.gif"/><Relationship Id="rId3" Type="http://schemas.openxmlformats.org/officeDocument/2006/relationships/slideLayout" Target="../slideLayouts/slideLayout3.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gif"/><Relationship Id="rId2" Type="http://schemas.openxmlformats.org/officeDocument/2006/relationships/image" Target="../media/image-37-2.gif"/><Relationship Id="rId3" Type="http://schemas.openxmlformats.org/officeDocument/2006/relationships/slideLayout" Target="../slideLayouts/slideLayout3.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gif"/><Relationship Id="rId2" Type="http://schemas.openxmlformats.org/officeDocument/2006/relationships/image" Target="../media/image-38-2.gif"/><Relationship Id="rId3" Type="http://schemas.openxmlformats.org/officeDocument/2006/relationships/slideLayout" Target="../slideLayouts/slideLayout3.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gif"/><Relationship Id="rId2" Type="http://schemas.openxmlformats.org/officeDocument/2006/relationships/slideLayout" Target="../slideLayouts/slideLayout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gif"/><Relationship Id="rId2" Type="http://schemas.openxmlformats.org/officeDocument/2006/relationships/slideLayout" Target="../slideLayouts/slideLayout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gif"/><Relationship Id="rId2" Type="http://schemas.openxmlformats.org/officeDocument/2006/relationships/slideLayout" Target="../slideLayouts/slideLayout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gif"/><Relationship Id="rId2" Type="http://schemas.openxmlformats.org/officeDocument/2006/relationships/slideLayout" Target="../slideLayouts/slideLayout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gif"/><Relationship Id="rId2" Type="http://schemas.openxmlformats.org/officeDocument/2006/relationships/slideLayout" Target="../slideLayouts/slideLayout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gif"/><Relationship Id="rId2" Type="http://schemas.openxmlformats.org/officeDocument/2006/relationships/slideLayout" Target="../slideLayouts/slideLayout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gif"/><Relationship Id="rId2" Type="http://schemas.openxmlformats.org/officeDocument/2006/relationships/slideLayout" Target="../slideLayouts/slideLayout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gif"/><Relationship Id="rId2" Type="http://schemas.openxmlformats.org/officeDocument/2006/relationships/slideLayout" Target="../slideLayouts/slideLayout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gif"/><Relationship Id="rId2" Type="http://schemas.openxmlformats.org/officeDocument/2006/relationships/slideLayout" Target="../slideLayouts/slideLayout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gif"/><Relationship Id="rId2" Type="http://schemas.openxmlformats.org/officeDocument/2006/relationships/slideLayout" Target="../slideLayouts/slideLayout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gif"/><Relationship Id="rId2" Type="http://schemas.openxmlformats.org/officeDocument/2006/relationships/slideLayout" Target="../slideLayouts/slideLayout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gif"/><Relationship Id="rId2" Type="http://schemas.openxmlformats.org/officeDocument/2006/relationships/slideLayout" Target="../slideLayouts/slideLayout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gif"/><Relationship Id="rId2" Type="http://schemas.openxmlformats.org/officeDocument/2006/relationships/slideLayout" Target="../slideLayouts/slideLayout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gif"/><Relationship Id="rId2" Type="http://schemas.openxmlformats.org/officeDocument/2006/relationships/slideLayout" Target="../slideLayouts/slideLayout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gif"/><Relationship Id="rId2" Type="http://schemas.openxmlformats.org/officeDocument/2006/relationships/slideLayout" Target="../slideLayouts/slideLayout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gif"/><Relationship Id="rId2" Type="http://schemas.openxmlformats.org/officeDocument/2006/relationships/slideLayout" Target="../slideLayouts/slideLayout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gif"/><Relationship Id="rId2" Type="http://schemas.openxmlformats.org/officeDocument/2006/relationships/slideLayout" Target="../slideLayouts/slideLayout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gif"/><Relationship Id="rId2" Type="http://schemas.openxmlformats.org/officeDocument/2006/relationships/slideLayout" Target="../slideLayouts/slideLayout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gif"/><Relationship Id="rId2" Type="http://schemas.openxmlformats.org/officeDocument/2006/relationships/slideLayout" Target="../slideLayouts/slideLayout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gif"/><Relationship Id="rId2" Type="http://schemas.openxmlformats.org/officeDocument/2006/relationships/slideLayout" Target="../slideLayouts/slideLayout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gif"/><Relationship Id="rId2" Type="http://schemas.openxmlformats.org/officeDocument/2006/relationships/slideLayout" Target="../slideLayouts/slideLayout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gif"/><Relationship Id="rId2" Type="http://schemas.openxmlformats.org/officeDocument/2006/relationships/slideLayout" Target="../slideLayouts/slideLayout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gif"/><Relationship Id="rId2" Type="http://schemas.openxmlformats.org/officeDocument/2006/relationships/slideLayout" Target="../slideLayouts/slideLayout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gif"/><Relationship Id="rId2" Type="http://schemas.openxmlformats.org/officeDocument/2006/relationships/slideLayout" Target="../slideLayouts/slideLayout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gif"/><Relationship Id="rId2" Type="http://schemas.openxmlformats.org/officeDocument/2006/relationships/slideLayout" Target="../slideLayouts/slideLayout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gif"/><Relationship Id="rId2" Type="http://schemas.openxmlformats.org/officeDocument/2006/relationships/slideLayout" Target="../slideLayouts/slideLayout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gif"/><Relationship Id="rId2" Type="http://schemas.openxmlformats.org/officeDocument/2006/relationships/slideLayout" Target="../slideLayouts/slideLayout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gif"/><Relationship Id="rId2" Type="http://schemas.openxmlformats.org/officeDocument/2006/relationships/slideLayout" Target="../slideLayouts/slideLayout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gif"/><Relationship Id="rId2" Type="http://schemas.openxmlformats.org/officeDocument/2006/relationships/slideLayout" Target="../slideLayouts/slideLayout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gif"/><Relationship Id="rId2" Type="http://schemas.openxmlformats.org/officeDocument/2006/relationships/slideLayout" Target="../slideLayouts/slideLayout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gif"/><Relationship Id="rId2" Type="http://schemas.openxmlformats.org/officeDocument/2006/relationships/slideLayout" Target="../slideLayouts/slideLayout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gif"/><Relationship Id="rId2" Type="http://schemas.openxmlformats.org/officeDocument/2006/relationships/slideLayout" Target="../slideLayouts/slideLayout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gif"/><Relationship Id="rId2" Type="http://schemas.openxmlformats.org/officeDocument/2006/relationships/slideLayout" Target="../slideLayouts/slideLayout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gif"/><Relationship Id="rId2" Type="http://schemas.openxmlformats.org/officeDocument/2006/relationships/slideLayout" Target="../slideLayouts/slideLayout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gif"/><Relationship Id="rId2" Type="http://schemas.openxmlformats.org/officeDocument/2006/relationships/slideLayout" Target="../slideLayouts/slideLayout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gif"/><Relationship Id="rId2" Type="http://schemas.openxmlformats.org/officeDocument/2006/relationships/slideLayout" Target="../slideLayouts/slideLayout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gif"/><Relationship Id="rId2" Type="http://schemas.openxmlformats.org/officeDocument/2006/relationships/slideLayout" Target="../slideLayouts/slideLayout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gif"/><Relationship Id="rId2" Type="http://schemas.openxmlformats.org/officeDocument/2006/relationships/slideLayout" Target="../slideLayouts/slideLayout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gif"/><Relationship Id="rId2" Type="http://schemas.openxmlformats.org/officeDocument/2006/relationships/slideLayout" Target="../slideLayouts/slideLayout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gif"/><Relationship Id="rId2" Type="http://schemas.openxmlformats.org/officeDocument/2006/relationships/slideLayout" Target="../slideLayouts/slideLayout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gif"/><Relationship Id="rId2" Type="http://schemas.openxmlformats.org/officeDocument/2006/relationships/slideLayout" Target="../slideLayouts/slideLayout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gif"/><Relationship Id="rId2" Type="http://schemas.openxmlformats.org/officeDocument/2006/relationships/slideLayout" Target="../slideLayouts/slideLayout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gif"/><Relationship Id="rId2" Type="http://schemas.openxmlformats.org/officeDocument/2006/relationships/slideLayout" Target="../slideLayouts/slideLayout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gif"/><Relationship Id="rId2" Type="http://schemas.openxmlformats.org/officeDocument/2006/relationships/slideLayout" Target="../slideLayouts/slideLayout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gif"/><Relationship Id="rId2" Type="http://schemas.openxmlformats.org/officeDocument/2006/relationships/slideLayout" Target="../slideLayouts/slideLayout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gif"/><Relationship Id="rId2" Type="http://schemas.openxmlformats.org/officeDocument/2006/relationships/slideLayout" Target="../slideLayouts/slideLayout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gif"/><Relationship Id="rId2" Type="http://schemas.openxmlformats.org/officeDocument/2006/relationships/slideLayout" Target="../slideLayouts/slideLayout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gif"/><Relationship Id="rId2" Type="http://schemas.openxmlformats.org/officeDocument/2006/relationships/slideLayout" Target="../slideLayouts/slideLayout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gif"/><Relationship Id="rId2" Type="http://schemas.openxmlformats.org/officeDocument/2006/relationships/slideLayout" Target="../slideLayouts/slideLayout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gif"/><Relationship Id="rId2" Type="http://schemas.openxmlformats.org/officeDocument/2006/relationships/slideLayout" Target="../slideLayouts/slideLayout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gif"/><Relationship Id="rId2" Type="http://schemas.openxmlformats.org/officeDocument/2006/relationships/slideLayout" Target="../slideLayouts/slideLayout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gif"/><Relationship Id="rId2" Type="http://schemas.openxmlformats.org/officeDocument/2006/relationships/slideLayout" Target="../slideLayouts/slideLayout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gif"/><Relationship Id="rId2" Type="http://schemas.openxmlformats.org/officeDocument/2006/relationships/slideLayout" Target="../slideLayouts/slideLayout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gif"/><Relationship Id="rId2" Type="http://schemas.openxmlformats.org/officeDocument/2006/relationships/slideLayout" Target="../slideLayouts/slideLayout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gif"/><Relationship Id="rId2" Type="http://schemas.openxmlformats.org/officeDocument/2006/relationships/slideLayout" Target="../slideLayouts/slideLayout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gif"/><Relationship Id="rId2" Type="http://schemas.openxmlformats.org/officeDocument/2006/relationships/slideLayout" Target="../slideLayouts/slideLayout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gif"/><Relationship Id="rId2" Type="http://schemas.openxmlformats.org/officeDocument/2006/relationships/slideLayout" Target="../slideLayouts/slideLayout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gif"/><Relationship Id="rId2" Type="http://schemas.openxmlformats.org/officeDocument/2006/relationships/slideLayout" Target="../slideLayouts/slideLayout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gif"/><Relationship Id="rId2" Type="http://schemas.openxmlformats.org/officeDocument/2006/relationships/slideLayout" Target="../slideLayouts/slideLayout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gif"/><Relationship Id="rId2" Type="http://schemas.openxmlformats.org/officeDocument/2006/relationships/slideLayout" Target="../slideLayouts/slideLayout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gif"/><Relationship Id="rId2" Type="http://schemas.openxmlformats.org/officeDocument/2006/relationships/slideLayout" Target="../slideLayouts/slideLayout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gif"/><Relationship Id="rId2" Type="http://schemas.openxmlformats.org/officeDocument/2006/relationships/slideLayout" Target="../slideLayouts/slideLayout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gif"/><Relationship Id="rId2" Type="http://schemas.openxmlformats.org/officeDocument/2006/relationships/slideLayout" Target="../slideLayouts/slideLayout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gif"/><Relationship Id="rId2" Type="http://schemas.openxmlformats.org/officeDocument/2006/relationships/slideLayout" Target="../slideLayouts/slideLayout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gif"/><Relationship Id="rId2" Type="http://schemas.openxmlformats.org/officeDocument/2006/relationships/slideLayout" Target="../slideLayouts/slideLayout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gif"/><Relationship Id="rId2" Type="http://schemas.openxmlformats.org/officeDocument/2006/relationships/slideLayout" Target="../slideLayouts/slideLayout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gif"/><Relationship Id="rId2" Type="http://schemas.openxmlformats.org/officeDocument/2006/relationships/slideLayout" Target="../slideLayouts/slideLayout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gif"/><Relationship Id="rId2" Type="http://schemas.openxmlformats.org/officeDocument/2006/relationships/slideLayout" Target="../slideLayouts/slideLayout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gif"/><Relationship Id="rId2" Type="http://schemas.openxmlformats.org/officeDocument/2006/relationships/slideLayout" Target="../slideLayouts/slideLayout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gif"/><Relationship Id="rId2" Type="http://schemas.openxmlformats.org/officeDocument/2006/relationships/slideLayout" Target="../slideLayouts/slideLayout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gif"/><Relationship Id="rId2" Type="http://schemas.openxmlformats.org/officeDocument/2006/relationships/slideLayout" Target="../slideLayouts/slideLayout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gif"/><Relationship Id="rId2" Type="http://schemas.openxmlformats.org/officeDocument/2006/relationships/slideLayout" Target="../slideLayouts/slideLayout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gif"/><Relationship Id="rId2" Type="http://schemas.openxmlformats.org/officeDocument/2006/relationships/slideLayout" Target="../slideLayouts/slideLayout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gif"/><Relationship Id="rId2" Type="http://schemas.openxmlformats.org/officeDocument/2006/relationships/slideLayout" Target="../slideLayouts/slideLayout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gif"/><Relationship Id="rId2" Type="http://schemas.openxmlformats.org/officeDocument/2006/relationships/slideLayout" Target="../slideLayouts/slideLayout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gif"/><Relationship Id="rId2" Type="http://schemas.openxmlformats.org/officeDocument/2006/relationships/slideLayout" Target="../slideLayouts/slideLayout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gif"/><Relationship Id="rId2" Type="http://schemas.openxmlformats.org/officeDocument/2006/relationships/slideLayout" Target="../slideLayouts/slideLayout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gif"/><Relationship Id="rId2" Type="http://schemas.openxmlformats.org/officeDocument/2006/relationships/slideLayout" Target="../slideLayouts/slideLayout3.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gif"/><Relationship Id="rId2" Type="http://schemas.openxmlformats.org/officeDocument/2006/relationships/slideLayout" Target="../slideLayouts/slideLayout3.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gif"/><Relationship Id="rId2" Type="http://schemas.openxmlformats.org/officeDocument/2006/relationships/slideLayout" Target="../slideLayouts/slideLayout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gif"/><Relationship Id="rId2" Type="http://schemas.openxmlformats.org/officeDocument/2006/relationships/slideLayout" Target="../slideLayouts/slideLayout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gif"/><Relationship Id="rId2" Type="http://schemas.openxmlformats.org/officeDocument/2006/relationships/slideLayout" Target="../slideLayouts/slideLayout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gif"/><Relationship Id="rId2" Type="http://schemas.openxmlformats.org/officeDocument/2006/relationships/slideLayout" Target="../slideLayouts/slideLayout3.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gif"/><Relationship Id="rId2" Type="http://schemas.openxmlformats.org/officeDocument/2006/relationships/slideLayout" Target="../slideLayouts/slideLayout3.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gif"/><Relationship Id="rId2" Type="http://schemas.openxmlformats.org/officeDocument/2006/relationships/slideLayout" Target="../slideLayouts/slideLayout3.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gif"/><Relationship Id="rId2" Type="http://schemas.openxmlformats.org/officeDocument/2006/relationships/slideLayout" Target="../slideLayouts/slideLayout3.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gif"/><Relationship Id="rId2" Type="http://schemas.openxmlformats.org/officeDocument/2006/relationships/slideLayout" Target="../slideLayouts/slideLayout3.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gif"/><Relationship Id="rId2" Type="http://schemas.openxmlformats.org/officeDocument/2006/relationships/slideLayout" Target="../slideLayouts/slideLayout3.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gif"/><Relationship Id="rId2" Type="http://schemas.openxmlformats.org/officeDocument/2006/relationships/slideLayout" Target="../slideLayouts/slideLayout3.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gif"/><Relationship Id="rId2" Type="http://schemas.openxmlformats.org/officeDocument/2006/relationships/slideLayout" Target="../slideLayouts/slideLayout3.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gif"/><Relationship Id="rId2" Type="http://schemas.openxmlformats.org/officeDocument/2006/relationships/slideLayout" Target="../slideLayouts/slideLayout3.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gif"/><Relationship Id="rId2" Type="http://schemas.openxmlformats.org/officeDocument/2006/relationships/slideLayout" Target="../slideLayouts/slideLayout3.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image-132-1.gif"/><Relationship Id="rId2" Type="http://schemas.openxmlformats.org/officeDocument/2006/relationships/slideLayout" Target="../slideLayouts/slideLayout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gif"/><Relationship Id="rId2" Type="http://schemas.openxmlformats.org/officeDocument/2006/relationships/slideLayout" Target="../slideLayouts/slideLayout3.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gif"/><Relationship Id="rId2" Type="http://schemas.openxmlformats.org/officeDocument/2006/relationships/slideLayout" Target="../slideLayouts/slideLayout3.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135-1.gif"/><Relationship Id="rId2" Type="http://schemas.openxmlformats.org/officeDocument/2006/relationships/slideLayout" Target="../slideLayouts/slideLayout3.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gif"/><Relationship Id="rId2" Type="http://schemas.openxmlformats.org/officeDocument/2006/relationships/slideLayout" Target="../slideLayouts/slideLayout3.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137-1.gif"/><Relationship Id="rId2" Type="http://schemas.openxmlformats.org/officeDocument/2006/relationships/slideLayout" Target="../slideLayouts/slideLayout3.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38-1.gif"/><Relationship Id="rId2" Type="http://schemas.openxmlformats.org/officeDocument/2006/relationships/slideLayout" Target="../slideLayouts/slideLayout3.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image-139-1.gif"/><Relationship Id="rId2" Type="http://schemas.openxmlformats.org/officeDocument/2006/relationships/slideLayout" Target="../slideLayouts/slideLayout3.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image-140-1.gif"/><Relationship Id="rId2" Type="http://schemas.openxmlformats.org/officeDocument/2006/relationships/slideLayout" Target="../slideLayouts/slideLayout3.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gif"/><Relationship Id="rId2" Type="http://schemas.openxmlformats.org/officeDocument/2006/relationships/slideLayout" Target="../slideLayouts/slideLayout3.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image-142-1.gif"/><Relationship Id="rId2" Type="http://schemas.openxmlformats.org/officeDocument/2006/relationships/slideLayout" Target="../slideLayouts/slideLayout3.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image-143-1.gif"/><Relationship Id="rId2" Type="http://schemas.openxmlformats.org/officeDocument/2006/relationships/slideLayout" Target="../slideLayouts/slideLayout3.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image-144-1.gif"/><Relationship Id="rId2" Type="http://schemas.openxmlformats.org/officeDocument/2006/relationships/slideLayout" Target="../slideLayouts/slideLayout3.xml"/><Relationship Id="rId3" Type="http://schemas.openxmlformats.org/officeDocument/2006/relationships/notesSlide" Target="../notesSlides/notesSlide1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5120640" cy="1828800"/>
          </a:xfrm>
          <a:prstGeom prst="rect">
            <a:avLst/>
          </a:prstGeom>
          <a:noFill/>
          <a:ln/>
        </p:spPr>
        <p:txBody>
          <a:bodyPr wrap="square" lIns="0" tIns="0" rIns="0" bIns="0" rtlCol="0" anchor="b"/>
          <a:lstStyle/>
          <a:p>
            <a:pPr algn="l" indent="0" marL="0">
              <a:buNone/>
            </a:pPr>
            <a:r>
              <a:rPr lang="en-US" sz="4000" b="1" dirty="0">
                <a:solidFill>
                  <a:schemeClr val="tx1"/>
                </a:solidFill>
              </a:rPr>
              <a:t>Secure Development for Offline Government Apps</a:t>
            </a:r>
            <a:endParaRPr lang="en-US" sz="4000" dirty="0"/>
          </a:p>
        </p:txBody>
      </p:sp>
      <p:sp>
        <p:nvSpPr>
          <p:cNvPr id="3" name="Text 0"/>
          <p:cNvSpPr/>
          <p:nvPr>
            <p:ph idx="101" type="body" hasCustomPrompt="1"/>
          </p:nvPr>
        </p:nvSpPr>
        <p:spPr>
          <a:xfrm>
            <a:off x="548640" y="3200400"/>
            <a:ext cx="4937760" cy="822960"/>
          </a:xfrm>
          <a:prstGeom prst="rect">
            <a:avLst/>
          </a:prstGeom>
          <a:noFill/>
          <a:ln/>
        </p:spPr>
        <p:txBody>
          <a:bodyPr wrap="square" lIns="0" tIns="0" rIns="0" bIns="0" rtlCol="0" anchor="t"/>
          <a:lstStyle/>
          <a:p>
            <a:pPr algn="l" indent="0" marL="0">
              <a:buNone/>
            </a:pPr>
            <a:r>
              <a:rPr lang="en-US" sz="1600" dirty="0">
                <a:solidFill>
                  <a:schemeClr val="tx2"/>
                </a:solidFill>
              </a:rPr>
              <a:t>OWASP Top 10:2025 · Angular · .NET Core · Oracle, SQL Server, SQLite</a:t>
            </a:r>
            <a:endParaRPr lang="en-US" sz="1600" dirty="0"/>
          </a:p>
        </p:txBody>
      </p:sp>
      <p:sp>
        <p:nvSpPr>
          <p:cNvPr id="4" name="Circle teal"/>
          <p:cNvSpPr/>
          <p:nvPr/>
        </p:nvSpPr>
        <p:spPr>
          <a:xfrm>
            <a:off x="6035040" y="731520"/>
            <a:ext cx="2926080" cy="2926080"/>
          </a:xfrm>
          <a:prstGeom prst="ellipse">
            <a:avLst/>
          </a:prstGeom>
          <a:solidFill>
            <a:schemeClr val="accent1">
              <a:alpha val="20000"/>
            </a:schemeClr>
          </a:solidFill>
          <a:ln/>
        </p:spPr>
      </p:sp>
      <p:sp>
        <p:nvSpPr>
          <p:cNvPr id="5" name="Circle red"/>
          <p:cNvSpPr/>
          <p:nvPr/>
        </p:nvSpPr>
        <p:spPr>
          <a:xfrm>
            <a:off x="6949440" y="2194560"/>
            <a:ext cx="2194560" cy="2194560"/>
          </a:xfrm>
          <a:prstGeom prst="ellipse">
            <a:avLst/>
          </a:prstGeom>
          <a:solidFill>
            <a:schemeClr val="accent2">
              <a:alpha val="20000"/>
            </a:schemeClr>
          </a:solidFill>
          <a:ln/>
        </p:spPr>
      </p:sp>
      <p:sp>
        <p:nvSpPr>
          <p:cNvPr id="6" name="Circle amber"/>
          <p:cNvSpPr/>
          <p:nvPr/>
        </p:nvSpPr>
        <p:spPr>
          <a:xfrm>
            <a:off x="5577840" y="2651760"/>
            <a:ext cx="1737360" cy="1737360"/>
          </a:xfrm>
          <a:prstGeom prst="ellipse">
            <a:avLst/>
          </a:prstGeom>
          <a:solidFill>
            <a:schemeClr val="accent4">
              <a:alpha val="20000"/>
            </a:schemeClr>
          </a:solidFill>
          <a:ln/>
        </p:spPr>
      </p:sp>
      <p:sp>
        <p:nvSpPr>
          <p:cNvPr id="7" name="Year"/>
          <p:cNvSpPr txBox="1"/>
          <p:nvPr/>
        </p:nvSpPr>
        <p:spPr>
          <a:xfrm>
            <a:off x="6035040" y="1097280"/>
            <a:ext cx="2926080" cy="1097280"/>
          </a:xfrm>
          <a:prstGeom prst="rect">
            <a:avLst/>
          </a:prstGeom>
          <a:noFill/>
          <a:ln/>
        </p:spPr>
        <p:txBody>
          <a:bodyPr wrap="square" lIns="0" tIns="0" rIns="0" bIns="0" rtlCol="0" anchor="ctr"/>
          <a:lstStyle/>
          <a:p>
            <a:pPr algn="ctr" indent="0" marL="0">
              <a:buNone/>
            </a:pPr>
            <a:r>
              <a:rPr lang="en-US" sz="6000" b="1" dirty="0">
                <a:solidFill>
                  <a:schemeClr val="accent1"/>
                </a:solidFill>
              </a:rPr>
              <a:t>2025</a:t>
            </a:r>
            <a:endParaRPr lang="en-US" sz="6000" dirty="0"/>
          </a:p>
        </p:txBody>
      </p:sp>
      <p:pic>
        <p:nvPicPr>
          <p:cNvPr id="8" name="Mascot" descr="Mascot cartoon">    </p:cNvPr>
          <p:cNvPicPr>
            <a:picLocks noChangeAspect="1"/>
          </p:cNvPicPr>
          <p:nvPr/>
        </p:nvPicPr>
        <p:blipFill>
          <a:blip r:embed="rId1"/>
          <a:stretch>
            <a:fillRect/>
          </a:stretch>
        </p:blipFill>
        <p:spPr>
          <a:xfrm>
            <a:off x="6583680" y="2377440"/>
            <a:ext cx="1920240" cy="192024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600"/>
                                        <p:tgtEl>
                                          <p:spTgt spid="4"/>
                                        </p:tgtEl>
                                      </p:cBhvr>
                                    </p:animEffect>
                                  </p:childTnLst>
                                </p:cTn>
                              </p:par>
                              <p:par>
                                <p:cTn id="8" presetID="10" presetClass="entr" presetSubtype="0" fill="hold" grpId="0" nodeType="withEffect">
                                  <p:stCondLst>
                                    <p:cond delay="3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par>
                                <p:cTn id="11" presetID="10" presetClass="entr" presetSubtype="0" fill="hold" grpId="0" nodeType="withEffect">
                                  <p:stCondLst>
                                    <p:cond delay="6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00"/>
                                        <p:tgtEl>
                                          <p:spTgt spid="6"/>
                                        </p:tgtEl>
                                      </p:cBhvr>
                                    </p:animEffect>
                                  </p:childTnLst>
                                </p:cTn>
                              </p:par>
                              <p:par>
                                <p:cTn id="16" presetID="53" presetClass="entr" presetSubtype="16" fill="hold" grpId="0" nodeType="withEffect">
                                  <p:stCondLst>
                                    <p:cond delay="70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ppt_w</p:attrName>
                                        </p:attrNameLst>
                                      </p:cBhvr>
                                      <p:tavLst>
                                        <p:tav tm="0">
                                          <p:val>
                                            <p:fltVal val="0"/>
                                          </p:val>
                                        </p:tav>
                                        <p:tav tm="100000">
                                          <p:val>
                                            <p:strVal val="#ppt_w"/>
                                          </p:val>
                                        </p:tav>
                                      </p:tavLst>
                                    </p:anim>
                                    <p:anim calcmode="lin" valueType="num">
                                      <p:cBhvr additive="base">
                                        <p:cTn id="14" dur="500" fill="hold"/>
                                        <p:tgtEl>
                                          <p:spTgt spid="7"/>
                                        </p:tgtEl>
                                        <p:attrNameLst>
                                          <p:attrName>ppt_h</p:attrName>
                                        </p:attrNameLst>
                                      </p:cBhvr>
                                      <p:tavLst>
                                        <p:tav tm="0">
                                          <p:val>
                                            <p:fltVal val="0"/>
                                          </p:val>
                                        </p:tav>
                                        <p:tav tm="100000">
                                          <p:val>
                                            <p:strVal val="#ppt_h"/>
                                          </p:val>
                                        </p:tav>
                                      </p:tavLst>
                                    </p:anim>
                                    <p:animEffect transition="in" filter="fade">
                                      <p:cBhvr>
                                        <p:cTn id="15" dur="500"/>
                                        <p:tgtEl>
                                          <p:spTgt spid="7"/>
                                        </p:tgtEl>
                                      </p:cBhvr>
                                    </p:animEffect>
                                  </p:childTnLst>
                                </p:cTn>
                              </p:par>
                              <p:par>
                                <p:cTn id="20" presetID="2" presetClass="entr" presetSubtype="4" fill="hold" nodeType="withEffect">
                                  <p:stCondLst>
                                    <p:cond delay="100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700" fill="hold"/>
                                        <p:tgtEl>
                                          <p:spTgt spid="8"/>
                                        </p:tgtEl>
                                        <p:attrNameLst>
                                          <p:attrName>ppt_x</p:attrName>
                                        </p:attrNameLst>
                                      </p:cBhvr>
                                      <p:tavLst>
                                        <p:tav tm="0">
                                          <p:val>
                                            <p:strVal val="#ppt_x"/>
                                          </p:val>
                                        </p:tav>
                                        <p:tav tm="100000">
                                          <p:val>
                                            <p:strVal val="#ppt_x"/>
                                          </p:val>
                                        </p:tav>
                                      </p:tavLst>
                                    </p:anim>
                                    <p:anim calcmode="lin" valueType="num">
                                      <p:cBhvr additive="base">
                                        <p:cTn id="19" dur="7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The hidden button problem</a:t>
            </a:r>
            <a:endParaRPr lang="en-US" sz="3000" dirty="0"/>
          </a:p>
        </p:txBody>
      </p:sp>
      <p:sp>
        <p:nvSpPr>
          <p:cNvPr id="4" name="Card The UI"/>
          <p:cNvSpPr/>
          <p:nvPr/>
        </p:nvSpPr>
        <p:spPr>
          <a:xfrm>
            <a:off x="457200" y="1325880"/>
            <a:ext cx="2560320" cy="2103120"/>
          </a:xfrm>
          <a:prstGeom prst="roundRect">
            <a:avLst>
              <a:gd name="adj" fmla="val 5217"/>
            </a:avLst>
          </a:prstGeom>
          <a:solidFill>
            <a:schemeClr val="bg2"/>
          </a:solidFill>
          <a:ln/>
        </p:spPr>
      </p:sp>
      <p:sp>
        <p:nvSpPr>
          <p:cNvPr id="5" name="Step 1"/>
          <p:cNvSpPr txBox="1"/>
          <p:nvPr/>
        </p:nvSpPr>
        <p:spPr>
          <a:xfrm>
            <a:off x="685800" y="1508760"/>
            <a:ext cx="457200" cy="45720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Head The UI"/>
          <p:cNvSpPr txBox="1"/>
          <p:nvPr/>
        </p:nvSpPr>
        <p:spPr>
          <a:xfrm>
            <a:off x="685800" y="2103120"/>
            <a:ext cx="2103120" cy="365760"/>
          </a:xfrm>
          <a:prstGeom prst="rect">
            <a:avLst/>
          </a:prstGeom>
          <a:noFill/>
          <a:ln/>
        </p:spPr>
        <p:txBody>
          <a:bodyPr wrap="square" lIns="0" tIns="0" rIns="0" bIns="0" rtlCol="0" anchor="ctr"/>
          <a:lstStyle/>
          <a:p>
            <a:pPr indent="0" marL="0">
              <a:buNone/>
            </a:pPr>
            <a:r>
              <a:rPr lang="en-US" sz="2000" b="1" dirty="0">
                <a:solidFill>
                  <a:schemeClr val="tx1"/>
                </a:solidFill>
              </a:rPr>
              <a:t>The UI</a:t>
            </a:r>
            <a:endParaRPr lang="en-US" sz="2000" dirty="0"/>
          </a:p>
        </p:txBody>
      </p:sp>
      <p:sp>
        <p:nvSpPr>
          <p:cNvPr id="7" name="Body The UI"/>
          <p:cNvSpPr txBox="1"/>
          <p:nvPr/>
        </p:nvSpPr>
        <p:spPr>
          <a:xfrm>
            <a:off x="685800" y="2514600"/>
            <a:ext cx="2103120" cy="868680"/>
          </a:xfrm>
          <a:prstGeom prst="rect">
            <a:avLst/>
          </a:prstGeom>
          <a:noFill/>
          <a:ln/>
        </p:spPr>
        <p:txBody>
          <a:bodyPr wrap="square" lIns="0" tIns="0" rIns="0" bIns="0" rtlCol="0" anchor="t"/>
          <a:lstStyle/>
          <a:p>
            <a:pPr indent="0" marL="0">
              <a:buNone/>
            </a:pPr>
            <a:r>
              <a:rPr lang="en-US" sz="1500" dirty="0">
                <a:solidFill>
                  <a:schemeClr val="tx2"/>
                </a:solidFill>
              </a:rPr>
              <a:t>Angular hides the admin menu from normal users.</a:t>
            </a:r>
            <a:endParaRPr lang="en-US" sz="1500" dirty="0"/>
          </a:p>
        </p:txBody>
      </p:sp>
      <p:sp>
        <p:nvSpPr>
          <p:cNvPr id="8" name="Arrow 1"/>
          <p:cNvSpPr txBox="1"/>
          <p:nvPr/>
        </p:nvSpPr>
        <p:spPr>
          <a:xfrm>
            <a:off x="3017520" y="2103120"/>
            <a:ext cx="274320" cy="548640"/>
          </a:xfrm>
          <a:prstGeom prst="rect">
            <a:avLst/>
          </a:prstGeom>
          <a:noFill/>
          <a:ln/>
        </p:spPr>
        <p:txBody>
          <a:bodyPr wrap="square" lIns="0" tIns="0" rIns="0" bIns="0" rtlCol="0" anchor="ctr"/>
          <a:lstStyle/>
          <a:p>
            <a:pPr algn="ctr" indent="0" marL="0">
              <a:buNone/>
            </a:pPr>
            <a:r>
              <a:rPr lang="en-US" sz="2400" dirty="0">
                <a:solidFill>
                  <a:schemeClr val="tx2"/>
                </a:solidFill>
              </a:rPr>
              <a:t>→</a:t>
            </a:r>
            <a:endParaRPr lang="en-US" sz="2400" dirty="0"/>
          </a:p>
        </p:txBody>
      </p:sp>
      <p:sp>
        <p:nvSpPr>
          <p:cNvPr id="9" name="Card The attacker"/>
          <p:cNvSpPr/>
          <p:nvPr/>
        </p:nvSpPr>
        <p:spPr>
          <a:xfrm>
            <a:off x="3291840" y="1325880"/>
            <a:ext cx="2560320" cy="2103120"/>
          </a:xfrm>
          <a:prstGeom prst="roundRect">
            <a:avLst>
              <a:gd name="adj" fmla="val 5217"/>
            </a:avLst>
          </a:prstGeom>
          <a:solidFill>
            <a:schemeClr val="bg2"/>
          </a:solidFill>
          <a:ln/>
        </p:spPr>
      </p:sp>
      <p:sp>
        <p:nvSpPr>
          <p:cNvPr id="10" name="Step 2"/>
          <p:cNvSpPr txBox="1"/>
          <p:nvPr/>
        </p:nvSpPr>
        <p:spPr>
          <a:xfrm>
            <a:off x="3520440" y="1508760"/>
            <a:ext cx="457200" cy="457200"/>
          </a:xfrm>
          <a:prstGeom prst="ellipse">
            <a:avLst/>
          </a:prstGeom>
          <a:solidFill>
            <a:schemeClr val="accent4"/>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Head The attacker"/>
          <p:cNvSpPr txBox="1"/>
          <p:nvPr/>
        </p:nvSpPr>
        <p:spPr>
          <a:xfrm>
            <a:off x="3520440" y="2103120"/>
            <a:ext cx="2103120" cy="365760"/>
          </a:xfrm>
          <a:prstGeom prst="rect">
            <a:avLst/>
          </a:prstGeom>
          <a:noFill/>
          <a:ln/>
        </p:spPr>
        <p:txBody>
          <a:bodyPr wrap="square" lIns="0" tIns="0" rIns="0" bIns="0" rtlCol="0" anchor="ctr"/>
          <a:lstStyle/>
          <a:p>
            <a:pPr indent="0" marL="0">
              <a:buNone/>
            </a:pPr>
            <a:r>
              <a:rPr lang="en-US" sz="2000" b="1" dirty="0">
                <a:solidFill>
                  <a:schemeClr val="tx1"/>
                </a:solidFill>
              </a:rPr>
              <a:t>The attacker</a:t>
            </a:r>
            <a:endParaRPr lang="en-US" sz="2000" dirty="0"/>
          </a:p>
        </p:txBody>
      </p:sp>
      <p:sp>
        <p:nvSpPr>
          <p:cNvPr id="12" name="Body The attacker"/>
          <p:cNvSpPr txBox="1"/>
          <p:nvPr/>
        </p:nvSpPr>
        <p:spPr>
          <a:xfrm>
            <a:off x="3520440" y="2514600"/>
            <a:ext cx="2103120" cy="868680"/>
          </a:xfrm>
          <a:prstGeom prst="rect">
            <a:avLst/>
          </a:prstGeom>
          <a:noFill/>
          <a:ln/>
        </p:spPr>
        <p:txBody>
          <a:bodyPr wrap="square" lIns="0" tIns="0" rIns="0" bIns="0" rtlCol="0" anchor="t"/>
          <a:lstStyle/>
          <a:p>
            <a:pPr indent="0" marL="0">
              <a:buNone/>
            </a:pPr>
            <a:r>
              <a:rPr lang="en-US" sz="1500" dirty="0">
                <a:solidFill>
                  <a:schemeClr val="tx2"/>
                </a:solidFill>
              </a:rPr>
              <a:t>Opens dev tools and changes record ID 1041 to 1042.</a:t>
            </a:r>
            <a:endParaRPr lang="en-US" sz="1500" dirty="0"/>
          </a:p>
        </p:txBody>
      </p:sp>
      <p:sp>
        <p:nvSpPr>
          <p:cNvPr id="13" name="Arrow 2"/>
          <p:cNvSpPr txBox="1"/>
          <p:nvPr/>
        </p:nvSpPr>
        <p:spPr>
          <a:xfrm>
            <a:off x="5852160" y="2103120"/>
            <a:ext cx="274320" cy="548640"/>
          </a:xfrm>
          <a:prstGeom prst="rect">
            <a:avLst/>
          </a:prstGeom>
          <a:noFill/>
          <a:ln/>
        </p:spPr>
        <p:txBody>
          <a:bodyPr wrap="square" lIns="0" tIns="0" rIns="0" bIns="0" rtlCol="0" anchor="ctr"/>
          <a:lstStyle/>
          <a:p>
            <a:pPr algn="ctr" indent="0" marL="0">
              <a:buNone/>
            </a:pPr>
            <a:r>
              <a:rPr lang="en-US" sz="2400" dirty="0">
                <a:solidFill>
                  <a:schemeClr val="tx2"/>
                </a:solidFill>
              </a:rPr>
              <a:t>→</a:t>
            </a:r>
            <a:endParaRPr lang="en-US" sz="2400" dirty="0"/>
          </a:p>
        </p:txBody>
      </p:sp>
      <p:sp>
        <p:nvSpPr>
          <p:cNvPr id="14" name="Card The API"/>
          <p:cNvSpPr/>
          <p:nvPr/>
        </p:nvSpPr>
        <p:spPr>
          <a:xfrm>
            <a:off x="6126480" y="1325880"/>
            <a:ext cx="2560320" cy="2103120"/>
          </a:xfrm>
          <a:prstGeom prst="roundRect">
            <a:avLst>
              <a:gd name="adj" fmla="val 5217"/>
            </a:avLst>
          </a:prstGeom>
          <a:solidFill>
            <a:schemeClr val="bg2"/>
          </a:solidFill>
          <a:ln/>
        </p:spPr>
      </p:sp>
      <p:sp>
        <p:nvSpPr>
          <p:cNvPr id="15" name="Step 3"/>
          <p:cNvSpPr txBox="1"/>
          <p:nvPr/>
        </p:nvSpPr>
        <p:spPr>
          <a:xfrm>
            <a:off x="6355080" y="1508760"/>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Head The API"/>
          <p:cNvSpPr txBox="1"/>
          <p:nvPr/>
        </p:nvSpPr>
        <p:spPr>
          <a:xfrm>
            <a:off x="6355080" y="2103120"/>
            <a:ext cx="2103120" cy="365760"/>
          </a:xfrm>
          <a:prstGeom prst="rect">
            <a:avLst/>
          </a:prstGeom>
          <a:noFill/>
          <a:ln/>
        </p:spPr>
        <p:txBody>
          <a:bodyPr wrap="square" lIns="0" tIns="0" rIns="0" bIns="0" rtlCol="0" anchor="ctr"/>
          <a:lstStyle/>
          <a:p>
            <a:pPr indent="0" marL="0">
              <a:buNone/>
            </a:pPr>
            <a:r>
              <a:rPr lang="en-US" sz="2000" b="1" dirty="0">
                <a:solidFill>
                  <a:schemeClr val="tx1"/>
                </a:solidFill>
              </a:rPr>
              <a:t>The API</a:t>
            </a:r>
            <a:endParaRPr lang="en-US" sz="2000" dirty="0"/>
          </a:p>
        </p:txBody>
      </p:sp>
      <p:sp>
        <p:nvSpPr>
          <p:cNvPr id="17" name="Body The API"/>
          <p:cNvSpPr txBox="1"/>
          <p:nvPr/>
        </p:nvSpPr>
        <p:spPr>
          <a:xfrm>
            <a:off x="6355080" y="2514600"/>
            <a:ext cx="2103120" cy="868680"/>
          </a:xfrm>
          <a:prstGeom prst="rect">
            <a:avLst/>
          </a:prstGeom>
          <a:noFill/>
          <a:ln/>
        </p:spPr>
        <p:txBody>
          <a:bodyPr wrap="square" lIns="0" tIns="0" rIns="0" bIns="0" rtlCol="0" anchor="t"/>
          <a:lstStyle/>
          <a:p>
            <a:pPr indent="0" marL="0">
              <a:buNone/>
            </a:pPr>
            <a:r>
              <a:rPr lang="en-US" sz="1500" dirty="0">
                <a:solidFill>
                  <a:schemeClr val="tx2"/>
                </a:solidFill>
              </a:rPr>
              <a:t>Returns another citizen's record. No ownership check.</a:t>
            </a:r>
            <a:endParaRPr lang="en-US" sz="1500" dirty="0"/>
          </a:p>
        </p:txBody>
      </p:sp>
      <p:sp>
        <p:nvSpPr>
          <p:cNvPr id="18" name="Hook line"/>
          <p:cNvSpPr txBox="1"/>
          <p:nvPr/>
        </p:nvSpPr>
        <p:spPr>
          <a:xfrm>
            <a:off x="457200" y="3611880"/>
            <a:ext cx="8229600" cy="457200"/>
          </a:xfrm>
          <a:prstGeom prst="rect">
            <a:avLst/>
          </a:prstGeom>
          <a:noFill/>
          <a:ln/>
        </p:spPr>
        <p:txBody>
          <a:bodyPr wrap="square" lIns="0" tIns="0" rIns="0" bIns="0" rtlCol="0" anchor="ctr"/>
          <a:lstStyle/>
          <a:p>
            <a:pPr indent="0" marL="0">
              <a:buNone/>
            </a:pPr>
            <a:r>
              <a:rPr lang="en-US" sz="2200" b="1" i="1" dirty="0">
                <a:solidFill>
                  <a:schemeClr val="accent1"/>
                </a:solidFill>
              </a:rPr>
              <a:t>The UI hid it. The API still served it.</a:t>
            </a:r>
            <a:endParaRPr lang="en-US" sz="2200" dirty="0"/>
          </a:p>
        </p:txBody>
      </p:sp>
      <p:pic>
        <p:nvPicPr>
          <p:cNvPr id="19" name="Hacker" descr="Hacker cartoon">    </p:cNvPr>
          <p:cNvPicPr>
            <a:picLocks noChangeAspect="1"/>
          </p:cNvPicPr>
          <p:nvPr/>
        </p:nvPicPr>
        <p:blipFill>
          <a:blip r:embed="rId1"/>
          <a:stretch>
            <a:fillRect/>
          </a:stretch>
        </p:blipFill>
        <p:spPr>
          <a:xfrm>
            <a:off x="274320" y="4069080"/>
            <a:ext cx="914400" cy="91440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9" fill="hold">
                      <p:stCondLst>
                        <p:cond delay="indefinite"/>
                      </p:stCondLst>
                      <p:childTnLst>
                        <p:par>
                          <p:cTn id="20" fill="hold">
                            <p:stCondLst>
                              <p:cond delay="0"/>
                            </p:stCondLst>
                            <p:childTnLst>
                              <p:par>
                                <p:cTn id="6" presetID="2" presetClass="entr" presetSubtype="8" fill="hold" grpId="0" nodeType="clickEffect">
                                  <p:stCondLst>
                                    <p:cond delay="0"/>
                                  </p:stCondLst>
                                  <p:childTnLst>
                                    <p:set>
                                      <p:cBhvr>
                                        <p:cTn id="3" dur="1" fill="hold">
                                          <p:stCondLst>
                                            <p:cond delay="0"/>
                                          </p:stCondLst>
                                        </p:cTn>
                                        <p:tgtEl>
                                          <p:spTgt spid="4"/>
                                        </p:tgtEl>
                                        <p:attrNameLst>
                                          <p:attrName>style.visibility</p:attrName>
                                        </p:attrNameLst>
                                      </p:cBhvr>
                                      <p:to>
                                        <p:strVal val="visible"/>
                                      </p:to>
                                    </p:set>
                                    <p:anim calcmode="lin" valueType="num">
                                      <p:cBhvr additive="base">
                                        <p:cTn id="4" dur="500" fill="hold"/>
                                        <p:tgtEl>
                                          <p:spTgt spid="4"/>
                                        </p:tgtEl>
                                        <p:attrNameLst>
                                          <p:attrName>ppt_x</p:attrName>
                                        </p:attrNameLst>
                                      </p:cBhvr>
                                      <p:tavLst>
                                        <p:tav tm="0">
                                          <p:val>
                                            <p:strVal val="0-#ppt_w/2"/>
                                          </p:val>
                                        </p:tav>
                                        <p:tav tm="100000">
                                          <p:val>
                                            <p:strVal val="#ppt_x"/>
                                          </p:val>
                                        </p:tav>
                                      </p:tavLst>
                                    </p:anim>
                                    <p:anim calcmode="lin" valueType="num">
                                      <p:cBhvr additive="base">
                                        <p:cTn id="5" dur="500" fill="hold"/>
                                        <p:tgtEl>
                                          <p:spTgt spid="4"/>
                                        </p:tgtEl>
                                        <p:attrNameLst>
                                          <p:attrName>ppt_y</p:attrName>
                                        </p:attrNameLst>
                                      </p:cBhvr>
                                      <p:tavLst>
                                        <p:tav tm="0">
                                          <p:val>
                                            <p:strVal val="#ppt_y"/>
                                          </p:val>
                                        </p:tav>
                                        <p:tav tm="100000">
                                          <p:val>
                                            <p:strVal val="#ppt_y"/>
                                          </p:val>
                                        </p:tav>
                                      </p:tavLst>
                                    </p:anim>
                                  </p:childTnLst>
                                </p:cTn>
                              </p:par>
                              <p:par>
                                <p:cTn id="10" presetID="2" presetClass="entr" presetSubtype="8"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 calcmode="lin" valueType="num">
                                      <p:cBhvr additive="base">
                                        <p:cTn id="8" dur="500" fill="hold"/>
                                        <p:tgtEl>
                                          <p:spTgt spid="5"/>
                                        </p:tgtEl>
                                        <p:attrNameLst>
                                          <p:attrName>ppt_x</p:attrName>
                                        </p:attrNameLst>
                                      </p:cBhvr>
                                      <p:tavLst>
                                        <p:tav tm="0">
                                          <p:val>
                                            <p:strVal val="0-#ppt_w/2"/>
                                          </p:val>
                                        </p:tav>
                                        <p:tav tm="100000">
                                          <p:val>
                                            <p:strVal val="#ppt_x"/>
                                          </p:val>
                                        </p:tav>
                                      </p:tavLst>
                                    </p:anim>
                                    <p:anim calcmode="lin" valueType="num">
                                      <p:cBhvr additive="base">
                                        <p:cTn id="9" dur="500" fill="hold"/>
                                        <p:tgtEl>
                                          <p:spTgt spid="5"/>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par>
                                <p:cTn id="18" presetID="2" presetClass="entr" presetSubtype="8"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0-#ppt_w/2"/>
                                          </p:val>
                                        </p:tav>
                                        <p:tav tm="100000">
                                          <p:val>
                                            <p:strVal val="#ppt_x"/>
                                          </p:val>
                                        </p:tav>
                                      </p:tavLst>
                                    </p:anim>
                                    <p:anim calcmode="lin" valueType="num">
                                      <p:cBhvr additive="base">
                                        <p:cTn id="17"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24" presetID="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0-#ppt_w/2"/>
                                          </p:val>
                                        </p:tav>
                                        <p:tav tm="100000">
                                          <p:val>
                                            <p:strVal val="#ppt_x"/>
                                          </p:val>
                                        </p:tav>
                                      </p:tavLst>
                                    </p:anim>
                                    <p:anim calcmode="lin" valueType="num">
                                      <p:cBhvr additive="base">
                                        <p:cTn id="23" dur="500" fill="hold"/>
                                        <p:tgtEl>
                                          <p:spTgt spid="9"/>
                                        </p:tgtEl>
                                        <p:attrNameLst>
                                          <p:attrName>ppt_y</p:attrName>
                                        </p:attrNameLst>
                                      </p:cBhvr>
                                      <p:tavLst>
                                        <p:tav tm="0">
                                          <p:val>
                                            <p:strVal val="#ppt_y"/>
                                          </p:val>
                                        </p:tav>
                                        <p:tav tm="100000">
                                          <p:val>
                                            <p:strVal val="#ppt_y"/>
                                          </p:val>
                                        </p:tav>
                                      </p:tavLst>
                                    </p:anim>
                                  </p:childTnLst>
                                </p:cTn>
                              </p:par>
                              <p:par>
                                <p:cTn id="28" presetID="2" presetClass="entr" presetSubtype="8"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0-#ppt_w/2"/>
                                          </p:val>
                                        </p:tav>
                                        <p:tav tm="100000">
                                          <p:val>
                                            <p:strVal val="#ppt_x"/>
                                          </p:val>
                                        </p:tav>
                                      </p:tavLst>
                                    </p:anim>
                                    <p:anim calcmode="lin" valueType="num">
                                      <p:cBhvr additive="base">
                                        <p:cTn id="27" dur="500" fill="hold"/>
                                        <p:tgtEl>
                                          <p:spTgt spid="10"/>
                                        </p:tgtEl>
                                        <p:attrNameLst>
                                          <p:attrName>ppt_y</p:attrName>
                                        </p:attrNameLst>
                                      </p:cBhvr>
                                      <p:tavLst>
                                        <p:tav tm="0">
                                          <p:val>
                                            <p:strVal val="#ppt_y"/>
                                          </p:val>
                                        </p:tav>
                                        <p:tav tm="100000">
                                          <p:val>
                                            <p:strVal val="#ppt_y"/>
                                          </p:val>
                                        </p:tav>
                                      </p:tavLst>
                                    </p:anim>
                                  </p:childTnLst>
                                </p:cTn>
                              </p:par>
                              <p:par>
                                <p:cTn id="32" presetID="2" presetClass="entr" presetSubtype="8"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00" fill="hold"/>
                                        <p:tgtEl>
                                          <p:spTgt spid="11"/>
                                        </p:tgtEl>
                                        <p:attrNameLst>
                                          <p:attrName>ppt_x</p:attrName>
                                        </p:attrNameLst>
                                      </p:cBhvr>
                                      <p:tavLst>
                                        <p:tav tm="0">
                                          <p:val>
                                            <p:strVal val="0-#ppt_w/2"/>
                                          </p:val>
                                        </p:tav>
                                        <p:tav tm="100000">
                                          <p:val>
                                            <p:strVal val="#ppt_x"/>
                                          </p:val>
                                        </p:tav>
                                      </p:tavLst>
                                    </p:anim>
                                    <p:anim calcmode="lin" valueType="num">
                                      <p:cBhvr additive="base">
                                        <p:cTn id="31" dur="500" fill="hold"/>
                                        <p:tgtEl>
                                          <p:spTgt spid="11"/>
                                        </p:tgtEl>
                                        <p:attrNameLst>
                                          <p:attrName>ppt_y</p:attrName>
                                        </p:attrNameLst>
                                      </p:cBhvr>
                                      <p:tavLst>
                                        <p:tav tm="0">
                                          <p:val>
                                            <p:strVal val="#ppt_y"/>
                                          </p:val>
                                        </p:tav>
                                        <p:tav tm="100000">
                                          <p:val>
                                            <p:strVal val="#ppt_y"/>
                                          </p:val>
                                        </p:tav>
                                      </p:tavLst>
                                    </p:anim>
                                  </p:childTnLst>
                                </p:cTn>
                              </p:par>
                              <p:par>
                                <p:cTn id="36" presetID="2" presetClass="entr" presetSubtype="8"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500" fill="hold"/>
                                        <p:tgtEl>
                                          <p:spTgt spid="12"/>
                                        </p:tgtEl>
                                        <p:attrNameLst>
                                          <p:attrName>ppt_x</p:attrName>
                                        </p:attrNameLst>
                                      </p:cBhvr>
                                      <p:tavLst>
                                        <p:tav tm="0">
                                          <p:val>
                                            <p:strVal val="0-#ppt_w/2"/>
                                          </p:val>
                                        </p:tav>
                                        <p:tav tm="100000">
                                          <p:val>
                                            <p:strVal val="#ppt_x"/>
                                          </p:val>
                                        </p:tav>
                                      </p:tavLst>
                                    </p:anim>
                                    <p:anim calcmode="lin" valueType="num">
                                      <p:cBhvr additive="base">
                                        <p:cTn id="35" dur="500" fill="hold"/>
                                        <p:tgtEl>
                                          <p:spTgt spid="12"/>
                                        </p:tgtEl>
                                        <p:attrNameLst>
                                          <p:attrName>ppt_y</p:attrName>
                                        </p:attrNameLst>
                                      </p:cBhvr>
                                      <p:tavLst>
                                        <p:tav tm="0">
                                          <p:val>
                                            <p:strVal val="#ppt_y"/>
                                          </p:val>
                                        </p:tav>
                                        <p:tav tm="100000">
                                          <p:val>
                                            <p:strVal val="#ppt_y"/>
                                          </p:val>
                                        </p:tav>
                                      </p:tavLst>
                                    </p:anim>
                                  </p:childTnLst>
                                </p:cTn>
                              </p:par>
                              <p:par>
                                <p:cTn id="40" presetID="2" presetClass="entr" presetSubtype="8"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anim calcmode="lin" valueType="num">
                                      <p:cBhvr additive="base">
                                        <p:cTn id="38" dur="500" fill="hold"/>
                                        <p:tgtEl>
                                          <p:spTgt spid="8"/>
                                        </p:tgtEl>
                                        <p:attrNameLst>
                                          <p:attrName>ppt_x</p:attrName>
                                        </p:attrNameLst>
                                      </p:cBhvr>
                                      <p:tavLst>
                                        <p:tav tm="0">
                                          <p:val>
                                            <p:strVal val="0-#ppt_w/2"/>
                                          </p:val>
                                        </p:tav>
                                        <p:tav tm="100000">
                                          <p:val>
                                            <p:strVal val="#ppt_x"/>
                                          </p:val>
                                        </p:tav>
                                      </p:tavLst>
                                    </p:anim>
                                    <p:anim calcmode="lin" valueType="num">
                                      <p:cBhvr additive="base">
                                        <p:cTn id="39" dur="500" fill="hold"/>
                                        <p:tgtEl>
                                          <p:spTgt spid="8"/>
                                        </p:tgtEl>
                                        <p:attrNameLst>
                                          <p:attrName>ppt_y</p:attrName>
                                        </p:attrNameLst>
                                      </p:cBhvr>
                                      <p:tavLst>
                                        <p:tav tm="0">
                                          <p:val>
                                            <p:strVal val="#ppt_y"/>
                                          </p:val>
                                        </p:tav>
                                        <p:tav tm="100000">
                                          <p:val>
                                            <p:strVal val="#ppt_y"/>
                                          </p:val>
                                        </p:tav>
                                      </p:tavLst>
                                    </p:anim>
                                  </p:childTnLst>
                                </p:cTn>
                              </p:par>
                              <p:par>
                                <p:cTn id="43" presetID="10" presetClass="entr" presetSubtype="0" fill="hold" nodeType="withEffect">
                                  <p:stCondLst>
                                    <p:cond delay="30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00"/>
                                        <p:tgtEl>
                                          <p:spTgt spid="19"/>
                                        </p:tgtEl>
                                      </p:cBhvr>
                                    </p:animEffect>
                                  </p:childTnLst>
                                </p:cTn>
                              </p:par>
                              <p:par>
                                <p:cTn id="45" presetID="0" presetClass="path" presetSubtype="0" fill="hold" nodeType="withEffect">
                                  <p:stCondLst>
                                    <p:cond delay="800"/>
                                  </p:stCondLst>
                                  <p:childTnLst>
                                    <p:animMotion origin="layout" path="M 0 0 L 0.85 0 E" pathEditMode="relative">
                                      <p:cBhvr>
                                        <p:cTn id="44" dur="6000" fill="hold"/>
                                        <p:tgtEl>
                                          <p:spTgt spid="19"/>
                                        </p:tgtEl>
                                        <p:attrNameLst>
                                          <p:attrName>ppt_x</p:attrName>
                                          <p:attrName>ppt_y</p:attrName>
                                        </p:attrNameLst>
                                      </p:cBhvr>
                                      <p:rCtr x="0.425" y="0"/>
                                    </p:animMotion>
                                  </p:childTnLst>
                                </p:cTn>
                              </p:par>
                            </p:childTnLst>
                          </p:cTn>
                        </p:par>
                      </p:childTnLst>
                    </p:cTn>
                  </p:par>
                  <p:par>
                    <p:cTn id="68" fill="hold">
                      <p:stCondLst>
                        <p:cond delay="indefinite"/>
                      </p:stCondLst>
                      <p:childTnLst>
                        <p:par>
                          <p:cTn id="69" fill="hold">
                            <p:stCondLst>
                              <p:cond delay="0"/>
                            </p:stCondLst>
                            <p:childTnLst>
                              <p:par>
                                <p:cTn id="51" presetID="2" presetClass="entr" presetSubtype="8"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500" fill="hold"/>
                                        <p:tgtEl>
                                          <p:spTgt spid="14"/>
                                        </p:tgtEl>
                                        <p:attrNameLst>
                                          <p:attrName>ppt_x</p:attrName>
                                        </p:attrNameLst>
                                      </p:cBhvr>
                                      <p:tavLst>
                                        <p:tav tm="0">
                                          <p:val>
                                            <p:strVal val="0-#ppt_w/2"/>
                                          </p:val>
                                        </p:tav>
                                        <p:tav tm="100000">
                                          <p:val>
                                            <p:strVal val="#ppt_x"/>
                                          </p:val>
                                        </p:tav>
                                      </p:tavLst>
                                    </p:anim>
                                    <p:anim calcmode="lin" valueType="num">
                                      <p:cBhvr additive="base">
                                        <p:cTn id="50" dur="500" fill="hold"/>
                                        <p:tgtEl>
                                          <p:spTgt spid="14"/>
                                        </p:tgtEl>
                                        <p:attrNameLst>
                                          <p:attrName>ppt_y</p:attrName>
                                        </p:attrNameLst>
                                      </p:cBhvr>
                                      <p:tavLst>
                                        <p:tav tm="0">
                                          <p:val>
                                            <p:strVal val="#ppt_y"/>
                                          </p:val>
                                        </p:tav>
                                        <p:tav tm="100000">
                                          <p:val>
                                            <p:strVal val="#ppt_y"/>
                                          </p:val>
                                        </p:tav>
                                      </p:tavLst>
                                    </p:anim>
                                  </p:childTnLst>
                                </p:cTn>
                              </p:par>
                              <p:par>
                                <p:cTn id="55" presetID="2" presetClass="entr" presetSubtype="8"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500" fill="hold"/>
                                        <p:tgtEl>
                                          <p:spTgt spid="15"/>
                                        </p:tgtEl>
                                        <p:attrNameLst>
                                          <p:attrName>ppt_x</p:attrName>
                                        </p:attrNameLst>
                                      </p:cBhvr>
                                      <p:tavLst>
                                        <p:tav tm="0">
                                          <p:val>
                                            <p:strVal val="0-#ppt_w/2"/>
                                          </p:val>
                                        </p:tav>
                                        <p:tav tm="100000">
                                          <p:val>
                                            <p:strVal val="#ppt_x"/>
                                          </p:val>
                                        </p:tav>
                                      </p:tavLst>
                                    </p:anim>
                                    <p:anim calcmode="lin" valueType="num">
                                      <p:cBhvr additive="base">
                                        <p:cTn id="54" dur="500" fill="hold"/>
                                        <p:tgtEl>
                                          <p:spTgt spid="15"/>
                                        </p:tgtEl>
                                        <p:attrNameLst>
                                          <p:attrName>ppt_y</p:attrName>
                                        </p:attrNameLst>
                                      </p:cBhvr>
                                      <p:tavLst>
                                        <p:tav tm="0">
                                          <p:val>
                                            <p:strVal val="#ppt_y"/>
                                          </p:val>
                                        </p:tav>
                                        <p:tav tm="100000">
                                          <p:val>
                                            <p:strVal val="#ppt_y"/>
                                          </p:val>
                                        </p:tav>
                                      </p:tavLst>
                                    </p:anim>
                                  </p:childTnLst>
                                </p:cTn>
                              </p:par>
                              <p:par>
                                <p:cTn id="59" presetID="2" presetClass="entr" presetSubtype="8"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500" fill="hold"/>
                                        <p:tgtEl>
                                          <p:spTgt spid="16"/>
                                        </p:tgtEl>
                                        <p:attrNameLst>
                                          <p:attrName>ppt_x</p:attrName>
                                        </p:attrNameLst>
                                      </p:cBhvr>
                                      <p:tavLst>
                                        <p:tav tm="0">
                                          <p:val>
                                            <p:strVal val="0-#ppt_w/2"/>
                                          </p:val>
                                        </p:tav>
                                        <p:tav tm="100000">
                                          <p:val>
                                            <p:strVal val="#ppt_x"/>
                                          </p:val>
                                        </p:tav>
                                      </p:tavLst>
                                    </p:anim>
                                    <p:anim calcmode="lin" valueType="num">
                                      <p:cBhvr additive="base">
                                        <p:cTn id="58" dur="500" fill="hold"/>
                                        <p:tgtEl>
                                          <p:spTgt spid="16"/>
                                        </p:tgtEl>
                                        <p:attrNameLst>
                                          <p:attrName>ppt_y</p:attrName>
                                        </p:attrNameLst>
                                      </p:cBhvr>
                                      <p:tavLst>
                                        <p:tav tm="0">
                                          <p:val>
                                            <p:strVal val="#ppt_y"/>
                                          </p:val>
                                        </p:tav>
                                        <p:tav tm="100000">
                                          <p:val>
                                            <p:strVal val="#ppt_y"/>
                                          </p:val>
                                        </p:tav>
                                      </p:tavLst>
                                    </p:anim>
                                  </p:childTnLst>
                                </p:cTn>
                              </p:par>
                              <p:par>
                                <p:cTn id="63" presetID="2" presetClass="entr" presetSubtype="8"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anim calcmode="lin" valueType="num">
                                      <p:cBhvr additive="base">
                                        <p:cTn id="61" dur="500" fill="hold"/>
                                        <p:tgtEl>
                                          <p:spTgt spid="17"/>
                                        </p:tgtEl>
                                        <p:attrNameLst>
                                          <p:attrName>ppt_x</p:attrName>
                                        </p:attrNameLst>
                                      </p:cBhvr>
                                      <p:tavLst>
                                        <p:tav tm="0">
                                          <p:val>
                                            <p:strVal val="0-#ppt_w/2"/>
                                          </p:val>
                                        </p:tav>
                                        <p:tav tm="100000">
                                          <p:val>
                                            <p:strVal val="#ppt_x"/>
                                          </p:val>
                                        </p:tav>
                                      </p:tavLst>
                                    </p:anim>
                                    <p:anim calcmode="lin" valueType="num">
                                      <p:cBhvr additive="base">
                                        <p:cTn id="62" dur="500" fill="hold"/>
                                        <p:tgtEl>
                                          <p:spTgt spid="17"/>
                                        </p:tgtEl>
                                        <p:attrNameLst>
                                          <p:attrName>ppt_y</p:attrName>
                                        </p:attrNameLst>
                                      </p:cBhvr>
                                      <p:tavLst>
                                        <p:tav tm="0">
                                          <p:val>
                                            <p:strVal val="#ppt_y"/>
                                          </p:val>
                                        </p:tav>
                                        <p:tav tm="100000">
                                          <p:val>
                                            <p:strVal val="#ppt_y"/>
                                          </p:val>
                                        </p:tav>
                                      </p:tavLst>
                                    </p:anim>
                                  </p:childTnLst>
                                </p:cTn>
                              </p:par>
                              <p:par>
                                <p:cTn id="67" presetID="2" presetClass="entr" presetSubtype="8" fill="hold" grpId="0" nodeType="withEffect">
                                  <p:stCondLst>
                                    <p:cond delay="0"/>
                                  </p:stCondLst>
                                  <p:childTnLst>
                                    <p:set>
                                      <p:cBhvr>
                                        <p:cTn id="64" dur="1" fill="hold">
                                          <p:stCondLst>
                                            <p:cond delay="0"/>
                                          </p:stCondLst>
                                        </p:cTn>
                                        <p:tgtEl>
                                          <p:spTgt spid="13"/>
                                        </p:tgtEl>
                                        <p:attrNameLst>
                                          <p:attrName>style.visibility</p:attrName>
                                        </p:attrNameLst>
                                      </p:cBhvr>
                                      <p:to>
                                        <p:strVal val="visible"/>
                                      </p:to>
                                    </p:set>
                                    <p:anim calcmode="lin" valueType="num">
                                      <p:cBhvr additive="base">
                                        <p:cTn id="65" dur="500" fill="hold"/>
                                        <p:tgtEl>
                                          <p:spTgt spid="13"/>
                                        </p:tgtEl>
                                        <p:attrNameLst>
                                          <p:attrName>ppt_x</p:attrName>
                                        </p:attrNameLst>
                                      </p:cBhvr>
                                      <p:tavLst>
                                        <p:tav tm="0">
                                          <p:val>
                                            <p:strVal val="0-#ppt_w/2"/>
                                          </p:val>
                                        </p:tav>
                                        <p:tav tm="100000">
                                          <p:val>
                                            <p:strVal val="#ppt_x"/>
                                          </p:val>
                                        </p:tav>
                                      </p:tavLst>
                                    </p:anim>
                                    <p:anim calcmode="lin" valueType="num">
                                      <p:cBhvr additive="base">
                                        <p:cTn id="66"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4" presetID="53" presetClass="entr" presetSubtype="16" fill="hold" grpId="0" nodeType="clickEffect">
                                  <p:stCondLst>
                                    <p:cond delay="0"/>
                                  </p:stCondLst>
                                  <p:childTnLst>
                                    <p:set>
                                      <p:cBhvr>
                                        <p:cTn id="70" dur="1" fill="hold">
                                          <p:stCondLst>
                                            <p:cond delay="0"/>
                                          </p:stCondLst>
                                        </p:cTn>
                                        <p:tgtEl>
                                          <p:spTgt spid="18"/>
                                        </p:tgtEl>
                                        <p:attrNameLst>
                                          <p:attrName>style.visibility</p:attrName>
                                        </p:attrNameLst>
                                      </p:cBhvr>
                                      <p:to>
                                        <p:strVal val="visible"/>
                                      </p:to>
                                    </p:set>
                                    <p:anim calcmode="lin" valueType="num">
                                      <p:cBhvr additive="base">
                                        <p:cTn id="71" dur="500" fill="hold"/>
                                        <p:tgtEl>
                                          <p:spTgt spid="18"/>
                                        </p:tgtEl>
                                        <p:attrNameLst>
                                          <p:attrName>ppt_w</p:attrName>
                                        </p:attrNameLst>
                                      </p:cBhvr>
                                      <p:tavLst>
                                        <p:tav tm="0">
                                          <p:val>
                                            <p:fltVal val="0"/>
                                          </p:val>
                                        </p:tav>
                                        <p:tav tm="100000">
                                          <p:val>
                                            <p:strVal val="#ppt_w"/>
                                          </p:val>
                                        </p:tav>
                                      </p:tavLst>
                                    </p:anim>
                                    <p:anim calcmode="lin" valueType="num">
                                      <p:cBhvr additive="base">
                                        <p:cTn id="72" dur="500" fill="hold"/>
                                        <p:tgtEl>
                                          <p:spTgt spid="18"/>
                                        </p:tgtEl>
                                        <p:attrNameLst>
                                          <p:attrName>ppt_h</p:attrName>
                                        </p:attrNameLst>
                                      </p:cBhvr>
                                      <p:tavLst>
                                        <p:tav tm="0">
                                          <p:val>
                                            <p:fltVal val="0"/>
                                          </p:val>
                                        </p:tav>
                                        <p:tav tm="100000">
                                          <p:val>
                                            <p:strVal val="#ppt_h"/>
                                          </p:val>
                                        </p:tav>
                                      </p:tavLst>
                                    </p:anim>
                                    <p:animEffect transition="in" filter="fade">
                                      <p:cBhvr>
                                        <p:cTn id="7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1" grpId="0" animBg="1"/>
      <p:bldP spid="12" grpId="0" animBg="1"/>
      <p:bldP spid="8" grpId="0" animBg="1"/>
      <p:bldP spid="14" grpId="0" animBg="1"/>
      <p:bldP spid="15" grpId="0" animBg="1"/>
      <p:bldP spid="16" grpId="0" animBg="1"/>
      <p:bldP spid="17" grpId="0" animBg="1"/>
      <p:bldP spid="13" grpId="0" animBg="1"/>
      <p:bldP spid="1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Agenda</a:t>
            </a:r>
            <a:endParaRPr lang="en-US" sz="3000" dirty="0"/>
          </a:p>
        </p:txBody>
      </p:sp>
      <p:sp>
        <p:nvSpPr>
          <p:cNvPr id="4" name="Card 01"/>
          <p:cNvSpPr/>
          <p:nvPr/>
        </p:nvSpPr>
        <p:spPr>
          <a:xfrm>
            <a:off x="457200" y="1463040"/>
            <a:ext cx="1481328" cy="2468880"/>
          </a:xfrm>
          <a:prstGeom prst="roundRect">
            <a:avLst>
              <a:gd name="adj" fmla="val 7407"/>
            </a:avLst>
          </a:prstGeom>
          <a:solidFill>
            <a:schemeClr val="bg2"/>
          </a:solidFill>
          <a:ln/>
        </p:spPr>
      </p:sp>
      <p:sp>
        <p:nvSpPr>
          <p:cNvPr id="5" name="Number 01"/>
          <p:cNvSpPr txBox="1"/>
          <p:nvPr/>
        </p:nvSpPr>
        <p:spPr>
          <a:xfrm>
            <a:off x="594360" y="1645920"/>
            <a:ext cx="1234440" cy="731520"/>
          </a:xfrm>
          <a:prstGeom prst="rect">
            <a:avLst/>
          </a:prstGeom>
          <a:noFill/>
          <a:ln/>
        </p:spPr>
        <p:txBody>
          <a:bodyPr wrap="square" lIns="0" tIns="0" rIns="0" bIns="0" rtlCol="0" anchor="ctr"/>
          <a:lstStyle/>
          <a:p>
            <a:pPr indent="0" marL="0">
              <a:buNone/>
            </a:pPr>
            <a:r>
              <a:rPr lang="en-US" sz="3800" b="1" dirty="0">
                <a:solidFill>
                  <a:schemeClr val="accent1"/>
                </a:solidFill>
              </a:rPr>
              <a:t>01</a:t>
            </a:r>
            <a:endParaRPr lang="en-US" sz="3800" dirty="0"/>
          </a:p>
        </p:txBody>
      </p:sp>
      <p:sp>
        <p:nvSpPr>
          <p:cNvPr id="6" name="Label 01"/>
          <p:cNvSpPr txBox="1"/>
          <p:nvPr/>
        </p:nvSpPr>
        <p:spPr>
          <a:xfrm>
            <a:off x="594360" y="2423160"/>
            <a:ext cx="1234440" cy="685800"/>
          </a:xfrm>
          <a:prstGeom prst="rect">
            <a:avLst/>
          </a:prstGeom>
          <a:noFill/>
          <a:ln/>
        </p:spPr>
        <p:txBody>
          <a:bodyPr wrap="square" lIns="0" tIns="0" rIns="0" bIns="0" rtlCol="0" anchor="t"/>
          <a:lstStyle/>
          <a:p>
            <a:pPr indent="0" marL="0">
              <a:buNone/>
            </a:pPr>
            <a:r>
              <a:rPr lang="en-US" sz="1600" b="1" dirty="0">
                <a:solidFill>
                  <a:schemeClr val="tx1"/>
                </a:solidFill>
              </a:rPr>
              <a:t>Architecture</a:t>
            </a:r>
            <a:endParaRPr lang="en-US" sz="1600" dirty="0"/>
          </a:p>
        </p:txBody>
      </p:sp>
      <p:sp>
        <p:nvSpPr>
          <p:cNvPr id="7" name="Desc 01"/>
          <p:cNvSpPr txBox="1"/>
          <p:nvPr/>
        </p:nvSpPr>
        <p:spPr>
          <a:xfrm>
            <a:off x="594360" y="3154680"/>
            <a:ext cx="1234440" cy="685800"/>
          </a:xfrm>
          <a:prstGeom prst="rect">
            <a:avLst/>
          </a:prstGeom>
          <a:noFill/>
          <a:ln/>
        </p:spPr>
        <p:txBody>
          <a:bodyPr wrap="square" lIns="0" tIns="0" rIns="0" bIns="0" rtlCol="0" anchor="t"/>
          <a:lstStyle/>
          <a:p>
            <a:pPr indent="0" marL="0">
              <a:buNone/>
            </a:pPr>
            <a:r>
              <a:rPr lang="en-US" sz="1300" dirty="0">
                <a:solidFill>
                  <a:schemeClr val="tx2"/>
                </a:solidFill>
              </a:rPr>
              <a:t>Where the trust boundaries are</a:t>
            </a:r>
            <a:endParaRPr lang="en-US" sz="1300" dirty="0"/>
          </a:p>
        </p:txBody>
      </p:sp>
      <p:sp>
        <p:nvSpPr>
          <p:cNvPr id="8" name="Card 02"/>
          <p:cNvSpPr/>
          <p:nvPr/>
        </p:nvSpPr>
        <p:spPr>
          <a:xfrm>
            <a:off x="2144268" y="1463040"/>
            <a:ext cx="1481328" cy="2468880"/>
          </a:xfrm>
          <a:prstGeom prst="roundRect">
            <a:avLst>
              <a:gd name="adj" fmla="val 7407"/>
            </a:avLst>
          </a:prstGeom>
          <a:solidFill>
            <a:schemeClr val="bg2"/>
          </a:solidFill>
          <a:ln/>
        </p:spPr>
      </p:sp>
      <p:sp>
        <p:nvSpPr>
          <p:cNvPr id="9" name="Number 02"/>
          <p:cNvSpPr txBox="1"/>
          <p:nvPr/>
        </p:nvSpPr>
        <p:spPr>
          <a:xfrm>
            <a:off x="2281428" y="1645920"/>
            <a:ext cx="1234440" cy="731520"/>
          </a:xfrm>
          <a:prstGeom prst="rect">
            <a:avLst/>
          </a:prstGeom>
          <a:noFill/>
          <a:ln/>
        </p:spPr>
        <p:txBody>
          <a:bodyPr wrap="square" lIns="0" tIns="0" rIns="0" bIns="0" rtlCol="0" anchor="ctr"/>
          <a:lstStyle/>
          <a:p>
            <a:pPr indent="0" marL="0">
              <a:buNone/>
            </a:pPr>
            <a:r>
              <a:rPr lang="en-US" sz="3800" b="1" dirty="0">
                <a:solidFill>
                  <a:schemeClr val="accent1"/>
                </a:solidFill>
              </a:rPr>
              <a:t>02</a:t>
            </a:r>
            <a:endParaRPr lang="en-US" sz="3800" dirty="0"/>
          </a:p>
        </p:txBody>
      </p:sp>
      <p:sp>
        <p:nvSpPr>
          <p:cNvPr id="10" name="Label 02"/>
          <p:cNvSpPr txBox="1"/>
          <p:nvPr/>
        </p:nvSpPr>
        <p:spPr>
          <a:xfrm>
            <a:off x="2281428" y="2423160"/>
            <a:ext cx="1234440" cy="685800"/>
          </a:xfrm>
          <a:prstGeom prst="rect">
            <a:avLst/>
          </a:prstGeom>
          <a:noFill/>
          <a:ln/>
        </p:spPr>
        <p:txBody>
          <a:bodyPr wrap="square" lIns="0" tIns="0" rIns="0" bIns="0" rtlCol="0" anchor="t"/>
          <a:lstStyle/>
          <a:p>
            <a:pPr indent="0" marL="0">
              <a:buNone/>
            </a:pPr>
            <a:r>
              <a:rPr lang="en-US" sz="1600" b="1" dirty="0">
                <a:solidFill>
                  <a:schemeClr val="tx1"/>
                </a:solidFill>
              </a:rPr>
              <a:t>The Top 10 explained</a:t>
            </a:r>
            <a:endParaRPr lang="en-US" sz="1600" dirty="0"/>
          </a:p>
        </p:txBody>
      </p:sp>
      <p:sp>
        <p:nvSpPr>
          <p:cNvPr id="11" name="Desc 02"/>
          <p:cNvSpPr txBox="1"/>
          <p:nvPr/>
        </p:nvSpPr>
        <p:spPr>
          <a:xfrm>
            <a:off x="2281428" y="3154680"/>
            <a:ext cx="1234440" cy="685800"/>
          </a:xfrm>
          <a:prstGeom prst="rect">
            <a:avLst/>
          </a:prstGeom>
          <a:noFill/>
          <a:ln/>
        </p:spPr>
        <p:txBody>
          <a:bodyPr wrap="square" lIns="0" tIns="0" rIns="0" bIns="0" rtlCol="0" anchor="t"/>
          <a:lstStyle/>
          <a:p>
            <a:pPr indent="0" marL="0">
              <a:buNone/>
            </a:pPr>
            <a:r>
              <a:rPr lang="en-US" sz="1300" dirty="0">
                <a:solidFill>
                  <a:schemeClr val="tx2"/>
                </a:solidFill>
              </a:rPr>
              <a:t>A story and a fix for each</a:t>
            </a:r>
            <a:endParaRPr lang="en-US" sz="1300" dirty="0"/>
          </a:p>
        </p:txBody>
      </p:sp>
      <p:sp>
        <p:nvSpPr>
          <p:cNvPr id="12" name="Card 03"/>
          <p:cNvSpPr/>
          <p:nvPr/>
        </p:nvSpPr>
        <p:spPr>
          <a:xfrm>
            <a:off x="3831336" y="1463040"/>
            <a:ext cx="1481328" cy="2468880"/>
          </a:xfrm>
          <a:prstGeom prst="roundRect">
            <a:avLst>
              <a:gd name="adj" fmla="val 7407"/>
            </a:avLst>
          </a:prstGeom>
          <a:solidFill>
            <a:schemeClr val="bg2"/>
          </a:solidFill>
          <a:ln/>
        </p:spPr>
      </p:sp>
      <p:sp>
        <p:nvSpPr>
          <p:cNvPr id="13" name="Number 03"/>
          <p:cNvSpPr txBox="1"/>
          <p:nvPr/>
        </p:nvSpPr>
        <p:spPr>
          <a:xfrm>
            <a:off x="3968496" y="1645920"/>
            <a:ext cx="1234440" cy="731520"/>
          </a:xfrm>
          <a:prstGeom prst="rect">
            <a:avLst/>
          </a:prstGeom>
          <a:noFill/>
          <a:ln/>
        </p:spPr>
        <p:txBody>
          <a:bodyPr wrap="square" lIns="0" tIns="0" rIns="0" bIns="0" rtlCol="0" anchor="ctr"/>
          <a:lstStyle/>
          <a:p>
            <a:pPr indent="0" marL="0">
              <a:buNone/>
            </a:pPr>
            <a:r>
              <a:rPr lang="en-US" sz="3800" b="1" dirty="0">
                <a:solidFill>
                  <a:schemeClr val="accent1"/>
                </a:solidFill>
              </a:rPr>
              <a:t>03</a:t>
            </a:r>
            <a:endParaRPr lang="en-US" sz="3800" dirty="0"/>
          </a:p>
        </p:txBody>
      </p:sp>
      <p:sp>
        <p:nvSpPr>
          <p:cNvPr id="14" name="Label 03"/>
          <p:cNvSpPr txBox="1"/>
          <p:nvPr/>
        </p:nvSpPr>
        <p:spPr>
          <a:xfrm>
            <a:off x="3968496" y="2423160"/>
            <a:ext cx="1234440" cy="685800"/>
          </a:xfrm>
          <a:prstGeom prst="rect">
            <a:avLst/>
          </a:prstGeom>
          <a:noFill/>
          <a:ln/>
        </p:spPr>
        <p:txBody>
          <a:bodyPr wrap="square" lIns="0" tIns="0" rIns="0" bIns="0" rtlCol="0" anchor="t"/>
          <a:lstStyle/>
          <a:p>
            <a:pPr indent="0" marL="0">
              <a:buNone/>
            </a:pPr>
            <a:r>
              <a:rPr lang="en-US" sz="1600" b="1" dirty="0">
                <a:solidFill>
                  <a:schemeClr val="tx1"/>
                </a:solidFill>
              </a:rPr>
              <a:t>Why we focus</a:t>
            </a:r>
            <a:endParaRPr lang="en-US" sz="1600" dirty="0"/>
          </a:p>
        </p:txBody>
      </p:sp>
      <p:sp>
        <p:nvSpPr>
          <p:cNvPr id="15" name="Desc 03"/>
          <p:cNvSpPr txBox="1"/>
          <p:nvPr/>
        </p:nvSpPr>
        <p:spPr>
          <a:xfrm>
            <a:off x="3968496" y="3154680"/>
            <a:ext cx="1234440" cy="685800"/>
          </a:xfrm>
          <a:prstGeom prst="rect">
            <a:avLst/>
          </a:prstGeom>
          <a:noFill/>
          <a:ln/>
        </p:spPr>
        <p:txBody>
          <a:bodyPr wrap="square" lIns="0" tIns="0" rIns="0" bIns="0" rtlCol="0" anchor="t"/>
          <a:lstStyle/>
          <a:p>
            <a:pPr indent="0" marL="0">
              <a:buNone/>
            </a:pPr>
            <a:r>
              <a:rPr lang="en-US" sz="1300" dirty="0">
                <a:solidFill>
                  <a:schemeClr val="tx2"/>
                </a:solidFill>
              </a:rPr>
              <a:t>What our environment changes</a:t>
            </a:r>
            <a:endParaRPr lang="en-US" sz="1300" dirty="0"/>
          </a:p>
        </p:txBody>
      </p:sp>
      <p:sp>
        <p:nvSpPr>
          <p:cNvPr id="16" name="Card 04"/>
          <p:cNvSpPr/>
          <p:nvPr/>
        </p:nvSpPr>
        <p:spPr>
          <a:xfrm>
            <a:off x="5518404" y="1463040"/>
            <a:ext cx="1481328" cy="2468880"/>
          </a:xfrm>
          <a:prstGeom prst="roundRect">
            <a:avLst>
              <a:gd name="adj" fmla="val 7407"/>
            </a:avLst>
          </a:prstGeom>
          <a:solidFill>
            <a:schemeClr val="bg2"/>
          </a:solidFill>
          <a:ln/>
        </p:spPr>
      </p:sp>
      <p:sp>
        <p:nvSpPr>
          <p:cNvPr id="17" name="Number 04"/>
          <p:cNvSpPr txBox="1"/>
          <p:nvPr/>
        </p:nvSpPr>
        <p:spPr>
          <a:xfrm>
            <a:off x="5655564" y="1645920"/>
            <a:ext cx="1234440" cy="731520"/>
          </a:xfrm>
          <a:prstGeom prst="rect">
            <a:avLst/>
          </a:prstGeom>
          <a:noFill/>
          <a:ln/>
        </p:spPr>
        <p:txBody>
          <a:bodyPr wrap="square" lIns="0" tIns="0" rIns="0" bIns="0" rtlCol="0" anchor="ctr"/>
          <a:lstStyle/>
          <a:p>
            <a:pPr indent="0" marL="0">
              <a:buNone/>
            </a:pPr>
            <a:r>
              <a:rPr lang="en-US" sz="3800" b="1" dirty="0">
                <a:solidFill>
                  <a:schemeClr val="accent1"/>
                </a:solidFill>
              </a:rPr>
              <a:t>04</a:t>
            </a:r>
            <a:endParaRPr lang="en-US" sz="3800" dirty="0"/>
          </a:p>
        </p:txBody>
      </p:sp>
      <p:sp>
        <p:nvSpPr>
          <p:cNvPr id="18" name="Label 04"/>
          <p:cNvSpPr txBox="1"/>
          <p:nvPr/>
        </p:nvSpPr>
        <p:spPr>
          <a:xfrm>
            <a:off x="5655564" y="2423160"/>
            <a:ext cx="1234440" cy="685800"/>
          </a:xfrm>
          <a:prstGeom prst="rect">
            <a:avLst/>
          </a:prstGeom>
          <a:noFill/>
          <a:ln/>
        </p:spPr>
        <p:txBody>
          <a:bodyPr wrap="square" lIns="0" tIns="0" rIns="0" bIns="0" rtlCol="0" anchor="t"/>
          <a:lstStyle/>
          <a:p>
            <a:pPr indent="0" marL="0">
              <a:buNone/>
            </a:pPr>
            <a:r>
              <a:rPr lang="en-US" sz="1600" b="1" dirty="0">
                <a:solidFill>
                  <a:schemeClr val="tx1"/>
                </a:solidFill>
              </a:rPr>
              <a:t>Examples</a:t>
            </a:r>
            <a:endParaRPr lang="en-US" sz="1600" dirty="0"/>
          </a:p>
        </p:txBody>
      </p:sp>
      <p:sp>
        <p:nvSpPr>
          <p:cNvPr id="19" name="Desc 04"/>
          <p:cNvSpPr txBox="1"/>
          <p:nvPr/>
        </p:nvSpPr>
        <p:spPr>
          <a:xfrm>
            <a:off x="5655564" y="3154680"/>
            <a:ext cx="1234440" cy="685800"/>
          </a:xfrm>
          <a:prstGeom prst="rect">
            <a:avLst/>
          </a:prstGeom>
          <a:noFill/>
          <a:ln/>
        </p:spPr>
        <p:txBody>
          <a:bodyPr wrap="square" lIns="0" tIns="0" rIns="0" bIns="0" rtlCol="0" anchor="t"/>
          <a:lstStyle/>
          <a:p>
            <a:pPr indent="0" marL="0">
              <a:buNone/>
            </a:pPr>
            <a:r>
              <a:rPr lang="en-US" sz="1300" dirty="0">
                <a:solidFill>
                  <a:schemeClr val="tx2"/>
                </a:solidFill>
              </a:rPr>
              <a:t>Code on our stack</a:t>
            </a:r>
            <a:endParaRPr lang="en-US" sz="1300" dirty="0"/>
          </a:p>
        </p:txBody>
      </p:sp>
      <p:sp>
        <p:nvSpPr>
          <p:cNvPr id="20" name="Card 05"/>
          <p:cNvSpPr/>
          <p:nvPr/>
        </p:nvSpPr>
        <p:spPr>
          <a:xfrm>
            <a:off x="7205472" y="1463040"/>
            <a:ext cx="1481328" cy="2468880"/>
          </a:xfrm>
          <a:prstGeom prst="roundRect">
            <a:avLst>
              <a:gd name="adj" fmla="val 7407"/>
            </a:avLst>
          </a:prstGeom>
          <a:solidFill>
            <a:schemeClr val="bg2"/>
          </a:solidFill>
          <a:ln/>
        </p:spPr>
      </p:sp>
      <p:sp>
        <p:nvSpPr>
          <p:cNvPr id="21" name="Number 05"/>
          <p:cNvSpPr txBox="1"/>
          <p:nvPr/>
        </p:nvSpPr>
        <p:spPr>
          <a:xfrm>
            <a:off x="7342632" y="1645920"/>
            <a:ext cx="1234440" cy="731520"/>
          </a:xfrm>
          <a:prstGeom prst="rect">
            <a:avLst/>
          </a:prstGeom>
          <a:noFill/>
          <a:ln/>
        </p:spPr>
        <p:txBody>
          <a:bodyPr wrap="square" lIns="0" tIns="0" rIns="0" bIns="0" rtlCol="0" anchor="ctr"/>
          <a:lstStyle/>
          <a:p>
            <a:pPr indent="0" marL="0">
              <a:buNone/>
            </a:pPr>
            <a:r>
              <a:rPr lang="en-US" sz="3800" b="1" dirty="0">
                <a:solidFill>
                  <a:schemeClr val="accent1"/>
                </a:solidFill>
              </a:rPr>
              <a:t>05</a:t>
            </a:r>
            <a:endParaRPr lang="en-US" sz="3800" dirty="0"/>
          </a:p>
        </p:txBody>
      </p:sp>
      <p:sp>
        <p:nvSpPr>
          <p:cNvPr id="22" name="Label 05"/>
          <p:cNvSpPr txBox="1"/>
          <p:nvPr/>
        </p:nvSpPr>
        <p:spPr>
          <a:xfrm>
            <a:off x="7342632" y="2423160"/>
            <a:ext cx="1234440" cy="685800"/>
          </a:xfrm>
          <a:prstGeom prst="rect">
            <a:avLst/>
          </a:prstGeom>
          <a:noFill/>
          <a:ln/>
        </p:spPr>
        <p:txBody>
          <a:bodyPr wrap="square" lIns="0" tIns="0" rIns="0" bIns="0" rtlCol="0" anchor="t"/>
          <a:lstStyle/>
          <a:p>
            <a:pPr indent="0" marL="0">
              <a:buNone/>
            </a:pPr>
            <a:r>
              <a:rPr lang="en-US" sz="1600" b="1" dirty="0">
                <a:solidFill>
                  <a:schemeClr val="tx1"/>
                </a:solidFill>
              </a:rPr>
              <a:t>Wrap-up</a:t>
            </a:r>
            <a:endParaRPr lang="en-US" sz="1600" dirty="0"/>
          </a:p>
        </p:txBody>
      </p:sp>
      <p:sp>
        <p:nvSpPr>
          <p:cNvPr id="23" name="Desc 05"/>
          <p:cNvSpPr txBox="1"/>
          <p:nvPr/>
        </p:nvSpPr>
        <p:spPr>
          <a:xfrm>
            <a:off x="7342632" y="3154680"/>
            <a:ext cx="1234440" cy="685800"/>
          </a:xfrm>
          <a:prstGeom prst="rect">
            <a:avLst/>
          </a:prstGeom>
          <a:noFill/>
          <a:ln/>
        </p:spPr>
        <p:txBody>
          <a:bodyPr wrap="square" lIns="0" tIns="0" rIns="0" bIns="0" rtlCol="0" anchor="t"/>
          <a:lstStyle/>
          <a:p>
            <a:pPr indent="0" marL="0">
              <a:buNone/>
            </a:pPr>
            <a:r>
              <a:rPr lang="en-US" sz="1300" dirty="0">
                <a:solidFill>
                  <a:schemeClr val="tx2"/>
                </a:solidFill>
              </a:rPr>
              <a:t>Checklist, then Quiz Arena</a:t>
            </a:r>
            <a:endParaRPr lang="en-US" sz="13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3" fill="hold">
                      <p:stCondLst>
                        <p:cond delay="indefinite"/>
                        <p:cond evt="onBegin" delay="0">
                          <p:tn val="2"/>
                        </p:cond>
                      </p:stCondLst>
                      <p:childTnLst>
                        <p:par>
                          <p:cTn id="84" fill="hold">
                            <p:stCondLst>
                              <p:cond delay="0"/>
                            </p:stCondLst>
                            <p:childTnLst>
                              <p:par>
                                <p:cTn id="6" presetID="2" presetClass="entr" presetSubtype="4" fill="hold" grpId="0" nodeType="afterEffect">
                                  <p:stCondLst>
                                    <p:cond delay="0"/>
                                  </p:stCondLst>
                                  <p:childTnLst>
                                    <p:set>
                                      <p:cBhvr>
                                        <p:cTn id="3" dur="1" fill="hold">
                                          <p:stCondLst>
                                            <p:cond delay="0"/>
                                          </p:stCondLst>
                                        </p:cTn>
                                        <p:tgtEl>
                                          <p:spTgt spid="4"/>
                                        </p:tgtEl>
                                        <p:attrNameLst>
                                          <p:attrName>style.visibility</p:attrName>
                                        </p:attrNameLst>
                                      </p:cBhvr>
                                      <p:to>
                                        <p:strVal val="visible"/>
                                      </p:to>
                                    </p:set>
                                    <p:anim calcmode="lin" valueType="num">
                                      <p:cBhvr additive="base">
                                        <p:cTn id="4" dur="500" fill="hold"/>
                                        <p:tgtEl>
                                          <p:spTgt spid="4"/>
                                        </p:tgtEl>
                                        <p:attrNameLst>
                                          <p:attrName>ppt_x</p:attrName>
                                        </p:attrNameLst>
                                      </p:cBhvr>
                                      <p:tavLst>
                                        <p:tav tm="0">
                                          <p:val>
                                            <p:strVal val="#ppt_x"/>
                                          </p:val>
                                        </p:tav>
                                        <p:tav tm="100000">
                                          <p:val>
                                            <p:strVal val="#ppt_x"/>
                                          </p:val>
                                        </p:tav>
                                      </p:tavLst>
                                    </p:anim>
                                    <p:anim calcmode="lin" valueType="num">
                                      <p:cBhvr additive="base">
                                        <p:cTn id="5" dur="500" fill="hold"/>
                                        <p:tgtEl>
                                          <p:spTgt spid="4"/>
                                        </p:tgtEl>
                                        <p:attrNameLst>
                                          <p:attrName>ppt_y</p:attrName>
                                        </p:attrNameLst>
                                      </p:cBhvr>
                                      <p:tavLst>
                                        <p:tav tm="0">
                                          <p:val>
                                            <p:strVal val="1+#ppt_h/2"/>
                                          </p:val>
                                        </p:tav>
                                        <p:tav tm="100000">
                                          <p:val>
                                            <p:strVal val="#ppt_y"/>
                                          </p:val>
                                        </p:tav>
                                      </p:tavLst>
                                    </p:anim>
                                  </p:childTnLst>
                                </p:cTn>
                              </p:par>
                              <p:par>
                                <p:cTn id="10" presetID="2" presetClass="entr" presetSubtype="4"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 calcmode="lin" valueType="num">
                                      <p:cBhvr additive="base">
                                        <p:cTn id="8" dur="500" fill="hold"/>
                                        <p:tgtEl>
                                          <p:spTgt spid="5"/>
                                        </p:tgtEl>
                                        <p:attrNameLst>
                                          <p:attrName>ppt_x</p:attrName>
                                        </p:attrNameLst>
                                      </p:cBhvr>
                                      <p:tavLst>
                                        <p:tav tm="0">
                                          <p:val>
                                            <p:strVal val="#ppt_x"/>
                                          </p:val>
                                        </p:tav>
                                        <p:tav tm="100000">
                                          <p:val>
                                            <p:strVal val="#ppt_x"/>
                                          </p:val>
                                        </p:tav>
                                      </p:tavLst>
                                    </p:anim>
                                    <p:anim calcmode="lin" valueType="num">
                                      <p:cBhvr additive="base">
                                        <p:cTn id="9" dur="500" fill="hold"/>
                                        <p:tgtEl>
                                          <p:spTgt spid="5"/>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30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30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00" fill="hold"/>
                                        <p:tgtEl>
                                          <p:spTgt spid="9"/>
                                        </p:tgtEl>
                                        <p:attrNameLst>
                                          <p:attrName>ppt_x</p:attrName>
                                        </p:attrNameLst>
                                      </p:cBhvr>
                                      <p:tavLst>
                                        <p:tav tm="0">
                                          <p:val>
                                            <p:strVal val="#ppt_x"/>
                                          </p:val>
                                        </p:tav>
                                        <p:tav tm="100000">
                                          <p:val>
                                            <p:strVal val="#ppt_x"/>
                                          </p:val>
                                        </p:tav>
                                      </p:tavLst>
                                    </p:anim>
                                    <p:anim calcmode="lin" valueType="num">
                                      <p:cBhvr additive="base">
                                        <p:cTn id="25" dur="500" fill="hold"/>
                                        <p:tgtEl>
                                          <p:spTgt spid="9"/>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ppt_x"/>
                                          </p:val>
                                        </p:tav>
                                        <p:tav tm="100000">
                                          <p:val>
                                            <p:strVal val="#ppt_x"/>
                                          </p:val>
                                        </p:tav>
                                      </p:tavLst>
                                    </p:anim>
                                    <p:anim calcmode="lin" valueType="num">
                                      <p:cBhvr additive="base">
                                        <p:cTn id="29" dur="500" fill="hold"/>
                                        <p:tgtEl>
                                          <p:spTgt spid="10"/>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30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500" fill="hold"/>
                                        <p:tgtEl>
                                          <p:spTgt spid="11"/>
                                        </p:tgtEl>
                                        <p:attrNameLst>
                                          <p:attrName>ppt_x</p:attrName>
                                        </p:attrNameLst>
                                      </p:cBhvr>
                                      <p:tavLst>
                                        <p:tav tm="0">
                                          <p:val>
                                            <p:strVal val="#ppt_x"/>
                                          </p:val>
                                        </p:tav>
                                        <p:tav tm="100000">
                                          <p:val>
                                            <p:strVal val="#ppt_x"/>
                                          </p:val>
                                        </p:tav>
                                      </p:tavLst>
                                    </p:anim>
                                    <p:anim calcmode="lin" valueType="num">
                                      <p:cBhvr additive="base">
                                        <p:cTn id="33" dur="500" fill="hold"/>
                                        <p:tgtEl>
                                          <p:spTgt spid="11"/>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60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500" fill="hold"/>
                                        <p:tgtEl>
                                          <p:spTgt spid="12"/>
                                        </p:tgtEl>
                                        <p:attrNameLst>
                                          <p:attrName>ppt_x</p:attrName>
                                        </p:attrNameLst>
                                      </p:cBhvr>
                                      <p:tavLst>
                                        <p:tav tm="0">
                                          <p:val>
                                            <p:strVal val="#ppt_x"/>
                                          </p:val>
                                        </p:tav>
                                        <p:tav tm="100000">
                                          <p:val>
                                            <p:strVal val="#ppt_x"/>
                                          </p:val>
                                        </p:tav>
                                      </p:tavLst>
                                    </p:anim>
                                    <p:anim calcmode="lin" valueType="num">
                                      <p:cBhvr additive="base">
                                        <p:cTn id="37" dur="500" fill="hold"/>
                                        <p:tgtEl>
                                          <p:spTgt spid="12"/>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600"/>
                                  </p:stCondLst>
                                  <p:childTnLst>
                                    <p:set>
                                      <p:cBhvr>
                                        <p:cTn id="39" dur="1" fill="hold">
                                          <p:stCondLst>
                                            <p:cond delay="0"/>
                                          </p:stCondLst>
                                        </p:cTn>
                                        <p:tgtEl>
                                          <p:spTgt spid="13"/>
                                        </p:tgtEl>
                                        <p:attrNameLst>
                                          <p:attrName>style.visibility</p:attrName>
                                        </p:attrNameLst>
                                      </p:cBhvr>
                                      <p:to>
                                        <p:strVal val="visible"/>
                                      </p:to>
                                    </p:set>
                                    <p:anim calcmode="lin" valueType="num">
                                      <p:cBhvr additive="base">
                                        <p:cTn id="40" dur="500" fill="hold"/>
                                        <p:tgtEl>
                                          <p:spTgt spid="13"/>
                                        </p:tgtEl>
                                        <p:attrNameLst>
                                          <p:attrName>ppt_x</p:attrName>
                                        </p:attrNameLst>
                                      </p:cBhvr>
                                      <p:tavLst>
                                        <p:tav tm="0">
                                          <p:val>
                                            <p:strVal val="#ppt_x"/>
                                          </p:val>
                                        </p:tav>
                                        <p:tav tm="100000">
                                          <p:val>
                                            <p:strVal val="#ppt_x"/>
                                          </p:val>
                                        </p:tav>
                                      </p:tavLst>
                                    </p:anim>
                                    <p:anim calcmode="lin" valueType="num">
                                      <p:cBhvr additive="base">
                                        <p:cTn id="41" dur="500" fill="hold"/>
                                        <p:tgtEl>
                                          <p:spTgt spid="13"/>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60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500" fill="hold"/>
                                        <p:tgtEl>
                                          <p:spTgt spid="14"/>
                                        </p:tgtEl>
                                        <p:attrNameLst>
                                          <p:attrName>ppt_x</p:attrName>
                                        </p:attrNameLst>
                                      </p:cBhvr>
                                      <p:tavLst>
                                        <p:tav tm="0">
                                          <p:val>
                                            <p:strVal val="#ppt_x"/>
                                          </p:val>
                                        </p:tav>
                                        <p:tav tm="100000">
                                          <p:val>
                                            <p:strVal val="#ppt_x"/>
                                          </p:val>
                                        </p:tav>
                                      </p:tavLst>
                                    </p:anim>
                                    <p:anim calcmode="lin" valueType="num">
                                      <p:cBhvr additive="base">
                                        <p:cTn id="45" dur="500" fill="hold"/>
                                        <p:tgtEl>
                                          <p:spTgt spid="14"/>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600"/>
                                  </p:stCondLst>
                                  <p:childTnLst>
                                    <p:set>
                                      <p:cBhvr>
                                        <p:cTn id="47" dur="1" fill="hold">
                                          <p:stCondLst>
                                            <p:cond delay="0"/>
                                          </p:stCondLst>
                                        </p:cTn>
                                        <p:tgtEl>
                                          <p:spTgt spid="15"/>
                                        </p:tgtEl>
                                        <p:attrNameLst>
                                          <p:attrName>style.visibility</p:attrName>
                                        </p:attrNameLst>
                                      </p:cBhvr>
                                      <p:to>
                                        <p:strVal val="visible"/>
                                      </p:to>
                                    </p:set>
                                    <p:anim calcmode="lin" valueType="num">
                                      <p:cBhvr additive="base">
                                        <p:cTn id="48" dur="500" fill="hold"/>
                                        <p:tgtEl>
                                          <p:spTgt spid="15"/>
                                        </p:tgtEl>
                                        <p:attrNameLst>
                                          <p:attrName>ppt_x</p:attrName>
                                        </p:attrNameLst>
                                      </p:cBhvr>
                                      <p:tavLst>
                                        <p:tav tm="0">
                                          <p:val>
                                            <p:strVal val="#ppt_x"/>
                                          </p:val>
                                        </p:tav>
                                        <p:tav tm="100000">
                                          <p:val>
                                            <p:strVal val="#ppt_x"/>
                                          </p:val>
                                        </p:tav>
                                      </p:tavLst>
                                    </p:anim>
                                    <p:anim calcmode="lin" valueType="num">
                                      <p:cBhvr additive="base">
                                        <p:cTn id="49" dur="500" fill="hold"/>
                                        <p:tgtEl>
                                          <p:spTgt spid="15"/>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900"/>
                                  </p:stCondLst>
                                  <p:childTnLst>
                                    <p:set>
                                      <p:cBhvr>
                                        <p:cTn id="51" dur="1" fill="hold">
                                          <p:stCondLst>
                                            <p:cond delay="0"/>
                                          </p:stCondLst>
                                        </p:cTn>
                                        <p:tgtEl>
                                          <p:spTgt spid="16"/>
                                        </p:tgtEl>
                                        <p:attrNameLst>
                                          <p:attrName>style.visibility</p:attrName>
                                        </p:attrNameLst>
                                      </p:cBhvr>
                                      <p:to>
                                        <p:strVal val="visible"/>
                                      </p:to>
                                    </p:set>
                                    <p:anim calcmode="lin" valueType="num">
                                      <p:cBhvr additive="base">
                                        <p:cTn id="52" dur="500" fill="hold"/>
                                        <p:tgtEl>
                                          <p:spTgt spid="16"/>
                                        </p:tgtEl>
                                        <p:attrNameLst>
                                          <p:attrName>ppt_x</p:attrName>
                                        </p:attrNameLst>
                                      </p:cBhvr>
                                      <p:tavLst>
                                        <p:tav tm="0">
                                          <p:val>
                                            <p:strVal val="#ppt_x"/>
                                          </p:val>
                                        </p:tav>
                                        <p:tav tm="100000">
                                          <p:val>
                                            <p:strVal val="#ppt_x"/>
                                          </p:val>
                                        </p:tav>
                                      </p:tavLst>
                                    </p:anim>
                                    <p:anim calcmode="lin" valueType="num">
                                      <p:cBhvr additive="base">
                                        <p:cTn id="53" dur="500" fill="hold"/>
                                        <p:tgtEl>
                                          <p:spTgt spid="16"/>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900"/>
                                  </p:stCondLst>
                                  <p:childTnLst>
                                    <p:set>
                                      <p:cBhvr>
                                        <p:cTn id="55" dur="1" fill="hold">
                                          <p:stCondLst>
                                            <p:cond delay="0"/>
                                          </p:stCondLst>
                                        </p:cTn>
                                        <p:tgtEl>
                                          <p:spTgt spid="17"/>
                                        </p:tgtEl>
                                        <p:attrNameLst>
                                          <p:attrName>style.visibility</p:attrName>
                                        </p:attrNameLst>
                                      </p:cBhvr>
                                      <p:to>
                                        <p:strVal val="visible"/>
                                      </p:to>
                                    </p:set>
                                    <p:anim calcmode="lin" valueType="num">
                                      <p:cBhvr additive="base">
                                        <p:cTn id="56" dur="500" fill="hold"/>
                                        <p:tgtEl>
                                          <p:spTgt spid="17"/>
                                        </p:tgtEl>
                                        <p:attrNameLst>
                                          <p:attrName>ppt_x</p:attrName>
                                        </p:attrNameLst>
                                      </p:cBhvr>
                                      <p:tavLst>
                                        <p:tav tm="0">
                                          <p:val>
                                            <p:strVal val="#ppt_x"/>
                                          </p:val>
                                        </p:tav>
                                        <p:tav tm="100000">
                                          <p:val>
                                            <p:strVal val="#ppt_x"/>
                                          </p:val>
                                        </p:tav>
                                      </p:tavLst>
                                    </p:anim>
                                    <p:anim calcmode="lin" valueType="num">
                                      <p:cBhvr additive="base">
                                        <p:cTn id="57" dur="500" fill="hold"/>
                                        <p:tgtEl>
                                          <p:spTgt spid="17"/>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900"/>
                                  </p:stCondLst>
                                  <p:childTnLst>
                                    <p:set>
                                      <p:cBhvr>
                                        <p:cTn id="59" dur="1" fill="hold">
                                          <p:stCondLst>
                                            <p:cond delay="0"/>
                                          </p:stCondLst>
                                        </p:cTn>
                                        <p:tgtEl>
                                          <p:spTgt spid="18"/>
                                        </p:tgtEl>
                                        <p:attrNameLst>
                                          <p:attrName>style.visibility</p:attrName>
                                        </p:attrNameLst>
                                      </p:cBhvr>
                                      <p:to>
                                        <p:strVal val="visible"/>
                                      </p:to>
                                    </p:set>
                                    <p:anim calcmode="lin" valueType="num">
                                      <p:cBhvr additive="base">
                                        <p:cTn id="60" dur="500" fill="hold"/>
                                        <p:tgtEl>
                                          <p:spTgt spid="18"/>
                                        </p:tgtEl>
                                        <p:attrNameLst>
                                          <p:attrName>ppt_x</p:attrName>
                                        </p:attrNameLst>
                                      </p:cBhvr>
                                      <p:tavLst>
                                        <p:tav tm="0">
                                          <p:val>
                                            <p:strVal val="#ppt_x"/>
                                          </p:val>
                                        </p:tav>
                                        <p:tav tm="100000">
                                          <p:val>
                                            <p:strVal val="#ppt_x"/>
                                          </p:val>
                                        </p:tav>
                                      </p:tavLst>
                                    </p:anim>
                                    <p:anim calcmode="lin" valueType="num">
                                      <p:cBhvr additive="base">
                                        <p:cTn id="61" dur="500" fill="hold"/>
                                        <p:tgtEl>
                                          <p:spTgt spid="18"/>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900"/>
                                  </p:stCondLst>
                                  <p:childTnLst>
                                    <p:set>
                                      <p:cBhvr>
                                        <p:cTn id="63" dur="1" fill="hold">
                                          <p:stCondLst>
                                            <p:cond delay="0"/>
                                          </p:stCondLst>
                                        </p:cTn>
                                        <p:tgtEl>
                                          <p:spTgt spid="19"/>
                                        </p:tgtEl>
                                        <p:attrNameLst>
                                          <p:attrName>style.visibility</p:attrName>
                                        </p:attrNameLst>
                                      </p:cBhvr>
                                      <p:to>
                                        <p:strVal val="visible"/>
                                      </p:to>
                                    </p:set>
                                    <p:anim calcmode="lin" valueType="num">
                                      <p:cBhvr additive="base">
                                        <p:cTn id="64" dur="500" fill="hold"/>
                                        <p:tgtEl>
                                          <p:spTgt spid="19"/>
                                        </p:tgtEl>
                                        <p:attrNameLst>
                                          <p:attrName>ppt_x</p:attrName>
                                        </p:attrNameLst>
                                      </p:cBhvr>
                                      <p:tavLst>
                                        <p:tav tm="0">
                                          <p:val>
                                            <p:strVal val="#ppt_x"/>
                                          </p:val>
                                        </p:tav>
                                        <p:tav tm="100000">
                                          <p:val>
                                            <p:strVal val="#ppt_x"/>
                                          </p:val>
                                        </p:tav>
                                      </p:tavLst>
                                    </p:anim>
                                    <p:anim calcmode="lin" valueType="num">
                                      <p:cBhvr additive="base">
                                        <p:cTn id="65" dur="500" fill="hold"/>
                                        <p:tgtEl>
                                          <p:spTgt spid="19"/>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1200"/>
                                  </p:stCondLst>
                                  <p:childTnLst>
                                    <p:set>
                                      <p:cBhvr>
                                        <p:cTn id="67" dur="1" fill="hold">
                                          <p:stCondLst>
                                            <p:cond delay="0"/>
                                          </p:stCondLst>
                                        </p:cTn>
                                        <p:tgtEl>
                                          <p:spTgt spid="20"/>
                                        </p:tgtEl>
                                        <p:attrNameLst>
                                          <p:attrName>style.visibility</p:attrName>
                                        </p:attrNameLst>
                                      </p:cBhvr>
                                      <p:to>
                                        <p:strVal val="visible"/>
                                      </p:to>
                                    </p:set>
                                    <p:anim calcmode="lin" valueType="num">
                                      <p:cBhvr additive="base">
                                        <p:cTn id="68" dur="500" fill="hold"/>
                                        <p:tgtEl>
                                          <p:spTgt spid="20"/>
                                        </p:tgtEl>
                                        <p:attrNameLst>
                                          <p:attrName>ppt_x</p:attrName>
                                        </p:attrNameLst>
                                      </p:cBhvr>
                                      <p:tavLst>
                                        <p:tav tm="0">
                                          <p:val>
                                            <p:strVal val="#ppt_x"/>
                                          </p:val>
                                        </p:tav>
                                        <p:tav tm="100000">
                                          <p:val>
                                            <p:strVal val="#ppt_x"/>
                                          </p:val>
                                        </p:tav>
                                      </p:tavLst>
                                    </p:anim>
                                    <p:anim calcmode="lin" valueType="num">
                                      <p:cBhvr additive="base">
                                        <p:cTn id="69" dur="500" fill="hold"/>
                                        <p:tgtEl>
                                          <p:spTgt spid="20"/>
                                        </p:tgtEl>
                                        <p:attrNameLst>
                                          <p:attrName>ppt_y</p:attrName>
                                        </p:attrNameLst>
                                      </p:cBhvr>
                                      <p:tavLst>
                                        <p:tav tm="0">
                                          <p:val>
                                            <p:strVal val="1+#ppt_h/2"/>
                                          </p:val>
                                        </p:tav>
                                        <p:tav tm="100000">
                                          <p:val>
                                            <p:strVal val="#ppt_y"/>
                                          </p:val>
                                        </p:tav>
                                      </p:tavLst>
                                    </p:anim>
                                  </p:childTnLst>
                                </p:cTn>
                              </p:par>
                              <p:par>
                                <p:cTn id="74" presetID="2" presetClass="entr" presetSubtype="4" fill="hold" grpId="0" nodeType="withEffect">
                                  <p:stCondLst>
                                    <p:cond delay="120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1+#ppt_h/2"/>
                                          </p:val>
                                        </p:tav>
                                        <p:tav tm="100000">
                                          <p:val>
                                            <p:strVal val="#ppt_y"/>
                                          </p:val>
                                        </p:tav>
                                      </p:tavLst>
                                    </p:anim>
                                  </p:childTnLst>
                                </p:cTn>
                              </p:par>
                              <p:par>
                                <p:cTn id="78" presetID="2" presetClass="entr" presetSubtype="4" fill="hold" grpId="0" nodeType="withEffect">
                                  <p:stCondLst>
                                    <p:cond delay="1200"/>
                                  </p:stCondLst>
                                  <p:childTnLst>
                                    <p:set>
                                      <p:cBhvr>
                                        <p:cTn id="75" dur="1" fill="hold">
                                          <p:stCondLst>
                                            <p:cond delay="0"/>
                                          </p:stCondLst>
                                        </p:cTn>
                                        <p:tgtEl>
                                          <p:spTgt spid="22"/>
                                        </p:tgtEl>
                                        <p:attrNameLst>
                                          <p:attrName>style.visibility</p:attrName>
                                        </p:attrNameLst>
                                      </p:cBhvr>
                                      <p:to>
                                        <p:strVal val="visible"/>
                                      </p:to>
                                    </p:set>
                                    <p:anim calcmode="lin" valueType="num">
                                      <p:cBhvr additive="base">
                                        <p:cTn id="76" dur="500" fill="hold"/>
                                        <p:tgtEl>
                                          <p:spTgt spid="22"/>
                                        </p:tgtEl>
                                        <p:attrNameLst>
                                          <p:attrName>ppt_x</p:attrName>
                                        </p:attrNameLst>
                                      </p:cBhvr>
                                      <p:tavLst>
                                        <p:tav tm="0">
                                          <p:val>
                                            <p:strVal val="#ppt_x"/>
                                          </p:val>
                                        </p:tav>
                                        <p:tav tm="100000">
                                          <p:val>
                                            <p:strVal val="#ppt_x"/>
                                          </p:val>
                                        </p:tav>
                                      </p:tavLst>
                                    </p:anim>
                                    <p:anim calcmode="lin" valueType="num">
                                      <p:cBhvr additive="base">
                                        <p:cTn id="77" dur="500" fill="hold"/>
                                        <p:tgtEl>
                                          <p:spTgt spid="22"/>
                                        </p:tgtEl>
                                        <p:attrNameLst>
                                          <p:attrName>ppt_y</p:attrName>
                                        </p:attrNameLst>
                                      </p:cBhvr>
                                      <p:tavLst>
                                        <p:tav tm="0">
                                          <p:val>
                                            <p:strVal val="1+#ppt_h/2"/>
                                          </p:val>
                                        </p:tav>
                                        <p:tav tm="100000">
                                          <p:val>
                                            <p:strVal val="#ppt_y"/>
                                          </p:val>
                                        </p:tav>
                                      </p:tavLst>
                                    </p:anim>
                                  </p:childTnLst>
                                </p:cTn>
                              </p:par>
                              <p:par>
                                <p:cTn id="82" presetID="2" presetClass="entr" presetSubtype="4" fill="hold" grpId="0" nodeType="withEffect">
                                  <p:stCondLst>
                                    <p:cond delay="1200"/>
                                  </p:stCondLst>
                                  <p:childTnLst>
                                    <p:set>
                                      <p:cBhvr>
                                        <p:cTn id="79" dur="1" fill="hold">
                                          <p:stCondLst>
                                            <p:cond delay="0"/>
                                          </p:stCondLst>
                                        </p:cTn>
                                        <p:tgtEl>
                                          <p:spTgt spid="23"/>
                                        </p:tgtEl>
                                        <p:attrNameLst>
                                          <p:attrName>style.visibility</p:attrName>
                                        </p:attrNameLst>
                                      </p:cBhvr>
                                      <p:to>
                                        <p:strVal val="visible"/>
                                      </p:to>
                                    </p:set>
                                    <p:anim calcmode="lin" valueType="num">
                                      <p:cBhvr additive="base">
                                        <p:cTn id="80" dur="500" fill="hold"/>
                                        <p:tgtEl>
                                          <p:spTgt spid="23"/>
                                        </p:tgtEl>
                                        <p:attrNameLst>
                                          <p:attrName>ppt_x</p:attrName>
                                        </p:attrNameLst>
                                      </p:cBhvr>
                                      <p:tavLst>
                                        <p:tav tm="0">
                                          <p:val>
                                            <p:strVal val="#ppt_x"/>
                                          </p:val>
                                        </p:tav>
                                        <p:tav tm="100000">
                                          <p:val>
                                            <p:strVal val="#ppt_x"/>
                                          </p:val>
                                        </p:tav>
                                      </p:tavLst>
                                    </p:anim>
                                    <p:anim calcmode="lin" valueType="num">
                                      <p:cBhvr additive="base">
                                        <p:cTn id="81"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Our architecture</a:t>
            </a:r>
            <a:endParaRPr lang="en-US" sz="3000" dirty="0"/>
          </a:p>
        </p:txBody>
      </p:sp>
      <p:sp>
        <p:nvSpPr>
          <p:cNvPr id="4" name="Node 0"/>
          <p:cNvSpPr txBox="1"/>
          <p:nvPr/>
        </p:nvSpPr>
        <p:spPr>
          <a:xfrm>
            <a:off x="548640" y="1371600"/>
            <a:ext cx="1737360" cy="1188720"/>
          </a:xfrm>
          <a:prstGeom prst="roundRect">
            <a:avLst>
              <a:gd name="adj" fmla="val 9231"/>
            </a:avLst>
          </a:prstGeom>
          <a:solidFill>
            <a:schemeClr val="bg2"/>
          </a:solidFill>
          <a:ln w="25400">
            <a:solidFill>
              <a:schemeClr val="accent2"/>
            </a:solidFill>
          </a:ln>
        </p:spPr>
        <p:txBody>
          <a:bodyPr wrap="square" lIns="76200" tIns="76200" rIns="76200" bIns="76200" rtlCol="0" anchor="ctr"/>
          <a:lstStyle/>
          <a:p>
            <a:pPr algn="ctr" indent="0" marL="0">
              <a:buNone/>
            </a:pPr>
            <a:r>
              <a:rPr lang="en-US" sz="1800" b="1" dirty="0">
                <a:solidFill>
                  <a:schemeClr val="tx1"/>
                </a:solidFill>
              </a:rPr>
              <a:t>Browser</a:t>
            </a:r>
            <a:endParaRPr lang="en-US" sz="1800" dirty="0"/>
          </a:p>
          <a:p>
            <a:pPr algn="ctr" indent="0" marL="0">
              <a:buNone/>
            </a:pPr>
            <a:r>
              <a:rPr lang="en-US" sz="1400" dirty="0">
                <a:solidFill>
                  <a:schemeClr val="tx2"/>
                </a:solidFill>
              </a:rPr>
              <a:t>Angular SPA</a:t>
            </a:r>
            <a:endParaRPr lang="en-US" sz="1800" dirty="0"/>
          </a:p>
        </p:txBody>
      </p:sp>
      <p:sp>
        <p:nvSpPr>
          <p:cNvPr id="5" name="Arrow 1"/>
          <p:cNvSpPr txBox="1"/>
          <p:nvPr/>
        </p:nvSpPr>
        <p:spPr>
          <a:xfrm>
            <a:off x="2286000" y="1691640"/>
            <a:ext cx="365760" cy="548640"/>
          </a:xfrm>
          <a:prstGeom prst="rect">
            <a:avLst/>
          </a:prstGeom>
          <a:noFill/>
          <a:ln/>
        </p:spPr>
        <p:txBody>
          <a:bodyPr wrap="square" lIns="0" tIns="0" rIns="0" bIns="0" rtlCol="0" anchor="ctr"/>
          <a:lstStyle/>
          <a:p>
            <a:pPr algn="ctr" indent="0" marL="0">
              <a:buNone/>
            </a:pPr>
            <a:r>
              <a:rPr lang="en-US" sz="2400" dirty="0">
                <a:solidFill>
                  <a:schemeClr val="tx2"/>
                </a:solidFill>
              </a:rPr>
              <a:t>→</a:t>
            </a:r>
            <a:endParaRPr lang="en-US" sz="2400" dirty="0"/>
          </a:p>
        </p:txBody>
      </p:sp>
      <p:sp>
        <p:nvSpPr>
          <p:cNvPr id="6" name="Node 1"/>
          <p:cNvSpPr txBox="1"/>
          <p:nvPr/>
        </p:nvSpPr>
        <p:spPr>
          <a:xfrm>
            <a:off x="2651760" y="1371600"/>
            <a:ext cx="1737360" cy="1188720"/>
          </a:xfrm>
          <a:prstGeom prst="roundRect">
            <a:avLst>
              <a:gd name="adj" fmla="val 9231"/>
            </a:avLst>
          </a:prstGeom>
          <a:solidFill>
            <a:schemeClr val="bg2"/>
          </a:solidFill>
          <a:ln w="25400">
            <a:solidFill>
              <a:schemeClr val="accent1"/>
            </a:solidFill>
          </a:ln>
        </p:spPr>
        <p:txBody>
          <a:bodyPr wrap="square" lIns="76200" tIns="76200" rIns="76200" bIns="76200" rtlCol="0" anchor="ctr"/>
          <a:lstStyle/>
          <a:p>
            <a:pPr algn="ctr" indent="0" marL="0">
              <a:buNone/>
            </a:pPr>
            <a:r>
              <a:rPr lang="en-US" sz="1800" b="1" dirty="0">
                <a:solidFill>
                  <a:schemeClr val="tx1"/>
                </a:solidFill>
              </a:rPr>
              <a:t>Reverse proxy</a:t>
            </a:r>
            <a:endParaRPr lang="en-US" sz="1800" dirty="0"/>
          </a:p>
          <a:p>
            <a:pPr algn="ctr" indent="0" marL="0">
              <a:buNone/>
            </a:pPr>
            <a:r>
              <a:rPr lang="en-US" sz="1400" dirty="0">
                <a:solidFill>
                  <a:schemeClr val="tx2"/>
                </a:solidFill>
              </a:rPr>
              <a:t>HTTPS</a:t>
            </a:r>
            <a:endParaRPr lang="en-US" sz="1800" dirty="0"/>
          </a:p>
        </p:txBody>
      </p:sp>
      <p:sp>
        <p:nvSpPr>
          <p:cNvPr id="7" name="Arrow 2"/>
          <p:cNvSpPr txBox="1"/>
          <p:nvPr/>
        </p:nvSpPr>
        <p:spPr>
          <a:xfrm>
            <a:off x="4389120" y="1691640"/>
            <a:ext cx="365760" cy="548640"/>
          </a:xfrm>
          <a:prstGeom prst="rect">
            <a:avLst/>
          </a:prstGeom>
          <a:noFill/>
          <a:ln/>
        </p:spPr>
        <p:txBody>
          <a:bodyPr wrap="square" lIns="0" tIns="0" rIns="0" bIns="0" rtlCol="0" anchor="ctr"/>
          <a:lstStyle/>
          <a:p>
            <a:pPr algn="ctr" indent="0" marL="0">
              <a:buNone/>
            </a:pPr>
            <a:r>
              <a:rPr lang="en-US" sz="2400" dirty="0">
                <a:solidFill>
                  <a:schemeClr val="tx2"/>
                </a:solidFill>
              </a:rPr>
              <a:t>→</a:t>
            </a:r>
            <a:endParaRPr lang="en-US" sz="2400" dirty="0"/>
          </a:p>
        </p:txBody>
      </p:sp>
      <p:sp>
        <p:nvSpPr>
          <p:cNvPr id="8" name="Node 2"/>
          <p:cNvSpPr txBox="1"/>
          <p:nvPr/>
        </p:nvSpPr>
        <p:spPr>
          <a:xfrm>
            <a:off x="4754880" y="1371600"/>
            <a:ext cx="1737360" cy="1188720"/>
          </a:xfrm>
          <a:prstGeom prst="roundRect">
            <a:avLst>
              <a:gd name="adj" fmla="val 9231"/>
            </a:avLst>
          </a:prstGeom>
          <a:solidFill>
            <a:schemeClr val="bg2"/>
          </a:solidFill>
          <a:ln w="25400">
            <a:solidFill>
              <a:schemeClr val="accent1"/>
            </a:solidFill>
          </a:ln>
        </p:spPr>
        <p:txBody>
          <a:bodyPr wrap="square" lIns="76200" tIns="76200" rIns="76200" bIns="76200" rtlCol="0" anchor="ctr"/>
          <a:lstStyle/>
          <a:p>
            <a:pPr algn="ctr" indent="0" marL="0">
              <a:buNone/>
            </a:pPr>
            <a:r>
              <a:rPr lang="en-US" sz="1800" b="1" dirty="0">
                <a:solidFill>
                  <a:schemeClr val="tx1"/>
                </a:solidFill>
              </a:rPr>
              <a:t>.NET Core API</a:t>
            </a:r>
            <a:endParaRPr lang="en-US" sz="1800" dirty="0"/>
          </a:p>
          <a:p>
            <a:pPr algn="ctr" indent="0" marL="0">
              <a:buNone/>
            </a:pPr>
            <a:r>
              <a:rPr lang="en-US" sz="1400" dirty="0">
                <a:solidFill>
                  <a:schemeClr val="tx2"/>
                </a:solidFill>
              </a:rPr>
              <a:t>Minimal API</a:t>
            </a:r>
            <a:endParaRPr lang="en-US" sz="1800" dirty="0"/>
          </a:p>
        </p:txBody>
      </p:sp>
      <p:sp>
        <p:nvSpPr>
          <p:cNvPr id="9" name="Arrow 3"/>
          <p:cNvSpPr txBox="1"/>
          <p:nvPr/>
        </p:nvSpPr>
        <p:spPr>
          <a:xfrm>
            <a:off x="6492240" y="1691640"/>
            <a:ext cx="365760" cy="548640"/>
          </a:xfrm>
          <a:prstGeom prst="rect">
            <a:avLst/>
          </a:prstGeom>
          <a:noFill/>
          <a:ln/>
        </p:spPr>
        <p:txBody>
          <a:bodyPr wrap="square" lIns="0" tIns="0" rIns="0" bIns="0" rtlCol="0" anchor="ctr"/>
          <a:lstStyle/>
          <a:p>
            <a:pPr algn="ctr" indent="0" marL="0">
              <a:buNone/>
            </a:pPr>
            <a:r>
              <a:rPr lang="en-US" sz="2400" dirty="0">
                <a:solidFill>
                  <a:schemeClr val="tx2"/>
                </a:solidFill>
              </a:rPr>
              <a:t>→</a:t>
            </a:r>
            <a:endParaRPr lang="en-US" sz="2400" dirty="0"/>
          </a:p>
        </p:txBody>
      </p:sp>
      <p:sp>
        <p:nvSpPr>
          <p:cNvPr id="10" name="Node 3"/>
          <p:cNvSpPr txBox="1"/>
          <p:nvPr/>
        </p:nvSpPr>
        <p:spPr>
          <a:xfrm>
            <a:off x="6858000" y="1371600"/>
            <a:ext cx="1737360" cy="1188720"/>
          </a:xfrm>
          <a:prstGeom prst="roundRect">
            <a:avLst>
              <a:gd name="adj" fmla="val 9231"/>
            </a:avLst>
          </a:prstGeom>
          <a:solidFill>
            <a:schemeClr val="bg2"/>
          </a:solidFill>
          <a:ln w="25400">
            <a:solidFill>
              <a:schemeClr val="accent1"/>
            </a:solidFill>
          </a:ln>
        </p:spPr>
        <p:txBody>
          <a:bodyPr wrap="square" lIns="76200" tIns="76200" rIns="76200" bIns="76200" rtlCol="0" anchor="ctr"/>
          <a:lstStyle/>
          <a:p>
            <a:pPr algn="ctr" indent="0" marL="0">
              <a:buNone/>
            </a:pPr>
            <a:r>
              <a:rPr lang="en-US" sz="1800" b="1" dirty="0">
                <a:solidFill>
                  <a:schemeClr val="tx1"/>
                </a:solidFill>
              </a:rPr>
              <a:t>Database</a:t>
            </a:r>
            <a:endParaRPr lang="en-US" sz="1800" dirty="0"/>
          </a:p>
          <a:p>
            <a:pPr algn="ctr" indent="0" marL="0">
              <a:buNone/>
            </a:pPr>
            <a:r>
              <a:rPr lang="en-US" sz="1400" dirty="0">
                <a:solidFill>
                  <a:schemeClr val="tx2"/>
                </a:solidFill>
              </a:rPr>
              <a:t>Oracle / SQL Server / SQLite</a:t>
            </a:r>
            <a:endParaRPr lang="en-US" sz="1800" dirty="0"/>
          </a:p>
        </p:txBody>
      </p:sp>
      <p:sp>
        <p:nvSpPr>
          <p:cNvPr id="11" name="Untrusted label"/>
          <p:cNvSpPr txBox="1"/>
          <p:nvPr/>
        </p:nvSpPr>
        <p:spPr>
          <a:xfrm>
            <a:off x="548640" y="2651760"/>
            <a:ext cx="1737360" cy="274320"/>
          </a:xfrm>
          <a:prstGeom prst="rect">
            <a:avLst/>
          </a:prstGeom>
          <a:noFill/>
          <a:ln/>
        </p:spPr>
        <p:txBody>
          <a:bodyPr wrap="square" lIns="0" tIns="0" rIns="0" bIns="0" rtlCol="0" anchor="ctr"/>
          <a:lstStyle/>
          <a:p>
            <a:pPr algn="ctr" indent="0" marL="0">
              <a:buNone/>
            </a:pPr>
            <a:r>
              <a:rPr lang="en-US" sz="1200" b="1" dirty="0">
                <a:solidFill>
                  <a:schemeClr val="accent2"/>
                </a:solidFill>
              </a:rPr>
              <a:t>Untrusted</a:t>
            </a:r>
            <a:endParaRPr lang="en-US" sz="1200" dirty="0"/>
          </a:p>
        </p:txBody>
      </p:sp>
      <p:sp>
        <p:nvSpPr>
          <p:cNvPr id="12" name="Trusted label"/>
          <p:cNvSpPr txBox="1"/>
          <p:nvPr/>
        </p:nvSpPr>
        <p:spPr>
          <a:xfrm>
            <a:off x="2651760" y="2651760"/>
            <a:ext cx="5943600" cy="274320"/>
          </a:xfrm>
          <a:prstGeom prst="rect">
            <a:avLst/>
          </a:prstGeom>
          <a:noFill/>
          <a:ln/>
        </p:spPr>
        <p:txBody>
          <a:bodyPr wrap="square" lIns="0" tIns="0" rIns="0" bIns="0" rtlCol="0" anchor="ctr"/>
          <a:lstStyle/>
          <a:p>
            <a:pPr algn="ctr" indent="0" marL="0">
              <a:buNone/>
            </a:pPr>
            <a:r>
              <a:rPr lang="en-US" sz="1200" b="1" dirty="0">
                <a:solidFill>
                  <a:schemeClr val="accent3"/>
                </a:solidFill>
              </a:rPr>
              <a:t>Trusted zone: enforce every rule here</a:t>
            </a:r>
            <a:endParaRPr lang="en-US" sz="1200" dirty="0"/>
          </a:p>
        </p:txBody>
      </p:sp>
      <p:sp>
        <p:nvSpPr>
          <p:cNvPr id="13" name="Surface label"/>
          <p:cNvSpPr txBox="1"/>
          <p:nvPr/>
        </p:nvSpPr>
        <p:spPr>
          <a:xfrm>
            <a:off x="548640" y="3154680"/>
            <a:ext cx="8046720" cy="274320"/>
          </a:xfrm>
          <a:prstGeom prst="rect">
            <a:avLst/>
          </a:prstGeom>
          <a:noFill/>
          <a:ln/>
        </p:spPr>
        <p:txBody>
          <a:bodyPr wrap="square" lIns="0" tIns="0" rIns="0" bIns="0" rtlCol="0" anchor="ctr"/>
          <a:lstStyle/>
          <a:p>
            <a:pPr indent="0" marL="0">
              <a:buNone/>
            </a:pPr>
            <a:r>
              <a:rPr lang="en-US" sz="1400" dirty="0">
                <a:solidFill>
                  <a:schemeClr val="tx2"/>
                </a:solidFill>
              </a:rPr>
              <a:t>Also part of the attack surface</a:t>
            </a:r>
            <a:endParaRPr lang="en-US" sz="1400" dirty="0"/>
          </a:p>
        </p:txBody>
      </p:sp>
      <p:sp>
        <p:nvSpPr>
          <p:cNvPr id="14" name="Chip 0"/>
          <p:cNvSpPr txBox="1"/>
          <p:nvPr/>
        </p:nvSpPr>
        <p:spPr>
          <a:xfrm>
            <a:off x="548640" y="3520440"/>
            <a:ext cx="1828800" cy="685800"/>
          </a:xfrm>
          <a:prstGeom prst="roundRect">
            <a:avLst>
              <a:gd name="adj" fmla="val 13333"/>
            </a:avLst>
          </a:prstGeom>
          <a:solidFill>
            <a:schemeClr val="bg2"/>
          </a:solidFill>
          <a:ln/>
        </p:spPr>
        <p:txBody>
          <a:bodyPr wrap="square" lIns="127000" tIns="127000" rIns="127000" bIns="127000" rtlCol="0" anchor="ctr"/>
          <a:lstStyle/>
          <a:p>
            <a:pPr algn="l" indent="0" marL="0">
              <a:buNone/>
            </a:pPr>
            <a:r>
              <a:rPr lang="en-US" sz="1400" dirty="0">
                <a:solidFill>
                  <a:schemeClr val="tx1"/>
                </a:solidFill>
              </a:rPr>
              <a:t>Internal package feeds</a:t>
            </a:r>
            <a:endParaRPr lang="en-US" sz="1400" dirty="0"/>
          </a:p>
        </p:txBody>
      </p:sp>
      <p:sp>
        <p:nvSpPr>
          <p:cNvPr id="15" name="Chip 1"/>
          <p:cNvSpPr txBox="1"/>
          <p:nvPr/>
        </p:nvSpPr>
        <p:spPr>
          <a:xfrm>
            <a:off x="2624328" y="3520440"/>
            <a:ext cx="1828800" cy="685800"/>
          </a:xfrm>
          <a:prstGeom prst="roundRect">
            <a:avLst>
              <a:gd name="adj" fmla="val 13333"/>
            </a:avLst>
          </a:prstGeom>
          <a:solidFill>
            <a:schemeClr val="bg2"/>
          </a:solidFill>
          <a:ln/>
        </p:spPr>
        <p:txBody>
          <a:bodyPr wrap="square" lIns="127000" tIns="127000" rIns="127000" bIns="127000" rtlCol="0" anchor="ctr"/>
          <a:lstStyle/>
          <a:p>
            <a:pPr algn="l" indent="0" marL="0">
              <a:buNone/>
            </a:pPr>
            <a:r>
              <a:rPr lang="en-US" sz="1400" dirty="0">
                <a:solidFill>
                  <a:schemeClr val="tx1"/>
                </a:solidFill>
              </a:rPr>
              <a:t>Configuration and secrets</a:t>
            </a:r>
            <a:endParaRPr lang="en-US" sz="1400" dirty="0"/>
          </a:p>
        </p:txBody>
      </p:sp>
      <p:sp>
        <p:nvSpPr>
          <p:cNvPr id="16" name="Chip 2"/>
          <p:cNvSpPr txBox="1"/>
          <p:nvPr/>
        </p:nvSpPr>
        <p:spPr>
          <a:xfrm>
            <a:off x="4700016" y="3520440"/>
            <a:ext cx="1828800" cy="685800"/>
          </a:xfrm>
          <a:prstGeom prst="roundRect">
            <a:avLst>
              <a:gd name="adj" fmla="val 13333"/>
            </a:avLst>
          </a:prstGeom>
          <a:solidFill>
            <a:schemeClr val="bg2"/>
          </a:solidFill>
          <a:ln/>
        </p:spPr>
        <p:txBody>
          <a:bodyPr wrap="square" lIns="127000" tIns="127000" rIns="127000" bIns="127000" rtlCol="0" anchor="ctr"/>
          <a:lstStyle/>
          <a:p>
            <a:pPr algn="l" indent="0" marL="0">
              <a:buNone/>
            </a:pPr>
            <a:r>
              <a:rPr lang="en-US" sz="1400" dirty="0">
                <a:solidFill>
                  <a:schemeClr val="tx1"/>
                </a:solidFill>
              </a:rPr>
              <a:t>Security logs</a:t>
            </a:r>
            <a:endParaRPr lang="en-US" sz="1400" dirty="0"/>
          </a:p>
        </p:txBody>
      </p:sp>
      <p:sp>
        <p:nvSpPr>
          <p:cNvPr id="17" name="Chip 3"/>
          <p:cNvSpPr txBox="1"/>
          <p:nvPr/>
        </p:nvSpPr>
        <p:spPr>
          <a:xfrm>
            <a:off x="6775704" y="3520440"/>
            <a:ext cx="1828800" cy="685800"/>
          </a:xfrm>
          <a:prstGeom prst="roundRect">
            <a:avLst>
              <a:gd name="adj" fmla="val 13333"/>
            </a:avLst>
          </a:prstGeom>
          <a:solidFill>
            <a:schemeClr val="bg2"/>
          </a:solidFill>
          <a:ln/>
        </p:spPr>
        <p:txBody>
          <a:bodyPr wrap="square" lIns="127000" tIns="127000" rIns="127000" bIns="127000" rtlCol="0" anchor="ctr"/>
          <a:lstStyle/>
          <a:p>
            <a:pPr algn="l" indent="0" marL="0">
              <a:buNone/>
            </a:pPr>
            <a:r>
              <a:rPr lang="en-US" sz="1400" dirty="0">
                <a:solidFill>
                  <a:schemeClr val="tx1"/>
                </a:solidFill>
              </a:rPr>
              <a:t>Offline update media</a:t>
            </a:r>
            <a:endParaRPr lang="en-US" sz="14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4"/>
                                        </p:tgtEl>
                                        <p:attrNameLst>
                                          <p:attrName>style.visibility</p:attrName>
                                        </p:attrNameLst>
                                      </p:cBhvr>
                                      <p:to>
                                        <p:strVal val="visible"/>
                                      </p:to>
                                    </p:set>
                                    <p:anim calcmode="lin" valueType="num">
                                      <p:cBhvr additive="base">
                                        <p:cTn id="4" dur="500" fill="hold"/>
                                        <p:tgtEl>
                                          <p:spTgt spid="4"/>
                                        </p:tgtEl>
                                        <p:attrNameLst>
                                          <p:attrName>ppt_w</p:attrName>
                                        </p:attrNameLst>
                                      </p:cBhvr>
                                      <p:tavLst>
                                        <p:tav tm="0">
                                          <p:val>
                                            <p:fltVal val="0"/>
                                          </p:val>
                                        </p:tav>
                                        <p:tav tm="100000">
                                          <p:val>
                                            <p:strVal val="#ppt_w"/>
                                          </p:val>
                                        </p:tav>
                                      </p:tavLst>
                                    </p:anim>
                                    <p:anim calcmode="lin" valueType="num">
                                      <p:cBhvr additive="base">
                                        <p:cTn id="5" dur="500" fill="hold"/>
                                        <p:tgtEl>
                                          <p:spTgt spid="4"/>
                                        </p:tgtEl>
                                        <p:attrNameLst>
                                          <p:attrName>ppt_h</p:attrName>
                                        </p:attrNameLst>
                                      </p:cBhvr>
                                      <p:tavLst>
                                        <p:tav tm="0">
                                          <p:val>
                                            <p:fltVal val="0"/>
                                          </p:val>
                                        </p:tav>
                                        <p:tav tm="100000">
                                          <p:val>
                                            <p:strVal val="#ppt_h"/>
                                          </p:val>
                                        </p:tav>
                                      </p:tavLst>
                                    </p:anim>
                                    <p:animEffect transition="in" filter="fade">
                                      <p:cBhvr>
                                        <p:cTn id="6" dur="500"/>
                                        <p:tgtEl>
                                          <p:spTgt spid="4"/>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 calcmode="lin" valueType="num">
                                      <p:cBhvr additive="base">
                                        <p:cTn id="9" dur="500" fill="hold"/>
                                        <p:tgtEl>
                                          <p:spTgt spid="11"/>
                                        </p:tgtEl>
                                        <p:attrNameLst>
                                          <p:attrName>ppt_w</p:attrName>
                                        </p:attrNameLst>
                                      </p:cBhvr>
                                      <p:tavLst>
                                        <p:tav tm="0">
                                          <p:val>
                                            <p:fltVal val="0"/>
                                          </p:val>
                                        </p:tav>
                                        <p:tav tm="100000">
                                          <p:val>
                                            <p:strVal val="#ppt_w"/>
                                          </p:val>
                                        </p:tav>
                                      </p:tavLst>
                                    </p:anim>
                                    <p:anim calcmode="lin" valueType="num">
                                      <p:cBhvr additive="base">
                                        <p:cTn id="10" dur="500" fill="hold"/>
                                        <p:tgtEl>
                                          <p:spTgt spid="11"/>
                                        </p:tgtEl>
                                        <p:attrNameLst>
                                          <p:attrName>ppt_h</p:attrName>
                                        </p:attrNameLst>
                                      </p:cBhvr>
                                      <p:tavLst>
                                        <p:tav tm="0">
                                          <p:val>
                                            <p:fltVal val="0"/>
                                          </p:val>
                                        </p:tav>
                                        <p:tav tm="100000">
                                          <p:val>
                                            <p:strVal val="#ppt_h"/>
                                          </p:val>
                                        </p:tav>
                                      </p:tavLst>
                                    </p:anim>
                                    <p:animEffect transition="in" filter="fade">
                                      <p:cBhvr>
                                        <p:cTn id="11"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8" presetID="2" presetClass="entr" presetSubtype="8"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0-#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par>
                                <p:cTn id="22" presetID="2" presetClass="entr" presetSubtype="8"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ppt_x</p:attrName>
                                        </p:attrNameLst>
                                      </p:cBhvr>
                                      <p:tavLst>
                                        <p:tav tm="0">
                                          <p:val>
                                            <p:strVal val="0-#ppt_w/2"/>
                                          </p:val>
                                        </p:tav>
                                        <p:tav tm="100000">
                                          <p:val>
                                            <p:strVal val="#ppt_x"/>
                                          </p:val>
                                        </p:tav>
                                      </p:tavLst>
                                    </p:anim>
                                    <p:anim calcmode="lin" valueType="num">
                                      <p:cBhvr additive="base">
                                        <p:cTn id="21"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28" presetID="2" presetClass="entr" presetSubtype="8"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0-#ppt_w/2"/>
                                          </p:val>
                                        </p:tav>
                                        <p:tav tm="100000">
                                          <p:val>
                                            <p:strVal val="#ppt_x"/>
                                          </p:val>
                                        </p:tav>
                                      </p:tavLst>
                                    </p:anim>
                                    <p:anim calcmode="lin" valueType="num">
                                      <p:cBhvr additive="base">
                                        <p:cTn id="27" dur="500" fill="hold"/>
                                        <p:tgtEl>
                                          <p:spTgt spid="7"/>
                                        </p:tgtEl>
                                        <p:attrNameLst>
                                          <p:attrName>ppt_y</p:attrName>
                                        </p:attrNameLst>
                                      </p:cBhvr>
                                      <p:tavLst>
                                        <p:tav tm="0">
                                          <p:val>
                                            <p:strVal val="#ppt_y"/>
                                          </p:val>
                                        </p:tav>
                                        <p:tav tm="100000">
                                          <p:val>
                                            <p:strVal val="#ppt_y"/>
                                          </p:val>
                                        </p:tav>
                                      </p:tavLst>
                                    </p:anim>
                                  </p:childTnLst>
                                </p:cTn>
                              </p:par>
                              <p:par>
                                <p:cTn id="32" presetID="2" presetClass="entr" presetSubtype="8"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ppt_x</p:attrName>
                                        </p:attrNameLst>
                                      </p:cBhvr>
                                      <p:tavLst>
                                        <p:tav tm="0">
                                          <p:val>
                                            <p:strVal val="0-#ppt_w/2"/>
                                          </p:val>
                                        </p:tav>
                                        <p:tav tm="100000">
                                          <p:val>
                                            <p:strVal val="#ppt_x"/>
                                          </p:val>
                                        </p:tav>
                                      </p:tavLst>
                                    </p:anim>
                                    <p:anim calcmode="lin" valueType="num">
                                      <p:cBhvr additive="base">
                                        <p:cTn id="31"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38" presetID="2" presetClass="entr" presetSubtype="8"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0-#ppt_w/2"/>
                                          </p:val>
                                        </p:tav>
                                        <p:tav tm="100000">
                                          <p:val>
                                            <p:strVal val="#ppt_x"/>
                                          </p:val>
                                        </p:tav>
                                      </p:tavLst>
                                    </p:anim>
                                    <p:anim calcmode="lin" valueType="num">
                                      <p:cBhvr additive="base">
                                        <p:cTn id="37" dur="500" fill="hold"/>
                                        <p:tgtEl>
                                          <p:spTgt spid="9"/>
                                        </p:tgtEl>
                                        <p:attrNameLst>
                                          <p:attrName>ppt_y</p:attrName>
                                        </p:attrNameLst>
                                      </p:cBhvr>
                                      <p:tavLst>
                                        <p:tav tm="0">
                                          <p:val>
                                            <p:strVal val="#ppt_y"/>
                                          </p:val>
                                        </p:tav>
                                        <p:tav tm="100000">
                                          <p:val>
                                            <p:strVal val="#ppt_y"/>
                                          </p:val>
                                        </p:tav>
                                      </p:tavLst>
                                    </p:anim>
                                  </p:childTnLst>
                                </p:cTn>
                              </p:par>
                              <p:par>
                                <p:cTn id="42" presetID="2" presetClass="entr" presetSubtype="8"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ppt_x</p:attrName>
                                        </p:attrNameLst>
                                      </p:cBhvr>
                                      <p:tavLst>
                                        <p:tav tm="0">
                                          <p:val>
                                            <p:strVal val="0-#ppt_w/2"/>
                                          </p:val>
                                        </p:tav>
                                        <p:tav tm="100000">
                                          <p:val>
                                            <p:strVal val="#ppt_x"/>
                                          </p:val>
                                        </p:tav>
                                      </p:tavLst>
                                    </p:anim>
                                    <p:anim calcmode="lin" valueType="num">
                                      <p:cBhvr additive="base">
                                        <p:cTn id="41" dur="500" fill="hold"/>
                                        <p:tgtEl>
                                          <p:spTgt spid="10"/>
                                        </p:tgtEl>
                                        <p:attrNameLst>
                                          <p:attrName>ppt_y</p:attrName>
                                        </p:attrNameLst>
                                      </p:cBhvr>
                                      <p:tavLst>
                                        <p:tav tm="0">
                                          <p:val>
                                            <p:strVal val="#ppt_y"/>
                                          </p:val>
                                        </p:tav>
                                        <p:tav tm="100000">
                                          <p:val>
                                            <p:strVal val="#ppt_y"/>
                                          </p:val>
                                        </p:tav>
                                      </p:tavLst>
                                    </p:anim>
                                  </p:childTnLst>
                                </p:cTn>
                              </p:par>
                              <p:par>
                                <p:cTn id="46" presetID="2" presetClass="entr" presetSubtype="8"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500" fill="hold"/>
                                        <p:tgtEl>
                                          <p:spTgt spid="12"/>
                                        </p:tgtEl>
                                        <p:attrNameLst>
                                          <p:attrName>ppt_x</p:attrName>
                                        </p:attrNameLst>
                                      </p:cBhvr>
                                      <p:tavLst>
                                        <p:tav tm="0">
                                          <p:val>
                                            <p:strVal val="0-#ppt_w/2"/>
                                          </p:val>
                                        </p:tav>
                                        <p:tav tm="100000">
                                          <p:val>
                                            <p:strVal val="#ppt_x"/>
                                          </p:val>
                                        </p:tav>
                                      </p:tavLst>
                                    </p:anim>
                                    <p:anim calcmode="lin" valueType="num">
                                      <p:cBhvr additive="base">
                                        <p:cTn id="45"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51" presetID="10" presetClass="entr" presetSubtype="0"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400"/>
                                        <p:tgtEl>
                                          <p:spTgt spid="13"/>
                                        </p:tgtEl>
                                      </p:cBhvr>
                                    </p:animEffect>
                                  </p:childTnLst>
                                </p:cTn>
                              </p:par>
                              <p:par>
                                <p:cTn id="55" presetID="2" presetClass="entr" presetSubtype="4" fill="hold" grpId="0" nodeType="withEffect">
                                  <p:stCondLst>
                                    <p:cond delay="200"/>
                                  </p:stCondLst>
                                  <p:childTnLst>
                                    <p:set>
                                      <p:cBhvr>
                                        <p:cTn id="52" dur="1" fill="hold">
                                          <p:stCondLst>
                                            <p:cond delay="0"/>
                                          </p:stCondLst>
                                        </p:cTn>
                                        <p:tgtEl>
                                          <p:spTgt spid="14"/>
                                        </p:tgtEl>
                                        <p:attrNameLst>
                                          <p:attrName>style.visibility</p:attrName>
                                        </p:attrNameLst>
                                      </p:cBhvr>
                                      <p:to>
                                        <p:strVal val="visible"/>
                                      </p:to>
                                    </p:set>
                                    <p:anim calcmode="lin" valueType="num">
                                      <p:cBhvr additive="base">
                                        <p:cTn id="53" dur="400" fill="hold"/>
                                        <p:tgtEl>
                                          <p:spTgt spid="14"/>
                                        </p:tgtEl>
                                        <p:attrNameLst>
                                          <p:attrName>ppt_x</p:attrName>
                                        </p:attrNameLst>
                                      </p:cBhvr>
                                      <p:tavLst>
                                        <p:tav tm="0">
                                          <p:val>
                                            <p:strVal val="#ppt_x"/>
                                          </p:val>
                                        </p:tav>
                                        <p:tav tm="100000">
                                          <p:val>
                                            <p:strVal val="#ppt_x"/>
                                          </p:val>
                                        </p:tav>
                                      </p:tavLst>
                                    </p:anim>
                                    <p:anim calcmode="lin" valueType="num">
                                      <p:cBhvr additive="base">
                                        <p:cTn id="54" dur="400" fill="hold"/>
                                        <p:tgtEl>
                                          <p:spTgt spid="14"/>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400"/>
                                  </p:stCondLst>
                                  <p:childTnLst>
                                    <p:set>
                                      <p:cBhvr>
                                        <p:cTn id="56" dur="1" fill="hold">
                                          <p:stCondLst>
                                            <p:cond delay="0"/>
                                          </p:stCondLst>
                                        </p:cTn>
                                        <p:tgtEl>
                                          <p:spTgt spid="15"/>
                                        </p:tgtEl>
                                        <p:attrNameLst>
                                          <p:attrName>style.visibility</p:attrName>
                                        </p:attrNameLst>
                                      </p:cBhvr>
                                      <p:to>
                                        <p:strVal val="visible"/>
                                      </p:to>
                                    </p:set>
                                    <p:anim calcmode="lin" valueType="num">
                                      <p:cBhvr additive="base">
                                        <p:cTn id="57" dur="400" fill="hold"/>
                                        <p:tgtEl>
                                          <p:spTgt spid="15"/>
                                        </p:tgtEl>
                                        <p:attrNameLst>
                                          <p:attrName>ppt_x</p:attrName>
                                        </p:attrNameLst>
                                      </p:cBhvr>
                                      <p:tavLst>
                                        <p:tav tm="0">
                                          <p:val>
                                            <p:strVal val="#ppt_x"/>
                                          </p:val>
                                        </p:tav>
                                        <p:tav tm="100000">
                                          <p:val>
                                            <p:strVal val="#ppt_x"/>
                                          </p:val>
                                        </p:tav>
                                      </p:tavLst>
                                    </p:anim>
                                    <p:anim calcmode="lin" valueType="num">
                                      <p:cBhvr additive="base">
                                        <p:cTn id="58" dur="400" fill="hold"/>
                                        <p:tgtEl>
                                          <p:spTgt spid="15"/>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60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400" fill="hold"/>
                                        <p:tgtEl>
                                          <p:spTgt spid="16"/>
                                        </p:tgtEl>
                                        <p:attrNameLst>
                                          <p:attrName>ppt_x</p:attrName>
                                        </p:attrNameLst>
                                      </p:cBhvr>
                                      <p:tavLst>
                                        <p:tav tm="0">
                                          <p:val>
                                            <p:strVal val="#ppt_x"/>
                                          </p:val>
                                        </p:tav>
                                        <p:tav tm="100000">
                                          <p:val>
                                            <p:strVal val="#ppt_x"/>
                                          </p:val>
                                        </p:tav>
                                      </p:tavLst>
                                    </p:anim>
                                    <p:anim calcmode="lin" valueType="num">
                                      <p:cBhvr additive="base">
                                        <p:cTn id="62" dur="400" fill="hold"/>
                                        <p:tgtEl>
                                          <p:spTgt spid="16"/>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80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400" fill="hold"/>
                                        <p:tgtEl>
                                          <p:spTgt spid="17"/>
                                        </p:tgtEl>
                                        <p:attrNameLst>
                                          <p:attrName>ppt_x</p:attrName>
                                        </p:attrNameLst>
                                      </p:cBhvr>
                                      <p:tavLst>
                                        <p:tav tm="0">
                                          <p:val>
                                            <p:strVal val="#ppt_x"/>
                                          </p:val>
                                        </p:tav>
                                        <p:tav tm="100000">
                                          <p:val>
                                            <p:strVal val="#ppt_x"/>
                                          </p:val>
                                        </p:tav>
                                      </p:tavLst>
                                    </p:anim>
                                    <p:anim calcmode="lin" valueType="num">
                                      <p:cBhvr additive="base">
                                        <p:cTn id="66" dur="4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5" grpId="0" animBg="1"/>
      <p:bldP spid="6" grpId="0" animBg="1"/>
      <p:bldP spid="7" grpId="0" animBg="1"/>
      <p:bldP spid="8" grpId="0" animBg="1"/>
      <p:bldP spid="9" grpId="0" animBg="1"/>
      <p:bldP spid="10" grpId="0" animBg="1"/>
      <p:bldP spid="12" grpId="0" animBg="1"/>
      <p:bldP spid="13" grpId="0" animBg="1"/>
      <p:bldP spid="14" grpId="0" animBg="1"/>
      <p:bldP spid="15" grpId="0" animBg="1"/>
      <p:bldP spid="16" grpId="0" animBg="1"/>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Trust boundaries</a:t>
            </a:r>
            <a:endParaRPr lang="en-US" sz="3000" dirty="0"/>
          </a:p>
        </p:txBody>
      </p:sp>
      <p:sp>
        <p:nvSpPr>
          <p:cNvPr id="4" name="Statement"/>
          <p:cNvSpPr txBox="1"/>
          <p:nvPr/>
        </p:nvSpPr>
        <p:spPr>
          <a:xfrm>
            <a:off x="457200" y="1371600"/>
            <a:ext cx="4114800" cy="2011680"/>
          </a:xfrm>
          <a:prstGeom prst="rect">
            <a:avLst/>
          </a:prstGeom>
          <a:noFill/>
          <a:ln/>
        </p:spPr>
        <p:txBody>
          <a:bodyPr wrap="square" lIns="0" tIns="0" rIns="0" bIns="0" rtlCol="0" anchor="t"/>
          <a:lstStyle/>
          <a:p>
            <a:pPr indent="0" marL="0">
              <a:buNone/>
            </a:pPr>
            <a:r>
              <a:rPr lang="en-US" sz="3400" b="1" dirty="0">
                <a:solidFill>
                  <a:schemeClr val="tx1"/>
                </a:solidFill>
              </a:rPr>
              <a:t>Angular is not the security boundary.</a:t>
            </a:r>
            <a:endParaRPr lang="en-US" sz="3400" dirty="0"/>
          </a:p>
        </p:txBody>
      </p:sp>
      <p:sp>
        <p:nvSpPr>
          <p:cNvPr id="5" name="Statement answer"/>
          <p:cNvSpPr txBox="1"/>
          <p:nvPr/>
        </p:nvSpPr>
        <p:spPr>
          <a:xfrm>
            <a:off x="457200" y="3383280"/>
            <a:ext cx="4114800" cy="548640"/>
          </a:xfrm>
          <a:prstGeom prst="rect">
            <a:avLst/>
          </a:prstGeom>
          <a:noFill/>
          <a:ln/>
        </p:spPr>
        <p:txBody>
          <a:bodyPr wrap="square" lIns="0" tIns="0" rIns="0" bIns="0" rtlCol="0" anchor="ctr"/>
          <a:lstStyle/>
          <a:p>
            <a:pPr indent="0" marL="0">
              <a:buNone/>
            </a:pPr>
            <a:r>
              <a:rPr lang="en-US" sz="2400" b="1" dirty="0">
                <a:solidFill>
                  <a:schemeClr val="accent1"/>
                </a:solidFill>
              </a:rPr>
              <a:t>The .NET Core API is.</a:t>
            </a:r>
            <a:endParaRPr lang="en-US" sz="2400" dirty="0"/>
          </a:p>
        </p:txBody>
      </p:sp>
      <p:pic>
        <p:nvPicPr>
          <p:cNvPr id="6" name="Mascot" descr="Mascot cartoon">    </p:cNvPr>
          <p:cNvPicPr>
            <a:picLocks noChangeAspect="1"/>
          </p:cNvPicPr>
          <p:nvPr/>
        </p:nvPicPr>
        <p:blipFill>
          <a:blip r:embed="rId1"/>
          <a:stretch>
            <a:fillRect/>
          </a:stretch>
        </p:blipFill>
        <p:spPr>
          <a:xfrm>
            <a:off x="457200" y="3931920"/>
            <a:ext cx="1005840" cy="1005840"/>
          </a:xfrm>
          <a:prstGeom prst="rect">
            <a:avLst/>
          </a:prstGeom>
        </p:spPr>
      </p:pic>
      <p:sp>
        <p:nvSpPr>
          <p:cNvPr id="7" name="Controls label"/>
          <p:cNvSpPr txBox="1"/>
          <p:nvPr/>
        </p:nvSpPr>
        <p:spPr>
          <a:xfrm>
            <a:off x="4937760" y="1325880"/>
            <a:ext cx="3749040" cy="320040"/>
          </a:xfrm>
          <a:prstGeom prst="rect">
            <a:avLst/>
          </a:prstGeom>
          <a:noFill/>
          <a:ln/>
        </p:spPr>
        <p:txBody>
          <a:bodyPr wrap="square" lIns="0" tIns="0" rIns="0" bIns="0" rtlCol="0" anchor="ctr"/>
          <a:lstStyle/>
          <a:p>
            <a:pPr indent="0" marL="0">
              <a:buNone/>
            </a:pPr>
            <a:r>
              <a:rPr lang="en-US" sz="1400" dirty="0">
                <a:solidFill>
                  <a:schemeClr val="tx2"/>
                </a:solidFill>
              </a:rPr>
              <a:t>What an attacker controls</a:t>
            </a:r>
            <a:endParaRPr lang="en-US" sz="1400" dirty="0"/>
          </a:p>
        </p:txBody>
      </p:sp>
      <p:sp>
        <p:nvSpPr>
          <p:cNvPr id="8" name="Control 0"/>
          <p:cNvSpPr txBox="1"/>
          <p:nvPr/>
        </p:nvSpPr>
        <p:spPr>
          <a:xfrm>
            <a:off x="4937760" y="1737360"/>
            <a:ext cx="1828800" cy="685800"/>
          </a:xfrm>
          <a:prstGeom prst="roundRect">
            <a:avLst>
              <a:gd name="adj" fmla="val 13333"/>
            </a:avLst>
          </a:prstGeom>
          <a:solidFill>
            <a:schemeClr val="bg2"/>
          </a:solidFill>
          <a:ln/>
        </p:spPr>
        <p:txBody>
          <a:bodyPr wrap="square" lIns="152400" tIns="152400" rIns="152400" bIns="152400" rtlCol="0" anchor="ctr"/>
          <a:lstStyle/>
          <a:p>
            <a:pPr algn="l" indent="0" marL="0">
              <a:buNone/>
            </a:pPr>
            <a:r>
              <a:rPr lang="en-US" sz="1600" dirty="0">
                <a:solidFill>
                  <a:schemeClr val="tx1"/>
                </a:solidFill>
              </a:rPr>
              <a:t>HTTP requests</a:t>
            </a:r>
            <a:endParaRPr lang="en-US" sz="1600" dirty="0"/>
          </a:p>
        </p:txBody>
      </p:sp>
      <p:sp>
        <p:nvSpPr>
          <p:cNvPr id="9" name="Control 1"/>
          <p:cNvSpPr txBox="1"/>
          <p:nvPr/>
        </p:nvSpPr>
        <p:spPr>
          <a:xfrm>
            <a:off x="6858000" y="1737360"/>
            <a:ext cx="1828800" cy="685800"/>
          </a:xfrm>
          <a:prstGeom prst="roundRect">
            <a:avLst>
              <a:gd name="adj" fmla="val 13333"/>
            </a:avLst>
          </a:prstGeom>
          <a:solidFill>
            <a:schemeClr val="bg2"/>
          </a:solidFill>
          <a:ln/>
        </p:spPr>
        <p:txBody>
          <a:bodyPr wrap="square" lIns="152400" tIns="152400" rIns="152400" bIns="152400" rtlCol="0" anchor="ctr"/>
          <a:lstStyle/>
          <a:p>
            <a:pPr algn="l" indent="0" marL="0">
              <a:buNone/>
            </a:pPr>
            <a:r>
              <a:rPr lang="en-US" sz="1600" dirty="0">
                <a:solidFill>
                  <a:schemeClr val="tx1"/>
                </a:solidFill>
              </a:rPr>
              <a:t>Tokens and headers</a:t>
            </a:r>
            <a:endParaRPr lang="en-US" sz="1600" dirty="0"/>
          </a:p>
        </p:txBody>
      </p:sp>
      <p:sp>
        <p:nvSpPr>
          <p:cNvPr id="10" name="Control 2"/>
          <p:cNvSpPr txBox="1"/>
          <p:nvPr/>
        </p:nvSpPr>
        <p:spPr>
          <a:xfrm>
            <a:off x="4937760" y="2606040"/>
            <a:ext cx="1828800" cy="685800"/>
          </a:xfrm>
          <a:prstGeom prst="roundRect">
            <a:avLst>
              <a:gd name="adj" fmla="val 13333"/>
            </a:avLst>
          </a:prstGeom>
          <a:solidFill>
            <a:schemeClr val="bg2"/>
          </a:solidFill>
          <a:ln/>
        </p:spPr>
        <p:txBody>
          <a:bodyPr wrap="square" lIns="152400" tIns="152400" rIns="152400" bIns="152400" rtlCol="0" anchor="ctr"/>
          <a:lstStyle/>
          <a:p>
            <a:pPr algn="l" indent="0" marL="0">
              <a:buNone/>
            </a:pPr>
            <a:r>
              <a:rPr lang="en-US" sz="1600" dirty="0">
                <a:solidFill>
                  <a:schemeClr val="tx1"/>
                </a:solidFill>
              </a:rPr>
              <a:t>Uploaded files</a:t>
            </a:r>
            <a:endParaRPr lang="en-US" sz="1600" dirty="0"/>
          </a:p>
        </p:txBody>
      </p:sp>
      <p:sp>
        <p:nvSpPr>
          <p:cNvPr id="11" name="Control 3"/>
          <p:cNvSpPr txBox="1"/>
          <p:nvPr/>
        </p:nvSpPr>
        <p:spPr>
          <a:xfrm>
            <a:off x="6858000" y="2606040"/>
            <a:ext cx="1828800" cy="685800"/>
          </a:xfrm>
          <a:prstGeom prst="roundRect">
            <a:avLst>
              <a:gd name="adj" fmla="val 13333"/>
            </a:avLst>
          </a:prstGeom>
          <a:solidFill>
            <a:schemeClr val="bg2"/>
          </a:solidFill>
          <a:ln/>
        </p:spPr>
        <p:txBody>
          <a:bodyPr wrap="square" lIns="152400" tIns="152400" rIns="152400" bIns="152400" rtlCol="0" anchor="ctr"/>
          <a:lstStyle/>
          <a:p>
            <a:pPr algn="l" indent="0" marL="0">
              <a:buNone/>
            </a:pPr>
            <a:r>
              <a:rPr lang="en-US" sz="1600" dirty="0">
                <a:solidFill>
                  <a:schemeClr val="tx1"/>
                </a:solidFill>
              </a:rPr>
              <a:t>Packages</a:t>
            </a:r>
            <a:endParaRPr lang="en-US" sz="1600" dirty="0"/>
          </a:p>
        </p:txBody>
      </p:sp>
      <p:sp>
        <p:nvSpPr>
          <p:cNvPr id="12" name="Control 4"/>
          <p:cNvSpPr txBox="1"/>
          <p:nvPr/>
        </p:nvSpPr>
        <p:spPr>
          <a:xfrm>
            <a:off x="4937760" y="3474720"/>
            <a:ext cx="1828800" cy="685800"/>
          </a:xfrm>
          <a:prstGeom prst="roundRect">
            <a:avLst>
              <a:gd name="adj" fmla="val 13333"/>
            </a:avLst>
          </a:prstGeom>
          <a:solidFill>
            <a:schemeClr val="bg2"/>
          </a:solidFill>
          <a:ln/>
        </p:spPr>
        <p:txBody>
          <a:bodyPr wrap="square" lIns="152400" tIns="152400" rIns="152400" bIns="152400" rtlCol="0" anchor="ctr"/>
          <a:lstStyle/>
          <a:p>
            <a:pPr algn="l" indent="0" marL="0">
              <a:buNone/>
            </a:pPr>
            <a:r>
              <a:rPr lang="en-US" sz="1600" dirty="0">
                <a:solidFill>
                  <a:schemeClr val="tx1"/>
                </a:solidFill>
              </a:rPr>
              <a:t>Configuration</a:t>
            </a:r>
            <a:endParaRPr lang="en-US" sz="1600" dirty="0"/>
          </a:p>
        </p:txBody>
      </p:sp>
      <p:sp>
        <p:nvSpPr>
          <p:cNvPr id="13" name="Control 5"/>
          <p:cNvSpPr txBox="1"/>
          <p:nvPr/>
        </p:nvSpPr>
        <p:spPr>
          <a:xfrm>
            <a:off x="6858000" y="3474720"/>
            <a:ext cx="1828800" cy="685800"/>
          </a:xfrm>
          <a:prstGeom prst="roundRect">
            <a:avLst>
              <a:gd name="adj" fmla="val 13333"/>
            </a:avLst>
          </a:prstGeom>
          <a:solidFill>
            <a:schemeClr val="bg2"/>
          </a:solidFill>
          <a:ln/>
        </p:spPr>
        <p:txBody>
          <a:bodyPr wrap="square" lIns="152400" tIns="152400" rIns="152400" bIns="152400" rtlCol="0" anchor="ctr"/>
          <a:lstStyle/>
          <a:p>
            <a:pPr algn="l" indent="0" marL="0">
              <a:buNone/>
            </a:pPr>
            <a:r>
              <a:rPr lang="en-US" sz="1600" dirty="0">
                <a:solidFill>
                  <a:schemeClr val="tx1"/>
                </a:solidFill>
              </a:rPr>
              <a:t>Update media</a:t>
            </a:r>
            <a:endParaRPr lang="en-US" sz="16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cond evt="onBegin" delay="0">
                          <p:tn val="2"/>
                        </p:cond>
                      </p:stCondLst>
                      <p:childTnLst>
                        <p:par>
                          <p:cTn id="7"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700"/>
                                        <p:tgtEl>
                                          <p:spTgt spid="4"/>
                                        </p:tgtEl>
                                      </p:cBhvr>
                                    </p:animEffect>
                                  </p:childTnLst>
                                </p:cTn>
                              </p:par>
                            </p:childTnLst>
                          </p:cTn>
                        </p:par>
                      </p:childTnLst>
                    </p:cTn>
                  </p:par>
                  <p:par>
                    <p:cTn id="17" fill="hold">
                      <p:stCondLst>
                        <p:cond delay="indefinite"/>
                      </p:stCondLst>
                      <p:childTnLst>
                        <p:par>
                          <p:cTn id="18" fill="hold">
                            <p:stCondLst>
                              <p:cond delay="0"/>
                            </p:stCondLst>
                            <p:childTnLst>
                              <p:par>
                                <p:cTn id="12" presetID="53" presetClass="entr" presetSubtype="16" fill="hold" grpId="0" nodeType="clickEffect">
                                  <p:stCondLst>
                                    <p:cond delay="0"/>
                                  </p:stCondLst>
                                  <p:childTnLst>
                                    <p:set>
                                      <p:cBhvr>
                                        <p:cTn id="8" dur="1" fill="hold">
                                          <p:stCondLst>
                                            <p:cond delay="0"/>
                                          </p:stCondLst>
                                        </p:cTn>
                                        <p:tgtEl>
                                          <p:spTgt spid="5"/>
                                        </p:tgtEl>
                                        <p:attrNameLst>
                                          <p:attrName>style.visibility</p:attrName>
                                        </p:attrNameLst>
                                      </p:cBhvr>
                                      <p:to>
                                        <p:strVal val="visible"/>
                                      </p:to>
                                    </p:set>
                                    <p:anim calcmode="lin" valueType="num">
                                      <p:cBhvr additive="base">
                                        <p:cTn id="9" dur="500" fill="hold"/>
                                        <p:tgtEl>
                                          <p:spTgt spid="5"/>
                                        </p:tgtEl>
                                        <p:attrNameLst>
                                          <p:attrName>ppt_w</p:attrName>
                                        </p:attrNameLst>
                                      </p:cBhvr>
                                      <p:tavLst>
                                        <p:tav tm="0">
                                          <p:val>
                                            <p:fltVal val="0"/>
                                          </p:val>
                                        </p:tav>
                                        <p:tav tm="100000">
                                          <p:val>
                                            <p:strVal val="#ppt_w"/>
                                          </p:val>
                                        </p:tav>
                                      </p:tavLst>
                                    </p:anim>
                                    <p:anim calcmode="lin" valueType="num">
                                      <p:cBhvr additive="base">
                                        <p:cTn id="10" dur="500" fill="hold"/>
                                        <p:tgtEl>
                                          <p:spTgt spid="5"/>
                                        </p:tgtEl>
                                        <p:attrNameLst>
                                          <p:attrName>ppt_h</p:attrName>
                                        </p:attrNameLst>
                                      </p:cBhvr>
                                      <p:tavLst>
                                        <p:tav tm="0">
                                          <p:val>
                                            <p:fltVal val="0"/>
                                          </p:val>
                                        </p:tav>
                                        <p:tav tm="100000">
                                          <p:val>
                                            <p:strVal val="#ppt_h"/>
                                          </p:val>
                                        </p:tav>
                                      </p:tavLst>
                                    </p:anim>
                                    <p:animEffect transition="in" filter="fade">
                                      <p:cBhvr>
                                        <p:cTn id="11" dur="500"/>
                                        <p:tgtEl>
                                          <p:spTgt spid="5"/>
                                        </p:tgtEl>
                                      </p:cBhvr>
                                    </p:animEffect>
                                  </p:childTnLst>
                                </p:cTn>
                              </p:par>
                              <p:par>
                                <p:cTn id="16" presetID="2" presetClass="entr" presetSubtype="8" fill="hold" nodeType="withEffect">
                                  <p:stCondLst>
                                    <p:cond delay="20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600" fill="hold"/>
                                        <p:tgtEl>
                                          <p:spTgt spid="6"/>
                                        </p:tgtEl>
                                        <p:attrNameLst>
                                          <p:attrName>ppt_x</p:attrName>
                                        </p:attrNameLst>
                                      </p:cBhvr>
                                      <p:tavLst>
                                        <p:tav tm="0">
                                          <p:val>
                                            <p:strVal val="0-#ppt_w/2"/>
                                          </p:val>
                                        </p:tav>
                                        <p:tav tm="100000">
                                          <p:val>
                                            <p:strVal val="#ppt_x"/>
                                          </p:val>
                                        </p:tav>
                                      </p:tavLst>
                                    </p:anim>
                                    <p:anim calcmode="lin" valueType="num">
                                      <p:cBhvr additive="base">
                                        <p:cTn id="15" dur="6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21"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300"/>
                                        <p:tgtEl>
                                          <p:spTgt spid="7"/>
                                        </p:tgtEl>
                                      </p:cBhvr>
                                    </p:animEffect>
                                  </p:childTnLst>
                                </p:cTn>
                              </p:par>
                              <p:par>
                                <p:cTn id="25" presetID="2" presetClass="entr" presetSubtype="2"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400" fill="hold"/>
                                        <p:tgtEl>
                                          <p:spTgt spid="8"/>
                                        </p:tgtEl>
                                        <p:attrNameLst>
                                          <p:attrName>ppt_x</p:attrName>
                                        </p:attrNameLst>
                                      </p:cBhvr>
                                      <p:tavLst>
                                        <p:tav tm="0">
                                          <p:val>
                                            <p:strVal val="1+#ppt_w/2"/>
                                          </p:val>
                                        </p:tav>
                                        <p:tav tm="100000">
                                          <p:val>
                                            <p:strVal val="#ppt_x"/>
                                          </p:val>
                                        </p:tav>
                                      </p:tavLst>
                                    </p:anim>
                                    <p:anim calcmode="lin" valueType="num">
                                      <p:cBhvr additive="base">
                                        <p:cTn id="24" dur="400" fill="hold"/>
                                        <p:tgtEl>
                                          <p:spTgt spid="8"/>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15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400" fill="hold"/>
                                        <p:tgtEl>
                                          <p:spTgt spid="9"/>
                                        </p:tgtEl>
                                        <p:attrNameLst>
                                          <p:attrName>ppt_x</p:attrName>
                                        </p:attrNameLst>
                                      </p:cBhvr>
                                      <p:tavLst>
                                        <p:tav tm="0">
                                          <p:val>
                                            <p:strVal val="1+#ppt_w/2"/>
                                          </p:val>
                                        </p:tav>
                                        <p:tav tm="100000">
                                          <p:val>
                                            <p:strVal val="#ppt_x"/>
                                          </p:val>
                                        </p:tav>
                                      </p:tavLst>
                                    </p:anim>
                                    <p:anim calcmode="lin" valueType="num">
                                      <p:cBhvr additive="base">
                                        <p:cTn id="28" dur="400" fill="hold"/>
                                        <p:tgtEl>
                                          <p:spTgt spid="9"/>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30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400" fill="hold"/>
                                        <p:tgtEl>
                                          <p:spTgt spid="10"/>
                                        </p:tgtEl>
                                        <p:attrNameLst>
                                          <p:attrName>ppt_x</p:attrName>
                                        </p:attrNameLst>
                                      </p:cBhvr>
                                      <p:tavLst>
                                        <p:tav tm="0">
                                          <p:val>
                                            <p:strVal val="1+#ppt_w/2"/>
                                          </p:val>
                                        </p:tav>
                                        <p:tav tm="100000">
                                          <p:val>
                                            <p:strVal val="#ppt_x"/>
                                          </p:val>
                                        </p:tav>
                                      </p:tavLst>
                                    </p:anim>
                                    <p:anim calcmode="lin" valueType="num">
                                      <p:cBhvr additive="base">
                                        <p:cTn id="32" dur="400" fill="hold"/>
                                        <p:tgtEl>
                                          <p:spTgt spid="10"/>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45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400" fill="hold"/>
                                        <p:tgtEl>
                                          <p:spTgt spid="11"/>
                                        </p:tgtEl>
                                        <p:attrNameLst>
                                          <p:attrName>ppt_x</p:attrName>
                                        </p:attrNameLst>
                                      </p:cBhvr>
                                      <p:tavLst>
                                        <p:tav tm="0">
                                          <p:val>
                                            <p:strVal val="1+#ppt_w/2"/>
                                          </p:val>
                                        </p:tav>
                                        <p:tav tm="100000">
                                          <p:val>
                                            <p:strVal val="#ppt_x"/>
                                          </p:val>
                                        </p:tav>
                                      </p:tavLst>
                                    </p:anim>
                                    <p:anim calcmode="lin" valueType="num">
                                      <p:cBhvr additive="base">
                                        <p:cTn id="36" dur="400" fill="hold"/>
                                        <p:tgtEl>
                                          <p:spTgt spid="11"/>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60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400" fill="hold"/>
                                        <p:tgtEl>
                                          <p:spTgt spid="12"/>
                                        </p:tgtEl>
                                        <p:attrNameLst>
                                          <p:attrName>ppt_x</p:attrName>
                                        </p:attrNameLst>
                                      </p:cBhvr>
                                      <p:tavLst>
                                        <p:tav tm="0">
                                          <p:val>
                                            <p:strVal val="1+#ppt_w/2"/>
                                          </p:val>
                                        </p:tav>
                                        <p:tav tm="100000">
                                          <p:val>
                                            <p:strVal val="#ppt_x"/>
                                          </p:val>
                                        </p:tav>
                                      </p:tavLst>
                                    </p:anim>
                                    <p:anim calcmode="lin" valueType="num">
                                      <p:cBhvr additive="base">
                                        <p:cTn id="40" dur="400" fill="hold"/>
                                        <p:tgtEl>
                                          <p:spTgt spid="12"/>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75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400" fill="hold"/>
                                        <p:tgtEl>
                                          <p:spTgt spid="13"/>
                                        </p:tgtEl>
                                        <p:attrNameLst>
                                          <p:attrName>ppt_x</p:attrName>
                                        </p:attrNameLst>
                                      </p:cBhvr>
                                      <p:tavLst>
                                        <p:tav tm="0">
                                          <p:val>
                                            <p:strVal val="1+#ppt_w/2"/>
                                          </p:val>
                                        </p:tav>
                                        <p:tav tm="100000">
                                          <p:val>
                                            <p:strVal val="#ppt_x"/>
                                          </p:val>
                                        </p:tav>
                                      </p:tavLst>
                                    </p:anim>
                                    <p:anim calcmode="lin" valueType="num">
                                      <p:cBhvr additive="base">
                                        <p:cTn id="44" dur="4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OWASP Top 10:2025 at a glance</a:t>
            </a:r>
            <a:endParaRPr lang="en-US" sz="3000" dirty="0"/>
          </a:p>
        </p:txBody>
      </p:sp>
      <p:sp>
        <p:nvSpPr>
          <p:cNvPr id="4" name="Tile A01"/>
          <p:cNvSpPr/>
          <p:nvPr/>
        </p:nvSpPr>
        <p:spPr>
          <a:xfrm>
            <a:off x="640080" y="1325880"/>
            <a:ext cx="1463040" cy="1234440"/>
          </a:xfrm>
          <a:prstGeom prst="roundRect">
            <a:avLst>
              <a:gd name="adj" fmla="val 8889"/>
            </a:avLst>
          </a:prstGeom>
          <a:solidFill>
            <a:schemeClr val="bg2"/>
          </a:solidFill>
          <a:ln/>
        </p:spPr>
      </p:sp>
      <p:sp>
        <p:nvSpPr>
          <p:cNvPr id="5" name="ID A01"/>
          <p:cNvSpPr txBox="1"/>
          <p:nvPr/>
        </p:nvSpPr>
        <p:spPr>
          <a:xfrm>
            <a:off x="777240" y="1417320"/>
            <a:ext cx="1188720" cy="365760"/>
          </a:xfrm>
          <a:prstGeom prst="rect">
            <a:avLst/>
          </a:prstGeom>
          <a:noFill/>
          <a:ln/>
        </p:spPr>
        <p:txBody>
          <a:bodyPr wrap="square" lIns="0" tIns="0" rIns="0" bIns="0" rtlCol="0" anchor="ctr"/>
          <a:lstStyle/>
          <a:p>
            <a:pPr indent="0" marL="0">
              <a:buNone/>
            </a:pPr>
            <a:r>
              <a:rPr lang="en-US" sz="2200" b="1" dirty="0">
                <a:solidFill>
                  <a:schemeClr val="tx2"/>
                </a:solidFill>
              </a:rPr>
              <a:t>A01</a:t>
            </a:r>
            <a:endParaRPr lang="en-US" sz="2200" dirty="0"/>
          </a:p>
        </p:txBody>
      </p:sp>
      <p:sp>
        <p:nvSpPr>
          <p:cNvPr id="6" name="Name A01"/>
          <p:cNvSpPr txBox="1"/>
          <p:nvPr/>
        </p:nvSpPr>
        <p:spPr>
          <a:xfrm>
            <a:off x="777240" y="1783080"/>
            <a:ext cx="1188720" cy="731520"/>
          </a:xfrm>
          <a:prstGeom prst="rect">
            <a:avLst/>
          </a:prstGeom>
          <a:noFill/>
          <a:ln/>
        </p:spPr>
        <p:txBody>
          <a:bodyPr wrap="square" lIns="0" tIns="0" rIns="0" bIns="0" rtlCol="0" anchor="t"/>
          <a:lstStyle/>
          <a:p>
            <a:pPr indent="0" marL="0">
              <a:buNone/>
            </a:pPr>
            <a:r>
              <a:rPr lang="en-US" sz="1200" dirty="0">
                <a:solidFill>
                  <a:schemeClr val="tx1"/>
                </a:solidFill>
              </a:rPr>
              <a:t>Broken Access Control</a:t>
            </a:r>
            <a:endParaRPr lang="en-US" sz="1200" dirty="0"/>
          </a:p>
        </p:txBody>
      </p:sp>
      <p:sp>
        <p:nvSpPr>
          <p:cNvPr id="7" name="Tile A02"/>
          <p:cNvSpPr/>
          <p:nvPr/>
        </p:nvSpPr>
        <p:spPr>
          <a:xfrm>
            <a:off x="2240280" y="1325880"/>
            <a:ext cx="1463040" cy="1234440"/>
          </a:xfrm>
          <a:prstGeom prst="roundRect">
            <a:avLst>
              <a:gd name="adj" fmla="val 8889"/>
            </a:avLst>
          </a:prstGeom>
          <a:solidFill>
            <a:schemeClr val="bg2"/>
          </a:solidFill>
          <a:ln/>
        </p:spPr>
      </p:sp>
      <p:sp>
        <p:nvSpPr>
          <p:cNvPr id="8" name="ID A02"/>
          <p:cNvSpPr txBox="1"/>
          <p:nvPr/>
        </p:nvSpPr>
        <p:spPr>
          <a:xfrm>
            <a:off x="2377440" y="1417320"/>
            <a:ext cx="1188720" cy="365760"/>
          </a:xfrm>
          <a:prstGeom prst="rect">
            <a:avLst/>
          </a:prstGeom>
          <a:noFill/>
          <a:ln/>
        </p:spPr>
        <p:txBody>
          <a:bodyPr wrap="square" lIns="0" tIns="0" rIns="0" bIns="0" rtlCol="0" anchor="ctr"/>
          <a:lstStyle/>
          <a:p>
            <a:pPr indent="0" marL="0">
              <a:buNone/>
            </a:pPr>
            <a:r>
              <a:rPr lang="en-US" sz="2200" b="1" dirty="0">
                <a:solidFill>
                  <a:schemeClr val="tx2"/>
                </a:solidFill>
              </a:rPr>
              <a:t>A02</a:t>
            </a:r>
            <a:endParaRPr lang="en-US" sz="2200" dirty="0"/>
          </a:p>
        </p:txBody>
      </p:sp>
      <p:sp>
        <p:nvSpPr>
          <p:cNvPr id="9" name="Name A02"/>
          <p:cNvSpPr txBox="1"/>
          <p:nvPr/>
        </p:nvSpPr>
        <p:spPr>
          <a:xfrm>
            <a:off x="2377440" y="1783080"/>
            <a:ext cx="1188720" cy="731520"/>
          </a:xfrm>
          <a:prstGeom prst="rect">
            <a:avLst/>
          </a:prstGeom>
          <a:noFill/>
          <a:ln/>
        </p:spPr>
        <p:txBody>
          <a:bodyPr wrap="square" lIns="0" tIns="0" rIns="0" bIns="0" rtlCol="0" anchor="t"/>
          <a:lstStyle/>
          <a:p>
            <a:pPr indent="0" marL="0">
              <a:buNone/>
            </a:pPr>
            <a:r>
              <a:rPr lang="en-US" sz="1200" dirty="0">
                <a:solidFill>
                  <a:schemeClr val="tx1"/>
                </a:solidFill>
              </a:rPr>
              <a:t>Security Misconfiguration</a:t>
            </a:r>
            <a:endParaRPr lang="en-US" sz="1200" dirty="0"/>
          </a:p>
        </p:txBody>
      </p:sp>
      <p:sp>
        <p:nvSpPr>
          <p:cNvPr id="10" name="Tile A03"/>
          <p:cNvSpPr/>
          <p:nvPr/>
        </p:nvSpPr>
        <p:spPr>
          <a:xfrm>
            <a:off x="3840480" y="1325880"/>
            <a:ext cx="1463040" cy="1234440"/>
          </a:xfrm>
          <a:prstGeom prst="roundRect">
            <a:avLst>
              <a:gd name="adj" fmla="val 8889"/>
            </a:avLst>
          </a:prstGeom>
          <a:solidFill>
            <a:schemeClr val="bg2"/>
          </a:solidFill>
          <a:ln/>
        </p:spPr>
      </p:sp>
      <p:sp>
        <p:nvSpPr>
          <p:cNvPr id="11" name="ID A03"/>
          <p:cNvSpPr txBox="1"/>
          <p:nvPr/>
        </p:nvSpPr>
        <p:spPr>
          <a:xfrm>
            <a:off x="3977640" y="1417320"/>
            <a:ext cx="1188720" cy="365760"/>
          </a:xfrm>
          <a:prstGeom prst="rect">
            <a:avLst/>
          </a:prstGeom>
          <a:noFill/>
          <a:ln/>
        </p:spPr>
        <p:txBody>
          <a:bodyPr wrap="square" lIns="0" tIns="0" rIns="0" bIns="0" rtlCol="0" anchor="ctr"/>
          <a:lstStyle/>
          <a:p>
            <a:pPr indent="0" marL="0">
              <a:buNone/>
            </a:pPr>
            <a:r>
              <a:rPr lang="en-US" sz="2200" b="1" dirty="0">
                <a:solidFill>
                  <a:schemeClr val="tx2"/>
                </a:solidFill>
              </a:rPr>
              <a:t>A03</a:t>
            </a:r>
            <a:endParaRPr lang="en-US" sz="2200" dirty="0"/>
          </a:p>
        </p:txBody>
      </p:sp>
      <p:sp>
        <p:nvSpPr>
          <p:cNvPr id="12" name="Name A03"/>
          <p:cNvSpPr txBox="1"/>
          <p:nvPr/>
        </p:nvSpPr>
        <p:spPr>
          <a:xfrm>
            <a:off x="3977640" y="1783080"/>
            <a:ext cx="1188720" cy="731520"/>
          </a:xfrm>
          <a:prstGeom prst="rect">
            <a:avLst/>
          </a:prstGeom>
          <a:noFill/>
          <a:ln/>
        </p:spPr>
        <p:txBody>
          <a:bodyPr wrap="square" lIns="0" tIns="0" rIns="0" bIns="0" rtlCol="0" anchor="t"/>
          <a:lstStyle/>
          <a:p>
            <a:pPr indent="0" marL="0">
              <a:buNone/>
            </a:pPr>
            <a:r>
              <a:rPr lang="en-US" sz="1200" dirty="0">
                <a:solidFill>
                  <a:schemeClr val="tx1"/>
                </a:solidFill>
              </a:rPr>
              <a:t>Software Supply Chain Failures</a:t>
            </a:r>
            <a:endParaRPr lang="en-US" sz="1200" dirty="0"/>
          </a:p>
        </p:txBody>
      </p:sp>
      <p:sp>
        <p:nvSpPr>
          <p:cNvPr id="13" name="Tile A04"/>
          <p:cNvSpPr/>
          <p:nvPr/>
        </p:nvSpPr>
        <p:spPr>
          <a:xfrm>
            <a:off x="5440680" y="1325880"/>
            <a:ext cx="1463040" cy="1234440"/>
          </a:xfrm>
          <a:prstGeom prst="roundRect">
            <a:avLst>
              <a:gd name="adj" fmla="val 8889"/>
            </a:avLst>
          </a:prstGeom>
          <a:solidFill>
            <a:schemeClr val="bg2"/>
          </a:solidFill>
          <a:ln/>
        </p:spPr>
      </p:sp>
      <p:sp>
        <p:nvSpPr>
          <p:cNvPr id="14" name="ID A04"/>
          <p:cNvSpPr txBox="1"/>
          <p:nvPr/>
        </p:nvSpPr>
        <p:spPr>
          <a:xfrm>
            <a:off x="5577840" y="1417320"/>
            <a:ext cx="1188720" cy="365760"/>
          </a:xfrm>
          <a:prstGeom prst="rect">
            <a:avLst/>
          </a:prstGeom>
          <a:noFill/>
          <a:ln/>
        </p:spPr>
        <p:txBody>
          <a:bodyPr wrap="square" lIns="0" tIns="0" rIns="0" bIns="0" rtlCol="0" anchor="ctr"/>
          <a:lstStyle/>
          <a:p>
            <a:pPr indent="0" marL="0">
              <a:buNone/>
            </a:pPr>
            <a:r>
              <a:rPr lang="en-US" sz="2200" b="1" dirty="0">
                <a:solidFill>
                  <a:schemeClr val="tx2"/>
                </a:solidFill>
              </a:rPr>
              <a:t>A04</a:t>
            </a:r>
            <a:endParaRPr lang="en-US" sz="2200" dirty="0"/>
          </a:p>
        </p:txBody>
      </p:sp>
      <p:sp>
        <p:nvSpPr>
          <p:cNvPr id="15" name="Name A04"/>
          <p:cNvSpPr txBox="1"/>
          <p:nvPr/>
        </p:nvSpPr>
        <p:spPr>
          <a:xfrm>
            <a:off x="5577840" y="1783080"/>
            <a:ext cx="1188720" cy="731520"/>
          </a:xfrm>
          <a:prstGeom prst="rect">
            <a:avLst/>
          </a:prstGeom>
          <a:noFill/>
          <a:ln/>
        </p:spPr>
        <p:txBody>
          <a:bodyPr wrap="square" lIns="0" tIns="0" rIns="0" bIns="0" rtlCol="0" anchor="t"/>
          <a:lstStyle/>
          <a:p>
            <a:pPr indent="0" marL="0">
              <a:buNone/>
            </a:pPr>
            <a:r>
              <a:rPr lang="en-US" sz="1200" dirty="0">
                <a:solidFill>
                  <a:schemeClr val="tx1"/>
                </a:solidFill>
              </a:rPr>
              <a:t>Cryptographic Failures</a:t>
            </a:r>
            <a:endParaRPr lang="en-US" sz="1200" dirty="0"/>
          </a:p>
        </p:txBody>
      </p:sp>
      <p:sp>
        <p:nvSpPr>
          <p:cNvPr id="16" name="Tile A05"/>
          <p:cNvSpPr/>
          <p:nvPr/>
        </p:nvSpPr>
        <p:spPr>
          <a:xfrm>
            <a:off x="7040880" y="1325880"/>
            <a:ext cx="1463040" cy="1234440"/>
          </a:xfrm>
          <a:prstGeom prst="roundRect">
            <a:avLst>
              <a:gd name="adj" fmla="val 8889"/>
            </a:avLst>
          </a:prstGeom>
          <a:solidFill>
            <a:schemeClr val="bg2"/>
          </a:solidFill>
          <a:ln/>
        </p:spPr>
      </p:sp>
      <p:sp>
        <p:nvSpPr>
          <p:cNvPr id="17" name="ID A05"/>
          <p:cNvSpPr txBox="1"/>
          <p:nvPr/>
        </p:nvSpPr>
        <p:spPr>
          <a:xfrm>
            <a:off x="7178040" y="1417320"/>
            <a:ext cx="1188720" cy="365760"/>
          </a:xfrm>
          <a:prstGeom prst="rect">
            <a:avLst/>
          </a:prstGeom>
          <a:noFill/>
          <a:ln/>
        </p:spPr>
        <p:txBody>
          <a:bodyPr wrap="square" lIns="0" tIns="0" rIns="0" bIns="0" rtlCol="0" anchor="ctr"/>
          <a:lstStyle/>
          <a:p>
            <a:pPr indent="0" marL="0">
              <a:buNone/>
            </a:pPr>
            <a:r>
              <a:rPr lang="en-US" sz="2200" b="1" dirty="0">
                <a:solidFill>
                  <a:schemeClr val="tx2"/>
                </a:solidFill>
              </a:rPr>
              <a:t>A05</a:t>
            </a:r>
            <a:endParaRPr lang="en-US" sz="2200" dirty="0"/>
          </a:p>
        </p:txBody>
      </p:sp>
      <p:sp>
        <p:nvSpPr>
          <p:cNvPr id="18" name="Name A05"/>
          <p:cNvSpPr txBox="1"/>
          <p:nvPr/>
        </p:nvSpPr>
        <p:spPr>
          <a:xfrm>
            <a:off x="7178040" y="1783080"/>
            <a:ext cx="1188720" cy="731520"/>
          </a:xfrm>
          <a:prstGeom prst="rect">
            <a:avLst/>
          </a:prstGeom>
          <a:noFill/>
          <a:ln/>
        </p:spPr>
        <p:txBody>
          <a:bodyPr wrap="square" lIns="0" tIns="0" rIns="0" bIns="0" rtlCol="0" anchor="t"/>
          <a:lstStyle/>
          <a:p>
            <a:pPr indent="0" marL="0">
              <a:buNone/>
            </a:pPr>
            <a:r>
              <a:rPr lang="en-US" sz="1200" dirty="0">
                <a:solidFill>
                  <a:schemeClr val="tx1"/>
                </a:solidFill>
              </a:rPr>
              <a:t>Injection</a:t>
            </a:r>
            <a:endParaRPr lang="en-US" sz="1200" dirty="0"/>
          </a:p>
        </p:txBody>
      </p:sp>
      <p:sp>
        <p:nvSpPr>
          <p:cNvPr id="19" name="Tile A06"/>
          <p:cNvSpPr/>
          <p:nvPr/>
        </p:nvSpPr>
        <p:spPr>
          <a:xfrm>
            <a:off x="640080" y="2697480"/>
            <a:ext cx="1463040" cy="1234440"/>
          </a:xfrm>
          <a:prstGeom prst="roundRect">
            <a:avLst>
              <a:gd name="adj" fmla="val 8889"/>
            </a:avLst>
          </a:prstGeom>
          <a:solidFill>
            <a:schemeClr val="bg2"/>
          </a:solidFill>
          <a:ln/>
        </p:spPr>
      </p:sp>
      <p:sp>
        <p:nvSpPr>
          <p:cNvPr id="20" name="ID A06"/>
          <p:cNvSpPr txBox="1"/>
          <p:nvPr/>
        </p:nvSpPr>
        <p:spPr>
          <a:xfrm>
            <a:off x="777240" y="2788920"/>
            <a:ext cx="1188720" cy="365760"/>
          </a:xfrm>
          <a:prstGeom prst="rect">
            <a:avLst/>
          </a:prstGeom>
          <a:noFill/>
          <a:ln/>
        </p:spPr>
        <p:txBody>
          <a:bodyPr wrap="square" lIns="0" tIns="0" rIns="0" bIns="0" rtlCol="0" anchor="ctr"/>
          <a:lstStyle/>
          <a:p>
            <a:pPr indent="0" marL="0">
              <a:buNone/>
            </a:pPr>
            <a:r>
              <a:rPr lang="en-US" sz="2200" b="1" dirty="0">
                <a:solidFill>
                  <a:schemeClr val="tx2"/>
                </a:solidFill>
              </a:rPr>
              <a:t>A06</a:t>
            </a:r>
            <a:endParaRPr lang="en-US" sz="2200" dirty="0"/>
          </a:p>
        </p:txBody>
      </p:sp>
      <p:sp>
        <p:nvSpPr>
          <p:cNvPr id="21" name="Name A06"/>
          <p:cNvSpPr txBox="1"/>
          <p:nvPr/>
        </p:nvSpPr>
        <p:spPr>
          <a:xfrm>
            <a:off x="777240" y="3154680"/>
            <a:ext cx="1188720" cy="731520"/>
          </a:xfrm>
          <a:prstGeom prst="rect">
            <a:avLst/>
          </a:prstGeom>
          <a:noFill/>
          <a:ln/>
        </p:spPr>
        <p:txBody>
          <a:bodyPr wrap="square" lIns="0" tIns="0" rIns="0" bIns="0" rtlCol="0" anchor="t"/>
          <a:lstStyle/>
          <a:p>
            <a:pPr indent="0" marL="0">
              <a:buNone/>
            </a:pPr>
            <a:r>
              <a:rPr lang="en-US" sz="1200" dirty="0">
                <a:solidFill>
                  <a:schemeClr val="tx1"/>
                </a:solidFill>
              </a:rPr>
              <a:t>Insecure Design</a:t>
            </a:r>
            <a:endParaRPr lang="en-US" sz="1200" dirty="0"/>
          </a:p>
        </p:txBody>
      </p:sp>
      <p:sp>
        <p:nvSpPr>
          <p:cNvPr id="22" name="Tile A07"/>
          <p:cNvSpPr/>
          <p:nvPr/>
        </p:nvSpPr>
        <p:spPr>
          <a:xfrm>
            <a:off x="2240280" y="2697480"/>
            <a:ext cx="1463040" cy="1234440"/>
          </a:xfrm>
          <a:prstGeom prst="roundRect">
            <a:avLst>
              <a:gd name="adj" fmla="val 8889"/>
            </a:avLst>
          </a:prstGeom>
          <a:solidFill>
            <a:schemeClr val="bg2"/>
          </a:solidFill>
          <a:ln/>
        </p:spPr>
      </p:sp>
      <p:sp>
        <p:nvSpPr>
          <p:cNvPr id="23" name="ID A07"/>
          <p:cNvSpPr txBox="1"/>
          <p:nvPr/>
        </p:nvSpPr>
        <p:spPr>
          <a:xfrm>
            <a:off x="2377440" y="2788920"/>
            <a:ext cx="1188720" cy="365760"/>
          </a:xfrm>
          <a:prstGeom prst="rect">
            <a:avLst/>
          </a:prstGeom>
          <a:noFill/>
          <a:ln/>
        </p:spPr>
        <p:txBody>
          <a:bodyPr wrap="square" lIns="0" tIns="0" rIns="0" bIns="0" rtlCol="0" anchor="ctr"/>
          <a:lstStyle/>
          <a:p>
            <a:pPr indent="0" marL="0">
              <a:buNone/>
            </a:pPr>
            <a:r>
              <a:rPr lang="en-US" sz="2200" b="1" dirty="0">
                <a:solidFill>
                  <a:schemeClr val="tx2"/>
                </a:solidFill>
              </a:rPr>
              <a:t>A07</a:t>
            </a:r>
            <a:endParaRPr lang="en-US" sz="2200" dirty="0"/>
          </a:p>
        </p:txBody>
      </p:sp>
      <p:sp>
        <p:nvSpPr>
          <p:cNvPr id="24" name="Name A07"/>
          <p:cNvSpPr txBox="1"/>
          <p:nvPr/>
        </p:nvSpPr>
        <p:spPr>
          <a:xfrm>
            <a:off x="2377440" y="3154680"/>
            <a:ext cx="1188720" cy="731520"/>
          </a:xfrm>
          <a:prstGeom prst="rect">
            <a:avLst/>
          </a:prstGeom>
          <a:noFill/>
          <a:ln/>
        </p:spPr>
        <p:txBody>
          <a:bodyPr wrap="square" lIns="0" tIns="0" rIns="0" bIns="0" rtlCol="0" anchor="t"/>
          <a:lstStyle/>
          <a:p>
            <a:pPr indent="0" marL="0">
              <a:buNone/>
            </a:pPr>
            <a:r>
              <a:rPr lang="en-US" sz="1200" dirty="0">
                <a:solidFill>
                  <a:schemeClr val="tx1"/>
                </a:solidFill>
              </a:rPr>
              <a:t>Authentication Failures</a:t>
            </a:r>
            <a:endParaRPr lang="en-US" sz="1200" dirty="0"/>
          </a:p>
        </p:txBody>
      </p:sp>
      <p:sp>
        <p:nvSpPr>
          <p:cNvPr id="25" name="Tile A08"/>
          <p:cNvSpPr/>
          <p:nvPr/>
        </p:nvSpPr>
        <p:spPr>
          <a:xfrm>
            <a:off x="3840480" y="2697480"/>
            <a:ext cx="1463040" cy="1234440"/>
          </a:xfrm>
          <a:prstGeom prst="roundRect">
            <a:avLst>
              <a:gd name="adj" fmla="val 8889"/>
            </a:avLst>
          </a:prstGeom>
          <a:solidFill>
            <a:schemeClr val="bg2"/>
          </a:solidFill>
          <a:ln/>
        </p:spPr>
      </p:sp>
      <p:sp>
        <p:nvSpPr>
          <p:cNvPr id="26" name="ID A08"/>
          <p:cNvSpPr txBox="1"/>
          <p:nvPr/>
        </p:nvSpPr>
        <p:spPr>
          <a:xfrm>
            <a:off x="3977640" y="2788920"/>
            <a:ext cx="1188720" cy="365760"/>
          </a:xfrm>
          <a:prstGeom prst="rect">
            <a:avLst/>
          </a:prstGeom>
          <a:noFill/>
          <a:ln/>
        </p:spPr>
        <p:txBody>
          <a:bodyPr wrap="square" lIns="0" tIns="0" rIns="0" bIns="0" rtlCol="0" anchor="ctr"/>
          <a:lstStyle/>
          <a:p>
            <a:pPr indent="0" marL="0">
              <a:buNone/>
            </a:pPr>
            <a:r>
              <a:rPr lang="en-US" sz="2200" b="1" dirty="0">
                <a:solidFill>
                  <a:schemeClr val="tx2"/>
                </a:solidFill>
              </a:rPr>
              <a:t>A08</a:t>
            </a:r>
            <a:endParaRPr lang="en-US" sz="2200" dirty="0"/>
          </a:p>
        </p:txBody>
      </p:sp>
      <p:sp>
        <p:nvSpPr>
          <p:cNvPr id="27" name="Name A08"/>
          <p:cNvSpPr txBox="1"/>
          <p:nvPr/>
        </p:nvSpPr>
        <p:spPr>
          <a:xfrm>
            <a:off x="3977640" y="3154680"/>
            <a:ext cx="1188720" cy="731520"/>
          </a:xfrm>
          <a:prstGeom prst="rect">
            <a:avLst/>
          </a:prstGeom>
          <a:noFill/>
          <a:ln/>
        </p:spPr>
        <p:txBody>
          <a:bodyPr wrap="square" lIns="0" tIns="0" rIns="0" bIns="0" rtlCol="0" anchor="t"/>
          <a:lstStyle/>
          <a:p>
            <a:pPr indent="0" marL="0">
              <a:buNone/>
            </a:pPr>
            <a:r>
              <a:rPr lang="en-US" sz="1200" dirty="0">
                <a:solidFill>
                  <a:schemeClr val="tx1"/>
                </a:solidFill>
              </a:rPr>
              <a:t>Software or Data Integrity Failures</a:t>
            </a:r>
            <a:endParaRPr lang="en-US" sz="1200" dirty="0"/>
          </a:p>
        </p:txBody>
      </p:sp>
      <p:sp>
        <p:nvSpPr>
          <p:cNvPr id="28" name="Tile A09"/>
          <p:cNvSpPr/>
          <p:nvPr/>
        </p:nvSpPr>
        <p:spPr>
          <a:xfrm>
            <a:off x="5440680" y="2697480"/>
            <a:ext cx="1463040" cy="1234440"/>
          </a:xfrm>
          <a:prstGeom prst="roundRect">
            <a:avLst>
              <a:gd name="adj" fmla="val 8889"/>
            </a:avLst>
          </a:prstGeom>
          <a:solidFill>
            <a:schemeClr val="bg2"/>
          </a:solidFill>
          <a:ln/>
        </p:spPr>
      </p:sp>
      <p:sp>
        <p:nvSpPr>
          <p:cNvPr id="29" name="ID A09"/>
          <p:cNvSpPr txBox="1"/>
          <p:nvPr/>
        </p:nvSpPr>
        <p:spPr>
          <a:xfrm>
            <a:off x="5577840" y="2788920"/>
            <a:ext cx="1188720" cy="365760"/>
          </a:xfrm>
          <a:prstGeom prst="rect">
            <a:avLst/>
          </a:prstGeom>
          <a:noFill/>
          <a:ln/>
        </p:spPr>
        <p:txBody>
          <a:bodyPr wrap="square" lIns="0" tIns="0" rIns="0" bIns="0" rtlCol="0" anchor="ctr"/>
          <a:lstStyle/>
          <a:p>
            <a:pPr indent="0" marL="0">
              <a:buNone/>
            </a:pPr>
            <a:r>
              <a:rPr lang="en-US" sz="2200" b="1" dirty="0">
                <a:solidFill>
                  <a:schemeClr val="tx2"/>
                </a:solidFill>
              </a:rPr>
              <a:t>A09</a:t>
            </a:r>
            <a:endParaRPr lang="en-US" sz="2200" dirty="0"/>
          </a:p>
        </p:txBody>
      </p:sp>
      <p:sp>
        <p:nvSpPr>
          <p:cNvPr id="30" name="Name A09"/>
          <p:cNvSpPr txBox="1"/>
          <p:nvPr/>
        </p:nvSpPr>
        <p:spPr>
          <a:xfrm>
            <a:off x="5577840" y="3154680"/>
            <a:ext cx="1188720" cy="731520"/>
          </a:xfrm>
          <a:prstGeom prst="rect">
            <a:avLst/>
          </a:prstGeom>
          <a:noFill/>
          <a:ln/>
        </p:spPr>
        <p:txBody>
          <a:bodyPr wrap="square" lIns="0" tIns="0" rIns="0" bIns="0" rtlCol="0" anchor="t"/>
          <a:lstStyle/>
          <a:p>
            <a:pPr indent="0" marL="0">
              <a:buNone/>
            </a:pPr>
            <a:r>
              <a:rPr lang="en-US" sz="1200" dirty="0">
                <a:solidFill>
                  <a:schemeClr val="tx1"/>
                </a:solidFill>
              </a:rPr>
              <a:t>Security Logging and Alerting Failures</a:t>
            </a:r>
            <a:endParaRPr lang="en-US" sz="1200" dirty="0"/>
          </a:p>
        </p:txBody>
      </p:sp>
      <p:sp>
        <p:nvSpPr>
          <p:cNvPr id="31" name="Tile A10"/>
          <p:cNvSpPr/>
          <p:nvPr/>
        </p:nvSpPr>
        <p:spPr>
          <a:xfrm>
            <a:off x="7040880" y="2697480"/>
            <a:ext cx="1463040" cy="1234440"/>
          </a:xfrm>
          <a:prstGeom prst="roundRect">
            <a:avLst>
              <a:gd name="adj" fmla="val 8889"/>
            </a:avLst>
          </a:prstGeom>
          <a:solidFill>
            <a:schemeClr val="bg2"/>
          </a:solidFill>
          <a:ln/>
        </p:spPr>
      </p:sp>
      <p:sp>
        <p:nvSpPr>
          <p:cNvPr id="32" name="ID A10"/>
          <p:cNvSpPr txBox="1"/>
          <p:nvPr/>
        </p:nvSpPr>
        <p:spPr>
          <a:xfrm>
            <a:off x="7178040" y="2788920"/>
            <a:ext cx="1188720" cy="365760"/>
          </a:xfrm>
          <a:prstGeom prst="rect">
            <a:avLst/>
          </a:prstGeom>
          <a:noFill/>
          <a:ln/>
        </p:spPr>
        <p:txBody>
          <a:bodyPr wrap="square" lIns="0" tIns="0" rIns="0" bIns="0" rtlCol="0" anchor="ctr"/>
          <a:lstStyle/>
          <a:p>
            <a:pPr indent="0" marL="0">
              <a:buNone/>
            </a:pPr>
            <a:r>
              <a:rPr lang="en-US" sz="2200" b="1" dirty="0">
                <a:solidFill>
                  <a:schemeClr val="tx2"/>
                </a:solidFill>
              </a:rPr>
              <a:t>A10</a:t>
            </a:r>
            <a:endParaRPr lang="en-US" sz="2200" dirty="0"/>
          </a:p>
        </p:txBody>
      </p:sp>
      <p:sp>
        <p:nvSpPr>
          <p:cNvPr id="33" name="Name A10"/>
          <p:cNvSpPr txBox="1"/>
          <p:nvPr/>
        </p:nvSpPr>
        <p:spPr>
          <a:xfrm>
            <a:off x="7178040" y="3154680"/>
            <a:ext cx="1188720" cy="731520"/>
          </a:xfrm>
          <a:prstGeom prst="rect">
            <a:avLst/>
          </a:prstGeom>
          <a:noFill/>
          <a:ln/>
        </p:spPr>
        <p:txBody>
          <a:bodyPr wrap="square" lIns="0" tIns="0" rIns="0" bIns="0" rtlCol="0" anchor="t"/>
          <a:lstStyle/>
          <a:p>
            <a:pPr indent="0" marL="0">
              <a:buNone/>
            </a:pPr>
            <a:r>
              <a:rPr lang="en-US" sz="1200" dirty="0">
                <a:solidFill>
                  <a:schemeClr val="tx1"/>
                </a:solidFill>
              </a:rPr>
              <a:t>Mishandling of Exceptional Conditions</a:t>
            </a:r>
            <a:endParaRPr lang="en-US" sz="1200" dirty="0"/>
          </a:p>
        </p:txBody>
      </p:sp>
      <p:sp>
        <p:nvSpPr>
          <p:cNvPr id="34" name="Legend"/>
          <p:cNvSpPr txBox="1"/>
          <p:nvPr/>
        </p:nvSpPr>
        <p:spPr>
          <a:xfrm>
            <a:off x="640080" y="4206240"/>
            <a:ext cx="7863840" cy="274320"/>
          </a:xfrm>
          <a:prstGeom prst="rect">
            <a:avLst/>
          </a:prstGeom>
          <a:noFill/>
          <a:ln/>
        </p:spPr>
        <p:txBody>
          <a:bodyPr wrap="square" lIns="0" tIns="0" rIns="0" bIns="0" rtlCol="0" anchor="ctr"/>
          <a:lstStyle/>
          <a:p>
            <a:pPr indent="0" marL="0">
              <a:buNone/>
            </a:pPr>
            <a:r>
              <a:rPr lang="en-US" sz="1200" dirty="0">
                <a:solidFill>
                  <a:schemeClr val="tx2"/>
                </a:solidFill>
              </a:rPr>
              <a:t>Next: one cartoon story and one fix for each of the ten</a:t>
            </a:r>
            <a:endParaRPr lang="en-US" sz="12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6" fill="hold">
                      <p:stCondLst>
                        <p:cond delay="indefinite"/>
                        <p:cond evt="onBegin" delay="0">
                          <p:tn val="2"/>
                        </p:cond>
                      </p:stCondLst>
                      <p:childTnLst>
                        <p:par>
                          <p:cTn id="157"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4"/>
                                        </p:tgtEl>
                                        <p:attrNameLst>
                                          <p:attrName>style.visibility</p:attrName>
                                        </p:attrNameLst>
                                      </p:cBhvr>
                                      <p:to>
                                        <p:strVal val="visible"/>
                                      </p:to>
                                    </p:set>
                                    <p:anim calcmode="lin" valueType="num">
                                      <p:cBhvr additive="base">
                                        <p:cTn id="4" dur="400" fill="hold"/>
                                        <p:tgtEl>
                                          <p:spTgt spid="4"/>
                                        </p:tgtEl>
                                        <p:attrNameLst>
                                          <p:attrName>ppt_w</p:attrName>
                                        </p:attrNameLst>
                                      </p:cBhvr>
                                      <p:tavLst>
                                        <p:tav tm="0">
                                          <p:val>
                                            <p:fltVal val="0"/>
                                          </p:val>
                                        </p:tav>
                                        <p:tav tm="100000">
                                          <p:val>
                                            <p:strVal val="#ppt_w"/>
                                          </p:val>
                                        </p:tav>
                                      </p:tavLst>
                                    </p:anim>
                                    <p:anim calcmode="lin" valueType="num">
                                      <p:cBhvr additive="base">
                                        <p:cTn id="5" dur="400" fill="hold"/>
                                        <p:tgtEl>
                                          <p:spTgt spid="4"/>
                                        </p:tgtEl>
                                        <p:attrNameLst>
                                          <p:attrName>ppt_h</p:attrName>
                                        </p:attrNameLst>
                                      </p:cBhvr>
                                      <p:tavLst>
                                        <p:tav tm="0">
                                          <p:val>
                                            <p:fltVal val="0"/>
                                          </p:val>
                                        </p:tav>
                                        <p:tav tm="100000">
                                          <p:val>
                                            <p:strVal val="#ppt_h"/>
                                          </p:val>
                                        </p:tav>
                                      </p:tavLst>
                                    </p:anim>
                                    <p:animEffect transition="in" filter="fade">
                                      <p:cBhvr>
                                        <p:cTn id="6" dur="400"/>
                                        <p:tgtEl>
                                          <p:spTgt spid="4"/>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 calcmode="lin" valueType="num">
                                      <p:cBhvr additive="base">
                                        <p:cTn id="9" dur="400" fill="hold"/>
                                        <p:tgtEl>
                                          <p:spTgt spid="5"/>
                                        </p:tgtEl>
                                        <p:attrNameLst>
                                          <p:attrName>ppt_w</p:attrName>
                                        </p:attrNameLst>
                                      </p:cBhvr>
                                      <p:tavLst>
                                        <p:tav tm="0">
                                          <p:val>
                                            <p:fltVal val="0"/>
                                          </p:val>
                                        </p:tav>
                                        <p:tav tm="100000">
                                          <p:val>
                                            <p:strVal val="#ppt_w"/>
                                          </p:val>
                                        </p:tav>
                                      </p:tavLst>
                                    </p:anim>
                                    <p:anim calcmode="lin" valueType="num">
                                      <p:cBhvr additive="base">
                                        <p:cTn id="10" dur="400" fill="hold"/>
                                        <p:tgtEl>
                                          <p:spTgt spid="5"/>
                                        </p:tgtEl>
                                        <p:attrNameLst>
                                          <p:attrName>ppt_h</p:attrName>
                                        </p:attrNameLst>
                                      </p:cBhvr>
                                      <p:tavLst>
                                        <p:tav tm="0">
                                          <p:val>
                                            <p:fltVal val="0"/>
                                          </p:val>
                                        </p:tav>
                                        <p:tav tm="100000">
                                          <p:val>
                                            <p:strVal val="#ppt_h"/>
                                          </p:val>
                                        </p:tav>
                                      </p:tavLst>
                                    </p:anim>
                                    <p:animEffect transition="in" filter="fade">
                                      <p:cBhvr>
                                        <p:cTn id="11" dur="400"/>
                                        <p:tgtEl>
                                          <p:spTgt spid="5"/>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400" fill="hold"/>
                                        <p:tgtEl>
                                          <p:spTgt spid="6"/>
                                        </p:tgtEl>
                                        <p:attrNameLst>
                                          <p:attrName>ppt_w</p:attrName>
                                        </p:attrNameLst>
                                      </p:cBhvr>
                                      <p:tavLst>
                                        <p:tav tm="0">
                                          <p:val>
                                            <p:fltVal val="0"/>
                                          </p:val>
                                        </p:tav>
                                        <p:tav tm="100000">
                                          <p:val>
                                            <p:strVal val="#ppt_w"/>
                                          </p:val>
                                        </p:tav>
                                      </p:tavLst>
                                    </p:anim>
                                    <p:anim calcmode="lin" valueType="num">
                                      <p:cBhvr additive="base">
                                        <p:cTn id="15" dur="400" fill="hold"/>
                                        <p:tgtEl>
                                          <p:spTgt spid="6"/>
                                        </p:tgtEl>
                                        <p:attrNameLst>
                                          <p:attrName>ppt_h</p:attrName>
                                        </p:attrNameLst>
                                      </p:cBhvr>
                                      <p:tavLst>
                                        <p:tav tm="0">
                                          <p:val>
                                            <p:fltVal val="0"/>
                                          </p:val>
                                        </p:tav>
                                        <p:tav tm="100000">
                                          <p:val>
                                            <p:strVal val="#ppt_h"/>
                                          </p:val>
                                        </p:tav>
                                      </p:tavLst>
                                    </p:anim>
                                    <p:animEffect transition="in" filter="fade">
                                      <p:cBhvr>
                                        <p:cTn id="16" dur="400"/>
                                        <p:tgtEl>
                                          <p:spTgt spid="6"/>
                                        </p:tgtEl>
                                      </p:cBhvr>
                                    </p:animEffect>
                                  </p:childTnLst>
                                </p:cTn>
                              </p:par>
                              <p:par>
                                <p:cTn id="22" presetID="53" presetClass="entr" presetSubtype="16" fill="hold" grpId="0" nodeType="withEffect">
                                  <p:stCondLst>
                                    <p:cond delay="15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400" fill="hold"/>
                                        <p:tgtEl>
                                          <p:spTgt spid="7"/>
                                        </p:tgtEl>
                                        <p:attrNameLst>
                                          <p:attrName>ppt_w</p:attrName>
                                        </p:attrNameLst>
                                      </p:cBhvr>
                                      <p:tavLst>
                                        <p:tav tm="0">
                                          <p:val>
                                            <p:fltVal val="0"/>
                                          </p:val>
                                        </p:tav>
                                        <p:tav tm="100000">
                                          <p:val>
                                            <p:strVal val="#ppt_w"/>
                                          </p:val>
                                        </p:tav>
                                      </p:tavLst>
                                    </p:anim>
                                    <p:anim calcmode="lin" valueType="num">
                                      <p:cBhvr additive="base">
                                        <p:cTn id="20" dur="400" fill="hold"/>
                                        <p:tgtEl>
                                          <p:spTgt spid="7"/>
                                        </p:tgtEl>
                                        <p:attrNameLst>
                                          <p:attrName>ppt_h</p:attrName>
                                        </p:attrNameLst>
                                      </p:cBhvr>
                                      <p:tavLst>
                                        <p:tav tm="0">
                                          <p:val>
                                            <p:fltVal val="0"/>
                                          </p:val>
                                        </p:tav>
                                        <p:tav tm="100000">
                                          <p:val>
                                            <p:strVal val="#ppt_h"/>
                                          </p:val>
                                        </p:tav>
                                      </p:tavLst>
                                    </p:anim>
                                    <p:animEffect transition="in" filter="fade">
                                      <p:cBhvr>
                                        <p:cTn id="21" dur="400"/>
                                        <p:tgtEl>
                                          <p:spTgt spid="7"/>
                                        </p:tgtEl>
                                      </p:cBhvr>
                                    </p:animEffect>
                                  </p:childTnLst>
                                </p:cTn>
                              </p:par>
                              <p:par>
                                <p:cTn id="27" presetID="53" presetClass="entr" presetSubtype="16" fill="hold" grpId="0" nodeType="withEffect">
                                  <p:stCondLst>
                                    <p:cond delay="15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400" fill="hold"/>
                                        <p:tgtEl>
                                          <p:spTgt spid="8"/>
                                        </p:tgtEl>
                                        <p:attrNameLst>
                                          <p:attrName>ppt_w</p:attrName>
                                        </p:attrNameLst>
                                      </p:cBhvr>
                                      <p:tavLst>
                                        <p:tav tm="0">
                                          <p:val>
                                            <p:fltVal val="0"/>
                                          </p:val>
                                        </p:tav>
                                        <p:tav tm="100000">
                                          <p:val>
                                            <p:strVal val="#ppt_w"/>
                                          </p:val>
                                        </p:tav>
                                      </p:tavLst>
                                    </p:anim>
                                    <p:anim calcmode="lin" valueType="num">
                                      <p:cBhvr additive="base">
                                        <p:cTn id="25" dur="400" fill="hold"/>
                                        <p:tgtEl>
                                          <p:spTgt spid="8"/>
                                        </p:tgtEl>
                                        <p:attrNameLst>
                                          <p:attrName>ppt_h</p:attrName>
                                        </p:attrNameLst>
                                      </p:cBhvr>
                                      <p:tavLst>
                                        <p:tav tm="0">
                                          <p:val>
                                            <p:fltVal val="0"/>
                                          </p:val>
                                        </p:tav>
                                        <p:tav tm="100000">
                                          <p:val>
                                            <p:strVal val="#ppt_h"/>
                                          </p:val>
                                        </p:tav>
                                      </p:tavLst>
                                    </p:anim>
                                    <p:animEffect transition="in" filter="fade">
                                      <p:cBhvr>
                                        <p:cTn id="26" dur="400"/>
                                        <p:tgtEl>
                                          <p:spTgt spid="8"/>
                                        </p:tgtEl>
                                      </p:cBhvr>
                                    </p:animEffect>
                                  </p:childTnLst>
                                </p:cTn>
                              </p:par>
                              <p:par>
                                <p:cTn id="32" presetID="53" presetClass="entr" presetSubtype="16" fill="hold" grpId="0" nodeType="withEffect">
                                  <p:stCondLst>
                                    <p:cond delay="15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400" fill="hold"/>
                                        <p:tgtEl>
                                          <p:spTgt spid="9"/>
                                        </p:tgtEl>
                                        <p:attrNameLst>
                                          <p:attrName>ppt_w</p:attrName>
                                        </p:attrNameLst>
                                      </p:cBhvr>
                                      <p:tavLst>
                                        <p:tav tm="0">
                                          <p:val>
                                            <p:fltVal val="0"/>
                                          </p:val>
                                        </p:tav>
                                        <p:tav tm="100000">
                                          <p:val>
                                            <p:strVal val="#ppt_w"/>
                                          </p:val>
                                        </p:tav>
                                      </p:tavLst>
                                    </p:anim>
                                    <p:anim calcmode="lin" valueType="num">
                                      <p:cBhvr additive="base">
                                        <p:cTn id="30" dur="400" fill="hold"/>
                                        <p:tgtEl>
                                          <p:spTgt spid="9"/>
                                        </p:tgtEl>
                                        <p:attrNameLst>
                                          <p:attrName>ppt_h</p:attrName>
                                        </p:attrNameLst>
                                      </p:cBhvr>
                                      <p:tavLst>
                                        <p:tav tm="0">
                                          <p:val>
                                            <p:fltVal val="0"/>
                                          </p:val>
                                        </p:tav>
                                        <p:tav tm="100000">
                                          <p:val>
                                            <p:strVal val="#ppt_h"/>
                                          </p:val>
                                        </p:tav>
                                      </p:tavLst>
                                    </p:anim>
                                    <p:animEffect transition="in" filter="fade">
                                      <p:cBhvr>
                                        <p:cTn id="31" dur="400"/>
                                        <p:tgtEl>
                                          <p:spTgt spid="9"/>
                                        </p:tgtEl>
                                      </p:cBhvr>
                                    </p:animEffect>
                                  </p:childTnLst>
                                </p:cTn>
                              </p:par>
                              <p:par>
                                <p:cTn id="37" presetID="53" presetClass="entr" presetSubtype="16" fill="hold" grpId="0" nodeType="withEffect">
                                  <p:stCondLst>
                                    <p:cond delay="30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400" fill="hold"/>
                                        <p:tgtEl>
                                          <p:spTgt spid="10"/>
                                        </p:tgtEl>
                                        <p:attrNameLst>
                                          <p:attrName>ppt_w</p:attrName>
                                        </p:attrNameLst>
                                      </p:cBhvr>
                                      <p:tavLst>
                                        <p:tav tm="0">
                                          <p:val>
                                            <p:fltVal val="0"/>
                                          </p:val>
                                        </p:tav>
                                        <p:tav tm="100000">
                                          <p:val>
                                            <p:strVal val="#ppt_w"/>
                                          </p:val>
                                        </p:tav>
                                      </p:tavLst>
                                    </p:anim>
                                    <p:anim calcmode="lin" valueType="num">
                                      <p:cBhvr additive="base">
                                        <p:cTn id="35" dur="400" fill="hold"/>
                                        <p:tgtEl>
                                          <p:spTgt spid="10"/>
                                        </p:tgtEl>
                                        <p:attrNameLst>
                                          <p:attrName>ppt_h</p:attrName>
                                        </p:attrNameLst>
                                      </p:cBhvr>
                                      <p:tavLst>
                                        <p:tav tm="0">
                                          <p:val>
                                            <p:fltVal val="0"/>
                                          </p:val>
                                        </p:tav>
                                        <p:tav tm="100000">
                                          <p:val>
                                            <p:strVal val="#ppt_h"/>
                                          </p:val>
                                        </p:tav>
                                      </p:tavLst>
                                    </p:anim>
                                    <p:animEffect transition="in" filter="fade">
                                      <p:cBhvr>
                                        <p:cTn id="36" dur="400"/>
                                        <p:tgtEl>
                                          <p:spTgt spid="10"/>
                                        </p:tgtEl>
                                      </p:cBhvr>
                                    </p:animEffect>
                                  </p:childTnLst>
                                </p:cTn>
                              </p:par>
                              <p:par>
                                <p:cTn id="42" presetID="53" presetClass="entr" presetSubtype="16" fill="hold" grpId="0" nodeType="withEffect">
                                  <p:stCondLst>
                                    <p:cond delay="30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400" fill="hold"/>
                                        <p:tgtEl>
                                          <p:spTgt spid="11"/>
                                        </p:tgtEl>
                                        <p:attrNameLst>
                                          <p:attrName>ppt_w</p:attrName>
                                        </p:attrNameLst>
                                      </p:cBhvr>
                                      <p:tavLst>
                                        <p:tav tm="0">
                                          <p:val>
                                            <p:fltVal val="0"/>
                                          </p:val>
                                        </p:tav>
                                        <p:tav tm="100000">
                                          <p:val>
                                            <p:strVal val="#ppt_w"/>
                                          </p:val>
                                        </p:tav>
                                      </p:tavLst>
                                    </p:anim>
                                    <p:anim calcmode="lin" valueType="num">
                                      <p:cBhvr additive="base">
                                        <p:cTn id="40" dur="400" fill="hold"/>
                                        <p:tgtEl>
                                          <p:spTgt spid="11"/>
                                        </p:tgtEl>
                                        <p:attrNameLst>
                                          <p:attrName>ppt_h</p:attrName>
                                        </p:attrNameLst>
                                      </p:cBhvr>
                                      <p:tavLst>
                                        <p:tav tm="0">
                                          <p:val>
                                            <p:fltVal val="0"/>
                                          </p:val>
                                        </p:tav>
                                        <p:tav tm="100000">
                                          <p:val>
                                            <p:strVal val="#ppt_h"/>
                                          </p:val>
                                        </p:tav>
                                      </p:tavLst>
                                    </p:anim>
                                    <p:animEffect transition="in" filter="fade">
                                      <p:cBhvr>
                                        <p:cTn id="41" dur="400"/>
                                        <p:tgtEl>
                                          <p:spTgt spid="11"/>
                                        </p:tgtEl>
                                      </p:cBhvr>
                                    </p:animEffect>
                                  </p:childTnLst>
                                </p:cTn>
                              </p:par>
                              <p:par>
                                <p:cTn id="47" presetID="53" presetClass="entr" presetSubtype="16" fill="hold" grpId="0" nodeType="withEffect">
                                  <p:stCondLst>
                                    <p:cond delay="30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400" fill="hold"/>
                                        <p:tgtEl>
                                          <p:spTgt spid="12"/>
                                        </p:tgtEl>
                                        <p:attrNameLst>
                                          <p:attrName>ppt_w</p:attrName>
                                        </p:attrNameLst>
                                      </p:cBhvr>
                                      <p:tavLst>
                                        <p:tav tm="0">
                                          <p:val>
                                            <p:fltVal val="0"/>
                                          </p:val>
                                        </p:tav>
                                        <p:tav tm="100000">
                                          <p:val>
                                            <p:strVal val="#ppt_w"/>
                                          </p:val>
                                        </p:tav>
                                      </p:tavLst>
                                    </p:anim>
                                    <p:anim calcmode="lin" valueType="num">
                                      <p:cBhvr additive="base">
                                        <p:cTn id="45" dur="400" fill="hold"/>
                                        <p:tgtEl>
                                          <p:spTgt spid="12"/>
                                        </p:tgtEl>
                                        <p:attrNameLst>
                                          <p:attrName>ppt_h</p:attrName>
                                        </p:attrNameLst>
                                      </p:cBhvr>
                                      <p:tavLst>
                                        <p:tav tm="0">
                                          <p:val>
                                            <p:fltVal val="0"/>
                                          </p:val>
                                        </p:tav>
                                        <p:tav tm="100000">
                                          <p:val>
                                            <p:strVal val="#ppt_h"/>
                                          </p:val>
                                        </p:tav>
                                      </p:tavLst>
                                    </p:anim>
                                    <p:animEffect transition="in" filter="fade">
                                      <p:cBhvr>
                                        <p:cTn id="46" dur="400"/>
                                        <p:tgtEl>
                                          <p:spTgt spid="12"/>
                                        </p:tgtEl>
                                      </p:cBhvr>
                                    </p:animEffect>
                                  </p:childTnLst>
                                </p:cTn>
                              </p:par>
                              <p:par>
                                <p:cTn id="52" presetID="53" presetClass="entr" presetSubtype="16" fill="hold" grpId="0" nodeType="withEffect">
                                  <p:stCondLst>
                                    <p:cond delay="45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400" fill="hold"/>
                                        <p:tgtEl>
                                          <p:spTgt spid="13"/>
                                        </p:tgtEl>
                                        <p:attrNameLst>
                                          <p:attrName>ppt_w</p:attrName>
                                        </p:attrNameLst>
                                      </p:cBhvr>
                                      <p:tavLst>
                                        <p:tav tm="0">
                                          <p:val>
                                            <p:fltVal val="0"/>
                                          </p:val>
                                        </p:tav>
                                        <p:tav tm="100000">
                                          <p:val>
                                            <p:strVal val="#ppt_w"/>
                                          </p:val>
                                        </p:tav>
                                      </p:tavLst>
                                    </p:anim>
                                    <p:anim calcmode="lin" valueType="num">
                                      <p:cBhvr additive="base">
                                        <p:cTn id="50" dur="400" fill="hold"/>
                                        <p:tgtEl>
                                          <p:spTgt spid="13"/>
                                        </p:tgtEl>
                                        <p:attrNameLst>
                                          <p:attrName>ppt_h</p:attrName>
                                        </p:attrNameLst>
                                      </p:cBhvr>
                                      <p:tavLst>
                                        <p:tav tm="0">
                                          <p:val>
                                            <p:fltVal val="0"/>
                                          </p:val>
                                        </p:tav>
                                        <p:tav tm="100000">
                                          <p:val>
                                            <p:strVal val="#ppt_h"/>
                                          </p:val>
                                        </p:tav>
                                      </p:tavLst>
                                    </p:anim>
                                    <p:animEffect transition="in" filter="fade">
                                      <p:cBhvr>
                                        <p:cTn id="51" dur="400"/>
                                        <p:tgtEl>
                                          <p:spTgt spid="13"/>
                                        </p:tgtEl>
                                      </p:cBhvr>
                                    </p:animEffect>
                                  </p:childTnLst>
                                </p:cTn>
                              </p:par>
                              <p:par>
                                <p:cTn id="57" presetID="53" presetClass="entr" presetSubtype="16" fill="hold" grpId="0" nodeType="withEffect">
                                  <p:stCondLst>
                                    <p:cond delay="450"/>
                                  </p:stCondLst>
                                  <p:childTnLst>
                                    <p:set>
                                      <p:cBhvr>
                                        <p:cTn id="53" dur="1" fill="hold">
                                          <p:stCondLst>
                                            <p:cond delay="0"/>
                                          </p:stCondLst>
                                        </p:cTn>
                                        <p:tgtEl>
                                          <p:spTgt spid="14"/>
                                        </p:tgtEl>
                                        <p:attrNameLst>
                                          <p:attrName>style.visibility</p:attrName>
                                        </p:attrNameLst>
                                      </p:cBhvr>
                                      <p:to>
                                        <p:strVal val="visible"/>
                                      </p:to>
                                    </p:set>
                                    <p:anim calcmode="lin" valueType="num">
                                      <p:cBhvr additive="base">
                                        <p:cTn id="54" dur="400" fill="hold"/>
                                        <p:tgtEl>
                                          <p:spTgt spid="14"/>
                                        </p:tgtEl>
                                        <p:attrNameLst>
                                          <p:attrName>ppt_w</p:attrName>
                                        </p:attrNameLst>
                                      </p:cBhvr>
                                      <p:tavLst>
                                        <p:tav tm="0">
                                          <p:val>
                                            <p:fltVal val="0"/>
                                          </p:val>
                                        </p:tav>
                                        <p:tav tm="100000">
                                          <p:val>
                                            <p:strVal val="#ppt_w"/>
                                          </p:val>
                                        </p:tav>
                                      </p:tavLst>
                                    </p:anim>
                                    <p:anim calcmode="lin" valueType="num">
                                      <p:cBhvr additive="base">
                                        <p:cTn id="55" dur="400" fill="hold"/>
                                        <p:tgtEl>
                                          <p:spTgt spid="14"/>
                                        </p:tgtEl>
                                        <p:attrNameLst>
                                          <p:attrName>ppt_h</p:attrName>
                                        </p:attrNameLst>
                                      </p:cBhvr>
                                      <p:tavLst>
                                        <p:tav tm="0">
                                          <p:val>
                                            <p:fltVal val="0"/>
                                          </p:val>
                                        </p:tav>
                                        <p:tav tm="100000">
                                          <p:val>
                                            <p:strVal val="#ppt_h"/>
                                          </p:val>
                                        </p:tav>
                                      </p:tavLst>
                                    </p:anim>
                                    <p:animEffect transition="in" filter="fade">
                                      <p:cBhvr>
                                        <p:cTn id="56" dur="400"/>
                                        <p:tgtEl>
                                          <p:spTgt spid="14"/>
                                        </p:tgtEl>
                                      </p:cBhvr>
                                    </p:animEffect>
                                  </p:childTnLst>
                                </p:cTn>
                              </p:par>
                              <p:par>
                                <p:cTn id="62" presetID="53" presetClass="entr" presetSubtype="16" fill="hold" grpId="0" nodeType="withEffect">
                                  <p:stCondLst>
                                    <p:cond delay="450"/>
                                  </p:stCondLst>
                                  <p:childTnLst>
                                    <p:set>
                                      <p:cBhvr>
                                        <p:cTn id="58" dur="1" fill="hold">
                                          <p:stCondLst>
                                            <p:cond delay="0"/>
                                          </p:stCondLst>
                                        </p:cTn>
                                        <p:tgtEl>
                                          <p:spTgt spid="15"/>
                                        </p:tgtEl>
                                        <p:attrNameLst>
                                          <p:attrName>style.visibility</p:attrName>
                                        </p:attrNameLst>
                                      </p:cBhvr>
                                      <p:to>
                                        <p:strVal val="visible"/>
                                      </p:to>
                                    </p:set>
                                    <p:anim calcmode="lin" valueType="num">
                                      <p:cBhvr additive="base">
                                        <p:cTn id="59" dur="400" fill="hold"/>
                                        <p:tgtEl>
                                          <p:spTgt spid="15"/>
                                        </p:tgtEl>
                                        <p:attrNameLst>
                                          <p:attrName>ppt_w</p:attrName>
                                        </p:attrNameLst>
                                      </p:cBhvr>
                                      <p:tavLst>
                                        <p:tav tm="0">
                                          <p:val>
                                            <p:fltVal val="0"/>
                                          </p:val>
                                        </p:tav>
                                        <p:tav tm="100000">
                                          <p:val>
                                            <p:strVal val="#ppt_w"/>
                                          </p:val>
                                        </p:tav>
                                      </p:tavLst>
                                    </p:anim>
                                    <p:anim calcmode="lin" valueType="num">
                                      <p:cBhvr additive="base">
                                        <p:cTn id="60" dur="400" fill="hold"/>
                                        <p:tgtEl>
                                          <p:spTgt spid="15"/>
                                        </p:tgtEl>
                                        <p:attrNameLst>
                                          <p:attrName>ppt_h</p:attrName>
                                        </p:attrNameLst>
                                      </p:cBhvr>
                                      <p:tavLst>
                                        <p:tav tm="0">
                                          <p:val>
                                            <p:fltVal val="0"/>
                                          </p:val>
                                        </p:tav>
                                        <p:tav tm="100000">
                                          <p:val>
                                            <p:strVal val="#ppt_h"/>
                                          </p:val>
                                        </p:tav>
                                      </p:tavLst>
                                    </p:anim>
                                    <p:animEffect transition="in" filter="fade">
                                      <p:cBhvr>
                                        <p:cTn id="61" dur="400"/>
                                        <p:tgtEl>
                                          <p:spTgt spid="15"/>
                                        </p:tgtEl>
                                      </p:cBhvr>
                                    </p:animEffect>
                                  </p:childTnLst>
                                </p:cTn>
                              </p:par>
                              <p:par>
                                <p:cTn id="67" presetID="53" presetClass="entr" presetSubtype="16" fill="hold" grpId="0" nodeType="withEffect">
                                  <p:stCondLst>
                                    <p:cond delay="600"/>
                                  </p:stCondLst>
                                  <p:childTnLst>
                                    <p:set>
                                      <p:cBhvr>
                                        <p:cTn id="63" dur="1" fill="hold">
                                          <p:stCondLst>
                                            <p:cond delay="0"/>
                                          </p:stCondLst>
                                        </p:cTn>
                                        <p:tgtEl>
                                          <p:spTgt spid="16"/>
                                        </p:tgtEl>
                                        <p:attrNameLst>
                                          <p:attrName>style.visibility</p:attrName>
                                        </p:attrNameLst>
                                      </p:cBhvr>
                                      <p:to>
                                        <p:strVal val="visible"/>
                                      </p:to>
                                    </p:set>
                                    <p:anim calcmode="lin" valueType="num">
                                      <p:cBhvr additive="base">
                                        <p:cTn id="64" dur="400" fill="hold"/>
                                        <p:tgtEl>
                                          <p:spTgt spid="16"/>
                                        </p:tgtEl>
                                        <p:attrNameLst>
                                          <p:attrName>ppt_w</p:attrName>
                                        </p:attrNameLst>
                                      </p:cBhvr>
                                      <p:tavLst>
                                        <p:tav tm="0">
                                          <p:val>
                                            <p:fltVal val="0"/>
                                          </p:val>
                                        </p:tav>
                                        <p:tav tm="100000">
                                          <p:val>
                                            <p:strVal val="#ppt_w"/>
                                          </p:val>
                                        </p:tav>
                                      </p:tavLst>
                                    </p:anim>
                                    <p:anim calcmode="lin" valueType="num">
                                      <p:cBhvr additive="base">
                                        <p:cTn id="65" dur="400" fill="hold"/>
                                        <p:tgtEl>
                                          <p:spTgt spid="16"/>
                                        </p:tgtEl>
                                        <p:attrNameLst>
                                          <p:attrName>ppt_h</p:attrName>
                                        </p:attrNameLst>
                                      </p:cBhvr>
                                      <p:tavLst>
                                        <p:tav tm="0">
                                          <p:val>
                                            <p:fltVal val="0"/>
                                          </p:val>
                                        </p:tav>
                                        <p:tav tm="100000">
                                          <p:val>
                                            <p:strVal val="#ppt_h"/>
                                          </p:val>
                                        </p:tav>
                                      </p:tavLst>
                                    </p:anim>
                                    <p:animEffect transition="in" filter="fade">
                                      <p:cBhvr>
                                        <p:cTn id="66" dur="400"/>
                                        <p:tgtEl>
                                          <p:spTgt spid="16"/>
                                        </p:tgtEl>
                                      </p:cBhvr>
                                    </p:animEffect>
                                  </p:childTnLst>
                                </p:cTn>
                              </p:par>
                              <p:par>
                                <p:cTn id="72" presetID="53" presetClass="entr" presetSubtype="16" fill="hold" grpId="0" nodeType="withEffect">
                                  <p:stCondLst>
                                    <p:cond delay="600"/>
                                  </p:stCondLst>
                                  <p:childTnLst>
                                    <p:set>
                                      <p:cBhvr>
                                        <p:cTn id="68" dur="1" fill="hold">
                                          <p:stCondLst>
                                            <p:cond delay="0"/>
                                          </p:stCondLst>
                                        </p:cTn>
                                        <p:tgtEl>
                                          <p:spTgt spid="17"/>
                                        </p:tgtEl>
                                        <p:attrNameLst>
                                          <p:attrName>style.visibility</p:attrName>
                                        </p:attrNameLst>
                                      </p:cBhvr>
                                      <p:to>
                                        <p:strVal val="visible"/>
                                      </p:to>
                                    </p:set>
                                    <p:anim calcmode="lin" valueType="num">
                                      <p:cBhvr additive="base">
                                        <p:cTn id="69" dur="400" fill="hold"/>
                                        <p:tgtEl>
                                          <p:spTgt spid="17"/>
                                        </p:tgtEl>
                                        <p:attrNameLst>
                                          <p:attrName>ppt_w</p:attrName>
                                        </p:attrNameLst>
                                      </p:cBhvr>
                                      <p:tavLst>
                                        <p:tav tm="0">
                                          <p:val>
                                            <p:fltVal val="0"/>
                                          </p:val>
                                        </p:tav>
                                        <p:tav tm="100000">
                                          <p:val>
                                            <p:strVal val="#ppt_w"/>
                                          </p:val>
                                        </p:tav>
                                      </p:tavLst>
                                    </p:anim>
                                    <p:anim calcmode="lin" valueType="num">
                                      <p:cBhvr additive="base">
                                        <p:cTn id="70" dur="400" fill="hold"/>
                                        <p:tgtEl>
                                          <p:spTgt spid="17"/>
                                        </p:tgtEl>
                                        <p:attrNameLst>
                                          <p:attrName>ppt_h</p:attrName>
                                        </p:attrNameLst>
                                      </p:cBhvr>
                                      <p:tavLst>
                                        <p:tav tm="0">
                                          <p:val>
                                            <p:fltVal val="0"/>
                                          </p:val>
                                        </p:tav>
                                        <p:tav tm="100000">
                                          <p:val>
                                            <p:strVal val="#ppt_h"/>
                                          </p:val>
                                        </p:tav>
                                      </p:tavLst>
                                    </p:anim>
                                    <p:animEffect transition="in" filter="fade">
                                      <p:cBhvr>
                                        <p:cTn id="71" dur="400"/>
                                        <p:tgtEl>
                                          <p:spTgt spid="17"/>
                                        </p:tgtEl>
                                      </p:cBhvr>
                                    </p:animEffect>
                                  </p:childTnLst>
                                </p:cTn>
                              </p:par>
                              <p:par>
                                <p:cTn id="77" presetID="53" presetClass="entr" presetSubtype="16" fill="hold" grpId="0" nodeType="withEffect">
                                  <p:stCondLst>
                                    <p:cond delay="600"/>
                                  </p:stCondLst>
                                  <p:childTnLst>
                                    <p:set>
                                      <p:cBhvr>
                                        <p:cTn id="73" dur="1" fill="hold">
                                          <p:stCondLst>
                                            <p:cond delay="0"/>
                                          </p:stCondLst>
                                        </p:cTn>
                                        <p:tgtEl>
                                          <p:spTgt spid="18"/>
                                        </p:tgtEl>
                                        <p:attrNameLst>
                                          <p:attrName>style.visibility</p:attrName>
                                        </p:attrNameLst>
                                      </p:cBhvr>
                                      <p:to>
                                        <p:strVal val="visible"/>
                                      </p:to>
                                    </p:set>
                                    <p:anim calcmode="lin" valueType="num">
                                      <p:cBhvr additive="base">
                                        <p:cTn id="74" dur="400" fill="hold"/>
                                        <p:tgtEl>
                                          <p:spTgt spid="18"/>
                                        </p:tgtEl>
                                        <p:attrNameLst>
                                          <p:attrName>ppt_w</p:attrName>
                                        </p:attrNameLst>
                                      </p:cBhvr>
                                      <p:tavLst>
                                        <p:tav tm="0">
                                          <p:val>
                                            <p:fltVal val="0"/>
                                          </p:val>
                                        </p:tav>
                                        <p:tav tm="100000">
                                          <p:val>
                                            <p:strVal val="#ppt_w"/>
                                          </p:val>
                                        </p:tav>
                                      </p:tavLst>
                                    </p:anim>
                                    <p:anim calcmode="lin" valueType="num">
                                      <p:cBhvr additive="base">
                                        <p:cTn id="75" dur="400" fill="hold"/>
                                        <p:tgtEl>
                                          <p:spTgt spid="18"/>
                                        </p:tgtEl>
                                        <p:attrNameLst>
                                          <p:attrName>ppt_h</p:attrName>
                                        </p:attrNameLst>
                                      </p:cBhvr>
                                      <p:tavLst>
                                        <p:tav tm="0">
                                          <p:val>
                                            <p:fltVal val="0"/>
                                          </p:val>
                                        </p:tav>
                                        <p:tav tm="100000">
                                          <p:val>
                                            <p:strVal val="#ppt_h"/>
                                          </p:val>
                                        </p:tav>
                                      </p:tavLst>
                                    </p:anim>
                                    <p:animEffect transition="in" filter="fade">
                                      <p:cBhvr>
                                        <p:cTn id="76" dur="400"/>
                                        <p:tgtEl>
                                          <p:spTgt spid="18"/>
                                        </p:tgtEl>
                                      </p:cBhvr>
                                    </p:animEffect>
                                  </p:childTnLst>
                                </p:cTn>
                              </p:par>
                              <p:par>
                                <p:cTn id="82" presetID="53" presetClass="entr" presetSubtype="16" fill="hold" grpId="0" nodeType="withEffect">
                                  <p:stCondLst>
                                    <p:cond delay="750"/>
                                  </p:stCondLst>
                                  <p:childTnLst>
                                    <p:set>
                                      <p:cBhvr>
                                        <p:cTn id="78" dur="1" fill="hold">
                                          <p:stCondLst>
                                            <p:cond delay="0"/>
                                          </p:stCondLst>
                                        </p:cTn>
                                        <p:tgtEl>
                                          <p:spTgt spid="19"/>
                                        </p:tgtEl>
                                        <p:attrNameLst>
                                          <p:attrName>style.visibility</p:attrName>
                                        </p:attrNameLst>
                                      </p:cBhvr>
                                      <p:to>
                                        <p:strVal val="visible"/>
                                      </p:to>
                                    </p:set>
                                    <p:anim calcmode="lin" valueType="num">
                                      <p:cBhvr additive="base">
                                        <p:cTn id="79" dur="400" fill="hold"/>
                                        <p:tgtEl>
                                          <p:spTgt spid="19"/>
                                        </p:tgtEl>
                                        <p:attrNameLst>
                                          <p:attrName>ppt_w</p:attrName>
                                        </p:attrNameLst>
                                      </p:cBhvr>
                                      <p:tavLst>
                                        <p:tav tm="0">
                                          <p:val>
                                            <p:fltVal val="0"/>
                                          </p:val>
                                        </p:tav>
                                        <p:tav tm="100000">
                                          <p:val>
                                            <p:strVal val="#ppt_w"/>
                                          </p:val>
                                        </p:tav>
                                      </p:tavLst>
                                    </p:anim>
                                    <p:anim calcmode="lin" valueType="num">
                                      <p:cBhvr additive="base">
                                        <p:cTn id="80" dur="400" fill="hold"/>
                                        <p:tgtEl>
                                          <p:spTgt spid="19"/>
                                        </p:tgtEl>
                                        <p:attrNameLst>
                                          <p:attrName>ppt_h</p:attrName>
                                        </p:attrNameLst>
                                      </p:cBhvr>
                                      <p:tavLst>
                                        <p:tav tm="0">
                                          <p:val>
                                            <p:fltVal val="0"/>
                                          </p:val>
                                        </p:tav>
                                        <p:tav tm="100000">
                                          <p:val>
                                            <p:strVal val="#ppt_h"/>
                                          </p:val>
                                        </p:tav>
                                      </p:tavLst>
                                    </p:anim>
                                    <p:animEffect transition="in" filter="fade">
                                      <p:cBhvr>
                                        <p:cTn id="81" dur="400"/>
                                        <p:tgtEl>
                                          <p:spTgt spid="19"/>
                                        </p:tgtEl>
                                      </p:cBhvr>
                                    </p:animEffect>
                                  </p:childTnLst>
                                </p:cTn>
                              </p:par>
                              <p:par>
                                <p:cTn id="87" presetID="53" presetClass="entr" presetSubtype="16" fill="hold" grpId="0" nodeType="withEffect">
                                  <p:stCondLst>
                                    <p:cond delay="750"/>
                                  </p:stCondLst>
                                  <p:childTnLst>
                                    <p:set>
                                      <p:cBhvr>
                                        <p:cTn id="83" dur="1" fill="hold">
                                          <p:stCondLst>
                                            <p:cond delay="0"/>
                                          </p:stCondLst>
                                        </p:cTn>
                                        <p:tgtEl>
                                          <p:spTgt spid="20"/>
                                        </p:tgtEl>
                                        <p:attrNameLst>
                                          <p:attrName>style.visibility</p:attrName>
                                        </p:attrNameLst>
                                      </p:cBhvr>
                                      <p:to>
                                        <p:strVal val="visible"/>
                                      </p:to>
                                    </p:set>
                                    <p:anim calcmode="lin" valueType="num">
                                      <p:cBhvr additive="base">
                                        <p:cTn id="84" dur="400" fill="hold"/>
                                        <p:tgtEl>
                                          <p:spTgt spid="20"/>
                                        </p:tgtEl>
                                        <p:attrNameLst>
                                          <p:attrName>ppt_w</p:attrName>
                                        </p:attrNameLst>
                                      </p:cBhvr>
                                      <p:tavLst>
                                        <p:tav tm="0">
                                          <p:val>
                                            <p:fltVal val="0"/>
                                          </p:val>
                                        </p:tav>
                                        <p:tav tm="100000">
                                          <p:val>
                                            <p:strVal val="#ppt_w"/>
                                          </p:val>
                                        </p:tav>
                                      </p:tavLst>
                                    </p:anim>
                                    <p:anim calcmode="lin" valueType="num">
                                      <p:cBhvr additive="base">
                                        <p:cTn id="85" dur="400" fill="hold"/>
                                        <p:tgtEl>
                                          <p:spTgt spid="20"/>
                                        </p:tgtEl>
                                        <p:attrNameLst>
                                          <p:attrName>ppt_h</p:attrName>
                                        </p:attrNameLst>
                                      </p:cBhvr>
                                      <p:tavLst>
                                        <p:tav tm="0">
                                          <p:val>
                                            <p:fltVal val="0"/>
                                          </p:val>
                                        </p:tav>
                                        <p:tav tm="100000">
                                          <p:val>
                                            <p:strVal val="#ppt_h"/>
                                          </p:val>
                                        </p:tav>
                                      </p:tavLst>
                                    </p:anim>
                                    <p:animEffect transition="in" filter="fade">
                                      <p:cBhvr>
                                        <p:cTn id="86" dur="400"/>
                                        <p:tgtEl>
                                          <p:spTgt spid="20"/>
                                        </p:tgtEl>
                                      </p:cBhvr>
                                    </p:animEffect>
                                  </p:childTnLst>
                                </p:cTn>
                              </p:par>
                              <p:par>
                                <p:cTn id="92" presetID="53" presetClass="entr" presetSubtype="16" fill="hold" grpId="0" nodeType="withEffect">
                                  <p:stCondLst>
                                    <p:cond delay="750"/>
                                  </p:stCondLst>
                                  <p:childTnLst>
                                    <p:set>
                                      <p:cBhvr>
                                        <p:cTn id="88" dur="1" fill="hold">
                                          <p:stCondLst>
                                            <p:cond delay="0"/>
                                          </p:stCondLst>
                                        </p:cTn>
                                        <p:tgtEl>
                                          <p:spTgt spid="21"/>
                                        </p:tgtEl>
                                        <p:attrNameLst>
                                          <p:attrName>style.visibility</p:attrName>
                                        </p:attrNameLst>
                                      </p:cBhvr>
                                      <p:to>
                                        <p:strVal val="visible"/>
                                      </p:to>
                                    </p:set>
                                    <p:anim calcmode="lin" valueType="num">
                                      <p:cBhvr additive="base">
                                        <p:cTn id="89" dur="400" fill="hold"/>
                                        <p:tgtEl>
                                          <p:spTgt spid="21"/>
                                        </p:tgtEl>
                                        <p:attrNameLst>
                                          <p:attrName>ppt_w</p:attrName>
                                        </p:attrNameLst>
                                      </p:cBhvr>
                                      <p:tavLst>
                                        <p:tav tm="0">
                                          <p:val>
                                            <p:fltVal val="0"/>
                                          </p:val>
                                        </p:tav>
                                        <p:tav tm="100000">
                                          <p:val>
                                            <p:strVal val="#ppt_w"/>
                                          </p:val>
                                        </p:tav>
                                      </p:tavLst>
                                    </p:anim>
                                    <p:anim calcmode="lin" valueType="num">
                                      <p:cBhvr additive="base">
                                        <p:cTn id="90" dur="400" fill="hold"/>
                                        <p:tgtEl>
                                          <p:spTgt spid="21"/>
                                        </p:tgtEl>
                                        <p:attrNameLst>
                                          <p:attrName>ppt_h</p:attrName>
                                        </p:attrNameLst>
                                      </p:cBhvr>
                                      <p:tavLst>
                                        <p:tav tm="0">
                                          <p:val>
                                            <p:fltVal val="0"/>
                                          </p:val>
                                        </p:tav>
                                        <p:tav tm="100000">
                                          <p:val>
                                            <p:strVal val="#ppt_h"/>
                                          </p:val>
                                        </p:tav>
                                      </p:tavLst>
                                    </p:anim>
                                    <p:animEffect transition="in" filter="fade">
                                      <p:cBhvr>
                                        <p:cTn id="91" dur="400"/>
                                        <p:tgtEl>
                                          <p:spTgt spid="21"/>
                                        </p:tgtEl>
                                      </p:cBhvr>
                                    </p:animEffect>
                                  </p:childTnLst>
                                </p:cTn>
                              </p:par>
                              <p:par>
                                <p:cTn id="97" presetID="53" presetClass="entr" presetSubtype="16" fill="hold" grpId="0" nodeType="withEffect">
                                  <p:stCondLst>
                                    <p:cond delay="900"/>
                                  </p:stCondLst>
                                  <p:childTnLst>
                                    <p:set>
                                      <p:cBhvr>
                                        <p:cTn id="93" dur="1" fill="hold">
                                          <p:stCondLst>
                                            <p:cond delay="0"/>
                                          </p:stCondLst>
                                        </p:cTn>
                                        <p:tgtEl>
                                          <p:spTgt spid="22"/>
                                        </p:tgtEl>
                                        <p:attrNameLst>
                                          <p:attrName>style.visibility</p:attrName>
                                        </p:attrNameLst>
                                      </p:cBhvr>
                                      <p:to>
                                        <p:strVal val="visible"/>
                                      </p:to>
                                    </p:set>
                                    <p:anim calcmode="lin" valueType="num">
                                      <p:cBhvr additive="base">
                                        <p:cTn id="94" dur="400" fill="hold"/>
                                        <p:tgtEl>
                                          <p:spTgt spid="22"/>
                                        </p:tgtEl>
                                        <p:attrNameLst>
                                          <p:attrName>ppt_w</p:attrName>
                                        </p:attrNameLst>
                                      </p:cBhvr>
                                      <p:tavLst>
                                        <p:tav tm="0">
                                          <p:val>
                                            <p:fltVal val="0"/>
                                          </p:val>
                                        </p:tav>
                                        <p:tav tm="100000">
                                          <p:val>
                                            <p:strVal val="#ppt_w"/>
                                          </p:val>
                                        </p:tav>
                                      </p:tavLst>
                                    </p:anim>
                                    <p:anim calcmode="lin" valueType="num">
                                      <p:cBhvr additive="base">
                                        <p:cTn id="95" dur="400" fill="hold"/>
                                        <p:tgtEl>
                                          <p:spTgt spid="22"/>
                                        </p:tgtEl>
                                        <p:attrNameLst>
                                          <p:attrName>ppt_h</p:attrName>
                                        </p:attrNameLst>
                                      </p:cBhvr>
                                      <p:tavLst>
                                        <p:tav tm="0">
                                          <p:val>
                                            <p:fltVal val="0"/>
                                          </p:val>
                                        </p:tav>
                                        <p:tav tm="100000">
                                          <p:val>
                                            <p:strVal val="#ppt_h"/>
                                          </p:val>
                                        </p:tav>
                                      </p:tavLst>
                                    </p:anim>
                                    <p:animEffect transition="in" filter="fade">
                                      <p:cBhvr>
                                        <p:cTn id="96" dur="400"/>
                                        <p:tgtEl>
                                          <p:spTgt spid="22"/>
                                        </p:tgtEl>
                                      </p:cBhvr>
                                    </p:animEffect>
                                  </p:childTnLst>
                                </p:cTn>
                              </p:par>
                              <p:par>
                                <p:cTn id="102" presetID="53" presetClass="entr" presetSubtype="16" fill="hold" grpId="0" nodeType="withEffect">
                                  <p:stCondLst>
                                    <p:cond delay="900"/>
                                  </p:stCondLst>
                                  <p:childTnLst>
                                    <p:set>
                                      <p:cBhvr>
                                        <p:cTn id="98" dur="1" fill="hold">
                                          <p:stCondLst>
                                            <p:cond delay="0"/>
                                          </p:stCondLst>
                                        </p:cTn>
                                        <p:tgtEl>
                                          <p:spTgt spid="23"/>
                                        </p:tgtEl>
                                        <p:attrNameLst>
                                          <p:attrName>style.visibility</p:attrName>
                                        </p:attrNameLst>
                                      </p:cBhvr>
                                      <p:to>
                                        <p:strVal val="visible"/>
                                      </p:to>
                                    </p:set>
                                    <p:anim calcmode="lin" valueType="num">
                                      <p:cBhvr additive="base">
                                        <p:cTn id="99" dur="400" fill="hold"/>
                                        <p:tgtEl>
                                          <p:spTgt spid="23"/>
                                        </p:tgtEl>
                                        <p:attrNameLst>
                                          <p:attrName>ppt_w</p:attrName>
                                        </p:attrNameLst>
                                      </p:cBhvr>
                                      <p:tavLst>
                                        <p:tav tm="0">
                                          <p:val>
                                            <p:fltVal val="0"/>
                                          </p:val>
                                        </p:tav>
                                        <p:tav tm="100000">
                                          <p:val>
                                            <p:strVal val="#ppt_w"/>
                                          </p:val>
                                        </p:tav>
                                      </p:tavLst>
                                    </p:anim>
                                    <p:anim calcmode="lin" valueType="num">
                                      <p:cBhvr additive="base">
                                        <p:cTn id="100" dur="400" fill="hold"/>
                                        <p:tgtEl>
                                          <p:spTgt spid="23"/>
                                        </p:tgtEl>
                                        <p:attrNameLst>
                                          <p:attrName>ppt_h</p:attrName>
                                        </p:attrNameLst>
                                      </p:cBhvr>
                                      <p:tavLst>
                                        <p:tav tm="0">
                                          <p:val>
                                            <p:fltVal val="0"/>
                                          </p:val>
                                        </p:tav>
                                        <p:tav tm="100000">
                                          <p:val>
                                            <p:strVal val="#ppt_h"/>
                                          </p:val>
                                        </p:tav>
                                      </p:tavLst>
                                    </p:anim>
                                    <p:animEffect transition="in" filter="fade">
                                      <p:cBhvr>
                                        <p:cTn id="101" dur="400"/>
                                        <p:tgtEl>
                                          <p:spTgt spid="23"/>
                                        </p:tgtEl>
                                      </p:cBhvr>
                                    </p:animEffect>
                                  </p:childTnLst>
                                </p:cTn>
                              </p:par>
                              <p:par>
                                <p:cTn id="107" presetID="53" presetClass="entr" presetSubtype="16" fill="hold" grpId="0" nodeType="withEffect">
                                  <p:stCondLst>
                                    <p:cond delay="900"/>
                                  </p:stCondLst>
                                  <p:childTnLst>
                                    <p:set>
                                      <p:cBhvr>
                                        <p:cTn id="103" dur="1" fill="hold">
                                          <p:stCondLst>
                                            <p:cond delay="0"/>
                                          </p:stCondLst>
                                        </p:cTn>
                                        <p:tgtEl>
                                          <p:spTgt spid="24"/>
                                        </p:tgtEl>
                                        <p:attrNameLst>
                                          <p:attrName>style.visibility</p:attrName>
                                        </p:attrNameLst>
                                      </p:cBhvr>
                                      <p:to>
                                        <p:strVal val="visible"/>
                                      </p:to>
                                    </p:set>
                                    <p:anim calcmode="lin" valueType="num">
                                      <p:cBhvr additive="base">
                                        <p:cTn id="104" dur="400" fill="hold"/>
                                        <p:tgtEl>
                                          <p:spTgt spid="24"/>
                                        </p:tgtEl>
                                        <p:attrNameLst>
                                          <p:attrName>ppt_w</p:attrName>
                                        </p:attrNameLst>
                                      </p:cBhvr>
                                      <p:tavLst>
                                        <p:tav tm="0">
                                          <p:val>
                                            <p:fltVal val="0"/>
                                          </p:val>
                                        </p:tav>
                                        <p:tav tm="100000">
                                          <p:val>
                                            <p:strVal val="#ppt_w"/>
                                          </p:val>
                                        </p:tav>
                                      </p:tavLst>
                                    </p:anim>
                                    <p:anim calcmode="lin" valueType="num">
                                      <p:cBhvr additive="base">
                                        <p:cTn id="105" dur="400" fill="hold"/>
                                        <p:tgtEl>
                                          <p:spTgt spid="24"/>
                                        </p:tgtEl>
                                        <p:attrNameLst>
                                          <p:attrName>ppt_h</p:attrName>
                                        </p:attrNameLst>
                                      </p:cBhvr>
                                      <p:tavLst>
                                        <p:tav tm="0">
                                          <p:val>
                                            <p:fltVal val="0"/>
                                          </p:val>
                                        </p:tav>
                                        <p:tav tm="100000">
                                          <p:val>
                                            <p:strVal val="#ppt_h"/>
                                          </p:val>
                                        </p:tav>
                                      </p:tavLst>
                                    </p:anim>
                                    <p:animEffect transition="in" filter="fade">
                                      <p:cBhvr>
                                        <p:cTn id="106" dur="400"/>
                                        <p:tgtEl>
                                          <p:spTgt spid="24"/>
                                        </p:tgtEl>
                                      </p:cBhvr>
                                    </p:animEffect>
                                  </p:childTnLst>
                                </p:cTn>
                              </p:par>
                              <p:par>
                                <p:cTn id="112" presetID="53" presetClass="entr" presetSubtype="16" fill="hold" grpId="0" nodeType="withEffect">
                                  <p:stCondLst>
                                    <p:cond delay="1050"/>
                                  </p:stCondLst>
                                  <p:childTnLst>
                                    <p:set>
                                      <p:cBhvr>
                                        <p:cTn id="108" dur="1" fill="hold">
                                          <p:stCondLst>
                                            <p:cond delay="0"/>
                                          </p:stCondLst>
                                        </p:cTn>
                                        <p:tgtEl>
                                          <p:spTgt spid="25"/>
                                        </p:tgtEl>
                                        <p:attrNameLst>
                                          <p:attrName>style.visibility</p:attrName>
                                        </p:attrNameLst>
                                      </p:cBhvr>
                                      <p:to>
                                        <p:strVal val="visible"/>
                                      </p:to>
                                    </p:set>
                                    <p:anim calcmode="lin" valueType="num">
                                      <p:cBhvr additive="base">
                                        <p:cTn id="109" dur="400" fill="hold"/>
                                        <p:tgtEl>
                                          <p:spTgt spid="25"/>
                                        </p:tgtEl>
                                        <p:attrNameLst>
                                          <p:attrName>ppt_w</p:attrName>
                                        </p:attrNameLst>
                                      </p:cBhvr>
                                      <p:tavLst>
                                        <p:tav tm="0">
                                          <p:val>
                                            <p:fltVal val="0"/>
                                          </p:val>
                                        </p:tav>
                                        <p:tav tm="100000">
                                          <p:val>
                                            <p:strVal val="#ppt_w"/>
                                          </p:val>
                                        </p:tav>
                                      </p:tavLst>
                                    </p:anim>
                                    <p:anim calcmode="lin" valueType="num">
                                      <p:cBhvr additive="base">
                                        <p:cTn id="110" dur="400" fill="hold"/>
                                        <p:tgtEl>
                                          <p:spTgt spid="25"/>
                                        </p:tgtEl>
                                        <p:attrNameLst>
                                          <p:attrName>ppt_h</p:attrName>
                                        </p:attrNameLst>
                                      </p:cBhvr>
                                      <p:tavLst>
                                        <p:tav tm="0">
                                          <p:val>
                                            <p:fltVal val="0"/>
                                          </p:val>
                                        </p:tav>
                                        <p:tav tm="100000">
                                          <p:val>
                                            <p:strVal val="#ppt_h"/>
                                          </p:val>
                                        </p:tav>
                                      </p:tavLst>
                                    </p:anim>
                                    <p:animEffect transition="in" filter="fade">
                                      <p:cBhvr>
                                        <p:cTn id="111" dur="400"/>
                                        <p:tgtEl>
                                          <p:spTgt spid="25"/>
                                        </p:tgtEl>
                                      </p:cBhvr>
                                    </p:animEffect>
                                  </p:childTnLst>
                                </p:cTn>
                              </p:par>
                              <p:par>
                                <p:cTn id="117" presetID="53" presetClass="entr" presetSubtype="16" fill="hold" grpId="0" nodeType="withEffect">
                                  <p:stCondLst>
                                    <p:cond delay="1050"/>
                                  </p:stCondLst>
                                  <p:childTnLst>
                                    <p:set>
                                      <p:cBhvr>
                                        <p:cTn id="113" dur="1" fill="hold">
                                          <p:stCondLst>
                                            <p:cond delay="0"/>
                                          </p:stCondLst>
                                        </p:cTn>
                                        <p:tgtEl>
                                          <p:spTgt spid="26"/>
                                        </p:tgtEl>
                                        <p:attrNameLst>
                                          <p:attrName>style.visibility</p:attrName>
                                        </p:attrNameLst>
                                      </p:cBhvr>
                                      <p:to>
                                        <p:strVal val="visible"/>
                                      </p:to>
                                    </p:set>
                                    <p:anim calcmode="lin" valueType="num">
                                      <p:cBhvr additive="base">
                                        <p:cTn id="114" dur="400" fill="hold"/>
                                        <p:tgtEl>
                                          <p:spTgt spid="26"/>
                                        </p:tgtEl>
                                        <p:attrNameLst>
                                          <p:attrName>ppt_w</p:attrName>
                                        </p:attrNameLst>
                                      </p:cBhvr>
                                      <p:tavLst>
                                        <p:tav tm="0">
                                          <p:val>
                                            <p:fltVal val="0"/>
                                          </p:val>
                                        </p:tav>
                                        <p:tav tm="100000">
                                          <p:val>
                                            <p:strVal val="#ppt_w"/>
                                          </p:val>
                                        </p:tav>
                                      </p:tavLst>
                                    </p:anim>
                                    <p:anim calcmode="lin" valueType="num">
                                      <p:cBhvr additive="base">
                                        <p:cTn id="115" dur="400" fill="hold"/>
                                        <p:tgtEl>
                                          <p:spTgt spid="26"/>
                                        </p:tgtEl>
                                        <p:attrNameLst>
                                          <p:attrName>ppt_h</p:attrName>
                                        </p:attrNameLst>
                                      </p:cBhvr>
                                      <p:tavLst>
                                        <p:tav tm="0">
                                          <p:val>
                                            <p:fltVal val="0"/>
                                          </p:val>
                                        </p:tav>
                                        <p:tav tm="100000">
                                          <p:val>
                                            <p:strVal val="#ppt_h"/>
                                          </p:val>
                                        </p:tav>
                                      </p:tavLst>
                                    </p:anim>
                                    <p:animEffect transition="in" filter="fade">
                                      <p:cBhvr>
                                        <p:cTn id="116" dur="400"/>
                                        <p:tgtEl>
                                          <p:spTgt spid="26"/>
                                        </p:tgtEl>
                                      </p:cBhvr>
                                    </p:animEffect>
                                  </p:childTnLst>
                                </p:cTn>
                              </p:par>
                              <p:par>
                                <p:cTn id="122" presetID="53" presetClass="entr" presetSubtype="16" fill="hold" grpId="0" nodeType="withEffect">
                                  <p:stCondLst>
                                    <p:cond delay="1050"/>
                                  </p:stCondLst>
                                  <p:childTnLst>
                                    <p:set>
                                      <p:cBhvr>
                                        <p:cTn id="118" dur="1" fill="hold">
                                          <p:stCondLst>
                                            <p:cond delay="0"/>
                                          </p:stCondLst>
                                        </p:cTn>
                                        <p:tgtEl>
                                          <p:spTgt spid="27"/>
                                        </p:tgtEl>
                                        <p:attrNameLst>
                                          <p:attrName>style.visibility</p:attrName>
                                        </p:attrNameLst>
                                      </p:cBhvr>
                                      <p:to>
                                        <p:strVal val="visible"/>
                                      </p:to>
                                    </p:set>
                                    <p:anim calcmode="lin" valueType="num">
                                      <p:cBhvr additive="base">
                                        <p:cTn id="119" dur="400" fill="hold"/>
                                        <p:tgtEl>
                                          <p:spTgt spid="27"/>
                                        </p:tgtEl>
                                        <p:attrNameLst>
                                          <p:attrName>ppt_w</p:attrName>
                                        </p:attrNameLst>
                                      </p:cBhvr>
                                      <p:tavLst>
                                        <p:tav tm="0">
                                          <p:val>
                                            <p:fltVal val="0"/>
                                          </p:val>
                                        </p:tav>
                                        <p:tav tm="100000">
                                          <p:val>
                                            <p:strVal val="#ppt_w"/>
                                          </p:val>
                                        </p:tav>
                                      </p:tavLst>
                                    </p:anim>
                                    <p:anim calcmode="lin" valueType="num">
                                      <p:cBhvr additive="base">
                                        <p:cTn id="120" dur="400" fill="hold"/>
                                        <p:tgtEl>
                                          <p:spTgt spid="27"/>
                                        </p:tgtEl>
                                        <p:attrNameLst>
                                          <p:attrName>ppt_h</p:attrName>
                                        </p:attrNameLst>
                                      </p:cBhvr>
                                      <p:tavLst>
                                        <p:tav tm="0">
                                          <p:val>
                                            <p:fltVal val="0"/>
                                          </p:val>
                                        </p:tav>
                                        <p:tav tm="100000">
                                          <p:val>
                                            <p:strVal val="#ppt_h"/>
                                          </p:val>
                                        </p:tav>
                                      </p:tavLst>
                                    </p:anim>
                                    <p:animEffect transition="in" filter="fade">
                                      <p:cBhvr>
                                        <p:cTn id="121" dur="400"/>
                                        <p:tgtEl>
                                          <p:spTgt spid="27"/>
                                        </p:tgtEl>
                                      </p:cBhvr>
                                    </p:animEffect>
                                  </p:childTnLst>
                                </p:cTn>
                              </p:par>
                              <p:par>
                                <p:cTn id="127" presetID="53" presetClass="entr" presetSubtype="16" fill="hold" grpId="0" nodeType="withEffect">
                                  <p:stCondLst>
                                    <p:cond delay="1200"/>
                                  </p:stCondLst>
                                  <p:childTnLst>
                                    <p:set>
                                      <p:cBhvr>
                                        <p:cTn id="123" dur="1" fill="hold">
                                          <p:stCondLst>
                                            <p:cond delay="0"/>
                                          </p:stCondLst>
                                        </p:cTn>
                                        <p:tgtEl>
                                          <p:spTgt spid="28"/>
                                        </p:tgtEl>
                                        <p:attrNameLst>
                                          <p:attrName>style.visibility</p:attrName>
                                        </p:attrNameLst>
                                      </p:cBhvr>
                                      <p:to>
                                        <p:strVal val="visible"/>
                                      </p:to>
                                    </p:set>
                                    <p:anim calcmode="lin" valueType="num">
                                      <p:cBhvr additive="base">
                                        <p:cTn id="124" dur="400" fill="hold"/>
                                        <p:tgtEl>
                                          <p:spTgt spid="28"/>
                                        </p:tgtEl>
                                        <p:attrNameLst>
                                          <p:attrName>ppt_w</p:attrName>
                                        </p:attrNameLst>
                                      </p:cBhvr>
                                      <p:tavLst>
                                        <p:tav tm="0">
                                          <p:val>
                                            <p:fltVal val="0"/>
                                          </p:val>
                                        </p:tav>
                                        <p:tav tm="100000">
                                          <p:val>
                                            <p:strVal val="#ppt_w"/>
                                          </p:val>
                                        </p:tav>
                                      </p:tavLst>
                                    </p:anim>
                                    <p:anim calcmode="lin" valueType="num">
                                      <p:cBhvr additive="base">
                                        <p:cTn id="125" dur="400" fill="hold"/>
                                        <p:tgtEl>
                                          <p:spTgt spid="28"/>
                                        </p:tgtEl>
                                        <p:attrNameLst>
                                          <p:attrName>ppt_h</p:attrName>
                                        </p:attrNameLst>
                                      </p:cBhvr>
                                      <p:tavLst>
                                        <p:tav tm="0">
                                          <p:val>
                                            <p:fltVal val="0"/>
                                          </p:val>
                                        </p:tav>
                                        <p:tav tm="100000">
                                          <p:val>
                                            <p:strVal val="#ppt_h"/>
                                          </p:val>
                                        </p:tav>
                                      </p:tavLst>
                                    </p:anim>
                                    <p:animEffect transition="in" filter="fade">
                                      <p:cBhvr>
                                        <p:cTn id="126" dur="400"/>
                                        <p:tgtEl>
                                          <p:spTgt spid="28"/>
                                        </p:tgtEl>
                                      </p:cBhvr>
                                    </p:animEffect>
                                  </p:childTnLst>
                                </p:cTn>
                              </p:par>
                              <p:par>
                                <p:cTn id="132" presetID="53" presetClass="entr" presetSubtype="16" fill="hold" grpId="0" nodeType="withEffect">
                                  <p:stCondLst>
                                    <p:cond delay="1200"/>
                                  </p:stCondLst>
                                  <p:childTnLst>
                                    <p:set>
                                      <p:cBhvr>
                                        <p:cTn id="128" dur="1" fill="hold">
                                          <p:stCondLst>
                                            <p:cond delay="0"/>
                                          </p:stCondLst>
                                        </p:cTn>
                                        <p:tgtEl>
                                          <p:spTgt spid="29"/>
                                        </p:tgtEl>
                                        <p:attrNameLst>
                                          <p:attrName>style.visibility</p:attrName>
                                        </p:attrNameLst>
                                      </p:cBhvr>
                                      <p:to>
                                        <p:strVal val="visible"/>
                                      </p:to>
                                    </p:set>
                                    <p:anim calcmode="lin" valueType="num">
                                      <p:cBhvr additive="base">
                                        <p:cTn id="129" dur="400" fill="hold"/>
                                        <p:tgtEl>
                                          <p:spTgt spid="29"/>
                                        </p:tgtEl>
                                        <p:attrNameLst>
                                          <p:attrName>ppt_w</p:attrName>
                                        </p:attrNameLst>
                                      </p:cBhvr>
                                      <p:tavLst>
                                        <p:tav tm="0">
                                          <p:val>
                                            <p:fltVal val="0"/>
                                          </p:val>
                                        </p:tav>
                                        <p:tav tm="100000">
                                          <p:val>
                                            <p:strVal val="#ppt_w"/>
                                          </p:val>
                                        </p:tav>
                                      </p:tavLst>
                                    </p:anim>
                                    <p:anim calcmode="lin" valueType="num">
                                      <p:cBhvr additive="base">
                                        <p:cTn id="130" dur="400" fill="hold"/>
                                        <p:tgtEl>
                                          <p:spTgt spid="29"/>
                                        </p:tgtEl>
                                        <p:attrNameLst>
                                          <p:attrName>ppt_h</p:attrName>
                                        </p:attrNameLst>
                                      </p:cBhvr>
                                      <p:tavLst>
                                        <p:tav tm="0">
                                          <p:val>
                                            <p:fltVal val="0"/>
                                          </p:val>
                                        </p:tav>
                                        <p:tav tm="100000">
                                          <p:val>
                                            <p:strVal val="#ppt_h"/>
                                          </p:val>
                                        </p:tav>
                                      </p:tavLst>
                                    </p:anim>
                                    <p:animEffect transition="in" filter="fade">
                                      <p:cBhvr>
                                        <p:cTn id="131" dur="400"/>
                                        <p:tgtEl>
                                          <p:spTgt spid="29"/>
                                        </p:tgtEl>
                                      </p:cBhvr>
                                    </p:animEffect>
                                  </p:childTnLst>
                                </p:cTn>
                              </p:par>
                              <p:par>
                                <p:cTn id="137" presetID="53" presetClass="entr" presetSubtype="16" fill="hold" grpId="0" nodeType="withEffect">
                                  <p:stCondLst>
                                    <p:cond delay="1200"/>
                                  </p:stCondLst>
                                  <p:childTnLst>
                                    <p:set>
                                      <p:cBhvr>
                                        <p:cTn id="133" dur="1" fill="hold">
                                          <p:stCondLst>
                                            <p:cond delay="0"/>
                                          </p:stCondLst>
                                        </p:cTn>
                                        <p:tgtEl>
                                          <p:spTgt spid="30"/>
                                        </p:tgtEl>
                                        <p:attrNameLst>
                                          <p:attrName>style.visibility</p:attrName>
                                        </p:attrNameLst>
                                      </p:cBhvr>
                                      <p:to>
                                        <p:strVal val="visible"/>
                                      </p:to>
                                    </p:set>
                                    <p:anim calcmode="lin" valueType="num">
                                      <p:cBhvr additive="base">
                                        <p:cTn id="134" dur="400" fill="hold"/>
                                        <p:tgtEl>
                                          <p:spTgt spid="30"/>
                                        </p:tgtEl>
                                        <p:attrNameLst>
                                          <p:attrName>ppt_w</p:attrName>
                                        </p:attrNameLst>
                                      </p:cBhvr>
                                      <p:tavLst>
                                        <p:tav tm="0">
                                          <p:val>
                                            <p:fltVal val="0"/>
                                          </p:val>
                                        </p:tav>
                                        <p:tav tm="100000">
                                          <p:val>
                                            <p:strVal val="#ppt_w"/>
                                          </p:val>
                                        </p:tav>
                                      </p:tavLst>
                                    </p:anim>
                                    <p:anim calcmode="lin" valueType="num">
                                      <p:cBhvr additive="base">
                                        <p:cTn id="135" dur="400" fill="hold"/>
                                        <p:tgtEl>
                                          <p:spTgt spid="30"/>
                                        </p:tgtEl>
                                        <p:attrNameLst>
                                          <p:attrName>ppt_h</p:attrName>
                                        </p:attrNameLst>
                                      </p:cBhvr>
                                      <p:tavLst>
                                        <p:tav tm="0">
                                          <p:val>
                                            <p:fltVal val="0"/>
                                          </p:val>
                                        </p:tav>
                                        <p:tav tm="100000">
                                          <p:val>
                                            <p:strVal val="#ppt_h"/>
                                          </p:val>
                                        </p:tav>
                                      </p:tavLst>
                                    </p:anim>
                                    <p:animEffect transition="in" filter="fade">
                                      <p:cBhvr>
                                        <p:cTn id="136" dur="400"/>
                                        <p:tgtEl>
                                          <p:spTgt spid="30"/>
                                        </p:tgtEl>
                                      </p:cBhvr>
                                    </p:animEffect>
                                  </p:childTnLst>
                                </p:cTn>
                              </p:par>
                              <p:par>
                                <p:cTn id="142" presetID="53" presetClass="entr" presetSubtype="16" fill="hold" grpId="0" nodeType="withEffect">
                                  <p:stCondLst>
                                    <p:cond delay="1350"/>
                                  </p:stCondLst>
                                  <p:childTnLst>
                                    <p:set>
                                      <p:cBhvr>
                                        <p:cTn id="138" dur="1" fill="hold">
                                          <p:stCondLst>
                                            <p:cond delay="0"/>
                                          </p:stCondLst>
                                        </p:cTn>
                                        <p:tgtEl>
                                          <p:spTgt spid="31"/>
                                        </p:tgtEl>
                                        <p:attrNameLst>
                                          <p:attrName>style.visibility</p:attrName>
                                        </p:attrNameLst>
                                      </p:cBhvr>
                                      <p:to>
                                        <p:strVal val="visible"/>
                                      </p:to>
                                    </p:set>
                                    <p:anim calcmode="lin" valueType="num">
                                      <p:cBhvr additive="base">
                                        <p:cTn id="139" dur="400" fill="hold"/>
                                        <p:tgtEl>
                                          <p:spTgt spid="31"/>
                                        </p:tgtEl>
                                        <p:attrNameLst>
                                          <p:attrName>ppt_w</p:attrName>
                                        </p:attrNameLst>
                                      </p:cBhvr>
                                      <p:tavLst>
                                        <p:tav tm="0">
                                          <p:val>
                                            <p:fltVal val="0"/>
                                          </p:val>
                                        </p:tav>
                                        <p:tav tm="100000">
                                          <p:val>
                                            <p:strVal val="#ppt_w"/>
                                          </p:val>
                                        </p:tav>
                                      </p:tavLst>
                                    </p:anim>
                                    <p:anim calcmode="lin" valueType="num">
                                      <p:cBhvr additive="base">
                                        <p:cTn id="140" dur="400" fill="hold"/>
                                        <p:tgtEl>
                                          <p:spTgt spid="31"/>
                                        </p:tgtEl>
                                        <p:attrNameLst>
                                          <p:attrName>ppt_h</p:attrName>
                                        </p:attrNameLst>
                                      </p:cBhvr>
                                      <p:tavLst>
                                        <p:tav tm="0">
                                          <p:val>
                                            <p:fltVal val="0"/>
                                          </p:val>
                                        </p:tav>
                                        <p:tav tm="100000">
                                          <p:val>
                                            <p:strVal val="#ppt_h"/>
                                          </p:val>
                                        </p:tav>
                                      </p:tavLst>
                                    </p:anim>
                                    <p:animEffect transition="in" filter="fade">
                                      <p:cBhvr>
                                        <p:cTn id="141" dur="400"/>
                                        <p:tgtEl>
                                          <p:spTgt spid="31"/>
                                        </p:tgtEl>
                                      </p:cBhvr>
                                    </p:animEffect>
                                  </p:childTnLst>
                                </p:cTn>
                              </p:par>
                              <p:par>
                                <p:cTn id="147" presetID="53" presetClass="entr" presetSubtype="16" fill="hold" grpId="0" nodeType="withEffect">
                                  <p:stCondLst>
                                    <p:cond delay="1350"/>
                                  </p:stCondLst>
                                  <p:childTnLst>
                                    <p:set>
                                      <p:cBhvr>
                                        <p:cTn id="143" dur="1" fill="hold">
                                          <p:stCondLst>
                                            <p:cond delay="0"/>
                                          </p:stCondLst>
                                        </p:cTn>
                                        <p:tgtEl>
                                          <p:spTgt spid="32"/>
                                        </p:tgtEl>
                                        <p:attrNameLst>
                                          <p:attrName>style.visibility</p:attrName>
                                        </p:attrNameLst>
                                      </p:cBhvr>
                                      <p:to>
                                        <p:strVal val="visible"/>
                                      </p:to>
                                    </p:set>
                                    <p:anim calcmode="lin" valueType="num">
                                      <p:cBhvr additive="base">
                                        <p:cTn id="144" dur="400" fill="hold"/>
                                        <p:tgtEl>
                                          <p:spTgt spid="32"/>
                                        </p:tgtEl>
                                        <p:attrNameLst>
                                          <p:attrName>ppt_w</p:attrName>
                                        </p:attrNameLst>
                                      </p:cBhvr>
                                      <p:tavLst>
                                        <p:tav tm="0">
                                          <p:val>
                                            <p:fltVal val="0"/>
                                          </p:val>
                                        </p:tav>
                                        <p:tav tm="100000">
                                          <p:val>
                                            <p:strVal val="#ppt_w"/>
                                          </p:val>
                                        </p:tav>
                                      </p:tavLst>
                                    </p:anim>
                                    <p:anim calcmode="lin" valueType="num">
                                      <p:cBhvr additive="base">
                                        <p:cTn id="145" dur="400" fill="hold"/>
                                        <p:tgtEl>
                                          <p:spTgt spid="32"/>
                                        </p:tgtEl>
                                        <p:attrNameLst>
                                          <p:attrName>ppt_h</p:attrName>
                                        </p:attrNameLst>
                                      </p:cBhvr>
                                      <p:tavLst>
                                        <p:tav tm="0">
                                          <p:val>
                                            <p:fltVal val="0"/>
                                          </p:val>
                                        </p:tav>
                                        <p:tav tm="100000">
                                          <p:val>
                                            <p:strVal val="#ppt_h"/>
                                          </p:val>
                                        </p:tav>
                                      </p:tavLst>
                                    </p:anim>
                                    <p:animEffect transition="in" filter="fade">
                                      <p:cBhvr>
                                        <p:cTn id="146" dur="400"/>
                                        <p:tgtEl>
                                          <p:spTgt spid="32"/>
                                        </p:tgtEl>
                                      </p:cBhvr>
                                    </p:animEffect>
                                  </p:childTnLst>
                                </p:cTn>
                              </p:par>
                              <p:par>
                                <p:cTn id="152" presetID="53" presetClass="entr" presetSubtype="16" fill="hold" grpId="0" nodeType="withEffect">
                                  <p:stCondLst>
                                    <p:cond delay="1350"/>
                                  </p:stCondLst>
                                  <p:childTnLst>
                                    <p:set>
                                      <p:cBhvr>
                                        <p:cTn id="148" dur="1" fill="hold">
                                          <p:stCondLst>
                                            <p:cond delay="0"/>
                                          </p:stCondLst>
                                        </p:cTn>
                                        <p:tgtEl>
                                          <p:spTgt spid="33"/>
                                        </p:tgtEl>
                                        <p:attrNameLst>
                                          <p:attrName>style.visibility</p:attrName>
                                        </p:attrNameLst>
                                      </p:cBhvr>
                                      <p:to>
                                        <p:strVal val="visible"/>
                                      </p:to>
                                    </p:set>
                                    <p:anim calcmode="lin" valueType="num">
                                      <p:cBhvr additive="base">
                                        <p:cTn id="149" dur="400" fill="hold"/>
                                        <p:tgtEl>
                                          <p:spTgt spid="33"/>
                                        </p:tgtEl>
                                        <p:attrNameLst>
                                          <p:attrName>ppt_w</p:attrName>
                                        </p:attrNameLst>
                                      </p:cBhvr>
                                      <p:tavLst>
                                        <p:tav tm="0">
                                          <p:val>
                                            <p:fltVal val="0"/>
                                          </p:val>
                                        </p:tav>
                                        <p:tav tm="100000">
                                          <p:val>
                                            <p:strVal val="#ppt_w"/>
                                          </p:val>
                                        </p:tav>
                                      </p:tavLst>
                                    </p:anim>
                                    <p:anim calcmode="lin" valueType="num">
                                      <p:cBhvr additive="base">
                                        <p:cTn id="150" dur="400" fill="hold"/>
                                        <p:tgtEl>
                                          <p:spTgt spid="33"/>
                                        </p:tgtEl>
                                        <p:attrNameLst>
                                          <p:attrName>ppt_h</p:attrName>
                                        </p:attrNameLst>
                                      </p:cBhvr>
                                      <p:tavLst>
                                        <p:tav tm="0">
                                          <p:val>
                                            <p:fltVal val="0"/>
                                          </p:val>
                                        </p:tav>
                                        <p:tav tm="100000">
                                          <p:val>
                                            <p:strVal val="#ppt_h"/>
                                          </p:val>
                                        </p:tav>
                                      </p:tavLst>
                                    </p:anim>
                                    <p:animEffect transition="in" filter="fade">
                                      <p:cBhvr>
                                        <p:cTn id="151" dur="400"/>
                                        <p:tgtEl>
                                          <p:spTgt spid="33"/>
                                        </p:tgtEl>
                                      </p:cBhvr>
                                    </p:animEffect>
                                  </p:childTnLst>
                                </p:cTn>
                              </p:par>
                              <p:par>
                                <p:cTn id="155" presetID="10" presetClass="entr" presetSubtype="0" fill="hold" grpId="0" nodeType="withEffect">
                                  <p:stCondLst>
                                    <p:cond delay="1600"/>
                                  </p:stCondLst>
                                  <p:childTnLst>
                                    <p:set>
                                      <p:cBhvr>
                                        <p:cTn id="153" dur="1" fill="hold">
                                          <p:stCondLst>
                                            <p:cond delay="0"/>
                                          </p:stCondLst>
                                        </p:cTn>
                                        <p:tgtEl>
                                          <p:spTgt spid="34"/>
                                        </p:tgtEl>
                                        <p:attrNameLst>
                                          <p:attrName>style.visibility</p:attrName>
                                        </p:attrNameLst>
                                      </p:cBhvr>
                                      <p:to>
                                        <p:strVal val="visible"/>
                                      </p:to>
                                    </p:set>
                                    <p:animEffect transition="in" filter="fade">
                                      <p:cBhvr>
                                        <p:cTn id="15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A01 · Broken Access Control: the story</a:t>
            </a:r>
            <a:endParaRPr lang="en-US" sz="3000" dirty="0"/>
          </a:p>
        </p:txBody>
      </p:sp>
      <p:sp>
        <p:nvSpPr>
          <p:cNvPr id="4" name="Station 0"/>
          <p:cNvSpPr txBox="1"/>
          <p:nvPr/>
        </p:nvSpPr>
        <p:spPr>
          <a:xfrm>
            <a:off x="2926080" y="2880360"/>
            <a:ext cx="1737360" cy="868680"/>
          </a:xfrm>
          <a:prstGeom prst="roundRect">
            <a:avLst>
              <a:gd name="adj" fmla="val 12632"/>
            </a:avLst>
          </a:prstGeom>
          <a:solidFill>
            <a:schemeClr val="bg2"/>
          </a:solidFill>
          <a:ln w="15875">
            <a:solidFill>
              <a:schemeClr val="accent5"/>
            </a:solidFill>
          </a:ln>
        </p:spPr>
        <p:txBody>
          <a:bodyPr wrap="square" lIns="50800" tIns="50800" rIns="50800" bIns="50800" rtlCol="0" anchor="ctr"/>
          <a:lstStyle/>
          <a:p>
            <a:pPr algn="ctr" indent="0" marL="0">
              <a:buNone/>
            </a:pPr>
            <a:r>
              <a:rPr lang="en-US" sz="1500" b="1" dirty="0">
                <a:solidFill>
                  <a:schemeClr val="accent5"/>
                </a:solidFill>
              </a:rPr>
              <a:t>Angular app</a:t>
            </a:r>
            <a:endParaRPr lang="en-US" sz="1500" dirty="0"/>
          </a:p>
          <a:p>
            <a:pPr algn="ctr" indent="0" marL="0">
              <a:buNone/>
            </a:pPr>
            <a:r>
              <a:rPr lang="en-US" sz="1200" dirty="0">
                <a:solidFill>
                  <a:schemeClr val="tx2"/>
                </a:solidFill>
              </a:rPr>
              <a:t>admin menu hidden</a:t>
            </a:r>
            <a:endParaRPr lang="en-US" sz="1500" dirty="0"/>
          </a:p>
        </p:txBody>
      </p:sp>
      <p:sp>
        <p:nvSpPr>
          <p:cNvPr id="5" name="Station 1"/>
          <p:cNvSpPr txBox="1"/>
          <p:nvPr/>
        </p:nvSpPr>
        <p:spPr>
          <a:xfrm>
            <a:off x="4846320" y="2880360"/>
            <a:ext cx="1737360" cy="868680"/>
          </a:xfrm>
          <a:prstGeom prst="roundRect">
            <a:avLst>
              <a:gd name="adj" fmla="val 12632"/>
            </a:avLst>
          </a:prstGeom>
          <a:solidFill>
            <a:schemeClr val="bg2"/>
          </a:solidFill>
          <a:ln w="15875">
            <a:solidFill>
              <a:schemeClr val="accent1"/>
            </a:solidFill>
          </a:ln>
        </p:spPr>
        <p:txBody>
          <a:bodyPr wrap="square" lIns="50800" tIns="50800" rIns="50800" bIns="50800" rtlCol="0" anchor="ctr"/>
          <a:lstStyle/>
          <a:p>
            <a:pPr algn="ctr" indent="0" marL="0">
              <a:buNone/>
            </a:pPr>
            <a:r>
              <a:rPr lang="en-US" sz="1500" b="1" dirty="0">
                <a:solidFill>
                  <a:schemeClr val="accent1"/>
                </a:solidFill>
              </a:rPr>
              <a:t>.NET API</a:t>
            </a:r>
            <a:endParaRPr lang="en-US" sz="1500" dirty="0"/>
          </a:p>
          <a:p>
            <a:pPr algn="ctr" indent="0" marL="0">
              <a:buNone/>
            </a:pPr>
            <a:r>
              <a:rPr lang="en-US" sz="1200" dirty="0">
                <a:solidFill>
                  <a:schemeClr val="tx2"/>
                </a:solidFill>
              </a:rPr>
              <a:t>MapGet /rec/{id}</a:t>
            </a:r>
            <a:endParaRPr lang="en-US" sz="1500" dirty="0"/>
          </a:p>
        </p:txBody>
      </p:sp>
      <p:sp>
        <p:nvSpPr>
          <p:cNvPr id="6" name="Station 2"/>
          <p:cNvSpPr txBox="1"/>
          <p:nvPr/>
        </p:nvSpPr>
        <p:spPr>
          <a:xfrm>
            <a:off x="6766560" y="2880360"/>
            <a:ext cx="1737360" cy="868680"/>
          </a:xfrm>
          <a:prstGeom prst="roundRect">
            <a:avLst>
              <a:gd name="adj" fmla="val 12632"/>
            </a:avLst>
          </a:prstGeom>
          <a:solidFill>
            <a:schemeClr val="bg2"/>
          </a:solidFill>
          <a:ln w="15875">
            <a:solidFill>
              <a:schemeClr val="accent4"/>
            </a:solidFill>
          </a:ln>
        </p:spPr>
        <p:txBody>
          <a:bodyPr wrap="square" lIns="50800" tIns="50800" rIns="50800" bIns="50800" rtlCol="0" anchor="ctr"/>
          <a:lstStyle/>
          <a:p>
            <a:pPr algn="ctr" indent="0" marL="0">
              <a:buNone/>
            </a:pPr>
            <a:r>
              <a:rPr lang="en-US" sz="1500" b="1" dirty="0">
                <a:solidFill>
                  <a:schemeClr val="accent4"/>
                </a:solidFill>
              </a:rPr>
              <a:t>Oracle DB</a:t>
            </a:r>
            <a:endParaRPr lang="en-US" sz="1500" dirty="0"/>
          </a:p>
          <a:p>
            <a:pPr algn="ctr" indent="0" marL="0">
              <a:buNone/>
            </a:pPr>
            <a:r>
              <a:rPr lang="en-US" sz="1200" dirty="0">
                <a:solidFill>
                  <a:schemeClr val="tx2"/>
                </a:solidFill>
              </a:rPr>
              <a:t>records table</a:t>
            </a:r>
            <a:endParaRPr lang="en-US" sz="1500" dirty="0"/>
          </a:p>
        </p:txBody>
      </p:sp>
      <p:pic>
        <p:nvPicPr>
          <p:cNvPr id="7" name="Hacker" descr="Hacker cartoon">    </p:cNvPr>
          <p:cNvPicPr>
            <a:picLocks noChangeAspect="1"/>
          </p:cNvPicPr>
          <p:nvPr/>
        </p:nvPicPr>
        <p:blipFill>
          <a:blip r:embed="rId1"/>
          <a:stretch>
            <a:fillRect/>
          </a:stretch>
        </p:blipFill>
        <p:spPr>
          <a:xfrm>
            <a:off x="365760" y="2606040"/>
            <a:ext cx="1188720" cy="1188720"/>
          </a:xfrm>
          <a:prstGeom prst="rect">
            <a:avLst/>
          </a:prstGeom>
        </p:spPr>
      </p:pic>
      <p:sp>
        <p:nvSpPr>
          <p:cNvPr id="8" name="Bubble 0"/>
          <p:cNvSpPr txBox="1"/>
          <p:nvPr/>
        </p:nvSpPr>
        <p:spPr>
          <a:xfrm>
            <a:off x="457200" y="1097280"/>
            <a:ext cx="1920240" cy="1097280"/>
          </a:xfrm>
          <a:prstGeom prst="roundRect">
            <a:avLst>
              <a:gd name="adj" fmla="val 11667"/>
            </a:avLst>
          </a:prstGeom>
          <a:solidFill>
            <a:schemeClr val="bg2"/>
          </a:solidFill>
          <a:ln w="19050">
            <a:solidFill>
              <a:schemeClr val="accent6"/>
            </a:solidFill>
          </a:ln>
        </p:spPr>
        <p:txBody>
          <a:bodyPr wrap="square" lIns="114300" tIns="63500" rIns="101600" bIns="50800" rtlCol="0" anchor="t"/>
          <a:lstStyle/>
          <a:p>
            <a:pPr algn="l" indent="0" marL="0">
              <a:buNone/>
            </a:pPr>
            <a:r>
              <a:rPr lang="en-US" sz="1100" b="1" spc="200" kern="0" dirty="0">
                <a:solidFill>
                  <a:schemeClr val="accent6"/>
                </a:solidFill>
              </a:rPr>
              <a:t>HACKER</a:t>
            </a:r>
            <a:endParaRPr lang="en-US" sz="1100" dirty="0"/>
          </a:p>
          <a:p>
            <a:pPr algn="l" indent="0" marL="0">
              <a:buNone/>
            </a:pPr>
            <a:r>
              <a:rPr lang="en-US" sz="1300" dirty="0">
                <a:solidFill>
                  <a:schemeClr val="tx1"/>
                </a:solidFill>
              </a:rPr>
              <a:t>I only change the ID in the URL: 1041 becomes 1042.</a:t>
            </a:r>
            <a:endParaRPr lang="en-US" sz="1100" dirty="0"/>
          </a:p>
        </p:txBody>
      </p:sp>
      <p:sp>
        <p:nvSpPr>
          <p:cNvPr id="9" name="Bubble 1"/>
          <p:cNvSpPr txBox="1"/>
          <p:nvPr/>
        </p:nvSpPr>
        <p:spPr>
          <a:xfrm>
            <a:off x="2560320" y="1097280"/>
            <a:ext cx="1920240" cy="1097280"/>
          </a:xfrm>
          <a:prstGeom prst="roundRect">
            <a:avLst>
              <a:gd name="adj" fmla="val 11667"/>
            </a:avLst>
          </a:prstGeom>
          <a:solidFill>
            <a:schemeClr val="bg2"/>
          </a:solidFill>
          <a:ln w="19050">
            <a:solidFill>
              <a:schemeClr val="accent5"/>
            </a:solidFill>
          </a:ln>
        </p:spPr>
        <p:txBody>
          <a:bodyPr wrap="square" lIns="114300" tIns="63500" rIns="101600" bIns="50800" rtlCol="0" anchor="t"/>
          <a:lstStyle/>
          <a:p>
            <a:pPr algn="l" indent="0" marL="0">
              <a:buNone/>
            </a:pPr>
            <a:r>
              <a:rPr lang="en-US" sz="1100" b="1" spc="200" kern="0" dirty="0">
                <a:solidFill>
                  <a:schemeClr val="accent5"/>
                </a:solidFill>
              </a:rPr>
              <a:t>ANGULAR</a:t>
            </a:r>
            <a:endParaRPr lang="en-US" sz="1100" dirty="0"/>
          </a:p>
          <a:p>
            <a:pPr algn="l" indent="0" marL="0">
              <a:buNone/>
            </a:pPr>
            <a:r>
              <a:rPr lang="en-US" sz="1300" dirty="0">
                <a:solidFill>
                  <a:schemeClr val="tx1"/>
                </a:solidFill>
              </a:rPr>
              <a:t>I hid the admin button. My job is done!</a:t>
            </a:r>
            <a:endParaRPr lang="en-US" sz="1100" dirty="0"/>
          </a:p>
        </p:txBody>
      </p:sp>
      <p:sp>
        <p:nvSpPr>
          <p:cNvPr id="10" name="Bubble 2"/>
          <p:cNvSpPr txBox="1"/>
          <p:nvPr/>
        </p:nvSpPr>
        <p:spPr>
          <a:xfrm>
            <a:off x="4663440" y="1097280"/>
            <a:ext cx="1920240" cy="1097280"/>
          </a:xfrm>
          <a:prstGeom prst="roundRect">
            <a:avLst>
              <a:gd name="adj" fmla="val 11667"/>
            </a:avLst>
          </a:prstGeom>
          <a:solidFill>
            <a:schemeClr val="bg2"/>
          </a:solidFill>
          <a:ln w="19050">
            <a:solidFill>
              <a:schemeClr val="accent1"/>
            </a:solidFill>
          </a:ln>
        </p:spPr>
        <p:txBody>
          <a:bodyPr wrap="square" lIns="114300" tIns="63500" rIns="101600" bIns="50800" rtlCol="0" anchor="t"/>
          <a:lstStyle/>
          <a:p>
            <a:pPr algn="l" indent="0" marL="0">
              <a:buNone/>
            </a:pPr>
            <a:r>
              <a:rPr lang="en-US" sz="1100" b="1" spc="200" kern="0" dirty="0">
                <a:solidFill>
                  <a:schemeClr val="accent1"/>
                </a:solidFill>
              </a:rPr>
              <a:t>API</a:t>
            </a:r>
            <a:endParaRPr lang="en-US" sz="1100" dirty="0"/>
          </a:p>
          <a:p>
            <a:pPr algn="l" indent="0" marL="0">
              <a:buNone/>
            </a:pPr>
            <a:r>
              <a:rPr lang="en-US" sz="1300" dirty="0">
                <a:solidFill>
                  <a:schemeClr val="tx1"/>
                </a:solidFill>
              </a:rPr>
              <a:t>Valid login, so here is record 1042. I never asked who owns it.</a:t>
            </a:r>
            <a:endParaRPr lang="en-US" sz="1100" dirty="0"/>
          </a:p>
        </p:txBody>
      </p:sp>
      <p:sp>
        <p:nvSpPr>
          <p:cNvPr id="11" name="Bubble 3"/>
          <p:cNvSpPr txBox="1"/>
          <p:nvPr/>
        </p:nvSpPr>
        <p:spPr>
          <a:xfrm>
            <a:off x="6766560" y="1097280"/>
            <a:ext cx="1920240" cy="1097280"/>
          </a:xfrm>
          <a:prstGeom prst="roundRect">
            <a:avLst>
              <a:gd name="adj" fmla="val 11667"/>
            </a:avLst>
          </a:prstGeom>
          <a:solidFill>
            <a:schemeClr val="bg2"/>
          </a:solidFill>
          <a:ln w="19050">
            <a:solidFill>
              <a:schemeClr val="accent2"/>
            </a:solidFill>
          </a:ln>
        </p:spPr>
        <p:txBody>
          <a:bodyPr wrap="square" lIns="114300" tIns="63500" rIns="101600" bIns="50800" rtlCol="0" anchor="t"/>
          <a:lstStyle/>
          <a:p>
            <a:pPr algn="l" indent="0" marL="0">
              <a:buNone/>
            </a:pPr>
            <a:r>
              <a:rPr lang="en-US" sz="1100" b="1" spc="200" kern="0" dirty="0">
                <a:solidFill>
                  <a:schemeClr val="accent2"/>
                </a:solidFill>
              </a:rPr>
              <a:t>RESULT</a:t>
            </a:r>
            <a:endParaRPr lang="en-US" sz="1100" dirty="0"/>
          </a:p>
          <a:p>
            <a:pPr algn="l" indent="0" marL="0">
              <a:buNone/>
            </a:pPr>
            <a:r>
              <a:rPr lang="en-US" sz="1300" dirty="0">
                <a:solidFill>
                  <a:schemeClr val="tx1"/>
                </a:solidFill>
              </a:rPr>
              <a:t>Another citizen's data leaked. No error and no alert.</a:t>
            </a:r>
            <a:endParaRPr lang="en-US" sz="1100" dirty="0"/>
          </a:p>
        </p:txBody>
      </p:sp>
      <p:sp>
        <p:nvSpPr>
          <p:cNvPr id="12" name="Damage"/>
          <p:cNvSpPr txBox="1"/>
          <p:nvPr/>
        </p:nvSpPr>
        <p:spPr>
          <a:xfrm>
            <a:off x="6217920" y="2697480"/>
            <a:ext cx="384048" cy="384048"/>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pic>
        <p:nvPicPr>
          <p:cNvPr id="13" name="Bug" descr="Bug cartoon">    </p:cNvPr>
          <p:cNvPicPr>
            <a:picLocks noChangeAspect="1"/>
          </p:cNvPicPr>
          <p:nvPr/>
        </p:nvPicPr>
        <p:blipFill>
          <a:blip r:embed="rId2"/>
          <a:stretch>
            <a:fillRect/>
          </a:stretch>
        </p:blipFill>
        <p:spPr>
          <a:xfrm>
            <a:off x="5029200" y="2103120"/>
            <a:ext cx="822960" cy="822960"/>
          </a:xfrm>
          <a:prstGeom prst="rect">
            <a:avLst/>
          </a:prstGeom>
        </p:spPr>
      </p:pic>
      <p:sp>
        <p:nvSpPr>
          <p:cNvPr id="14" name="Moral"/>
          <p:cNvSpPr txBox="1"/>
          <p:nvPr/>
        </p:nvSpPr>
        <p:spPr>
          <a:xfrm>
            <a:off x="457200" y="3977640"/>
            <a:ext cx="8229600" cy="548640"/>
          </a:xfrm>
          <a:prstGeom prst="rect">
            <a:avLst/>
          </a:prstGeom>
          <a:noFill/>
          <a:ln/>
        </p:spPr>
        <p:txBody>
          <a:bodyPr wrap="square" lIns="0" tIns="0" rIns="0" bIns="0" rtlCol="0" anchor="ctr"/>
          <a:lstStyle/>
          <a:p>
            <a:pPr indent="0" marL="0">
              <a:buNone/>
            </a:pPr>
            <a:r>
              <a:rPr lang="en-US" sz="2200" b="1" i="1" dirty="0">
                <a:solidFill>
                  <a:schemeClr val="accent1"/>
                </a:solidFill>
              </a:rPr>
              <a:t>Hiding a button is not access control.</a:t>
            </a:r>
            <a:endParaRPr lang="en-US" sz="22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0" fill="hold">
                      <p:stCondLst>
                        <p:cond delay="indefinite"/>
                        <p:cond evt="onBegin" delay="0">
                          <p:tn val="2"/>
                        </p:cond>
                      </p:stCondLst>
                      <p:childTnLst>
                        <p:par>
                          <p:cTn id="21" fill="hold">
                            <p:stCondLst>
                              <p:cond delay="0"/>
                            </p:stCondLst>
                            <p:childTnLst>
                              <p:par>
                                <p:cTn id="6" presetID="2" presetClass="entr" presetSubtype="4" fill="hold" grpId="0" nodeType="afterEffect">
                                  <p:stCondLst>
                                    <p:cond delay="0"/>
                                  </p:stCondLst>
                                  <p:childTnLst>
                                    <p:set>
                                      <p:cBhvr>
                                        <p:cTn id="3" dur="1" fill="hold">
                                          <p:stCondLst>
                                            <p:cond delay="0"/>
                                          </p:stCondLst>
                                        </p:cTn>
                                        <p:tgtEl>
                                          <p:spTgt spid="4"/>
                                        </p:tgtEl>
                                        <p:attrNameLst>
                                          <p:attrName>style.visibility</p:attrName>
                                        </p:attrNameLst>
                                      </p:cBhvr>
                                      <p:to>
                                        <p:strVal val="visible"/>
                                      </p:to>
                                    </p:set>
                                    <p:anim calcmode="lin" valueType="num">
                                      <p:cBhvr additive="base">
                                        <p:cTn id="4" dur="450" fill="hold"/>
                                        <p:tgtEl>
                                          <p:spTgt spid="4"/>
                                        </p:tgtEl>
                                        <p:attrNameLst>
                                          <p:attrName>ppt_x</p:attrName>
                                        </p:attrNameLst>
                                      </p:cBhvr>
                                      <p:tavLst>
                                        <p:tav tm="0">
                                          <p:val>
                                            <p:strVal val="#ppt_x"/>
                                          </p:val>
                                        </p:tav>
                                        <p:tav tm="100000">
                                          <p:val>
                                            <p:strVal val="#ppt_x"/>
                                          </p:val>
                                        </p:tav>
                                      </p:tavLst>
                                    </p:anim>
                                    <p:anim calcmode="lin" valueType="num">
                                      <p:cBhvr additive="base">
                                        <p:cTn id="5" dur="450" fill="hold"/>
                                        <p:tgtEl>
                                          <p:spTgt spid="4"/>
                                        </p:tgtEl>
                                        <p:attrNameLst>
                                          <p:attrName>ppt_y</p:attrName>
                                        </p:attrNameLst>
                                      </p:cBhvr>
                                      <p:tavLst>
                                        <p:tav tm="0">
                                          <p:val>
                                            <p:strVal val="1+#ppt_h/2"/>
                                          </p:val>
                                        </p:tav>
                                        <p:tav tm="100000">
                                          <p:val>
                                            <p:strVal val="#ppt_y"/>
                                          </p:val>
                                        </p:tav>
                                      </p:tavLst>
                                    </p:anim>
                                  </p:childTnLst>
                                </p:cTn>
                              </p:par>
                              <p:par>
                                <p:cTn id="10" presetID="2" presetClass="entr" presetSubtype="4" fill="hold" grpId="0" nodeType="withEffect">
                                  <p:stCondLst>
                                    <p:cond delay="200"/>
                                  </p:stCondLst>
                                  <p:childTnLst>
                                    <p:set>
                                      <p:cBhvr>
                                        <p:cTn id="7" dur="1" fill="hold">
                                          <p:stCondLst>
                                            <p:cond delay="0"/>
                                          </p:stCondLst>
                                        </p:cTn>
                                        <p:tgtEl>
                                          <p:spTgt spid="5"/>
                                        </p:tgtEl>
                                        <p:attrNameLst>
                                          <p:attrName>style.visibility</p:attrName>
                                        </p:attrNameLst>
                                      </p:cBhvr>
                                      <p:to>
                                        <p:strVal val="visible"/>
                                      </p:to>
                                    </p:set>
                                    <p:anim calcmode="lin" valueType="num">
                                      <p:cBhvr additive="base">
                                        <p:cTn id="8" dur="450" fill="hold"/>
                                        <p:tgtEl>
                                          <p:spTgt spid="5"/>
                                        </p:tgtEl>
                                        <p:attrNameLst>
                                          <p:attrName>ppt_x</p:attrName>
                                        </p:attrNameLst>
                                      </p:cBhvr>
                                      <p:tavLst>
                                        <p:tav tm="0">
                                          <p:val>
                                            <p:strVal val="#ppt_x"/>
                                          </p:val>
                                        </p:tav>
                                        <p:tav tm="100000">
                                          <p:val>
                                            <p:strVal val="#ppt_x"/>
                                          </p:val>
                                        </p:tav>
                                      </p:tavLst>
                                    </p:anim>
                                    <p:anim calcmode="lin" valueType="num">
                                      <p:cBhvr additive="base">
                                        <p:cTn id="9" dur="450" fill="hold"/>
                                        <p:tgtEl>
                                          <p:spTgt spid="5"/>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40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450" fill="hold"/>
                                        <p:tgtEl>
                                          <p:spTgt spid="6"/>
                                        </p:tgtEl>
                                        <p:attrNameLst>
                                          <p:attrName>ppt_x</p:attrName>
                                        </p:attrNameLst>
                                      </p:cBhvr>
                                      <p:tavLst>
                                        <p:tav tm="0">
                                          <p:val>
                                            <p:strVal val="#ppt_x"/>
                                          </p:val>
                                        </p:tav>
                                        <p:tav tm="100000">
                                          <p:val>
                                            <p:strVal val="#ppt_x"/>
                                          </p:val>
                                        </p:tav>
                                      </p:tavLst>
                                    </p:anim>
                                    <p:anim calcmode="lin" valueType="num">
                                      <p:cBhvr additive="base">
                                        <p:cTn id="13" dur="450" fill="hold"/>
                                        <p:tgtEl>
                                          <p:spTgt spid="6"/>
                                        </p:tgtEl>
                                        <p:attrNameLst>
                                          <p:attrName>ppt_y</p:attrName>
                                        </p:attrNameLst>
                                      </p:cBhvr>
                                      <p:tavLst>
                                        <p:tav tm="0">
                                          <p:val>
                                            <p:strVal val="1+#ppt_h/2"/>
                                          </p:val>
                                        </p:tav>
                                        <p:tav tm="100000">
                                          <p:val>
                                            <p:strVal val="#ppt_y"/>
                                          </p:val>
                                        </p:tav>
                                      </p:tavLst>
                                    </p:anim>
                                  </p:childTnLst>
                                </p:cTn>
                              </p:par>
                              <p:par>
                                <p:cTn id="17"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par>
                                <p:cTn id="19" presetID="0" presetClass="path" presetSubtype="0" fill="hold" nodeType="withEffect">
                                  <p:stCondLst>
                                    <p:cond delay="500"/>
                                  </p:stCondLst>
                                  <p:childTnLst>
                                    <p:animMotion origin="layout" path="M 0 0 L 0.12 0 E" pathEditMode="relative">
                                      <p:cBhvr>
                                        <p:cTn id="18" dur="2600" fill="hold"/>
                                        <p:tgtEl>
                                          <p:spTgt spid="7"/>
                                        </p:tgtEl>
                                        <p:attrNameLst>
                                          <p:attrName>ppt_x</p:attrName>
                                          <p:attrName>ppt_y</p:attrName>
                                        </p:attrNameLst>
                                      </p:cBhvr>
                                      <p:rCtr x="0.06" y="0"/>
                                    </p:animMotion>
                                  </p:childTnLst>
                                </p:cTn>
                              </p:par>
                            </p:childTnLst>
                          </p:cTn>
                        </p:par>
                      </p:childTnLst>
                    </p:cTn>
                  </p:par>
                  <p:par>
                    <p:cTn id="27" fill="hold">
                      <p:stCondLst>
                        <p:cond delay="indefinite"/>
                      </p:stCondLst>
                      <p:childTnLst>
                        <p:par>
                          <p:cTn id="28" fill="hold">
                            <p:stCondLst>
                              <p:cond delay="0"/>
                            </p:stCondLst>
                            <p:childTnLst>
                              <p:par>
                                <p:cTn id="26" presetID="53" presetClass="entr" presetSubtype="16"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450" fill="hold"/>
                                        <p:tgtEl>
                                          <p:spTgt spid="8"/>
                                        </p:tgtEl>
                                        <p:attrNameLst>
                                          <p:attrName>ppt_w</p:attrName>
                                        </p:attrNameLst>
                                      </p:cBhvr>
                                      <p:tavLst>
                                        <p:tav tm="0">
                                          <p:val>
                                            <p:fltVal val="0"/>
                                          </p:val>
                                        </p:tav>
                                        <p:tav tm="100000">
                                          <p:val>
                                            <p:strVal val="#ppt_w"/>
                                          </p:val>
                                        </p:tav>
                                      </p:tavLst>
                                    </p:anim>
                                    <p:anim calcmode="lin" valueType="num">
                                      <p:cBhvr additive="base">
                                        <p:cTn id="24" dur="450" fill="hold"/>
                                        <p:tgtEl>
                                          <p:spTgt spid="8"/>
                                        </p:tgtEl>
                                        <p:attrNameLst>
                                          <p:attrName>ppt_h</p:attrName>
                                        </p:attrNameLst>
                                      </p:cBhvr>
                                      <p:tavLst>
                                        <p:tav tm="0">
                                          <p:val>
                                            <p:fltVal val="0"/>
                                          </p:val>
                                        </p:tav>
                                        <p:tav tm="100000">
                                          <p:val>
                                            <p:strVal val="#ppt_h"/>
                                          </p:val>
                                        </p:tav>
                                      </p:tavLst>
                                    </p:anim>
                                    <p:animEffect transition="in" filter="fade">
                                      <p:cBhvr>
                                        <p:cTn id="25" dur="450"/>
                                        <p:tgtEl>
                                          <p:spTgt spid="8"/>
                                        </p:tgtEl>
                                      </p:cBhvr>
                                    </p:animEffect>
                                  </p:childTnLst>
                                </p:cTn>
                              </p:par>
                            </p:childTnLst>
                          </p:cTn>
                        </p:par>
                      </p:childTnLst>
                    </p:cTn>
                  </p:par>
                  <p:par>
                    <p:cTn id="34" fill="hold">
                      <p:stCondLst>
                        <p:cond delay="indefinite"/>
                      </p:stCondLst>
                      <p:childTnLst>
                        <p:par>
                          <p:cTn id="35" fill="hold">
                            <p:stCondLst>
                              <p:cond delay="0"/>
                            </p:stCondLst>
                            <p:childTnLst>
                              <p:par>
                                <p:cTn id="33" presetID="53" presetClass="entr" presetSubtype="16"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450" fill="hold"/>
                                        <p:tgtEl>
                                          <p:spTgt spid="9"/>
                                        </p:tgtEl>
                                        <p:attrNameLst>
                                          <p:attrName>ppt_w</p:attrName>
                                        </p:attrNameLst>
                                      </p:cBhvr>
                                      <p:tavLst>
                                        <p:tav tm="0">
                                          <p:val>
                                            <p:fltVal val="0"/>
                                          </p:val>
                                        </p:tav>
                                        <p:tav tm="100000">
                                          <p:val>
                                            <p:strVal val="#ppt_w"/>
                                          </p:val>
                                        </p:tav>
                                      </p:tavLst>
                                    </p:anim>
                                    <p:anim calcmode="lin" valueType="num">
                                      <p:cBhvr additive="base">
                                        <p:cTn id="31" dur="450" fill="hold"/>
                                        <p:tgtEl>
                                          <p:spTgt spid="9"/>
                                        </p:tgtEl>
                                        <p:attrNameLst>
                                          <p:attrName>ppt_h</p:attrName>
                                        </p:attrNameLst>
                                      </p:cBhvr>
                                      <p:tavLst>
                                        <p:tav tm="0">
                                          <p:val>
                                            <p:fltVal val="0"/>
                                          </p:val>
                                        </p:tav>
                                        <p:tav tm="100000">
                                          <p:val>
                                            <p:strVal val="#ppt_h"/>
                                          </p:val>
                                        </p:tav>
                                      </p:tavLst>
                                    </p:anim>
                                    <p:animEffect transition="in" filter="fade">
                                      <p:cBhvr>
                                        <p:cTn id="32" dur="450"/>
                                        <p:tgtEl>
                                          <p:spTgt spid="9"/>
                                        </p:tgtEl>
                                      </p:cBhvr>
                                    </p:animEffect>
                                  </p:childTnLst>
                                </p:cTn>
                              </p:par>
                            </p:childTnLst>
                          </p:cTn>
                        </p:par>
                      </p:childTnLst>
                    </p:cTn>
                  </p:par>
                  <p:par>
                    <p:cTn id="51" fill="hold">
                      <p:stCondLst>
                        <p:cond delay="indefinite"/>
                      </p:stCondLst>
                      <p:childTnLst>
                        <p:par>
                          <p:cTn id="52" fill="hold">
                            <p:stCondLst>
                              <p:cond delay="0"/>
                            </p:stCondLst>
                            <p:childTnLst>
                              <p:par>
                                <p:cTn id="40" presetID="53" presetClass="entr" presetSubtype="16"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450" fill="hold"/>
                                        <p:tgtEl>
                                          <p:spTgt spid="10"/>
                                        </p:tgtEl>
                                        <p:attrNameLst>
                                          <p:attrName>ppt_w</p:attrName>
                                        </p:attrNameLst>
                                      </p:cBhvr>
                                      <p:tavLst>
                                        <p:tav tm="0">
                                          <p:val>
                                            <p:fltVal val="0"/>
                                          </p:val>
                                        </p:tav>
                                        <p:tav tm="100000">
                                          <p:val>
                                            <p:strVal val="#ppt_w"/>
                                          </p:val>
                                        </p:tav>
                                      </p:tavLst>
                                    </p:anim>
                                    <p:anim calcmode="lin" valueType="num">
                                      <p:cBhvr additive="base">
                                        <p:cTn id="38" dur="450" fill="hold"/>
                                        <p:tgtEl>
                                          <p:spTgt spid="10"/>
                                        </p:tgtEl>
                                        <p:attrNameLst>
                                          <p:attrName>ppt_h</p:attrName>
                                        </p:attrNameLst>
                                      </p:cBhvr>
                                      <p:tavLst>
                                        <p:tav tm="0">
                                          <p:val>
                                            <p:fltVal val="0"/>
                                          </p:val>
                                        </p:tav>
                                        <p:tav tm="100000">
                                          <p:val>
                                            <p:strVal val="#ppt_h"/>
                                          </p:val>
                                        </p:tav>
                                      </p:tavLst>
                                    </p:anim>
                                    <p:animEffect transition="in" filter="fade">
                                      <p:cBhvr>
                                        <p:cTn id="39" dur="450"/>
                                        <p:tgtEl>
                                          <p:spTgt spid="10"/>
                                        </p:tgtEl>
                                      </p:cBhvr>
                                    </p:animEffect>
                                  </p:childTnLst>
                                </p:cTn>
                              </p:par>
                              <p:par>
                                <p:cTn id="45" presetID="53" presetClass="entr" presetSubtype="16" fill="hold" grpId="0" nodeType="withEffect">
                                  <p:stCondLst>
                                    <p:cond delay="25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350" fill="hold"/>
                                        <p:tgtEl>
                                          <p:spTgt spid="12"/>
                                        </p:tgtEl>
                                        <p:attrNameLst>
                                          <p:attrName>ppt_w</p:attrName>
                                        </p:attrNameLst>
                                      </p:cBhvr>
                                      <p:tavLst>
                                        <p:tav tm="0">
                                          <p:val>
                                            <p:fltVal val="0"/>
                                          </p:val>
                                        </p:tav>
                                        <p:tav tm="100000">
                                          <p:val>
                                            <p:strVal val="#ppt_w"/>
                                          </p:val>
                                        </p:tav>
                                      </p:tavLst>
                                    </p:anim>
                                    <p:anim calcmode="lin" valueType="num">
                                      <p:cBhvr additive="base">
                                        <p:cTn id="43" dur="350" fill="hold"/>
                                        <p:tgtEl>
                                          <p:spTgt spid="12"/>
                                        </p:tgtEl>
                                        <p:attrNameLst>
                                          <p:attrName>ppt_h</p:attrName>
                                        </p:attrNameLst>
                                      </p:cBhvr>
                                      <p:tavLst>
                                        <p:tav tm="0">
                                          <p:val>
                                            <p:fltVal val="0"/>
                                          </p:val>
                                        </p:tav>
                                        <p:tav tm="100000">
                                          <p:val>
                                            <p:strVal val="#ppt_h"/>
                                          </p:val>
                                        </p:tav>
                                      </p:tavLst>
                                    </p:anim>
                                    <p:animEffect transition="in" filter="fade">
                                      <p:cBhvr>
                                        <p:cTn id="44" dur="350"/>
                                        <p:tgtEl>
                                          <p:spTgt spid="12"/>
                                        </p:tgtEl>
                                      </p:cBhvr>
                                    </p:animEffect>
                                  </p:childTnLst>
                                </p:cTn>
                              </p:par>
                              <p:par>
                                <p:cTn id="48" presetID="10" presetClass="entr" presetSubtype="0" fill="hold" nodeType="withEffect">
                                  <p:stCondLst>
                                    <p:cond delay="25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350"/>
                                        <p:tgtEl>
                                          <p:spTgt spid="13"/>
                                        </p:tgtEl>
                                      </p:cBhvr>
                                    </p:animEffect>
                                  </p:childTnLst>
                                </p:cTn>
                              </p:par>
                              <p:par>
                                <p:cTn id="50" presetID="0" presetClass="path" presetSubtype="0" fill="hold" nodeType="withEffect">
                                  <p:stCondLst>
                                    <p:cond delay="700"/>
                                  </p:stCondLst>
                                  <p:childTnLst>
                                    <p:animMotion origin="layout" path="M 0 0 L 0.07 0 E" pathEditMode="relative">
                                      <p:cBhvr>
                                        <p:cTn id="49" dur="2500" fill="hold"/>
                                        <p:tgtEl>
                                          <p:spTgt spid="13"/>
                                        </p:tgtEl>
                                        <p:attrNameLst>
                                          <p:attrName>ppt_x</p:attrName>
                                          <p:attrName>ppt_y</p:attrName>
                                        </p:attrNameLst>
                                      </p:cBhvr>
                                      <p:rCtr x="0.035" y="0"/>
                                    </p:animMotion>
                                  </p:childTnLst>
                                </p:cTn>
                              </p:par>
                            </p:childTnLst>
                          </p:cTn>
                        </p:par>
                      </p:childTnLst>
                    </p:cTn>
                  </p:par>
                  <p:par>
                    <p:cTn id="58" fill="hold">
                      <p:stCondLst>
                        <p:cond delay="indefinite"/>
                      </p:stCondLst>
                      <p:childTnLst>
                        <p:par>
                          <p:cTn id="59" fill="hold">
                            <p:stCondLst>
                              <p:cond delay="0"/>
                            </p:stCondLst>
                            <p:childTnLst>
                              <p:par>
                                <p:cTn id="57" presetID="53" presetClass="entr" presetSubtype="16"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 calcmode="lin" valueType="num">
                                      <p:cBhvr additive="base">
                                        <p:cTn id="54" dur="450" fill="hold"/>
                                        <p:tgtEl>
                                          <p:spTgt spid="11"/>
                                        </p:tgtEl>
                                        <p:attrNameLst>
                                          <p:attrName>ppt_w</p:attrName>
                                        </p:attrNameLst>
                                      </p:cBhvr>
                                      <p:tavLst>
                                        <p:tav tm="0">
                                          <p:val>
                                            <p:fltVal val="0"/>
                                          </p:val>
                                        </p:tav>
                                        <p:tav tm="100000">
                                          <p:val>
                                            <p:strVal val="#ppt_w"/>
                                          </p:val>
                                        </p:tav>
                                      </p:tavLst>
                                    </p:anim>
                                    <p:anim calcmode="lin" valueType="num">
                                      <p:cBhvr additive="base">
                                        <p:cTn id="55" dur="450" fill="hold"/>
                                        <p:tgtEl>
                                          <p:spTgt spid="11"/>
                                        </p:tgtEl>
                                        <p:attrNameLst>
                                          <p:attrName>ppt_h</p:attrName>
                                        </p:attrNameLst>
                                      </p:cBhvr>
                                      <p:tavLst>
                                        <p:tav tm="0">
                                          <p:val>
                                            <p:fltVal val="0"/>
                                          </p:val>
                                        </p:tav>
                                        <p:tav tm="100000">
                                          <p:val>
                                            <p:strVal val="#ppt_h"/>
                                          </p:val>
                                        </p:tav>
                                      </p:tavLst>
                                    </p:anim>
                                    <p:animEffect transition="in" filter="fade">
                                      <p:cBhvr>
                                        <p:cTn id="56" dur="450"/>
                                        <p:tgtEl>
                                          <p:spTgt spid="11"/>
                                        </p:tgtEl>
                                      </p:cBhvr>
                                    </p:animEffect>
                                  </p:childTnLst>
                                </p:cTn>
                              </p:par>
                            </p:childTnLst>
                          </p:cTn>
                        </p:par>
                      </p:childTnLst>
                    </p:cTn>
                  </p:par>
                  <p:par>
                    <p:cTn id="65" fill="hold">
                      <p:stCondLst>
                        <p:cond delay="indefinite"/>
                      </p:stCondLst>
                      <p:childTnLst>
                        <p:par>
                          <p:cTn id="66"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p:tgtEl>
                                          <p:spTgt spid="14"/>
                                        </p:tgtEl>
                                        <p:attrNameLst>
                                          <p:attrName>ppt_w</p:attrName>
                                        </p:attrNameLst>
                                      </p:cBhvr>
                                      <p:tavLst>
                                        <p:tav tm="0">
                                          <p:val>
                                            <p:fltVal val="0"/>
                                          </p:val>
                                        </p:tav>
                                        <p:tav tm="100000">
                                          <p:val>
                                            <p:strVal val="#ppt_w"/>
                                          </p:val>
                                        </p:tav>
                                      </p:tavLst>
                                    </p:anim>
                                    <p:anim calcmode="lin" valueType="num">
                                      <p:cBhvr additive="base">
                                        <p:cTn id="62" dur="500" fill="hold"/>
                                        <p:tgtEl>
                                          <p:spTgt spid="14"/>
                                        </p:tgtEl>
                                        <p:attrNameLst>
                                          <p:attrName>ppt_h</p:attrName>
                                        </p:attrNameLst>
                                      </p:cBhvr>
                                      <p:tavLst>
                                        <p:tav tm="0">
                                          <p:val>
                                            <p:fltVal val="0"/>
                                          </p:val>
                                        </p:tav>
                                        <p:tav tm="100000">
                                          <p:val>
                                            <p:strVal val="#ppt_h"/>
                                          </p:val>
                                        </p:tav>
                                      </p:tavLst>
                                    </p:anim>
                                    <p:animEffect transition="in" filter="fade">
                                      <p:cBhvr>
                                        <p:cTn id="6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2" grpId="0" animBg="1"/>
      <p:bldP spid="11"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A01 · Broken Access Control: the fix</a:t>
            </a:r>
            <a:endParaRPr lang="en-US" sz="3000" dirty="0"/>
          </a:p>
        </p:txBody>
      </p:sp>
      <p:pic>
        <p:nvPicPr>
          <p:cNvPr id="4" name="Mascot" descr="Mascot cartoon">    </p:cNvPr>
          <p:cNvPicPr>
            <a:picLocks noChangeAspect="1"/>
          </p:cNvPicPr>
          <p:nvPr/>
        </p:nvPicPr>
        <p:blipFill>
          <a:blip r:embed="rId1"/>
          <a:stretch>
            <a:fillRect/>
          </a:stretch>
        </p:blipFill>
        <p:spPr>
          <a:xfrm>
            <a:off x="640080" y="1097280"/>
            <a:ext cx="1737360" cy="1737360"/>
          </a:xfrm>
          <a:prstGeom prst="rect">
            <a:avLst/>
          </a:prstGeom>
        </p:spPr>
      </p:pic>
      <p:sp>
        <p:nvSpPr>
          <p:cNvPr id="5" name="Stop sign"/>
          <p:cNvSpPr txBox="1"/>
          <p:nvPr/>
        </p:nvSpPr>
        <p:spPr>
          <a:xfrm>
            <a:off x="2377440" y="3063240"/>
            <a:ext cx="777240" cy="777240"/>
          </a:xfrm>
          <a:prstGeom prst="octagon">
            <a:avLst/>
          </a:prstGeom>
          <a:solidFill>
            <a:schemeClr val="accent2"/>
          </a:solidFill>
          <a:ln/>
        </p:spPr>
        <p:txBody>
          <a:bodyPr wrap="square" lIns="0" tIns="0" rIns="0" bIns="0" rtlCol="0" anchor="ctr"/>
          <a:lstStyle/>
          <a:p>
            <a:pPr algn="ctr" indent="0" marL="0">
              <a:buNone/>
            </a:pPr>
            <a:r>
              <a:rPr lang="en-US" sz="1300" b="1" dirty="0">
                <a:solidFill>
                  <a:srgbClr val="FFFFFF"/>
                </a:solidFill>
              </a:rPr>
              <a:t>STOP</a:t>
            </a:r>
            <a:endParaRPr lang="en-US" sz="1300" dirty="0"/>
          </a:p>
        </p:txBody>
      </p:sp>
      <p:pic>
        <p:nvPicPr>
          <p:cNvPr id="6" name="Hacker" descr="Hacker cartoon">    </p:cNvPr>
          <p:cNvPicPr>
            <a:picLocks noChangeAspect="1"/>
          </p:cNvPicPr>
          <p:nvPr/>
        </p:nvPicPr>
        <p:blipFill>
          <a:blip r:embed="rId2"/>
          <a:stretch>
            <a:fillRect/>
          </a:stretch>
        </p:blipFill>
        <p:spPr>
          <a:xfrm>
            <a:off x="274320" y="2834640"/>
            <a:ext cx="1188720" cy="1188720"/>
          </a:xfrm>
          <a:prstGeom prst="rect">
            <a:avLst/>
          </a:prstGeom>
        </p:spPr>
      </p:pic>
      <p:sp>
        <p:nvSpPr>
          <p:cNvPr id="7" name="Rule 0"/>
          <p:cNvSpPr txBox="1"/>
          <p:nvPr/>
        </p:nvSpPr>
        <p:spPr>
          <a:xfrm>
            <a:off x="3383280" y="1143000"/>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Deny by default</a:t>
            </a:r>
            <a:endParaRPr lang="en-US" sz="1400" dirty="0"/>
          </a:p>
          <a:p>
            <a:pPr algn="l" indent="0" marL="0">
              <a:buNone/>
            </a:pPr>
            <a:r>
              <a:rPr lang="en-US" sz="1200" dirty="0">
                <a:solidFill>
                  <a:schemeClr val="tx1"/>
                </a:solidFill>
              </a:rPr>
              <a:t>Add a fallback policy: every endpoint needs a login unless it is marked public.</a:t>
            </a:r>
            <a:endParaRPr lang="en-US" sz="1400" dirty="0"/>
          </a:p>
        </p:txBody>
      </p:sp>
      <p:sp>
        <p:nvSpPr>
          <p:cNvPr id="8" name="Rule num 0"/>
          <p:cNvSpPr txBox="1"/>
          <p:nvPr/>
        </p:nvSpPr>
        <p:spPr>
          <a:xfrm>
            <a:off x="3493008" y="1271016"/>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Rule 1"/>
          <p:cNvSpPr txBox="1"/>
          <p:nvPr/>
        </p:nvSpPr>
        <p:spPr>
          <a:xfrm>
            <a:off x="3383280" y="1892808"/>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Check the owner on the server</a:t>
            </a:r>
            <a:endParaRPr lang="en-US" sz="1400" dirty="0"/>
          </a:p>
          <a:p>
            <a:pPr algn="l" indent="0" marL="0">
              <a:buNone/>
            </a:pPr>
            <a:r>
              <a:rPr lang="en-US" sz="1200" dirty="0">
                <a:solidFill>
                  <a:schemeClr val="tx1"/>
                </a:solidFill>
              </a:rPr>
              <a:t>Compare rec.OwnerId with the user id. Return 404 if it is not theirs.</a:t>
            </a:r>
            <a:endParaRPr lang="en-US" sz="1400" dirty="0"/>
          </a:p>
        </p:txBody>
      </p:sp>
      <p:sp>
        <p:nvSpPr>
          <p:cNvPr id="10" name="Rule num 1"/>
          <p:cNvSpPr txBox="1"/>
          <p:nvPr/>
        </p:nvSpPr>
        <p:spPr>
          <a:xfrm>
            <a:off x="3493008" y="2020824"/>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Rule 2"/>
          <p:cNvSpPr txBox="1"/>
          <p:nvPr/>
        </p:nvSpPr>
        <p:spPr>
          <a:xfrm>
            <a:off x="3383280" y="2642616"/>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Route guards are only UX</a:t>
            </a:r>
            <a:endParaRPr lang="en-US" sz="1400" dirty="0"/>
          </a:p>
          <a:p>
            <a:pPr algn="l" indent="0" marL="0">
              <a:buNone/>
            </a:pPr>
            <a:r>
              <a:rPr lang="en-US" sz="1200" dirty="0">
                <a:solidFill>
                  <a:schemeClr val="tx1"/>
                </a:solidFill>
              </a:rPr>
              <a:t>Angular guards improve the screen. The API still makes the decision.</a:t>
            </a:r>
            <a:endParaRPr lang="en-US" sz="1400" dirty="0"/>
          </a:p>
        </p:txBody>
      </p:sp>
      <p:sp>
        <p:nvSpPr>
          <p:cNvPr id="12" name="Rule num 2"/>
          <p:cNvSpPr txBox="1"/>
          <p:nvPr/>
        </p:nvSpPr>
        <p:spPr>
          <a:xfrm>
            <a:off x="3493008" y="2770632"/>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Chip NG"/>
          <p:cNvSpPr txBox="1"/>
          <p:nvPr/>
        </p:nvSpPr>
        <p:spPr>
          <a:xfrm>
            <a:off x="3383280" y="3429000"/>
            <a:ext cx="2606040" cy="804672"/>
          </a:xfrm>
          <a:prstGeom prst="roundRect">
            <a:avLst>
              <a:gd name="adj" fmla="val 11364"/>
            </a:avLst>
          </a:prstGeom>
          <a:solidFill>
            <a:schemeClr val="accent5">
              <a:alpha val="12000"/>
            </a:schemeClr>
          </a:solidFill>
          <a:ln w="12700">
            <a:solidFill>
              <a:schemeClr val="accent5"/>
            </a:solidFill>
          </a:ln>
        </p:spPr>
        <p:txBody>
          <a:bodyPr wrap="square" lIns="127000" tIns="25400" rIns="101600" bIns="25400" rtlCol="0" anchor="ctr"/>
          <a:lstStyle/>
          <a:p>
            <a:pPr algn="l" indent="0" marL="0">
              <a:buNone/>
            </a:pPr>
            <a:r>
              <a:rPr lang="en-US" sz="1100" b="1" spc="200" kern="0" dirty="0">
                <a:solidFill>
                  <a:schemeClr val="accent5"/>
                </a:solidFill>
              </a:rPr>
              <a:t>IN ANGULAR</a:t>
            </a:r>
            <a:endParaRPr lang="en-US" sz="1100" dirty="0"/>
          </a:p>
          <a:p>
            <a:pPr algn="l" indent="0" marL="0">
              <a:buNone/>
            </a:pPr>
            <a:r>
              <a:rPr lang="en-US" sz="1200" dirty="0">
                <a:solidFill>
                  <a:schemeClr val="tx1"/>
                </a:solidFill>
              </a:rPr>
              <a:t>canActivate hides pages. Handle 401 and 403 in an interceptor.</a:t>
            </a:r>
            <a:endParaRPr lang="en-US" sz="1100" dirty="0"/>
          </a:p>
        </p:txBody>
      </p:sp>
      <p:sp>
        <p:nvSpPr>
          <p:cNvPr id="14" name="Chip NET"/>
          <p:cNvSpPr txBox="1"/>
          <p:nvPr/>
        </p:nvSpPr>
        <p:spPr>
          <a:xfrm>
            <a:off x="6080760" y="3429000"/>
            <a:ext cx="2606040" cy="804672"/>
          </a:xfrm>
          <a:prstGeom prst="roundRect">
            <a:avLst>
              <a:gd name="adj" fmla="val 11364"/>
            </a:avLst>
          </a:prstGeom>
          <a:solidFill>
            <a:schemeClr val="accent6">
              <a:alpha val="12000"/>
            </a:schemeClr>
          </a:solidFill>
          <a:ln w="12700">
            <a:solidFill>
              <a:schemeClr val="accent6"/>
            </a:solidFill>
          </a:ln>
        </p:spPr>
        <p:txBody>
          <a:bodyPr wrap="square" lIns="127000" tIns="25400" rIns="101600" bIns="25400" rtlCol="0" anchor="ctr"/>
          <a:lstStyle/>
          <a:p>
            <a:pPr algn="l" indent="0" marL="0">
              <a:buNone/>
            </a:pPr>
            <a:r>
              <a:rPr lang="en-US" sz="1100" b="1" spc="200" kern="0" dirty="0">
                <a:solidFill>
                  <a:schemeClr val="accent6"/>
                </a:solidFill>
              </a:rPr>
              <a:t>IN .NET CORE</a:t>
            </a:r>
            <a:endParaRPr lang="en-US" sz="1100" dirty="0"/>
          </a:p>
          <a:p>
            <a:pPr algn="l" indent="0" marL="0">
              <a:buNone/>
            </a:pPr>
            <a:r>
              <a:rPr lang="en-US" sz="1200" dirty="0">
                <a:solidFill>
                  <a:schemeClr val="tx1"/>
                </a:solidFill>
              </a:rPr>
              <a:t>RequireAuthorization(), FallbackPolicy, resource-based checks.</a:t>
            </a:r>
            <a:endParaRPr lang="en-US" sz="1100" dirty="0"/>
          </a:p>
        </p:txBody>
      </p:sp>
      <p:sp>
        <p:nvSpPr>
          <p:cNvPr id="15" name="Takeaway"/>
          <p:cNvSpPr txBox="1"/>
          <p:nvPr/>
        </p:nvSpPr>
        <p:spPr>
          <a:xfrm>
            <a:off x="457200" y="4279392"/>
            <a:ext cx="4754880" cy="411480"/>
          </a:xfrm>
          <a:prstGeom prst="rect">
            <a:avLst/>
          </a:prstGeom>
          <a:noFill/>
          <a:ln/>
        </p:spPr>
        <p:txBody>
          <a:bodyPr wrap="square" lIns="0" tIns="0" rIns="0" bIns="0" rtlCol="0" anchor="ctr"/>
          <a:lstStyle/>
          <a:p>
            <a:pPr indent="0" marL="0">
              <a:buNone/>
            </a:pPr>
            <a:r>
              <a:rPr lang="en-US" sz="1600" b="1" dirty="0">
                <a:solidFill>
                  <a:schemeClr val="accent1"/>
                </a:solidFill>
              </a:rPr>
              <a:t>Every request is checked on the server.</a:t>
            </a:r>
            <a:endParaRPr lang="en-US" sz="16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cond evt="onBegin" delay="0">
                          <p:tn val="2"/>
                        </p:cond>
                      </p:stCondLst>
                      <p:childTnLst>
                        <p:par>
                          <p:cTn id="19"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5"/>
                                        </p:tgtEl>
                                        <p:attrNameLst>
                                          <p:attrName>style.visibility</p:attrName>
                                        </p:attrNameLst>
                                      </p:cBhvr>
                                      <p:to>
                                        <p:strVal val="visible"/>
                                      </p:to>
                                    </p:set>
                                    <p:anim calcmode="lin" valueType="num">
                                      <p:cBhvr additive="base">
                                        <p:cTn id="4" dur="400" fill="hold"/>
                                        <p:tgtEl>
                                          <p:spTgt spid="5"/>
                                        </p:tgtEl>
                                        <p:attrNameLst>
                                          <p:attrName>ppt_w</p:attrName>
                                        </p:attrNameLst>
                                      </p:cBhvr>
                                      <p:tavLst>
                                        <p:tav tm="0">
                                          <p:val>
                                            <p:fltVal val="0"/>
                                          </p:val>
                                        </p:tav>
                                        <p:tav tm="100000">
                                          <p:val>
                                            <p:strVal val="#ppt_w"/>
                                          </p:val>
                                        </p:tav>
                                      </p:tavLst>
                                    </p:anim>
                                    <p:anim calcmode="lin" valueType="num">
                                      <p:cBhvr additive="base">
                                        <p:cTn id="5" dur="400" fill="hold"/>
                                        <p:tgtEl>
                                          <p:spTgt spid="5"/>
                                        </p:tgtEl>
                                        <p:attrNameLst>
                                          <p:attrName>ppt_h</p:attrName>
                                        </p:attrNameLst>
                                      </p:cBhvr>
                                      <p:tavLst>
                                        <p:tav tm="0">
                                          <p:val>
                                            <p:fltVal val="0"/>
                                          </p:val>
                                        </p:tav>
                                        <p:tav tm="100000">
                                          <p:val>
                                            <p:strVal val="#ppt_h"/>
                                          </p:val>
                                        </p:tav>
                                      </p:tavLst>
                                    </p:anim>
                                    <p:animEffect transition="in" filter="fade">
                                      <p:cBhvr>
                                        <p:cTn id="6" dur="400"/>
                                        <p:tgtEl>
                                          <p:spTgt spid="5"/>
                                        </p:tgtEl>
                                      </p:cBhvr>
                                    </p:animEffect>
                                  </p:childTnLst>
                                </p:cTn>
                              </p:par>
                              <p:par>
                                <p:cTn id="10" presetID="10" presetClass="entr" presetSubtype="0" fill="hold" nodeType="withEffect">
                                  <p:stCondLst>
                                    <p:cond delay="20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300"/>
                                        <p:tgtEl>
                                          <p:spTgt spid="6"/>
                                        </p:tgtEl>
                                      </p:cBhvr>
                                    </p:animEffect>
                                  </p:childTnLst>
                                </p:cTn>
                              </p:par>
                              <p:par>
                                <p:cTn id="12" presetID="0" presetClass="path" presetSubtype="0" fill="hold" nodeType="withEffect">
                                  <p:stCondLst>
                                    <p:cond delay="600"/>
                                  </p:stCondLst>
                                  <p:childTnLst>
                                    <p:animMotion origin="layout" path="M 0 0 L 0.1 0 E" pathEditMode="relative">
                                      <p:cBhvr>
                                        <p:cTn id="11" dur="2400" fill="hold"/>
                                        <p:tgtEl>
                                          <p:spTgt spid="6"/>
                                        </p:tgtEl>
                                        <p:attrNameLst>
                                          <p:attrName>ppt_x</p:attrName>
                                          <p:attrName>ppt_y</p:attrName>
                                        </p:attrNameLst>
                                      </p:cBhvr>
                                      <p:rCtr x="0.05" y="0"/>
                                    </p:animMotion>
                                  </p:childTnLst>
                                </p:cTn>
                              </p:par>
                              <p:par>
                                <p:cTn id="17" presetID="53" presetClass="entr" presetSubtype="16" fill="hold" nodeType="withEffect">
                                  <p:stCondLst>
                                    <p:cond delay="300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ppt_w</p:attrName>
                                        </p:attrNameLst>
                                      </p:cBhvr>
                                      <p:tavLst>
                                        <p:tav tm="0">
                                          <p:val>
                                            <p:fltVal val="0"/>
                                          </p:val>
                                        </p:tav>
                                        <p:tav tm="100000">
                                          <p:val>
                                            <p:strVal val="#ppt_w"/>
                                          </p:val>
                                        </p:tav>
                                      </p:tavLst>
                                    </p:anim>
                                    <p:anim calcmode="lin" valueType="num">
                                      <p:cBhvr additive="base">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23" presetID="2" presetClass="entr" presetSubtype="2"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450" fill="hold"/>
                                        <p:tgtEl>
                                          <p:spTgt spid="7"/>
                                        </p:tgtEl>
                                        <p:attrNameLst>
                                          <p:attrName>ppt_x</p:attrName>
                                        </p:attrNameLst>
                                      </p:cBhvr>
                                      <p:tavLst>
                                        <p:tav tm="0">
                                          <p:val>
                                            <p:strVal val="1+#ppt_w/2"/>
                                          </p:val>
                                        </p:tav>
                                        <p:tav tm="100000">
                                          <p:val>
                                            <p:strVal val="#ppt_x"/>
                                          </p:val>
                                        </p:tav>
                                      </p:tavLst>
                                    </p:anim>
                                    <p:anim calcmode="lin" valueType="num">
                                      <p:cBhvr additive="base">
                                        <p:cTn id="22" dur="450" fill="hold"/>
                                        <p:tgtEl>
                                          <p:spTgt spid="7"/>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450" fill="hold"/>
                                        <p:tgtEl>
                                          <p:spTgt spid="8"/>
                                        </p:tgtEl>
                                        <p:attrNameLst>
                                          <p:attrName>ppt_x</p:attrName>
                                        </p:attrNameLst>
                                      </p:cBhvr>
                                      <p:tavLst>
                                        <p:tav tm="0">
                                          <p:val>
                                            <p:strVal val="1+#ppt_w/2"/>
                                          </p:val>
                                        </p:tav>
                                        <p:tav tm="100000">
                                          <p:val>
                                            <p:strVal val="#ppt_x"/>
                                          </p:val>
                                        </p:tav>
                                      </p:tavLst>
                                    </p:anim>
                                    <p:anim calcmode="lin" valueType="num">
                                      <p:cBhvr additive="base">
                                        <p:cTn id="26" dur="45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33" presetID="2" presetClass="entr" presetSubtype="2"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450" fill="hold"/>
                                        <p:tgtEl>
                                          <p:spTgt spid="9"/>
                                        </p:tgtEl>
                                        <p:attrNameLst>
                                          <p:attrName>ppt_x</p:attrName>
                                        </p:attrNameLst>
                                      </p:cBhvr>
                                      <p:tavLst>
                                        <p:tav tm="0">
                                          <p:val>
                                            <p:strVal val="1+#ppt_w/2"/>
                                          </p:val>
                                        </p:tav>
                                        <p:tav tm="100000">
                                          <p:val>
                                            <p:strVal val="#ppt_x"/>
                                          </p:val>
                                        </p:tav>
                                      </p:tavLst>
                                    </p:anim>
                                    <p:anim calcmode="lin" valueType="num">
                                      <p:cBhvr additive="base">
                                        <p:cTn id="32" dur="450" fill="hold"/>
                                        <p:tgtEl>
                                          <p:spTgt spid="9"/>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450" fill="hold"/>
                                        <p:tgtEl>
                                          <p:spTgt spid="10"/>
                                        </p:tgtEl>
                                        <p:attrNameLst>
                                          <p:attrName>ppt_x</p:attrName>
                                        </p:attrNameLst>
                                      </p:cBhvr>
                                      <p:tavLst>
                                        <p:tav tm="0">
                                          <p:val>
                                            <p:strVal val="1+#ppt_w/2"/>
                                          </p:val>
                                        </p:tav>
                                        <p:tav tm="100000">
                                          <p:val>
                                            <p:strVal val="#ppt_x"/>
                                          </p:val>
                                        </p:tav>
                                      </p:tavLst>
                                    </p:anim>
                                    <p:anim calcmode="lin" valueType="num">
                                      <p:cBhvr additive="base">
                                        <p:cTn id="36" dur="45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3" presetID="2" presetClass="entr" presetSubtype="2"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450" fill="hold"/>
                                        <p:tgtEl>
                                          <p:spTgt spid="11"/>
                                        </p:tgtEl>
                                        <p:attrNameLst>
                                          <p:attrName>ppt_x</p:attrName>
                                        </p:attrNameLst>
                                      </p:cBhvr>
                                      <p:tavLst>
                                        <p:tav tm="0">
                                          <p:val>
                                            <p:strVal val="1+#ppt_w/2"/>
                                          </p:val>
                                        </p:tav>
                                        <p:tav tm="100000">
                                          <p:val>
                                            <p:strVal val="#ppt_x"/>
                                          </p:val>
                                        </p:tav>
                                      </p:tavLst>
                                    </p:anim>
                                    <p:anim calcmode="lin" valueType="num">
                                      <p:cBhvr additive="base">
                                        <p:cTn id="42" dur="450" fill="hold"/>
                                        <p:tgtEl>
                                          <p:spTgt spid="11"/>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450" fill="hold"/>
                                        <p:tgtEl>
                                          <p:spTgt spid="12"/>
                                        </p:tgtEl>
                                        <p:attrNameLst>
                                          <p:attrName>ppt_x</p:attrName>
                                        </p:attrNameLst>
                                      </p:cBhvr>
                                      <p:tavLst>
                                        <p:tav tm="0">
                                          <p:val>
                                            <p:strVal val="1+#ppt_w/2"/>
                                          </p:val>
                                        </p:tav>
                                        <p:tav tm="100000">
                                          <p:val>
                                            <p:strVal val="#ppt_x"/>
                                          </p:val>
                                        </p:tav>
                                      </p:tavLst>
                                    </p:anim>
                                    <p:anim calcmode="lin" valueType="num">
                                      <p:cBhvr additive="base">
                                        <p:cTn id="46" dur="45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53" presetID="2" presetClass="entr" presetSubtype="4"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450" fill="hold"/>
                                        <p:tgtEl>
                                          <p:spTgt spid="13"/>
                                        </p:tgtEl>
                                        <p:attrNameLst>
                                          <p:attrName>ppt_x</p:attrName>
                                        </p:attrNameLst>
                                      </p:cBhvr>
                                      <p:tavLst>
                                        <p:tav tm="0">
                                          <p:val>
                                            <p:strVal val="#ppt_x"/>
                                          </p:val>
                                        </p:tav>
                                        <p:tav tm="100000">
                                          <p:val>
                                            <p:strVal val="#ppt_x"/>
                                          </p:val>
                                        </p:tav>
                                      </p:tavLst>
                                    </p:anim>
                                    <p:anim calcmode="lin" valueType="num">
                                      <p:cBhvr additive="base">
                                        <p:cTn id="52" dur="450" fill="hold"/>
                                        <p:tgtEl>
                                          <p:spTgt spid="13"/>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15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450" fill="hold"/>
                                        <p:tgtEl>
                                          <p:spTgt spid="14"/>
                                        </p:tgtEl>
                                        <p:attrNameLst>
                                          <p:attrName>ppt_x</p:attrName>
                                        </p:attrNameLst>
                                      </p:cBhvr>
                                      <p:tavLst>
                                        <p:tav tm="0">
                                          <p:val>
                                            <p:strVal val="#ppt_x"/>
                                          </p:val>
                                        </p:tav>
                                        <p:tav tm="100000">
                                          <p:val>
                                            <p:strVal val="#ppt_x"/>
                                          </p:val>
                                        </p:tav>
                                      </p:tavLst>
                                    </p:anim>
                                    <p:anim calcmode="lin" valueType="num">
                                      <p:cBhvr additive="base">
                                        <p:cTn id="56"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450" fill="hold"/>
                                        <p:tgtEl>
                                          <p:spTgt spid="15"/>
                                        </p:tgtEl>
                                        <p:attrNameLst>
                                          <p:attrName>ppt_w</p:attrName>
                                        </p:attrNameLst>
                                      </p:cBhvr>
                                      <p:tavLst>
                                        <p:tav tm="0">
                                          <p:val>
                                            <p:fltVal val="0"/>
                                          </p:val>
                                        </p:tav>
                                        <p:tav tm="100000">
                                          <p:val>
                                            <p:strVal val="#ppt_w"/>
                                          </p:val>
                                        </p:tav>
                                      </p:tavLst>
                                    </p:anim>
                                    <p:anim calcmode="lin" valueType="num">
                                      <p:cBhvr additive="base">
                                        <p:cTn id="62" dur="450" fill="hold"/>
                                        <p:tgtEl>
                                          <p:spTgt spid="15"/>
                                        </p:tgtEl>
                                        <p:attrNameLst>
                                          <p:attrName>ppt_h</p:attrName>
                                        </p:attrNameLst>
                                      </p:cBhvr>
                                      <p:tavLst>
                                        <p:tav tm="0">
                                          <p:val>
                                            <p:fltVal val="0"/>
                                          </p:val>
                                        </p:tav>
                                        <p:tav tm="100000">
                                          <p:val>
                                            <p:strVal val="#ppt_h"/>
                                          </p:val>
                                        </p:tav>
                                      </p:tavLst>
                                    </p:anim>
                                    <p:animEffect transition="in" filter="fade">
                                      <p:cBhvr>
                                        <p:cTn id="63"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A02 · Security Misconfiguration: the story</a:t>
            </a:r>
            <a:endParaRPr lang="en-US" sz="3000" dirty="0"/>
          </a:p>
        </p:txBody>
      </p:sp>
      <p:sp>
        <p:nvSpPr>
          <p:cNvPr id="4" name="Station 0"/>
          <p:cNvSpPr txBox="1"/>
          <p:nvPr/>
        </p:nvSpPr>
        <p:spPr>
          <a:xfrm>
            <a:off x="2926080" y="2880360"/>
            <a:ext cx="1737360" cy="868680"/>
          </a:xfrm>
          <a:prstGeom prst="roundRect">
            <a:avLst>
              <a:gd name="adj" fmla="val 12632"/>
            </a:avLst>
          </a:prstGeom>
          <a:solidFill>
            <a:schemeClr val="bg2"/>
          </a:solidFill>
          <a:ln w="15875">
            <a:solidFill>
              <a:schemeClr val="accent5"/>
            </a:solidFill>
          </a:ln>
        </p:spPr>
        <p:txBody>
          <a:bodyPr wrap="square" lIns="50800" tIns="50800" rIns="50800" bIns="50800" rtlCol="0" anchor="ctr"/>
          <a:lstStyle/>
          <a:p>
            <a:pPr algn="ctr" indent="0" marL="0">
              <a:buNone/>
            </a:pPr>
            <a:r>
              <a:rPr lang="en-US" sz="1500" b="1" dirty="0">
                <a:solidFill>
                  <a:schemeClr val="accent5"/>
                </a:solidFill>
              </a:rPr>
              <a:t>Angular bundle</a:t>
            </a:r>
            <a:endParaRPr lang="en-US" sz="1500" dirty="0"/>
          </a:p>
          <a:p>
            <a:pPr algn="ctr" indent="0" marL="0">
              <a:buNone/>
            </a:pPr>
            <a:r>
              <a:rPr lang="en-US" sz="1200" dirty="0">
                <a:solidFill>
                  <a:schemeClr val="tx2"/>
                </a:solidFill>
              </a:rPr>
              <a:t>environment.prod.ts</a:t>
            </a:r>
            <a:endParaRPr lang="en-US" sz="1500" dirty="0"/>
          </a:p>
        </p:txBody>
      </p:sp>
      <p:sp>
        <p:nvSpPr>
          <p:cNvPr id="5" name="Station 1"/>
          <p:cNvSpPr txBox="1"/>
          <p:nvPr/>
        </p:nvSpPr>
        <p:spPr>
          <a:xfrm>
            <a:off x="4846320" y="2880360"/>
            <a:ext cx="1737360" cy="868680"/>
          </a:xfrm>
          <a:prstGeom prst="roundRect">
            <a:avLst>
              <a:gd name="adj" fmla="val 12632"/>
            </a:avLst>
          </a:prstGeom>
          <a:solidFill>
            <a:schemeClr val="bg2"/>
          </a:solidFill>
          <a:ln w="15875">
            <a:solidFill>
              <a:schemeClr val="accent1"/>
            </a:solidFill>
          </a:ln>
        </p:spPr>
        <p:txBody>
          <a:bodyPr wrap="square" lIns="50800" tIns="50800" rIns="50800" bIns="50800" rtlCol="0" anchor="ctr"/>
          <a:lstStyle/>
          <a:p>
            <a:pPr algn="ctr" indent="0" marL="0">
              <a:buNone/>
            </a:pPr>
            <a:r>
              <a:rPr lang="en-US" sz="1500" b="1" dirty="0">
                <a:solidFill>
                  <a:schemeClr val="accent1"/>
                </a:solidFill>
              </a:rPr>
              <a:t>IIS + .NET API</a:t>
            </a:r>
            <a:endParaRPr lang="en-US" sz="1500" dirty="0"/>
          </a:p>
          <a:p>
            <a:pPr algn="ctr" indent="0" marL="0">
              <a:buNone/>
            </a:pPr>
            <a:r>
              <a:rPr lang="en-US" sz="1200" dirty="0">
                <a:solidFill>
                  <a:schemeClr val="tx2"/>
                </a:solidFill>
              </a:rPr>
              <a:t>web.config, Swagger</a:t>
            </a:r>
            <a:endParaRPr lang="en-US" sz="1500" dirty="0"/>
          </a:p>
        </p:txBody>
      </p:sp>
      <p:sp>
        <p:nvSpPr>
          <p:cNvPr id="6" name="Station 2"/>
          <p:cNvSpPr txBox="1"/>
          <p:nvPr/>
        </p:nvSpPr>
        <p:spPr>
          <a:xfrm>
            <a:off x="6766560" y="2880360"/>
            <a:ext cx="1737360" cy="868680"/>
          </a:xfrm>
          <a:prstGeom prst="roundRect">
            <a:avLst>
              <a:gd name="adj" fmla="val 12632"/>
            </a:avLst>
          </a:prstGeom>
          <a:solidFill>
            <a:schemeClr val="bg2"/>
          </a:solidFill>
          <a:ln w="15875">
            <a:solidFill>
              <a:schemeClr val="accent4"/>
            </a:solidFill>
          </a:ln>
        </p:spPr>
        <p:txBody>
          <a:bodyPr wrap="square" lIns="50800" tIns="50800" rIns="50800" bIns="50800" rtlCol="0" anchor="ctr"/>
          <a:lstStyle/>
          <a:p>
            <a:pPr algn="ctr" indent="0" marL="0">
              <a:buNone/>
            </a:pPr>
            <a:r>
              <a:rPr lang="en-US" sz="1500" b="1" dirty="0">
                <a:solidFill>
                  <a:schemeClr val="accent4"/>
                </a:solidFill>
              </a:rPr>
              <a:t>SQL Server</a:t>
            </a:r>
            <a:endParaRPr lang="en-US" sz="1500" dirty="0"/>
          </a:p>
          <a:p>
            <a:pPr algn="ctr" indent="0" marL="0">
              <a:buNone/>
            </a:pPr>
            <a:r>
              <a:rPr lang="en-US" sz="1200" dirty="0">
                <a:solidFill>
                  <a:schemeClr val="tx2"/>
                </a:solidFill>
              </a:rPr>
              <a:t>connection string</a:t>
            </a:r>
            <a:endParaRPr lang="en-US" sz="1500" dirty="0"/>
          </a:p>
        </p:txBody>
      </p:sp>
      <p:pic>
        <p:nvPicPr>
          <p:cNvPr id="7" name="Hacker" descr="Hacker cartoon">    </p:cNvPr>
          <p:cNvPicPr>
            <a:picLocks noChangeAspect="1"/>
          </p:cNvPicPr>
          <p:nvPr/>
        </p:nvPicPr>
        <p:blipFill>
          <a:blip r:embed="rId1"/>
          <a:stretch>
            <a:fillRect/>
          </a:stretch>
        </p:blipFill>
        <p:spPr>
          <a:xfrm>
            <a:off x="365760" y="2606040"/>
            <a:ext cx="1188720" cy="1188720"/>
          </a:xfrm>
          <a:prstGeom prst="rect">
            <a:avLst/>
          </a:prstGeom>
        </p:spPr>
      </p:pic>
      <p:sp>
        <p:nvSpPr>
          <p:cNvPr id="8" name="Bubble 0"/>
          <p:cNvSpPr txBox="1"/>
          <p:nvPr/>
        </p:nvSpPr>
        <p:spPr>
          <a:xfrm>
            <a:off x="457200" y="1097280"/>
            <a:ext cx="1920240" cy="1097280"/>
          </a:xfrm>
          <a:prstGeom prst="roundRect">
            <a:avLst>
              <a:gd name="adj" fmla="val 11667"/>
            </a:avLst>
          </a:prstGeom>
          <a:solidFill>
            <a:schemeClr val="bg2"/>
          </a:solidFill>
          <a:ln w="19050">
            <a:solidFill>
              <a:schemeClr val="accent6"/>
            </a:solidFill>
          </a:ln>
        </p:spPr>
        <p:txBody>
          <a:bodyPr wrap="square" lIns="114300" tIns="63500" rIns="101600" bIns="50800" rtlCol="0" anchor="t"/>
          <a:lstStyle/>
          <a:p>
            <a:pPr algn="l" indent="0" marL="0">
              <a:buNone/>
            </a:pPr>
            <a:r>
              <a:rPr lang="en-US" sz="1100" b="1" spc="200" kern="0" dirty="0">
                <a:solidFill>
                  <a:schemeClr val="accent6"/>
                </a:solidFill>
              </a:rPr>
              <a:t>HACKER</a:t>
            </a:r>
            <a:endParaRPr lang="en-US" sz="1100" dirty="0"/>
          </a:p>
          <a:p>
            <a:pPr algn="l" indent="0" marL="0">
              <a:buNone/>
            </a:pPr>
            <a:r>
              <a:rPr lang="en-US" sz="1300" dirty="0">
                <a:solidFill>
                  <a:schemeClr val="tx1"/>
                </a:solidFill>
              </a:rPr>
              <a:t>I read main.js and the source map. Is there a key in there?</a:t>
            </a:r>
            <a:endParaRPr lang="en-US" sz="1100" dirty="0"/>
          </a:p>
        </p:txBody>
      </p:sp>
      <p:sp>
        <p:nvSpPr>
          <p:cNvPr id="9" name="Bubble 1"/>
          <p:cNvSpPr txBox="1"/>
          <p:nvPr/>
        </p:nvSpPr>
        <p:spPr>
          <a:xfrm>
            <a:off x="2560320" y="1097280"/>
            <a:ext cx="1920240" cy="1097280"/>
          </a:xfrm>
          <a:prstGeom prst="roundRect">
            <a:avLst>
              <a:gd name="adj" fmla="val 11667"/>
            </a:avLst>
          </a:prstGeom>
          <a:solidFill>
            <a:schemeClr val="bg2"/>
          </a:solidFill>
          <a:ln w="19050">
            <a:solidFill>
              <a:schemeClr val="accent5"/>
            </a:solidFill>
          </a:ln>
        </p:spPr>
        <p:txBody>
          <a:bodyPr wrap="square" lIns="114300" tIns="63500" rIns="101600" bIns="50800" rtlCol="0" anchor="t"/>
          <a:lstStyle/>
          <a:p>
            <a:pPr algn="l" indent="0" marL="0">
              <a:buNone/>
            </a:pPr>
            <a:r>
              <a:rPr lang="en-US" sz="1100" b="1" spc="200" kern="0" dirty="0">
                <a:solidFill>
                  <a:schemeClr val="accent5"/>
                </a:solidFill>
              </a:rPr>
              <a:t>ANGULAR</a:t>
            </a:r>
            <a:endParaRPr lang="en-US" sz="1100" dirty="0"/>
          </a:p>
          <a:p>
            <a:pPr algn="l" indent="0" marL="0">
              <a:buNone/>
            </a:pPr>
            <a:r>
              <a:rPr lang="en-US" sz="1300" dirty="0">
                <a:solidFill>
                  <a:schemeClr val="tx1"/>
                </a:solidFill>
              </a:rPr>
              <a:t>Yes: apiKey 'sk-92af' sits in the bundle, readable by everyone.</a:t>
            </a:r>
            <a:endParaRPr lang="en-US" sz="1100" dirty="0"/>
          </a:p>
        </p:txBody>
      </p:sp>
      <p:sp>
        <p:nvSpPr>
          <p:cNvPr id="10" name="Bubble 2"/>
          <p:cNvSpPr txBox="1"/>
          <p:nvPr/>
        </p:nvSpPr>
        <p:spPr>
          <a:xfrm>
            <a:off x="4663440" y="1097280"/>
            <a:ext cx="1920240" cy="1097280"/>
          </a:xfrm>
          <a:prstGeom prst="roundRect">
            <a:avLst>
              <a:gd name="adj" fmla="val 11667"/>
            </a:avLst>
          </a:prstGeom>
          <a:solidFill>
            <a:schemeClr val="bg2"/>
          </a:solidFill>
          <a:ln w="19050">
            <a:solidFill>
              <a:schemeClr val="accent1"/>
            </a:solidFill>
          </a:ln>
        </p:spPr>
        <p:txBody>
          <a:bodyPr wrap="square" lIns="114300" tIns="63500" rIns="101600" bIns="50800" rtlCol="0" anchor="t"/>
          <a:lstStyle/>
          <a:p>
            <a:pPr algn="l" indent="0" marL="0">
              <a:buNone/>
            </a:pPr>
            <a:r>
              <a:rPr lang="en-US" sz="1100" b="1" spc="200" kern="0" dirty="0">
                <a:solidFill>
                  <a:schemeClr val="accent1"/>
                </a:solidFill>
              </a:rPr>
              <a:t>API</a:t>
            </a:r>
            <a:endParaRPr lang="en-US" sz="1100" dirty="0"/>
          </a:p>
          <a:p>
            <a:pPr algn="l" indent="0" marL="0">
              <a:buNone/>
            </a:pPr>
            <a:r>
              <a:rPr lang="en-US" sz="1300" dirty="0">
                <a:solidFill>
                  <a:schemeClr val="tx1"/>
                </a:solidFill>
              </a:rPr>
              <a:t>Swagger is open in prod, errors are detailed, CORS allows all.</a:t>
            </a:r>
            <a:endParaRPr lang="en-US" sz="1100" dirty="0"/>
          </a:p>
        </p:txBody>
      </p:sp>
      <p:sp>
        <p:nvSpPr>
          <p:cNvPr id="11" name="Bubble 3"/>
          <p:cNvSpPr txBox="1"/>
          <p:nvPr/>
        </p:nvSpPr>
        <p:spPr>
          <a:xfrm>
            <a:off x="6766560" y="1097280"/>
            <a:ext cx="1920240" cy="1097280"/>
          </a:xfrm>
          <a:prstGeom prst="roundRect">
            <a:avLst>
              <a:gd name="adj" fmla="val 11667"/>
            </a:avLst>
          </a:prstGeom>
          <a:solidFill>
            <a:schemeClr val="bg2"/>
          </a:solidFill>
          <a:ln w="19050">
            <a:solidFill>
              <a:schemeClr val="accent2"/>
            </a:solidFill>
          </a:ln>
        </p:spPr>
        <p:txBody>
          <a:bodyPr wrap="square" lIns="114300" tIns="63500" rIns="101600" bIns="50800" rtlCol="0" anchor="t"/>
          <a:lstStyle/>
          <a:p>
            <a:pPr algn="l" indent="0" marL="0">
              <a:buNone/>
            </a:pPr>
            <a:r>
              <a:rPr lang="en-US" sz="1100" b="1" spc="200" kern="0" dirty="0">
                <a:solidFill>
                  <a:schemeClr val="accent2"/>
                </a:solidFill>
              </a:rPr>
              <a:t>RESULT</a:t>
            </a:r>
            <a:endParaRPr lang="en-US" sz="1100" dirty="0"/>
          </a:p>
          <a:p>
            <a:pPr algn="l" indent="0" marL="0">
              <a:buNone/>
            </a:pPr>
            <a:r>
              <a:rPr lang="en-US" sz="1300" dirty="0">
                <a:solidFill>
                  <a:schemeClr val="tx1"/>
                </a:solidFill>
              </a:rPr>
              <a:t>A free map of the whole system. Nothing was even hacked.</a:t>
            </a:r>
            <a:endParaRPr lang="en-US" sz="1100" dirty="0"/>
          </a:p>
        </p:txBody>
      </p:sp>
      <p:sp>
        <p:nvSpPr>
          <p:cNvPr id="12" name="Damage"/>
          <p:cNvSpPr txBox="1"/>
          <p:nvPr/>
        </p:nvSpPr>
        <p:spPr>
          <a:xfrm>
            <a:off x="6217920" y="2697480"/>
            <a:ext cx="384048" cy="384048"/>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pic>
        <p:nvPicPr>
          <p:cNvPr id="13" name="Bug" descr="Bug cartoon">    </p:cNvPr>
          <p:cNvPicPr>
            <a:picLocks noChangeAspect="1"/>
          </p:cNvPicPr>
          <p:nvPr/>
        </p:nvPicPr>
        <p:blipFill>
          <a:blip r:embed="rId2"/>
          <a:stretch>
            <a:fillRect/>
          </a:stretch>
        </p:blipFill>
        <p:spPr>
          <a:xfrm>
            <a:off x="5029200" y="2103120"/>
            <a:ext cx="822960" cy="822960"/>
          </a:xfrm>
          <a:prstGeom prst="rect">
            <a:avLst/>
          </a:prstGeom>
        </p:spPr>
      </p:pic>
      <p:sp>
        <p:nvSpPr>
          <p:cNvPr id="14" name="Moral"/>
          <p:cNvSpPr txBox="1"/>
          <p:nvPr/>
        </p:nvSpPr>
        <p:spPr>
          <a:xfrm>
            <a:off x="457200" y="3977640"/>
            <a:ext cx="8229600" cy="548640"/>
          </a:xfrm>
          <a:prstGeom prst="rect">
            <a:avLst/>
          </a:prstGeom>
          <a:noFill/>
          <a:ln/>
        </p:spPr>
        <p:txBody>
          <a:bodyPr wrap="square" lIns="0" tIns="0" rIns="0" bIns="0" rtlCol="0" anchor="ctr"/>
          <a:lstStyle/>
          <a:p>
            <a:pPr indent="0" marL="0">
              <a:buNone/>
            </a:pPr>
            <a:r>
              <a:rPr lang="en-US" sz="2200" b="1" i="1" dirty="0">
                <a:solidFill>
                  <a:schemeClr val="accent1"/>
                </a:solidFill>
              </a:rPr>
              <a:t>Defaults are not secure settings.</a:t>
            </a:r>
            <a:endParaRPr lang="en-US" sz="22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0" fill="hold">
                      <p:stCondLst>
                        <p:cond delay="indefinite"/>
                        <p:cond evt="onBegin" delay="0">
                          <p:tn val="2"/>
                        </p:cond>
                      </p:stCondLst>
                      <p:childTnLst>
                        <p:par>
                          <p:cTn id="21" fill="hold">
                            <p:stCondLst>
                              <p:cond delay="0"/>
                            </p:stCondLst>
                            <p:childTnLst>
                              <p:par>
                                <p:cTn id="6" presetID="2" presetClass="entr" presetSubtype="4" fill="hold" grpId="0" nodeType="afterEffect">
                                  <p:stCondLst>
                                    <p:cond delay="0"/>
                                  </p:stCondLst>
                                  <p:childTnLst>
                                    <p:set>
                                      <p:cBhvr>
                                        <p:cTn id="3" dur="1" fill="hold">
                                          <p:stCondLst>
                                            <p:cond delay="0"/>
                                          </p:stCondLst>
                                        </p:cTn>
                                        <p:tgtEl>
                                          <p:spTgt spid="4"/>
                                        </p:tgtEl>
                                        <p:attrNameLst>
                                          <p:attrName>style.visibility</p:attrName>
                                        </p:attrNameLst>
                                      </p:cBhvr>
                                      <p:to>
                                        <p:strVal val="visible"/>
                                      </p:to>
                                    </p:set>
                                    <p:anim calcmode="lin" valueType="num">
                                      <p:cBhvr additive="base">
                                        <p:cTn id="4" dur="450" fill="hold"/>
                                        <p:tgtEl>
                                          <p:spTgt spid="4"/>
                                        </p:tgtEl>
                                        <p:attrNameLst>
                                          <p:attrName>ppt_x</p:attrName>
                                        </p:attrNameLst>
                                      </p:cBhvr>
                                      <p:tavLst>
                                        <p:tav tm="0">
                                          <p:val>
                                            <p:strVal val="#ppt_x"/>
                                          </p:val>
                                        </p:tav>
                                        <p:tav tm="100000">
                                          <p:val>
                                            <p:strVal val="#ppt_x"/>
                                          </p:val>
                                        </p:tav>
                                      </p:tavLst>
                                    </p:anim>
                                    <p:anim calcmode="lin" valueType="num">
                                      <p:cBhvr additive="base">
                                        <p:cTn id="5" dur="450" fill="hold"/>
                                        <p:tgtEl>
                                          <p:spTgt spid="4"/>
                                        </p:tgtEl>
                                        <p:attrNameLst>
                                          <p:attrName>ppt_y</p:attrName>
                                        </p:attrNameLst>
                                      </p:cBhvr>
                                      <p:tavLst>
                                        <p:tav tm="0">
                                          <p:val>
                                            <p:strVal val="1+#ppt_h/2"/>
                                          </p:val>
                                        </p:tav>
                                        <p:tav tm="100000">
                                          <p:val>
                                            <p:strVal val="#ppt_y"/>
                                          </p:val>
                                        </p:tav>
                                      </p:tavLst>
                                    </p:anim>
                                  </p:childTnLst>
                                </p:cTn>
                              </p:par>
                              <p:par>
                                <p:cTn id="10" presetID="2" presetClass="entr" presetSubtype="4" fill="hold" grpId="0" nodeType="withEffect">
                                  <p:stCondLst>
                                    <p:cond delay="200"/>
                                  </p:stCondLst>
                                  <p:childTnLst>
                                    <p:set>
                                      <p:cBhvr>
                                        <p:cTn id="7" dur="1" fill="hold">
                                          <p:stCondLst>
                                            <p:cond delay="0"/>
                                          </p:stCondLst>
                                        </p:cTn>
                                        <p:tgtEl>
                                          <p:spTgt spid="5"/>
                                        </p:tgtEl>
                                        <p:attrNameLst>
                                          <p:attrName>style.visibility</p:attrName>
                                        </p:attrNameLst>
                                      </p:cBhvr>
                                      <p:to>
                                        <p:strVal val="visible"/>
                                      </p:to>
                                    </p:set>
                                    <p:anim calcmode="lin" valueType="num">
                                      <p:cBhvr additive="base">
                                        <p:cTn id="8" dur="450" fill="hold"/>
                                        <p:tgtEl>
                                          <p:spTgt spid="5"/>
                                        </p:tgtEl>
                                        <p:attrNameLst>
                                          <p:attrName>ppt_x</p:attrName>
                                        </p:attrNameLst>
                                      </p:cBhvr>
                                      <p:tavLst>
                                        <p:tav tm="0">
                                          <p:val>
                                            <p:strVal val="#ppt_x"/>
                                          </p:val>
                                        </p:tav>
                                        <p:tav tm="100000">
                                          <p:val>
                                            <p:strVal val="#ppt_x"/>
                                          </p:val>
                                        </p:tav>
                                      </p:tavLst>
                                    </p:anim>
                                    <p:anim calcmode="lin" valueType="num">
                                      <p:cBhvr additive="base">
                                        <p:cTn id="9" dur="450" fill="hold"/>
                                        <p:tgtEl>
                                          <p:spTgt spid="5"/>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40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450" fill="hold"/>
                                        <p:tgtEl>
                                          <p:spTgt spid="6"/>
                                        </p:tgtEl>
                                        <p:attrNameLst>
                                          <p:attrName>ppt_x</p:attrName>
                                        </p:attrNameLst>
                                      </p:cBhvr>
                                      <p:tavLst>
                                        <p:tav tm="0">
                                          <p:val>
                                            <p:strVal val="#ppt_x"/>
                                          </p:val>
                                        </p:tav>
                                        <p:tav tm="100000">
                                          <p:val>
                                            <p:strVal val="#ppt_x"/>
                                          </p:val>
                                        </p:tav>
                                      </p:tavLst>
                                    </p:anim>
                                    <p:anim calcmode="lin" valueType="num">
                                      <p:cBhvr additive="base">
                                        <p:cTn id="13" dur="450" fill="hold"/>
                                        <p:tgtEl>
                                          <p:spTgt spid="6"/>
                                        </p:tgtEl>
                                        <p:attrNameLst>
                                          <p:attrName>ppt_y</p:attrName>
                                        </p:attrNameLst>
                                      </p:cBhvr>
                                      <p:tavLst>
                                        <p:tav tm="0">
                                          <p:val>
                                            <p:strVal val="1+#ppt_h/2"/>
                                          </p:val>
                                        </p:tav>
                                        <p:tav tm="100000">
                                          <p:val>
                                            <p:strVal val="#ppt_y"/>
                                          </p:val>
                                        </p:tav>
                                      </p:tavLst>
                                    </p:anim>
                                  </p:childTnLst>
                                </p:cTn>
                              </p:par>
                              <p:par>
                                <p:cTn id="17"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par>
                                <p:cTn id="19" presetID="0" presetClass="path" presetSubtype="0" fill="hold" nodeType="withEffect">
                                  <p:stCondLst>
                                    <p:cond delay="500"/>
                                  </p:stCondLst>
                                  <p:childTnLst>
                                    <p:animMotion origin="layout" path="M 0 0 L 0.12 0 E" pathEditMode="relative">
                                      <p:cBhvr>
                                        <p:cTn id="18" dur="2600" fill="hold"/>
                                        <p:tgtEl>
                                          <p:spTgt spid="7"/>
                                        </p:tgtEl>
                                        <p:attrNameLst>
                                          <p:attrName>ppt_x</p:attrName>
                                          <p:attrName>ppt_y</p:attrName>
                                        </p:attrNameLst>
                                      </p:cBhvr>
                                      <p:rCtr x="0.06" y="0"/>
                                    </p:animMotion>
                                  </p:childTnLst>
                                </p:cTn>
                              </p:par>
                            </p:childTnLst>
                          </p:cTn>
                        </p:par>
                      </p:childTnLst>
                    </p:cTn>
                  </p:par>
                  <p:par>
                    <p:cTn id="27" fill="hold">
                      <p:stCondLst>
                        <p:cond delay="indefinite"/>
                      </p:stCondLst>
                      <p:childTnLst>
                        <p:par>
                          <p:cTn id="28" fill="hold">
                            <p:stCondLst>
                              <p:cond delay="0"/>
                            </p:stCondLst>
                            <p:childTnLst>
                              <p:par>
                                <p:cTn id="26" presetID="53" presetClass="entr" presetSubtype="16"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450" fill="hold"/>
                                        <p:tgtEl>
                                          <p:spTgt spid="8"/>
                                        </p:tgtEl>
                                        <p:attrNameLst>
                                          <p:attrName>ppt_w</p:attrName>
                                        </p:attrNameLst>
                                      </p:cBhvr>
                                      <p:tavLst>
                                        <p:tav tm="0">
                                          <p:val>
                                            <p:fltVal val="0"/>
                                          </p:val>
                                        </p:tav>
                                        <p:tav tm="100000">
                                          <p:val>
                                            <p:strVal val="#ppt_w"/>
                                          </p:val>
                                        </p:tav>
                                      </p:tavLst>
                                    </p:anim>
                                    <p:anim calcmode="lin" valueType="num">
                                      <p:cBhvr additive="base">
                                        <p:cTn id="24" dur="450" fill="hold"/>
                                        <p:tgtEl>
                                          <p:spTgt spid="8"/>
                                        </p:tgtEl>
                                        <p:attrNameLst>
                                          <p:attrName>ppt_h</p:attrName>
                                        </p:attrNameLst>
                                      </p:cBhvr>
                                      <p:tavLst>
                                        <p:tav tm="0">
                                          <p:val>
                                            <p:fltVal val="0"/>
                                          </p:val>
                                        </p:tav>
                                        <p:tav tm="100000">
                                          <p:val>
                                            <p:strVal val="#ppt_h"/>
                                          </p:val>
                                        </p:tav>
                                      </p:tavLst>
                                    </p:anim>
                                    <p:animEffect transition="in" filter="fade">
                                      <p:cBhvr>
                                        <p:cTn id="25" dur="450"/>
                                        <p:tgtEl>
                                          <p:spTgt spid="8"/>
                                        </p:tgtEl>
                                      </p:cBhvr>
                                    </p:animEffect>
                                  </p:childTnLst>
                                </p:cTn>
                              </p:par>
                            </p:childTnLst>
                          </p:cTn>
                        </p:par>
                      </p:childTnLst>
                    </p:cTn>
                  </p:par>
                  <p:par>
                    <p:cTn id="34" fill="hold">
                      <p:stCondLst>
                        <p:cond delay="indefinite"/>
                      </p:stCondLst>
                      <p:childTnLst>
                        <p:par>
                          <p:cTn id="35" fill="hold">
                            <p:stCondLst>
                              <p:cond delay="0"/>
                            </p:stCondLst>
                            <p:childTnLst>
                              <p:par>
                                <p:cTn id="33" presetID="53" presetClass="entr" presetSubtype="16"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450" fill="hold"/>
                                        <p:tgtEl>
                                          <p:spTgt spid="9"/>
                                        </p:tgtEl>
                                        <p:attrNameLst>
                                          <p:attrName>ppt_w</p:attrName>
                                        </p:attrNameLst>
                                      </p:cBhvr>
                                      <p:tavLst>
                                        <p:tav tm="0">
                                          <p:val>
                                            <p:fltVal val="0"/>
                                          </p:val>
                                        </p:tav>
                                        <p:tav tm="100000">
                                          <p:val>
                                            <p:strVal val="#ppt_w"/>
                                          </p:val>
                                        </p:tav>
                                      </p:tavLst>
                                    </p:anim>
                                    <p:anim calcmode="lin" valueType="num">
                                      <p:cBhvr additive="base">
                                        <p:cTn id="31" dur="450" fill="hold"/>
                                        <p:tgtEl>
                                          <p:spTgt spid="9"/>
                                        </p:tgtEl>
                                        <p:attrNameLst>
                                          <p:attrName>ppt_h</p:attrName>
                                        </p:attrNameLst>
                                      </p:cBhvr>
                                      <p:tavLst>
                                        <p:tav tm="0">
                                          <p:val>
                                            <p:fltVal val="0"/>
                                          </p:val>
                                        </p:tav>
                                        <p:tav tm="100000">
                                          <p:val>
                                            <p:strVal val="#ppt_h"/>
                                          </p:val>
                                        </p:tav>
                                      </p:tavLst>
                                    </p:anim>
                                    <p:animEffect transition="in" filter="fade">
                                      <p:cBhvr>
                                        <p:cTn id="32" dur="450"/>
                                        <p:tgtEl>
                                          <p:spTgt spid="9"/>
                                        </p:tgtEl>
                                      </p:cBhvr>
                                    </p:animEffect>
                                  </p:childTnLst>
                                </p:cTn>
                              </p:par>
                            </p:childTnLst>
                          </p:cTn>
                        </p:par>
                      </p:childTnLst>
                    </p:cTn>
                  </p:par>
                  <p:par>
                    <p:cTn id="51" fill="hold">
                      <p:stCondLst>
                        <p:cond delay="indefinite"/>
                      </p:stCondLst>
                      <p:childTnLst>
                        <p:par>
                          <p:cTn id="52" fill="hold">
                            <p:stCondLst>
                              <p:cond delay="0"/>
                            </p:stCondLst>
                            <p:childTnLst>
                              <p:par>
                                <p:cTn id="40" presetID="53" presetClass="entr" presetSubtype="16"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450" fill="hold"/>
                                        <p:tgtEl>
                                          <p:spTgt spid="10"/>
                                        </p:tgtEl>
                                        <p:attrNameLst>
                                          <p:attrName>ppt_w</p:attrName>
                                        </p:attrNameLst>
                                      </p:cBhvr>
                                      <p:tavLst>
                                        <p:tav tm="0">
                                          <p:val>
                                            <p:fltVal val="0"/>
                                          </p:val>
                                        </p:tav>
                                        <p:tav tm="100000">
                                          <p:val>
                                            <p:strVal val="#ppt_w"/>
                                          </p:val>
                                        </p:tav>
                                      </p:tavLst>
                                    </p:anim>
                                    <p:anim calcmode="lin" valueType="num">
                                      <p:cBhvr additive="base">
                                        <p:cTn id="38" dur="450" fill="hold"/>
                                        <p:tgtEl>
                                          <p:spTgt spid="10"/>
                                        </p:tgtEl>
                                        <p:attrNameLst>
                                          <p:attrName>ppt_h</p:attrName>
                                        </p:attrNameLst>
                                      </p:cBhvr>
                                      <p:tavLst>
                                        <p:tav tm="0">
                                          <p:val>
                                            <p:fltVal val="0"/>
                                          </p:val>
                                        </p:tav>
                                        <p:tav tm="100000">
                                          <p:val>
                                            <p:strVal val="#ppt_h"/>
                                          </p:val>
                                        </p:tav>
                                      </p:tavLst>
                                    </p:anim>
                                    <p:animEffect transition="in" filter="fade">
                                      <p:cBhvr>
                                        <p:cTn id="39" dur="450"/>
                                        <p:tgtEl>
                                          <p:spTgt spid="10"/>
                                        </p:tgtEl>
                                      </p:cBhvr>
                                    </p:animEffect>
                                  </p:childTnLst>
                                </p:cTn>
                              </p:par>
                              <p:par>
                                <p:cTn id="45" presetID="53" presetClass="entr" presetSubtype="16" fill="hold" grpId="0" nodeType="withEffect">
                                  <p:stCondLst>
                                    <p:cond delay="25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350" fill="hold"/>
                                        <p:tgtEl>
                                          <p:spTgt spid="12"/>
                                        </p:tgtEl>
                                        <p:attrNameLst>
                                          <p:attrName>ppt_w</p:attrName>
                                        </p:attrNameLst>
                                      </p:cBhvr>
                                      <p:tavLst>
                                        <p:tav tm="0">
                                          <p:val>
                                            <p:fltVal val="0"/>
                                          </p:val>
                                        </p:tav>
                                        <p:tav tm="100000">
                                          <p:val>
                                            <p:strVal val="#ppt_w"/>
                                          </p:val>
                                        </p:tav>
                                      </p:tavLst>
                                    </p:anim>
                                    <p:anim calcmode="lin" valueType="num">
                                      <p:cBhvr additive="base">
                                        <p:cTn id="43" dur="350" fill="hold"/>
                                        <p:tgtEl>
                                          <p:spTgt spid="12"/>
                                        </p:tgtEl>
                                        <p:attrNameLst>
                                          <p:attrName>ppt_h</p:attrName>
                                        </p:attrNameLst>
                                      </p:cBhvr>
                                      <p:tavLst>
                                        <p:tav tm="0">
                                          <p:val>
                                            <p:fltVal val="0"/>
                                          </p:val>
                                        </p:tav>
                                        <p:tav tm="100000">
                                          <p:val>
                                            <p:strVal val="#ppt_h"/>
                                          </p:val>
                                        </p:tav>
                                      </p:tavLst>
                                    </p:anim>
                                    <p:animEffect transition="in" filter="fade">
                                      <p:cBhvr>
                                        <p:cTn id="44" dur="350"/>
                                        <p:tgtEl>
                                          <p:spTgt spid="12"/>
                                        </p:tgtEl>
                                      </p:cBhvr>
                                    </p:animEffect>
                                  </p:childTnLst>
                                </p:cTn>
                              </p:par>
                              <p:par>
                                <p:cTn id="48" presetID="10" presetClass="entr" presetSubtype="0" fill="hold" nodeType="withEffect">
                                  <p:stCondLst>
                                    <p:cond delay="25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350"/>
                                        <p:tgtEl>
                                          <p:spTgt spid="13"/>
                                        </p:tgtEl>
                                      </p:cBhvr>
                                    </p:animEffect>
                                  </p:childTnLst>
                                </p:cTn>
                              </p:par>
                              <p:par>
                                <p:cTn id="50" presetID="0" presetClass="path" presetSubtype="0" fill="hold" nodeType="withEffect">
                                  <p:stCondLst>
                                    <p:cond delay="700"/>
                                  </p:stCondLst>
                                  <p:childTnLst>
                                    <p:animMotion origin="layout" path="M 0 0 L 0.07 0 E" pathEditMode="relative">
                                      <p:cBhvr>
                                        <p:cTn id="49" dur="2500" fill="hold"/>
                                        <p:tgtEl>
                                          <p:spTgt spid="13"/>
                                        </p:tgtEl>
                                        <p:attrNameLst>
                                          <p:attrName>ppt_x</p:attrName>
                                          <p:attrName>ppt_y</p:attrName>
                                        </p:attrNameLst>
                                      </p:cBhvr>
                                      <p:rCtr x="0.035" y="0"/>
                                    </p:animMotion>
                                  </p:childTnLst>
                                </p:cTn>
                              </p:par>
                            </p:childTnLst>
                          </p:cTn>
                        </p:par>
                      </p:childTnLst>
                    </p:cTn>
                  </p:par>
                  <p:par>
                    <p:cTn id="58" fill="hold">
                      <p:stCondLst>
                        <p:cond delay="indefinite"/>
                      </p:stCondLst>
                      <p:childTnLst>
                        <p:par>
                          <p:cTn id="59" fill="hold">
                            <p:stCondLst>
                              <p:cond delay="0"/>
                            </p:stCondLst>
                            <p:childTnLst>
                              <p:par>
                                <p:cTn id="57" presetID="53" presetClass="entr" presetSubtype="16"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 calcmode="lin" valueType="num">
                                      <p:cBhvr additive="base">
                                        <p:cTn id="54" dur="450" fill="hold"/>
                                        <p:tgtEl>
                                          <p:spTgt spid="11"/>
                                        </p:tgtEl>
                                        <p:attrNameLst>
                                          <p:attrName>ppt_w</p:attrName>
                                        </p:attrNameLst>
                                      </p:cBhvr>
                                      <p:tavLst>
                                        <p:tav tm="0">
                                          <p:val>
                                            <p:fltVal val="0"/>
                                          </p:val>
                                        </p:tav>
                                        <p:tav tm="100000">
                                          <p:val>
                                            <p:strVal val="#ppt_w"/>
                                          </p:val>
                                        </p:tav>
                                      </p:tavLst>
                                    </p:anim>
                                    <p:anim calcmode="lin" valueType="num">
                                      <p:cBhvr additive="base">
                                        <p:cTn id="55" dur="450" fill="hold"/>
                                        <p:tgtEl>
                                          <p:spTgt spid="11"/>
                                        </p:tgtEl>
                                        <p:attrNameLst>
                                          <p:attrName>ppt_h</p:attrName>
                                        </p:attrNameLst>
                                      </p:cBhvr>
                                      <p:tavLst>
                                        <p:tav tm="0">
                                          <p:val>
                                            <p:fltVal val="0"/>
                                          </p:val>
                                        </p:tav>
                                        <p:tav tm="100000">
                                          <p:val>
                                            <p:strVal val="#ppt_h"/>
                                          </p:val>
                                        </p:tav>
                                      </p:tavLst>
                                    </p:anim>
                                    <p:animEffect transition="in" filter="fade">
                                      <p:cBhvr>
                                        <p:cTn id="56" dur="450"/>
                                        <p:tgtEl>
                                          <p:spTgt spid="11"/>
                                        </p:tgtEl>
                                      </p:cBhvr>
                                    </p:animEffect>
                                  </p:childTnLst>
                                </p:cTn>
                              </p:par>
                            </p:childTnLst>
                          </p:cTn>
                        </p:par>
                      </p:childTnLst>
                    </p:cTn>
                  </p:par>
                  <p:par>
                    <p:cTn id="65" fill="hold">
                      <p:stCondLst>
                        <p:cond delay="indefinite"/>
                      </p:stCondLst>
                      <p:childTnLst>
                        <p:par>
                          <p:cTn id="66"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p:tgtEl>
                                          <p:spTgt spid="14"/>
                                        </p:tgtEl>
                                        <p:attrNameLst>
                                          <p:attrName>ppt_w</p:attrName>
                                        </p:attrNameLst>
                                      </p:cBhvr>
                                      <p:tavLst>
                                        <p:tav tm="0">
                                          <p:val>
                                            <p:fltVal val="0"/>
                                          </p:val>
                                        </p:tav>
                                        <p:tav tm="100000">
                                          <p:val>
                                            <p:strVal val="#ppt_w"/>
                                          </p:val>
                                        </p:tav>
                                      </p:tavLst>
                                    </p:anim>
                                    <p:anim calcmode="lin" valueType="num">
                                      <p:cBhvr additive="base">
                                        <p:cTn id="62" dur="500" fill="hold"/>
                                        <p:tgtEl>
                                          <p:spTgt spid="14"/>
                                        </p:tgtEl>
                                        <p:attrNameLst>
                                          <p:attrName>ppt_h</p:attrName>
                                        </p:attrNameLst>
                                      </p:cBhvr>
                                      <p:tavLst>
                                        <p:tav tm="0">
                                          <p:val>
                                            <p:fltVal val="0"/>
                                          </p:val>
                                        </p:tav>
                                        <p:tav tm="100000">
                                          <p:val>
                                            <p:strVal val="#ppt_h"/>
                                          </p:val>
                                        </p:tav>
                                      </p:tavLst>
                                    </p:anim>
                                    <p:animEffect transition="in" filter="fade">
                                      <p:cBhvr>
                                        <p:cTn id="6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2" grpId="0" animBg="1"/>
      <p:bldP spid="11"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A02 · Security Misconfiguration: the fix</a:t>
            </a:r>
            <a:endParaRPr lang="en-US" sz="3000" dirty="0"/>
          </a:p>
        </p:txBody>
      </p:sp>
      <p:pic>
        <p:nvPicPr>
          <p:cNvPr id="4" name="Mascot" descr="Mascot cartoon">    </p:cNvPr>
          <p:cNvPicPr>
            <a:picLocks noChangeAspect="1"/>
          </p:cNvPicPr>
          <p:nvPr/>
        </p:nvPicPr>
        <p:blipFill>
          <a:blip r:embed="rId1"/>
          <a:stretch>
            <a:fillRect/>
          </a:stretch>
        </p:blipFill>
        <p:spPr>
          <a:xfrm>
            <a:off x="640080" y="1097280"/>
            <a:ext cx="1737360" cy="1737360"/>
          </a:xfrm>
          <a:prstGeom prst="rect">
            <a:avLst/>
          </a:prstGeom>
        </p:spPr>
      </p:pic>
      <p:sp>
        <p:nvSpPr>
          <p:cNvPr id="5" name="Stop sign"/>
          <p:cNvSpPr txBox="1"/>
          <p:nvPr/>
        </p:nvSpPr>
        <p:spPr>
          <a:xfrm>
            <a:off x="2377440" y="3063240"/>
            <a:ext cx="777240" cy="777240"/>
          </a:xfrm>
          <a:prstGeom prst="octagon">
            <a:avLst/>
          </a:prstGeom>
          <a:solidFill>
            <a:schemeClr val="accent2"/>
          </a:solidFill>
          <a:ln/>
        </p:spPr>
        <p:txBody>
          <a:bodyPr wrap="square" lIns="0" tIns="0" rIns="0" bIns="0" rtlCol="0" anchor="ctr"/>
          <a:lstStyle/>
          <a:p>
            <a:pPr algn="ctr" indent="0" marL="0">
              <a:buNone/>
            </a:pPr>
            <a:r>
              <a:rPr lang="en-US" sz="1300" b="1" dirty="0">
                <a:solidFill>
                  <a:srgbClr val="FFFFFF"/>
                </a:solidFill>
              </a:rPr>
              <a:t>STOP</a:t>
            </a:r>
            <a:endParaRPr lang="en-US" sz="1300" dirty="0"/>
          </a:p>
        </p:txBody>
      </p:sp>
      <p:pic>
        <p:nvPicPr>
          <p:cNvPr id="6" name="Hacker" descr="Hacker cartoon">    </p:cNvPr>
          <p:cNvPicPr>
            <a:picLocks noChangeAspect="1"/>
          </p:cNvPicPr>
          <p:nvPr/>
        </p:nvPicPr>
        <p:blipFill>
          <a:blip r:embed="rId2"/>
          <a:stretch>
            <a:fillRect/>
          </a:stretch>
        </p:blipFill>
        <p:spPr>
          <a:xfrm>
            <a:off x="274320" y="2834640"/>
            <a:ext cx="1188720" cy="1188720"/>
          </a:xfrm>
          <a:prstGeom prst="rect">
            <a:avLst/>
          </a:prstGeom>
        </p:spPr>
      </p:pic>
      <p:sp>
        <p:nvSpPr>
          <p:cNvPr id="7" name="Rule 0"/>
          <p:cNvSpPr txBox="1"/>
          <p:nvPr/>
        </p:nvSpPr>
        <p:spPr>
          <a:xfrm>
            <a:off x="3383280" y="1143000"/>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Separate dev from prod</a:t>
            </a:r>
            <a:endParaRPr lang="en-US" sz="1400" dirty="0"/>
          </a:p>
          <a:p>
            <a:pPr algn="l" indent="0" marL="0">
              <a:buNone/>
            </a:pPr>
            <a:r>
              <a:rPr lang="en-US" sz="1200" dirty="0">
                <a:solidFill>
                  <a:schemeClr val="tx1"/>
                </a:solidFill>
              </a:rPr>
              <a:t>ASPNETCORE_ENVIRONMENT=Production on IIS. Swagger and developer pages off.</a:t>
            </a:r>
            <a:endParaRPr lang="en-US" sz="1400" dirty="0"/>
          </a:p>
        </p:txBody>
      </p:sp>
      <p:sp>
        <p:nvSpPr>
          <p:cNvPr id="8" name="Rule num 0"/>
          <p:cNvSpPr txBox="1"/>
          <p:nvPr/>
        </p:nvSpPr>
        <p:spPr>
          <a:xfrm>
            <a:off x="3493008" y="1271016"/>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Rule 1"/>
          <p:cNvSpPr txBox="1"/>
          <p:nvPr/>
        </p:nvSpPr>
        <p:spPr>
          <a:xfrm>
            <a:off x="3383280" y="1892808"/>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Nothing secret in the browser</a:t>
            </a:r>
            <a:endParaRPr lang="en-US" sz="1400" dirty="0"/>
          </a:p>
          <a:p>
            <a:pPr algn="l" indent="0" marL="0">
              <a:buNone/>
            </a:pPr>
            <a:r>
              <a:rPr lang="en-US" sz="1200" dirty="0">
                <a:solidFill>
                  <a:schemeClr val="tx1"/>
                </a:solidFill>
              </a:rPr>
              <a:t>environment.ts is public. Keep keys and passwords in a server secret store.</a:t>
            </a:r>
            <a:endParaRPr lang="en-US" sz="1400" dirty="0"/>
          </a:p>
        </p:txBody>
      </p:sp>
      <p:sp>
        <p:nvSpPr>
          <p:cNvPr id="10" name="Rule num 1"/>
          <p:cNvSpPr txBox="1"/>
          <p:nvPr/>
        </p:nvSpPr>
        <p:spPr>
          <a:xfrm>
            <a:off x="3493008" y="2020824"/>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Rule 2"/>
          <p:cNvSpPr txBox="1"/>
          <p:nvPr/>
        </p:nvSpPr>
        <p:spPr>
          <a:xfrm>
            <a:off x="3383280" y="2642616"/>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Harden headers and CORS</a:t>
            </a:r>
            <a:endParaRPr lang="en-US" sz="1400" dirty="0"/>
          </a:p>
          <a:p>
            <a:pPr algn="l" indent="0" marL="0">
              <a:buNone/>
            </a:pPr>
            <a:r>
              <a:rPr lang="en-US" sz="1200" dirty="0">
                <a:solidFill>
                  <a:schemeClr val="tx1"/>
                </a:solidFill>
              </a:rPr>
              <a:t>WithOrigins(allowed), CSP, HSTS, hide the Server header, no source maps.</a:t>
            </a:r>
            <a:endParaRPr lang="en-US" sz="1400" dirty="0"/>
          </a:p>
        </p:txBody>
      </p:sp>
      <p:sp>
        <p:nvSpPr>
          <p:cNvPr id="12" name="Rule num 2"/>
          <p:cNvSpPr txBox="1"/>
          <p:nvPr/>
        </p:nvSpPr>
        <p:spPr>
          <a:xfrm>
            <a:off x="3493008" y="2770632"/>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Chip NG"/>
          <p:cNvSpPr txBox="1"/>
          <p:nvPr/>
        </p:nvSpPr>
        <p:spPr>
          <a:xfrm>
            <a:off x="3383280" y="3429000"/>
            <a:ext cx="2606040" cy="804672"/>
          </a:xfrm>
          <a:prstGeom prst="roundRect">
            <a:avLst>
              <a:gd name="adj" fmla="val 11364"/>
            </a:avLst>
          </a:prstGeom>
          <a:solidFill>
            <a:schemeClr val="accent5">
              <a:alpha val="12000"/>
            </a:schemeClr>
          </a:solidFill>
          <a:ln w="12700">
            <a:solidFill>
              <a:schemeClr val="accent5"/>
            </a:solidFill>
          </a:ln>
        </p:spPr>
        <p:txBody>
          <a:bodyPr wrap="square" lIns="127000" tIns="25400" rIns="101600" bIns="25400" rtlCol="0" anchor="ctr"/>
          <a:lstStyle/>
          <a:p>
            <a:pPr algn="l" indent="0" marL="0">
              <a:buNone/>
            </a:pPr>
            <a:r>
              <a:rPr lang="en-US" sz="1100" b="1" spc="200" kern="0" dirty="0">
                <a:solidFill>
                  <a:schemeClr val="accent5"/>
                </a:solidFill>
              </a:rPr>
              <a:t>IN ANGULAR</a:t>
            </a:r>
            <a:endParaRPr lang="en-US" sz="1100" dirty="0"/>
          </a:p>
          <a:p>
            <a:pPr algn="l" indent="0" marL="0">
              <a:buNone/>
            </a:pPr>
            <a:r>
              <a:rPr lang="en-US" sz="1200" dirty="0">
                <a:solidFill>
                  <a:schemeClr val="tx1"/>
                </a:solidFill>
              </a:rPr>
              <a:t>ng build --configuration production, source maps off.</a:t>
            </a:r>
            <a:endParaRPr lang="en-US" sz="1100" dirty="0"/>
          </a:p>
        </p:txBody>
      </p:sp>
      <p:sp>
        <p:nvSpPr>
          <p:cNvPr id="14" name="Chip NET"/>
          <p:cNvSpPr txBox="1"/>
          <p:nvPr/>
        </p:nvSpPr>
        <p:spPr>
          <a:xfrm>
            <a:off x="6080760" y="3429000"/>
            <a:ext cx="2606040" cy="804672"/>
          </a:xfrm>
          <a:prstGeom prst="roundRect">
            <a:avLst>
              <a:gd name="adj" fmla="val 11364"/>
            </a:avLst>
          </a:prstGeom>
          <a:solidFill>
            <a:schemeClr val="accent6">
              <a:alpha val="12000"/>
            </a:schemeClr>
          </a:solidFill>
          <a:ln w="12700">
            <a:solidFill>
              <a:schemeClr val="accent6"/>
            </a:solidFill>
          </a:ln>
        </p:spPr>
        <p:txBody>
          <a:bodyPr wrap="square" lIns="127000" tIns="25400" rIns="101600" bIns="25400" rtlCol="0" anchor="ctr"/>
          <a:lstStyle/>
          <a:p>
            <a:pPr algn="l" indent="0" marL="0">
              <a:buNone/>
            </a:pPr>
            <a:r>
              <a:rPr lang="en-US" sz="1100" b="1" spc="200" kern="0" dirty="0">
                <a:solidFill>
                  <a:schemeClr val="accent6"/>
                </a:solidFill>
              </a:rPr>
              <a:t>IN .NET CORE</a:t>
            </a:r>
            <a:endParaRPr lang="en-US" sz="1100" dirty="0"/>
          </a:p>
          <a:p>
            <a:pPr algn="l" indent="0" marL="0">
              <a:buNone/>
            </a:pPr>
            <a:r>
              <a:rPr lang="en-US" sz="1200" dirty="0">
                <a:solidFill>
                  <a:schemeClr val="tx1"/>
                </a:solidFill>
              </a:rPr>
              <a:t>UseExceptionHandler, Swagger only if env.IsDevelopment().</a:t>
            </a:r>
            <a:endParaRPr lang="en-US" sz="1100" dirty="0"/>
          </a:p>
        </p:txBody>
      </p:sp>
      <p:sp>
        <p:nvSpPr>
          <p:cNvPr id="15" name="Takeaway"/>
          <p:cNvSpPr txBox="1"/>
          <p:nvPr/>
        </p:nvSpPr>
        <p:spPr>
          <a:xfrm>
            <a:off x="457200" y="4279392"/>
            <a:ext cx="4754880" cy="411480"/>
          </a:xfrm>
          <a:prstGeom prst="rect">
            <a:avLst/>
          </a:prstGeom>
          <a:noFill/>
          <a:ln/>
        </p:spPr>
        <p:txBody>
          <a:bodyPr wrap="square" lIns="0" tIns="0" rIns="0" bIns="0" rtlCol="0" anchor="ctr"/>
          <a:lstStyle/>
          <a:p>
            <a:pPr indent="0" marL="0">
              <a:buNone/>
            </a:pPr>
            <a:r>
              <a:rPr lang="en-US" sz="1600" b="1" dirty="0">
                <a:solidFill>
                  <a:schemeClr val="accent1"/>
                </a:solidFill>
              </a:rPr>
              <a:t>Review configuration like code.</a:t>
            </a:r>
            <a:endParaRPr lang="en-US" sz="16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cond evt="onBegin" delay="0">
                          <p:tn val="2"/>
                        </p:cond>
                      </p:stCondLst>
                      <p:childTnLst>
                        <p:par>
                          <p:cTn id="19"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5"/>
                                        </p:tgtEl>
                                        <p:attrNameLst>
                                          <p:attrName>style.visibility</p:attrName>
                                        </p:attrNameLst>
                                      </p:cBhvr>
                                      <p:to>
                                        <p:strVal val="visible"/>
                                      </p:to>
                                    </p:set>
                                    <p:anim calcmode="lin" valueType="num">
                                      <p:cBhvr additive="base">
                                        <p:cTn id="4" dur="400" fill="hold"/>
                                        <p:tgtEl>
                                          <p:spTgt spid="5"/>
                                        </p:tgtEl>
                                        <p:attrNameLst>
                                          <p:attrName>ppt_w</p:attrName>
                                        </p:attrNameLst>
                                      </p:cBhvr>
                                      <p:tavLst>
                                        <p:tav tm="0">
                                          <p:val>
                                            <p:fltVal val="0"/>
                                          </p:val>
                                        </p:tav>
                                        <p:tav tm="100000">
                                          <p:val>
                                            <p:strVal val="#ppt_w"/>
                                          </p:val>
                                        </p:tav>
                                      </p:tavLst>
                                    </p:anim>
                                    <p:anim calcmode="lin" valueType="num">
                                      <p:cBhvr additive="base">
                                        <p:cTn id="5" dur="400" fill="hold"/>
                                        <p:tgtEl>
                                          <p:spTgt spid="5"/>
                                        </p:tgtEl>
                                        <p:attrNameLst>
                                          <p:attrName>ppt_h</p:attrName>
                                        </p:attrNameLst>
                                      </p:cBhvr>
                                      <p:tavLst>
                                        <p:tav tm="0">
                                          <p:val>
                                            <p:fltVal val="0"/>
                                          </p:val>
                                        </p:tav>
                                        <p:tav tm="100000">
                                          <p:val>
                                            <p:strVal val="#ppt_h"/>
                                          </p:val>
                                        </p:tav>
                                      </p:tavLst>
                                    </p:anim>
                                    <p:animEffect transition="in" filter="fade">
                                      <p:cBhvr>
                                        <p:cTn id="6" dur="400"/>
                                        <p:tgtEl>
                                          <p:spTgt spid="5"/>
                                        </p:tgtEl>
                                      </p:cBhvr>
                                    </p:animEffect>
                                  </p:childTnLst>
                                </p:cTn>
                              </p:par>
                              <p:par>
                                <p:cTn id="10" presetID="10" presetClass="entr" presetSubtype="0" fill="hold" nodeType="withEffect">
                                  <p:stCondLst>
                                    <p:cond delay="20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300"/>
                                        <p:tgtEl>
                                          <p:spTgt spid="6"/>
                                        </p:tgtEl>
                                      </p:cBhvr>
                                    </p:animEffect>
                                  </p:childTnLst>
                                </p:cTn>
                              </p:par>
                              <p:par>
                                <p:cTn id="12" presetID="0" presetClass="path" presetSubtype="0" fill="hold" nodeType="withEffect">
                                  <p:stCondLst>
                                    <p:cond delay="600"/>
                                  </p:stCondLst>
                                  <p:childTnLst>
                                    <p:animMotion origin="layout" path="M 0 0 L 0.1 0 E" pathEditMode="relative">
                                      <p:cBhvr>
                                        <p:cTn id="11" dur="2400" fill="hold"/>
                                        <p:tgtEl>
                                          <p:spTgt spid="6"/>
                                        </p:tgtEl>
                                        <p:attrNameLst>
                                          <p:attrName>ppt_x</p:attrName>
                                          <p:attrName>ppt_y</p:attrName>
                                        </p:attrNameLst>
                                      </p:cBhvr>
                                      <p:rCtr x="0.05" y="0"/>
                                    </p:animMotion>
                                  </p:childTnLst>
                                </p:cTn>
                              </p:par>
                              <p:par>
                                <p:cTn id="17" presetID="53" presetClass="entr" presetSubtype="16" fill="hold" nodeType="withEffect">
                                  <p:stCondLst>
                                    <p:cond delay="300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ppt_w</p:attrName>
                                        </p:attrNameLst>
                                      </p:cBhvr>
                                      <p:tavLst>
                                        <p:tav tm="0">
                                          <p:val>
                                            <p:fltVal val="0"/>
                                          </p:val>
                                        </p:tav>
                                        <p:tav tm="100000">
                                          <p:val>
                                            <p:strVal val="#ppt_w"/>
                                          </p:val>
                                        </p:tav>
                                      </p:tavLst>
                                    </p:anim>
                                    <p:anim calcmode="lin" valueType="num">
                                      <p:cBhvr additive="base">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23" presetID="2" presetClass="entr" presetSubtype="2"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450" fill="hold"/>
                                        <p:tgtEl>
                                          <p:spTgt spid="7"/>
                                        </p:tgtEl>
                                        <p:attrNameLst>
                                          <p:attrName>ppt_x</p:attrName>
                                        </p:attrNameLst>
                                      </p:cBhvr>
                                      <p:tavLst>
                                        <p:tav tm="0">
                                          <p:val>
                                            <p:strVal val="1+#ppt_w/2"/>
                                          </p:val>
                                        </p:tav>
                                        <p:tav tm="100000">
                                          <p:val>
                                            <p:strVal val="#ppt_x"/>
                                          </p:val>
                                        </p:tav>
                                      </p:tavLst>
                                    </p:anim>
                                    <p:anim calcmode="lin" valueType="num">
                                      <p:cBhvr additive="base">
                                        <p:cTn id="22" dur="450" fill="hold"/>
                                        <p:tgtEl>
                                          <p:spTgt spid="7"/>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450" fill="hold"/>
                                        <p:tgtEl>
                                          <p:spTgt spid="8"/>
                                        </p:tgtEl>
                                        <p:attrNameLst>
                                          <p:attrName>ppt_x</p:attrName>
                                        </p:attrNameLst>
                                      </p:cBhvr>
                                      <p:tavLst>
                                        <p:tav tm="0">
                                          <p:val>
                                            <p:strVal val="1+#ppt_w/2"/>
                                          </p:val>
                                        </p:tav>
                                        <p:tav tm="100000">
                                          <p:val>
                                            <p:strVal val="#ppt_x"/>
                                          </p:val>
                                        </p:tav>
                                      </p:tavLst>
                                    </p:anim>
                                    <p:anim calcmode="lin" valueType="num">
                                      <p:cBhvr additive="base">
                                        <p:cTn id="26" dur="45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33" presetID="2" presetClass="entr" presetSubtype="2"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450" fill="hold"/>
                                        <p:tgtEl>
                                          <p:spTgt spid="9"/>
                                        </p:tgtEl>
                                        <p:attrNameLst>
                                          <p:attrName>ppt_x</p:attrName>
                                        </p:attrNameLst>
                                      </p:cBhvr>
                                      <p:tavLst>
                                        <p:tav tm="0">
                                          <p:val>
                                            <p:strVal val="1+#ppt_w/2"/>
                                          </p:val>
                                        </p:tav>
                                        <p:tav tm="100000">
                                          <p:val>
                                            <p:strVal val="#ppt_x"/>
                                          </p:val>
                                        </p:tav>
                                      </p:tavLst>
                                    </p:anim>
                                    <p:anim calcmode="lin" valueType="num">
                                      <p:cBhvr additive="base">
                                        <p:cTn id="32" dur="450" fill="hold"/>
                                        <p:tgtEl>
                                          <p:spTgt spid="9"/>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450" fill="hold"/>
                                        <p:tgtEl>
                                          <p:spTgt spid="10"/>
                                        </p:tgtEl>
                                        <p:attrNameLst>
                                          <p:attrName>ppt_x</p:attrName>
                                        </p:attrNameLst>
                                      </p:cBhvr>
                                      <p:tavLst>
                                        <p:tav tm="0">
                                          <p:val>
                                            <p:strVal val="1+#ppt_w/2"/>
                                          </p:val>
                                        </p:tav>
                                        <p:tav tm="100000">
                                          <p:val>
                                            <p:strVal val="#ppt_x"/>
                                          </p:val>
                                        </p:tav>
                                      </p:tavLst>
                                    </p:anim>
                                    <p:anim calcmode="lin" valueType="num">
                                      <p:cBhvr additive="base">
                                        <p:cTn id="36" dur="45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3" presetID="2" presetClass="entr" presetSubtype="2"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450" fill="hold"/>
                                        <p:tgtEl>
                                          <p:spTgt spid="11"/>
                                        </p:tgtEl>
                                        <p:attrNameLst>
                                          <p:attrName>ppt_x</p:attrName>
                                        </p:attrNameLst>
                                      </p:cBhvr>
                                      <p:tavLst>
                                        <p:tav tm="0">
                                          <p:val>
                                            <p:strVal val="1+#ppt_w/2"/>
                                          </p:val>
                                        </p:tav>
                                        <p:tav tm="100000">
                                          <p:val>
                                            <p:strVal val="#ppt_x"/>
                                          </p:val>
                                        </p:tav>
                                      </p:tavLst>
                                    </p:anim>
                                    <p:anim calcmode="lin" valueType="num">
                                      <p:cBhvr additive="base">
                                        <p:cTn id="42" dur="450" fill="hold"/>
                                        <p:tgtEl>
                                          <p:spTgt spid="11"/>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450" fill="hold"/>
                                        <p:tgtEl>
                                          <p:spTgt spid="12"/>
                                        </p:tgtEl>
                                        <p:attrNameLst>
                                          <p:attrName>ppt_x</p:attrName>
                                        </p:attrNameLst>
                                      </p:cBhvr>
                                      <p:tavLst>
                                        <p:tav tm="0">
                                          <p:val>
                                            <p:strVal val="1+#ppt_w/2"/>
                                          </p:val>
                                        </p:tav>
                                        <p:tav tm="100000">
                                          <p:val>
                                            <p:strVal val="#ppt_x"/>
                                          </p:val>
                                        </p:tav>
                                      </p:tavLst>
                                    </p:anim>
                                    <p:anim calcmode="lin" valueType="num">
                                      <p:cBhvr additive="base">
                                        <p:cTn id="46" dur="45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53" presetID="2" presetClass="entr" presetSubtype="4"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450" fill="hold"/>
                                        <p:tgtEl>
                                          <p:spTgt spid="13"/>
                                        </p:tgtEl>
                                        <p:attrNameLst>
                                          <p:attrName>ppt_x</p:attrName>
                                        </p:attrNameLst>
                                      </p:cBhvr>
                                      <p:tavLst>
                                        <p:tav tm="0">
                                          <p:val>
                                            <p:strVal val="#ppt_x"/>
                                          </p:val>
                                        </p:tav>
                                        <p:tav tm="100000">
                                          <p:val>
                                            <p:strVal val="#ppt_x"/>
                                          </p:val>
                                        </p:tav>
                                      </p:tavLst>
                                    </p:anim>
                                    <p:anim calcmode="lin" valueType="num">
                                      <p:cBhvr additive="base">
                                        <p:cTn id="52" dur="450" fill="hold"/>
                                        <p:tgtEl>
                                          <p:spTgt spid="13"/>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15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450" fill="hold"/>
                                        <p:tgtEl>
                                          <p:spTgt spid="14"/>
                                        </p:tgtEl>
                                        <p:attrNameLst>
                                          <p:attrName>ppt_x</p:attrName>
                                        </p:attrNameLst>
                                      </p:cBhvr>
                                      <p:tavLst>
                                        <p:tav tm="0">
                                          <p:val>
                                            <p:strVal val="#ppt_x"/>
                                          </p:val>
                                        </p:tav>
                                        <p:tav tm="100000">
                                          <p:val>
                                            <p:strVal val="#ppt_x"/>
                                          </p:val>
                                        </p:tav>
                                      </p:tavLst>
                                    </p:anim>
                                    <p:anim calcmode="lin" valueType="num">
                                      <p:cBhvr additive="base">
                                        <p:cTn id="56"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450" fill="hold"/>
                                        <p:tgtEl>
                                          <p:spTgt spid="15"/>
                                        </p:tgtEl>
                                        <p:attrNameLst>
                                          <p:attrName>ppt_w</p:attrName>
                                        </p:attrNameLst>
                                      </p:cBhvr>
                                      <p:tavLst>
                                        <p:tav tm="0">
                                          <p:val>
                                            <p:fltVal val="0"/>
                                          </p:val>
                                        </p:tav>
                                        <p:tav tm="100000">
                                          <p:val>
                                            <p:strVal val="#ppt_w"/>
                                          </p:val>
                                        </p:tav>
                                      </p:tavLst>
                                    </p:anim>
                                    <p:anim calcmode="lin" valueType="num">
                                      <p:cBhvr additive="base">
                                        <p:cTn id="62" dur="450" fill="hold"/>
                                        <p:tgtEl>
                                          <p:spTgt spid="15"/>
                                        </p:tgtEl>
                                        <p:attrNameLst>
                                          <p:attrName>ppt_h</p:attrName>
                                        </p:attrNameLst>
                                      </p:cBhvr>
                                      <p:tavLst>
                                        <p:tav tm="0">
                                          <p:val>
                                            <p:fltVal val="0"/>
                                          </p:val>
                                        </p:tav>
                                        <p:tav tm="100000">
                                          <p:val>
                                            <p:strVal val="#ppt_h"/>
                                          </p:val>
                                        </p:tav>
                                      </p:tavLst>
                                    </p:anim>
                                    <p:animEffect transition="in" filter="fade">
                                      <p:cBhvr>
                                        <p:cTn id="63"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A03 · Supply Chain Failures: the story</a:t>
            </a:r>
            <a:endParaRPr lang="en-US" sz="3000" dirty="0"/>
          </a:p>
        </p:txBody>
      </p:sp>
      <p:sp>
        <p:nvSpPr>
          <p:cNvPr id="4" name="Station 0"/>
          <p:cNvSpPr txBox="1"/>
          <p:nvPr/>
        </p:nvSpPr>
        <p:spPr>
          <a:xfrm>
            <a:off x="2926080" y="2880360"/>
            <a:ext cx="1737360" cy="868680"/>
          </a:xfrm>
          <a:prstGeom prst="roundRect">
            <a:avLst>
              <a:gd name="adj" fmla="val 12632"/>
            </a:avLst>
          </a:prstGeom>
          <a:solidFill>
            <a:schemeClr val="bg2"/>
          </a:solidFill>
          <a:ln w="15875">
            <a:solidFill>
              <a:schemeClr val="accent5"/>
            </a:solidFill>
          </a:ln>
        </p:spPr>
        <p:txBody>
          <a:bodyPr wrap="square" lIns="50800" tIns="50800" rIns="50800" bIns="50800" rtlCol="0" anchor="ctr"/>
          <a:lstStyle/>
          <a:p>
            <a:pPr algn="ctr" indent="0" marL="0">
              <a:buNone/>
            </a:pPr>
            <a:r>
              <a:rPr lang="en-US" sz="1500" b="1" dirty="0">
                <a:solidFill>
                  <a:schemeClr val="accent5"/>
                </a:solidFill>
              </a:rPr>
              <a:t>Package feed</a:t>
            </a:r>
            <a:endParaRPr lang="en-US" sz="1500" dirty="0"/>
          </a:p>
          <a:p>
            <a:pPr algn="ctr" indent="0" marL="0">
              <a:buNone/>
            </a:pPr>
            <a:r>
              <a:rPr lang="en-US" sz="1200" dirty="0">
                <a:solidFill>
                  <a:schemeClr val="tx2"/>
                </a:solidFill>
              </a:rPr>
              <a:t>npm and NuGet</a:t>
            </a:r>
            <a:endParaRPr lang="en-US" sz="1500" dirty="0"/>
          </a:p>
        </p:txBody>
      </p:sp>
      <p:sp>
        <p:nvSpPr>
          <p:cNvPr id="5" name="Station 1"/>
          <p:cNvSpPr txBox="1"/>
          <p:nvPr/>
        </p:nvSpPr>
        <p:spPr>
          <a:xfrm>
            <a:off x="4846320" y="2880360"/>
            <a:ext cx="1737360" cy="868680"/>
          </a:xfrm>
          <a:prstGeom prst="roundRect">
            <a:avLst>
              <a:gd name="adj" fmla="val 12632"/>
            </a:avLst>
          </a:prstGeom>
          <a:solidFill>
            <a:schemeClr val="bg2"/>
          </a:solidFill>
          <a:ln w="15875">
            <a:solidFill>
              <a:schemeClr val="accent1"/>
            </a:solidFill>
          </a:ln>
        </p:spPr>
        <p:txBody>
          <a:bodyPr wrap="square" lIns="50800" tIns="50800" rIns="50800" bIns="50800" rtlCol="0" anchor="ctr"/>
          <a:lstStyle/>
          <a:p>
            <a:pPr algn="ctr" indent="0" marL="0">
              <a:buNone/>
            </a:pPr>
            <a:r>
              <a:rPr lang="en-US" sz="1500" b="1" dirty="0">
                <a:solidFill>
                  <a:schemeClr val="accent1"/>
                </a:solidFill>
              </a:rPr>
              <a:t>Build server</a:t>
            </a:r>
            <a:endParaRPr lang="en-US" sz="1500" dirty="0"/>
          </a:p>
          <a:p>
            <a:pPr algn="ctr" indent="0" marL="0">
              <a:buNone/>
            </a:pPr>
            <a:r>
              <a:rPr lang="en-US" sz="1200" dirty="0">
                <a:solidFill>
                  <a:schemeClr val="tx2"/>
                </a:solidFill>
              </a:rPr>
              <a:t>CI pipeline</a:t>
            </a:r>
            <a:endParaRPr lang="en-US" sz="1500" dirty="0"/>
          </a:p>
        </p:txBody>
      </p:sp>
      <p:sp>
        <p:nvSpPr>
          <p:cNvPr id="6" name="Station 2"/>
          <p:cNvSpPr txBox="1"/>
          <p:nvPr/>
        </p:nvSpPr>
        <p:spPr>
          <a:xfrm>
            <a:off x="6766560" y="2880360"/>
            <a:ext cx="1737360" cy="868680"/>
          </a:xfrm>
          <a:prstGeom prst="roundRect">
            <a:avLst>
              <a:gd name="adj" fmla="val 12632"/>
            </a:avLst>
          </a:prstGeom>
          <a:solidFill>
            <a:schemeClr val="bg2"/>
          </a:solidFill>
          <a:ln w="15875">
            <a:solidFill>
              <a:schemeClr val="accent4"/>
            </a:solidFill>
          </a:ln>
        </p:spPr>
        <p:txBody>
          <a:bodyPr wrap="square" lIns="50800" tIns="50800" rIns="50800" bIns="50800" rtlCol="0" anchor="ctr"/>
          <a:lstStyle/>
          <a:p>
            <a:pPr algn="ctr" indent="0" marL="0">
              <a:buNone/>
            </a:pPr>
            <a:r>
              <a:rPr lang="en-US" sz="1500" b="1" dirty="0">
                <a:solidFill>
                  <a:schemeClr val="accent4"/>
                </a:solidFill>
              </a:rPr>
              <a:t>Production</a:t>
            </a:r>
            <a:endParaRPr lang="en-US" sz="1500" dirty="0"/>
          </a:p>
          <a:p>
            <a:pPr algn="ctr" indent="0" marL="0">
              <a:buNone/>
            </a:pPr>
            <a:r>
              <a:rPr lang="en-US" sz="1200" dirty="0">
                <a:solidFill>
                  <a:schemeClr val="tx2"/>
                </a:solidFill>
              </a:rPr>
              <a:t>offline network</a:t>
            </a:r>
            <a:endParaRPr lang="en-US" sz="1500" dirty="0"/>
          </a:p>
        </p:txBody>
      </p:sp>
      <p:pic>
        <p:nvPicPr>
          <p:cNvPr id="7" name="Hacker" descr="Hacker cartoon">    </p:cNvPr>
          <p:cNvPicPr>
            <a:picLocks noChangeAspect="1"/>
          </p:cNvPicPr>
          <p:nvPr/>
        </p:nvPicPr>
        <p:blipFill>
          <a:blip r:embed="rId1"/>
          <a:stretch>
            <a:fillRect/>
          </a:stretch>
        </p:blipFill>
        <p:spPr>
          <a:xfrm>
            <a:off x="365760" y="2606040"/>
            <a:ext cx="1188720" cy="1188720"/>
          </a:xfrm>
          <a:prstGeom prst="rect">
            <a:avLst/>
          </a:prstGeom>
        </p:spPr>
      </p:pic>
      <p:sp>
        <p:nvSpPr>
          <p:cNvPr id="8" name="Bubble 0"/>
          <p:cNvSpPr txBox="1"/>
          <p:nvPr/>
        </p:nvSpPr>
        <p:spPr>
          <a:xfrm>
            <a:off x="457200" y="1097280"/>
            <a:ext cx="1920240" cy="1097280"/>
          </a:xfrm>
          <a:prstGeom prst="roundRect">
            <a:avLst>
              <a:gd name="adj" fmla="val 11667"/>
            </a:avLst>
          </a:prstGeom>
          <a:solidFill>
            <a:schemeClr val="bg2"/>
          </a:solidFill>
          <a:ln w="19050">
            <a:solidFill>
              <a:schemeClr val="accent6"/>
            </a:solidFill>
          </a:ln>
        </p:spPr>
        <p:txBody>
          <a:bodyPr wrap="square" lIns="114300" tIns="63500" rIns="101600" bIns="50800" rtlCol="0" anchor="t"/>
          <a:lstStyle/>
          <a:p>
            <a:pPr algn="l" indent="0" marL="0">
              <a:buNone/>
            </a:pPr>
            <a:r>
              <a:rPr lang="en-US" sz="1100" b="1" spc="200" kern="0" dirty="0">
                <a:solidFill>
                  <a:schemeClr val="accent6"/>
                </a:solidFill>
              </a:rPr>
              <a:t>HACKER</a:t>
            </a:r>
            <a:endParaRPr lang="en-US" sz="1100" dirty="0"/>
          </a:p>
          <a:p>
            <a:pPr algn="l" indent="0" marL="0">
              <a:buNone/>
            </a:pPr>
            <a:r>
              <a:rPr lang="en-US" sz="1300" dirty="0">
                <a:solidFill>
                  <a:schemeClr val="tx1"/>
                </a:solidFill>
              </a:rPr>
              <a:t>I published a package whose name differs by one letter.</a:t>
            </a:r>
            <a:endParaRPr lang="en-US" sz="1100" dirty="0"/>
          </a:p>
        </p:txBody>
      </p:sp>
      <p:sp>
        <p:nvSpPr>
          <p:cNvPr id="9" name="Bubble 1"/>
          <p:cNvSpPr txBox="1"/>
          <p:nvPr/>
        </p:nvSpPr>
        <p:spPr>
          <a:xfrm>
            <a:off x="2560320" y="1097280"/>
            <a:ext cx="1920240" cy="1097280"/>
          </a:xfrm>
          <a:prstGeom prst="roundRect">
            <a:avLst>
              <a:gd name="adj" fmla="val 11667"/>
            </a:avLst>
          </a:prstGeom>
          <a:solidFill>
            <a:schemeClr val="bg2"/>
          </a:solidFill>
          <a:ln w="19050">
            <a:solidFill>
              <a:schemeClr val="accent5"/>
            </a:solidFill>
          </a:ln>
        </p:spPr>
        <p:txBody>
          <a:bodyPr wrap="square" lIns="114300" tIns="63500" rIns="101600" bIns="50800" rtlCol="0" anchor="t"/>
          <a:lstStyle/>
          <a:p>
            <a:pPr algn="l" indent="0" marL="0">
              <a:buNone/>
            </a:pPr>
            <a:r>
              <a:rPr lang="en-US" sz="1100" b="1" spc="200" kern="0" dirty="0">
                <a:solidFill>
                  <a:schemeClr val="accent5"/>
                </a:solidFill>
              </a:rPr>
              <a:t>DEVELOPER</a:t>
            </a:r>
            <a:endParaRPr lang="en-US" sz="1100" dirty="0"/>
          </a:p>
          <a:p>
            <a:pPr algn="l" indent="0" marL="0">
              <a:buNone/>
            </a:pPr>
            <a:r>
              <a:rPr lang="en-US" sz="1300" dirty="0">
                <a:solidFill>
                  <a:schemeClr val="tx1"/>
                </a:solidFill>
              </a:rPr>
              <a:t>npm install some-lib@latest. Looks about right!</a:t>
            </a:r>
            <a:endParaRPr lang="en-US" sz="1100" dirty="0"/>
          </a:p>
        </p:txBody>
      </p:sp>
      <p:sp>
        <p:nvSpPr>
          <p:cNvPr id="10" name="Bubble 2"/>
          <p:cNvSpPr txBox="1"/>
          <p:nvPr/>
        </p:nvSpPr>
        <p:spPr>
          <a:xfrm>
            <a:off x="4663440" y="1097280"/>
            <a:ext cx="1920240" cy="1097280"/>
          </a:xfrm>
          <a:prstGeom prst="roundRect">
            <a:avLst>
              <a:gd name="adj" fmla="val 11667"/>
            </a:avLst>
          </a:prstGeom>
          <a:solidFill>
            <a:schemeClr val="bg2"/>
          </a:solidFill>
          <a:ln w="19050">
            <a:solidFill>
              <a:schemeClr val="accent1"/>
            </a:solidFill>
          </a:ln>
        </p:spPr>
        <p:txBody>
          <a:bodyPr wrap="square" lIns="114300" tIns="63500" rIns="101600" bIns="50800" rtlCol="0" anchor="t"/>
          <a:lstStyle/>
          <a:p>
            <a:pPr algn="l" indent="0" marL="0">
              <a:buNone/>
            </a:pPr>
            <a:r>
              <a:rPr lang="en-US" sz="1100" b="1" spc="200" kern="0" dirty="0">
                <a:solidFill>
                  <a:schemeClr val="accent1"/>
                </a:solidFill>
              </a:rPr>
              <a:t>BUILD</a:t>
            </a:r>
            <a:endParaRPr lang="en-US" sz="1100" dirty="0"/>
          </a:p>
          <a:p>
            <a:pPr algn="l" indent="0" marL="0">
              <a:buNone/>
            </a:pPr>
            <a:r>
              <a:rPr lang="en-US" sz="1300" dirty="0">
                <a:solidFill>
                  <a:schemeClr val="tx1"/>
                </a:solidFill>
              </a:rPr>
              <a:t>Installing... and running the package's postinstall script.</a:t>
            </a:r>
            <a:endParaRPr lang="en-US" sz="1100" dirty="0"/>
          </a:p>
        </p:txBody>
      </p:sp>
      <p:sp>
        <p:nvSpPr>
          <p:cNvPr id="11" name="Bubble 3"/>
          <p:cNvSpPr txBox="1"/>
          <p:nvPr/>
        </p:nvSpPr>
        <p:spPr>
          <a:xfrm>
            <a:off x="6766560" y="1097280"/>
            <a:ext cx="1920240" cy="1097280"/>
          </a:xfrm>
          <a:prstGeom prst="roundRect">
            <a:avLst>
              <a:gd name="adj" fmla="val 11667"/>
            </a:avLst>
          </a:prstGeom>
          <a:solidFill>
            <a:schemeClr val="bg2"/>
          </a:solidFill>
          <a:ln w="19050">
            <a:solidFill>
              <a:schemeClr val="accent2"/>
            </a:solidFill>
          </a:ln>
        </p:spPr>
        <p:txBody>
          <a:bodyPr wrap="square" lIns="114300" tIns="63500" rIns="101600" bIns="50800" rtlCol="0" anchor="t"/>
          <a:lstStyle/>
          <a:p>
            <a:pPr algn="l" indent="0" marL="0">
              <a:buNone/>
            </a:pPr>
            <a:r>
              <a:rPr lang="en-US" sz="1100" b="1" spc="200" kern="0" dirty="0">
                <a:solidFill>
                  <a:schemeClr val="accent2"/>
                </a:solidFill>
              </a:rPr>
              <a:t>RESULT</a:t>
            </a:r>
            <a:endParaRPr lang="en-US" sz="1100" dirty="0"/>
          </a:p>
          <a:p>
            <a:pPr algn="l" indent="0" marL="0">
              <a:buNone/>
            </a:pPr>
            <a:r>
              <a:rPr lang="en-US" sz="1300" dirty="0">
                <a:solidFill>
                  <a:schemeClr val="tx1"/>
                </a:solidFill>
              </a:rPr>
              <a:t>Malware inside the air-gapped network, carried in by our own build.</a:t>
            </a:r>
            <a:endParaRPr lang="en-US" sz="1100" dirty="0"/>
          </a:p>
        </p:txBody>
      </p:sp>
      <p:sp>
        <p:nvSpPr>
          <p:cNvPr id="12" name="Damage"/>
          <p:cNvSpPr txBox="1"/>
          <p:nvPr/>
        </p:nvSpPr>
        <p:spPr>
          <a:xfrm>
            <a:off x="6217920" y="2697480"/>
            <a:ext cx="384048" cy="384048"/>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pic>
        <p:nvPicPr>
          <p:cNvPr id="13" name="Bug" descr="Bug cartoon">    </p:cNvPr>
          <p:cNvPicPr>
            <a:picLocks noChangeAspect="1"/>
          </p:cNvPicPr>
          <p:nvPr/>
        </p:nvPicPr>
        <p:blipFill>
          <a:blip r:embed="rId2"/>
          <a:stretch>
            <a:fillRect/>
          </a:stretch>
        </p:blipFill>
        <p:spPr>
          <a:xfrm>
            <a:off x="5029200" y="2103120"/>
            <a:ext cx="822960" cy="822960"/>
          </a:xfrm>
          <a:prstGeom prst="rect">
            <a:avLst/>
          </a:prstGeom>
        </p:spPr>
      </p:pic>
      <p:sp>
        <p:nvSpPr>
          <p:cNvPr id="14" name="Moral"/>
          <p:cNvSpPr txBox="1"/>
          <p:nvPr/>
        </p:nvSpPr>
        <p:spPr>
          <a:xfrm>
            <a:off x="457200" y="3977640"/>
            <a:ext cx="8229600" cy="548640"/>
          </a:xfrm>
          <a:prstGeom prst="rect">
            <a:avLst/>
          </a:prstGeom>
          <a:noFill/>
          <a:ln/>
        </p:spPr>
        <p:txBody>
          <a:bodyPr wrap="square" lIns="0" tIns="0" rIns="0" bIns="0" rtlCol="0" anchor="ctr"/>
          <a:lstStyle/>
          <a:p>
            <a:pPr indent="0" marL="0">
              <a:buNone/>
            </a:pPr>
            <a:r>
              <a:rPr lang="en-US" sz="2200" b="1" i="1" dirty="0">
                <a:solidFill>
                  <a:schemeClr val="accent1"/>
                </a:solidFill>
              </a:rPr>
              <a:t>You ship every dependency you import.</a:t>
            </a:r>
            <a:endParaRPr lang="en-US" sz="22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0" fill="hold">
                      <p:stCondLst>
                        <p:cond delay="indefinite"/>
                        <p:cond evt="onBegin" delay="0">
                          <p:tn val="2"/>
                        </p:cond>
                      </p:stCondLst>
                      <p:childTnLst>
                        <p:par>
                          <p:cTn id="21" fill="hold">
                            <p:stCondLst>
                              <p:cond delay="0"/>
                            </p:stCondLst>
                            <p:childTnLst>
                              <p:par>
                                <p:cTn id="6" presetID="2" presetClass="entr" presetSubtype="4" fill="hold" grpId="0" nodeType="afterEffect">
                                  <p:stCondLst>
                                    <p:cond delay="0"/>
                                  </p:stCondLst>
                                  <p:childTnLst>
                                    <p:set>
                                      <p:cBhvr>
                                        <p:cTn id="3" dur="1" fill="hold">
                                          <p:stCondLst>
                                            <p:cond delay="0"/>
                                          </p:stCondLst>
                                        </p:cTn>
                                        <p:tgtEl>
                                          <p:spTgt spid="4"/>
                                        </p:tgtEl>
                                        <p:attrNameLst>
                                          <p:attrName>style.visibility</p:attrName>
                                        </p:attrNameLst>
                                      </p:cBhvr>
                                      <p:to>
                                        <p:strVal val="visible"/>
                                      </p:to>
                                    </p:set>
                                    <p:anim calcmode="lin" valueType="num">
                                      <p:cBhvr additive="base">
                                        <p:cTn id="4" dur="450" fill="hold"/>
                                        <p:tgtEl>
                                          <p:spTgt spid="4"/>
                                        </p:tgtEl>
                                        <p:attrNameLst>
                                          <p:attrName>ppt_x</p:attrName>
                                        </p:attrNameLst>
                                      </p:cBhvr>
                                      <p:tavLst>
                                        <p:tav tm="0">
                                          <p:val>
                                            <p:strVal val="#ppt_x"/>
                                          </p:val>
                                        </p:tav>
                                        <p:tav tm="100000">
                                          <p:val>
                                            <p:strVal val="#ppt_x"/>
                                          </p:val>
                                        </p:tav>
                                      </p:tavLst>
                                    </p:anim>
                                    <p:anim calcmode="lin" valueType="num">
                                      <p:cBhvr additive="base">
                                        <p:cTn id="5" dur="450" fill="hold"/>
                                        <p:tgtEl>
                                          <p:spTgt spid="4"/>
                                        </p:tgtEl>
                                        <p:attrNameLst>
                                          <p:attrName>ppt_y</p:attrName>
                                        </p:attrNameLst>
                                      </p:cBhvr>
                                      <p:tavLst>
                                        <p:tav tm="0">
                                          <p:val>
                                            <p:strVal val="1+#ppt_h/2"/>
                                          </p:val>
                                        </p:tav>
                                        <p:tav tm="100000">
                                          <p:val>
                                            <p:strVal val="#ppt_y"/>
                                          </p:val>
                                        </p:tav>
                                      </p:tavLst>
                                    </p:anim>
                                  </p:childTnLst>
                                </p:cTn>
                              </p:par>
                              <p:par>
                                <p:cTn id="10" presetID="2" presetClass="entr" presetSubtype="4" fill="hold" grpId="0" nodeType="withEffect">
                                  <p:stCondLst>
                                    <p:cond delay="200"/>
                                  </p:stCondLst>
                                  <p:childTnLst>
                                    <p:set>
                                      <p:cBhvr>
                                        <p:cTn id="7" dur="1" fill="hold">
                                          <p:stCondLst>
                                            <p:cond delay="0"/>
                                          </p:stCondLst>
                                        </p:cTn>
                                        <p:tgtEl>
                                          <p:spTgt spid="5"/>
                                        </p:tgtEl>
                                        <p:attrNameLst>
                                          <p:attrName>style.visibility</p:attrName>
                                        </p:attrNameLst>
                                      </p:cBhvr>
                                      <p:to>
                                        <p:strVal val="visible"/>
                                      </p:to>
                                    </p:set>
                                    <p:anim calcmode="lin" valueType="num">
                                      <p:cBhvr additive="base">
                                        <p:cTn id="8" dur="450" fill="hold"/>
                                        <p:tgtEl>
                                          <p:spTgt spid="5"/>
                                        </p:tgtEl>
                                        <p:attrNameLst>
                                          <p:attrName>ppt_x</p:attrName>
                                        </p:attrNameLst>
                                      </p:cBhvr>
                                      <p:tavLst>
                                        <p:tav tm="0">
                                          <p:val>
                                            <p:strVal val="#ppt_x"/>
                                          </p:val>
                                        </p:tav>
                                        <p:tav tm="100000">
                                          <p:val>
                                            <p:strVal val="#ppt_x"/>
                                          </p:val>
                                        </p:tav>
                                      </p:tavLst>
                                    </p:anim>
                                    <p:anim calcmode="lin" valueType="num">
                                      <p:cBhvr additive="base">
                                        <p:cTn id="9" dur="450" fill="hold"/>
                                        <p:tgtEl>
                                          <p:spTgt spid="5"/>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40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450" fill="hold"/>
                                        <p:tgtEl>
                                          <p:spTgt spid="6"/>
                                        </p:tgtEl>
                                        <p:attrNameLst>
                                          <p:attrName>ppt_x</p:attrName>
                                        </p:attrNameLst>
                                      </p:cBhvr>
                                      <p:tavLst>
                                        <p:tav tm="0">
                                          <p:val>
                                            <p:strVal val="#ppt_x"/>
                                          </p:val>
                                        </p:tav>
                                        <p:tav tm="100000">
                                          <p:val>
                                            <p:strVal val="#ppt_x"/>
                                          </p:val>
                                        </p:tav>
                                      </p:tavLst>
                                    </p:anim>
                                    <p:anim calcmode="lin" valueType="num">
                                      <p:cBhvr additive="base">
                                        <p:cTn id="13" dur="450" fill="hold"/>
                                        <p:tgtEl>
                                          <p:spTgt spid="6"/>
                                        </p:tgtEl>
                                        <p:attrNameLst>
                                          <p:attrName>ppt_y</p:attrName>
                                        </p:attrNameLst>
                                      </p:cBhvr>
                                      <p:tavLst>
                                        <p:tav tm="0">
                                          <p:val>
                                            <p:strVal val="1+#ppt_h/2"/>
                                          </p:val>
                                        </p:tav>
                                        <p:tav tm="100000">
                                          <p:val>
                                            <p:strVal val="#ppt_y"/>
                                          </p:val>
                                        </p:tav>
                                      </p:tavLst>
                                    </p:anim>
                                  </p:childTnLst>
                                </p:cTn>
                              </p:par>
                              <p:par>
                                <p:cTn id="17"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par>
                                <p:cTn id="19" presetID="0" presetClass="path" presetSubtype="0" fill="hold" nodeType="withEffect">
                                  <p:stCondLst>
                                    <p:cond delay="500"/>
                                  </p:stCondLst>
                                  <p:childTnLst>
                                    <p:animMotion origin="layout" path="M 0 0 L 0.12 0 E" pathEditMode="relative">
                                      <p:cBhvr>
                                        <p:cTn id="18" dur="2600" fill="hold"/>
                                        <p:tgtEl>
                                          <p:spTgt spid="7"/>
                                        </p:tgtEl>
                                        <p:attrNameLst>
                                          <p:attrName>ppt_x</p:attrName>
                                          <p:attrName>ppt_y</p:attrName>
                                        </p:attrNameLst>
                                      </p:cBhvr>
                                      <p:rCtr x="0.06" y="0"/>
                                    </p:animMotion>
                                  </p:childTnLst>
                                </p:cTn>
                              </p:par>
                            </p:childTnLst>
                          </p:cTn>
                        </p:par>
                      </p:childTnLst>
                    </p:cTn>
                  </p:par>
                  <p:par>
                    <p:cTn id="27" fill="hold">
                      <p:stCondLst>
                        <p:cond delay="indefinite"/>
                      </p:stCondLst>
                      <p:childTnLst>
                        <p:par>
                          <p:cTn id="28" fill="hold">
                            <p:stCondLst>
                              <p:cond delay="0"/>
                            </p:stCondLst>
                            <p:childTnLst>
                              <p:par>
                                <p:cTn id="26" presetID="53" presetClass="entr" presetSubtype="16"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450" fill="hold"/>
                                        <p:tgtEl>
                                          <p:spTgt spid="8"/>
                                        </p:tgtEl>
                                        <p:attrNameLst>
                                          <p:attrName>ppt_w</p:attrName>
                                        </p:attrNameLst>
                                      </p:cBhvr>
                                      <p:tavLst>
                                        <p:tav tm="0">
                                          <p:val>
                                            <p:fltVal val="0"/>
                                          </p:val>
                                        </p:tav>
                                        <p:tav tm="100000">
                                          <p:val>
                                            <p:strVal val="#ppt_w"/>
                                          </p:val>
                                        </p:tav>
                                      </p:tavLst>
                                    </p:anim>
                                    <p:anim calcmode="lin" valueType="num">
                                      <p:cBhvr additive="base">
                                        <p:cTn id="24" dur="450" fill="hold"/>
                                        <p:tgtEl>
                                          <p:spTgt spid="8"/>
                                        </p:tgtEl>
                                        <p:attrNameLst>
                                          <p:attrName>ppt_h</p:attrName>
                                        </p:attrNameLst>
                                      </p:cBhvr>
                                      <p:tavLst>
                                        <p:tav tm="0">
                                          <p:val>
                                            <p:fltVal val="0"/>
                                          </p:val>
                                        </p:tav>
                                        <p:tav tm="100000">
                                          <p:val>
                                            <p:strVal val="#ppt_h"/>
                                          </p:val>
                                        </p:tav>
                                      </p:tavLst>
                                    </p:anim>
                                    <p:animEffect transition="in" filter="fade">
                                      <p:cBhvr>
                                        <p:cTn id="25" dur="450"/>
                                        <p:tgtEl>
                                          <p:spTgt spid="8"/>
                                        </p:tgtEl>
                                      </p:cBhvr>
                                    </p:animEffect>
                                  </p:childTnLst>
                                </p:cTn>
                              </p:par>
                            </p:childTnLst>
                          </p:cTn>
                        </p:par>
                      </p:childTnLst>
                    </p:cTn>
                  </p:par>
                  <p:par>
                    <p:cTn id="34" fill="hold">
                      <p:stCondLst>
                        <p:cond delay="indefinite"/>
                      </p:stCondLst>
                      <p:childTnLst>
                        <p:par>
                          <p:cTn id="35" fill="hold">
                            <p:stCondLst>
                              <p:cond delay="0"/>
                            </p:stCondLst>
                            <p:childTnLst>
                              <p:par>
                                <p:cTn id="33" presetID="53" presetClass="entr" presetSubtype="16"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450" fill="hold"/>
                                        <p:tgtEl>
                                          <p:spTgt spid="9"/>
                                        </p:tgtEl>
                                        <p:attrNameLst>
                                          <p:attrName>ppt_w</p:attrName>
                                        </p:attrNameLst>
                                      </p:cBhvr>
                                      <p:tavLst>
                                        <p:tav tm="0">
                                          <p:val>
                                            <p:fltVal val="0"/>
                                          </p:val>
                                        </p:tav>
                                        <p:tav tm="100000">
                                          <p:val>
                                            <p:strVal val="#ppt_w"/>
                                          </p:val>
                                        </p:tav>
                                      </p:tavLst>
                                    </p:anim>
                                    <p:anim calcmode="lin" valueType="num">
                                      <p:cBhvr additive="base">
                                        <p:cTn id="31" dur="450" fill="hold"/>
                                        <p:tgtEl>
                                          <p:spTgt spid="9"/>
                                        </p:tgtEl>
                                        <p:attrNameLst>
                                          <p:attrName>ppt_h</p:attrName>
                                        </p:attrNameLst>
                                      </p:cBhvr>
                                      <p:tavLst>
                                        <p:tav tm="0">
                                          <p:val>
                                            <p:fltVal val="0"/>
                                          </p:val>
                                        </p:tav>
                                        <p:tav tm="100000">
                                          <p:val>
                                            <p:strVal val="#ppt_h"/>
                                          </p:val>
                                        </p:tav>
                                      </p:tavLst>
                                    </p:anim>
                                    <p:animEffect transition="in" filter="fade">
                                      <p:cBhvr>
                                        <p:cTn id="32" dur="450"/>
                                        <p:tgtEl>
                                          <p:spTgt spid="9"/>
                                        </p:tgtEl>
                                      </p:cBhvr>
                                    </p:animEffect>
                                  </p:childTnLst>
                                </p:cTn>
                              </p:par>
                            </p:childTnLst>
                          </p:cTn>
                        </p:par>
                      </p:childTnLst>
                    </p:cTn>
                  </p:par>
                  <p:par>
                    <p:cTn id="51" fill="hold">
                      <p:stCondLst>
                        <p:cond delay="indefinite"/>
                      </p:stCondLst>
                      <p:childTnLst>
                        <p:par>
                          <p:cTn id="52" fill="hold">
                            <p:stCondLst>
                              <p:cond delay="0"/>
                            </p:stCondLst>
                            <p:childTnLst>
                              <p:par>
                                <p:cTn id="40" presetID="53" presetClass="entr" presetSubtype="16"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450" fill="hold"/>
                                        <p:tgtEl>
                                          <p:spTgt spid="10"/>
                                        </p:tgtEl>
                                        <p:attrNameLst>
                                          <p:attrName>ppt_w</p:attrName>
                                        </p:attrNameLst>
                                      </p:cBhvr>
                                      <p:tavLst>
                                        <p:tav tm="0">
                                          <p:val>
                                            <p:fltVal val="0"/>
                                          </p:val>
                                        </p:tav>
                                        <p:tav tm="100000">
                                          <p:val>
                                            <p:strVal val="#ppt_w"/>
                                          </p:val>
                                        </p:tav>
                                      </p:tavLst>
                                    </p:anim>
                                    <p:anim calcmode="lin" valueType="num">
                                      <p:cBhvr additive="base">
                                        <p:cTn id="38" dur="450" fill="hold"/>
                                        <p:tgtEl>
                                          <p:spTgt spid="10"/>
                                        </p:tgtEl>
                                        <p:attrNameLst>
                                          <p:attrName>ppt_h</p:attrName>
                                        </p:attrNameLst>
                                      </p:cBhvr>
                                      <p:tavLst>
                                        <p:tav tm="0">
                                          <p:val>
                                            <p:fltVal val="0"/>
                                          </p:val>
                                        </p:tav>
                                        <p:tav tm="100000">
                                          <p:val>
                                            <p:strVal val="#ppt_h"/>
                                          </p:val>
                                        </p:tav>
                                      </p:tavLst>
                                    </p:anim>
                                    <p:animEffect transition="in" filter="fade">
                                      <p:cBhvr>
                                        <p:cTn id="39" dur="450"/>
                                        <p:tgtEl>
                                          <p:spTgt spid="10"/>
                                        </p:tgtEl>
                                      </p:cBhvr>
                                    </p:animEffect>
                                  </p:childTnLst>
                                </p:cTn>
                              </p:par>
                              <p:par>
                                <p:cTn id="45" presetID="53" presetClass="entr" presetSubtype="16" fill="hold" grpId="0" nodeType="withEffect">
                                  <p:stCondLst>
                                    <p:cond delay="25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350" fill="hold"/>
                                        <p:tgtEl>
                                          <p:spTgt spid="12"/>
                                        </p:tgtEl>
                                        <p:attrNameLst>
                                          <p:attrName>ppt_w</p:attrName>
                                        </p:attrNameLst>
                                      </p:cBhvr>
                                      <p:tavLst>
                                        <p:tav tm="0">
                                          <p:val>
                                            <p:fltVal val="0"/>
                                          </p:val>
                                        </p:tav>
                                        <p:tav tm="100000">
                                          <p:val>
                                            <p:strVal val="#ppt_w"/>
                                          </p:val>
                                        </p:tav>
                                      </p:tavLst>
                                    </p:anim>
                                    <p:anim calcmode="lin" valueType="num">
                                      <p:cBhvr additive="base">
                                        <p:cTn id="43" dur="350" fill="hold"/>
                                        <p:tgtEl>
                                          <p:spTgt spid="12"/>
                                        </p:tgtEl>
                                        <p:attrNameLst>
                                          <p:attrName>ppt_h</p:attrName>
                                        </p:attrNameLst>
                                      </p:cBhvr>
                                      <p:tavLst>
                                        <p:tav tm="0">
                                          <p:val>
                                            <p:fltVal val="0"/>
                                          </p:val>
                                        </p:tav>
                                        <p:tav tm="100000">
                                          <p:val>
                                            <p:strVal val="#ppt_h"/>
                                          </p:val>
                                        </p:tav>
                                      </p:tavLst>
                                    </p:anim>
                                    <p:animEffect transition="in" filter="fade">
                                      <p:cBhvr>
                                        <p:cTn id="44" dur="350"/>
                                        <p:tgtEl>
                                          <p:spTgt spid="12"/>
                                        </p:tgtEl>
                                      </p:cBhvr>
                                    </p:animEffect>
                                  </p:childTnLst>
                                </p:cTn>
                              </p:par>
                              <p:par>
                                <p:cTn id="48" presetID="10" presetClass="entr" presetSubtype="0" fill="hold" nodeType="withEffect">
                                  <p:stCondLst>
                                    <p:cond delay="25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350"/>
                                        <p:tgtEl>
                                          <p:spTgt spid="13"/>
                                        </p:tgtEl>
                                      </p:cBhvr>
                                    </p:animEffect>
                                  </p:childTnLst>
                                </p:cTn>
                              </p:par>
                              <p:par>
                                <p:cTn id="50" presetID="0" presetClass="path" presetSubtype="0" fill="hold" nodeType="withEffect">
                                  <p:stCondLst>
                                    <p:cond delay="700"/>
                                  </p:stCondLst>
                                  <p:childTnLst>
                                    <p:animMotion origin="layout" path="M 0 0 L 0.07 0 E" pathEditMode="relative">
                                      <p:cBhvr>
                                        <p:cTn id="49" dur="2500" fill="hold"/>
                                        <p:tgtEl>
                                          <p:spTgt spid="13"/>
                                        </p:tgtEl>
                                        <p:attrNameLst>
                                          <p:attrName>ppt_x</p:attrName>
                                          <p:attrName>ppt_y</p:attrName>
                                        </p:attrNameLst>
                                      </p:cBhvr>
                                      <p:rCtr x="0.035" y="0"/>
                                    </p:animMotion>
                                  </p:childTnLst>
                                </p:cTn>
                              </p:par>
                            </p:childTnLst>
                          </p:cTn>
                        </p:par>
                      </p:childTnLst>
                    </p:cTn>
                  </p:par>
                  <p:par>
                    <p:cTn id="58" fill="hold">
                      <p:stCondLst>
                        <p:cond delay="indefinite"/>
                      </p:stCondLst>
                      <p:childTnLst>
                        <p:par>
                          <p:cTn id="59" fill="hold">
                            <p:stCondLst>
                              <p:cond delay="0"/>
                            </p:stCondLst>
                            <p:childTnLst>
                              <p:par>
                                <p:cTn id="57" presetID="53" presetClass="entr" presetSubtype="16"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 calcmode="lin" valueType="num">
                                      <p:cBhvr additive="base">
                                        <p:cTn id="54" dur="450" fill="hold"/>
                                        <p:tgtEl>
                                          <p:spTgt spid="11"/>
                                        </p:tgtEl>
                                        <p:attrNameLst>
                                          <p:attrName>ppt_w</p:attrName>
                                        </p:attrNameLst>
                                      </p:cBhvr>
                                      <p:tavLst>
                                        <p:tav tm="0">
                                          <p:val>
                                            <p:fltVal val="0"/>
                                          </p:val>
                                        </p:tav>
                                        <p:tav tm="100000">
                                          <p:val>
                                            <p:strVal val="#ppt_w"/>
                                          </p:val>
                                        </p:tav>
                                      </p:tavLst>
                                    </p:anim>
                                    <p:anim calcmode="lin" valueType="num">
                                      <p:cBhvr additive="base">
                                        <p:cTn id="55" dur="450" fill="hold"/>
                                        <p:tgtEl>
                                          <p:spTgt spid="11"/>
                                        </p:tgtEl>
                                        <p:attrNameLst>
                                          <p:attrName>ppt_h</p:attrName>
                                        </p:attrNameLst>
                                      </p:cBhvr>
                                      <p:tavLst>
                                        <p:tav tm="0">
                                          <p:val>
                                            <p:fltVal val="0"/>
                                          </p:val>
                                        </p:tav>
                                        <p:tav tm="100000">
                                          <p:val>
                                            <p:strVal val="#ppt_h"/>
                                          </p:val>
                                        </p:tav>
                                      </p:tavLst>
                                    </p:anim>
                                    <p:animEffect transition="in" filter="fade">
                                      <p:cBhvr>
                                        <p:cTn id="56" dur="450"/>
                                        <p:tgtEl>
                                          <p:spTgt spid="11"/>
                                        </p:tgtEl>
                                      </p:cBhvr>
                                    </p:animEffect>
                                  </p:childTnLst>
                                </p:cTn>
                              </p:par>
                            </p:childTnLst>
                          </p:cTn>
                        </p:par>
                      </p:childTnLst>
                    </p:cTn>
                  </p:par>
                  <p:par>
                    <p:cTn id="65" fill="hold">
                      <p:stCondLst>
                        <p:cond delay="indefinite"/>
                      </p:stCondLst>
                      <p:childTnLst>
                        <p:par>
                          <p:cTn id="66"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p:tgtEl>
                                          <p:spTgt spid="14"/>
                                        </p:tgtEl>
                                        <p:attrNameLst>
                                          <p:attrName>ppt_w</p:attrName>
                                        </p:attrNameLst>
                                      </p:cBhvr>
                                      <p:tavLst>
                                        <p:tav tm="0">
                                          <p:val>
                                            <p:fltVal val="0"/>
                                          </p:val>
                                        </p:tav>
                                        <p:tav tm="100000">
                                          <p:val>
                                            <p:strVal val="#ppt_w"/>
                                          </p:val>
                                        </p:tav>
                                      </p:tavLst>
                                    </p:anim>
                                    <p:anim calcmode="lin" valueType="num">
                                      <p:cBhvr additive="base">
                                        <p:cTn id="62" dur="500" fill="hold"/>
                                        <p:tgtEl>
                                          <p:spTgt spid="14"/>
                                        </p:tgtEl>
                                        <p:attrNameLst>
                                          <p:attrName>ppt_h</p:attrName>
                                        </p:attrNameLst>
                                      </p:cBhvr>
                                      <p:tavLst>
                                        <p:tav tm="0">
                                          <p:val>
                                            <p:fltVal val="0"/>
                                          </p:val>
                                        </p:tav>
                                        <p:tav tm="100000">
                                          <p:val>
                                            <p:strVal val="#ppt_h"/>
                                          </p:val>
                                        </p:tav>
                                      </p:tavLst>
                                    </p:anim>
                                    <p:animEffect transition="in" filter="fade">
                                      <p:cBhvr>
                                        <p:cTn id="6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2" grpId="0" animBg="1"/>
      <p:bldP spid="11"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A03 · Supply Chain Failures: the fix</a:t>
            </a:r>
            <a:endParaRPr lang="en-US" sz="3000" dirty="0"/>
          </a:p>
        </p:txBody>
      </p:sp>
      <p:pic>
        <p:nvPicPr>
          <p:cNvPr id="4" name="Mascot" descr="Mascot cartoon">    </p:cNvPr>
          <p:cNvPicPr>
            <a:picLocks noChangeAspect="1"/>
          </p:cNvPicPr>
          <p:nvPr/>
        </p:nvPicPr>
        <p:blipFill>
          <a:blip r:embed="rId1"/>
          <a:stretch>
            <a:fillRect/>
          </a:stretch>
        </p:blipFill>
        <p:spPr>
          <a:xfrm>
            <a:off x="640080" y="1097280"/>
            <a:ext cx="1737360" cy="1737360"/>
          </a:xfrm>
          <a:prstGeom prst="rect">
            <a:avLst/>
          </a:prstGeom>
        </p:spPr>
      </p:pic>
      <p:sp>
        <p:nvSpPr>
          <p:cNvPr id="5" name="Stop sign"/>
          <p:cNvSpPr txBox="1"/>
          <p:nvPr/>
        </p:nvSpPr>
        <p:spPr>
          <a:xfrm>
            <a:off x="2377440" y="3063240"/>
            <a:ext cx="777240" cy="777240"/>
          </a:xfrm>
          <a:prstGeom prst="octagon">
            <a:avLst/>
          </a:prstGeom>
          <a:solidFill>
            <a:schemeClr val="accent2"/>
          </a:solidFill>
          <a:ln/>
        </p:spPr>
        <p:txBody>
          <a:bodyPr wrap="square" lIns="0" tIns="0" rIns="0" bIns="0" rtlCol="0" anchor="ctr"/>
          <a:lstStyle/>
          <a:p>
            <a:pPr algn="ctr" indent="0" marL="0">
              <a:buNone/>
            </a:pPr>
            <a:r>
              <a:rPr lang="en-US" sz="1300" b="1" dirty="0">
                <a:solidFill>
                  <a:srgbClr val="FFFFFF"/>
                </a:solidFill>
              </a:rPr>
              <a:t>STOP</a:t>
            </a:r>
            <a:endParaRPr lang="en-US" sz="1300" dirty="0"/>
          </a:p>
        </p:txBody>
      </p:sp>
      <p:pic>
        <p:nvPicPr>
          <p:cNvPr id="6" name="Hacker" descr="Hacker cartoon">    </p:cNvPr>
          <p:cNvPicPr>
            <a:picLocks noChangeAspect="1"/>
          </p:cNvPicPr>
          <p:nvPr/>
        </p:nvPicPr>
        <p:blipFill>
          <a:blip r:embed="rId2"/>
          <a:stretch>
            <a:fillRect/>
          </a:stretch>
        </p:blipFill>
        <p:spPr>
          <a:xfrm>
            <a:off x="274320" y="2834640"/>
            <a:ext cx="1188720" cy="1188720"/>
          </a:xfrm>
          <a:prstGeom prst="rect">
            <a:avLst/>
          </a:prstGeom>
        </p:spPr>
      </p:pic>
      <p:sp>
        <p:nvSpPr>
          <p:cNvPr id="7" name="Rule 0"/>
          <p:cNvSpPr txBox="1"/>
          <p:nvPr/>
        </p:nvSpPr>
        <p:spPr>
          <a:xfrm>
            <a:off x="3383280" y="1143000"/>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Pin versions, commit lockfiles</a:t>
            </a:r>
            <a:endParaRPr lang="en-US" sz="1400" dirty="0"/>
          </a:p>
          <a:p>
            <a:pPr algn="l" indent="0" marL="0">
              <a:buNone/>
            </a:pPr>
            <a:r>
              <a:rPr lang="en-US" sz="1200" dirty="0">
                <a:solidFill>
                  <a:schemeClr val="tx1"/>
                </a:solidFill>
              </a:rPr>
              <a:t>Exact versions, package-lock.json and packages.lock.json. CI runs npm ci.</a:t>
            </a:r>
            <a:endParaRPr lang="en-US" sz="1400" dirty="0"/>
          </a:p>
        </p:txBody>
      </p:sp>
      <p:sp>
        <p:nvSpPr>
          <p:cNvPr id="8" name="Rule num 0"/>
          <p:cNvSpPr txBox="1"/>
          <p:nvPr/>
        </p:nvSpPr>
        <p:spPr>
          <a:xfrm>
            <a:off x="3493008" y="1271016"/>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Rule 1"/>
          <p:cNvSpPr txBox="1"/>
          <p:nvPr/>
        </p:nvSpPr>
        <p:spPr>
          <a:xfrm>
            <a:off x="3383280" y="1892808"/>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Use an internal feed only</a:t>
            </a:r>
            <a:endParaRPr lang="en-US" sz="1400" dirty="0"/>
          </a:p>
          <a:p>
            <a:pPr algn="l" indent="0" marL="0">
              <a:buNone/>
            </a:pPr>
            <a:r>
              <a:rPr lang="en-US" sz="1200" dirty="0">
                <a:solidFill>
                  <a:schemeClr val="tx1"/>
                </a:solidFill>
              </a:rPr>
              <a:t>Mirror npm and NuGet inside. Scan and approve packages before importing.</a:t>
            </a:r>
            <a:endParaRPr lang="en-US" sz="1400" dirty="0"/>
          </a:p>
        </p:txBody>
      </p:sp>
      <p:sp>
        <p:nvSpPr>
          <p:cNvPr id="10" name="Rule num 1"/>
          <p:cNvSpPr txBox="1"/>
          <p:nvPr/>
        </p:nvSpPr>
        <p:spPr>
          <a:xfrm>
            <a:off x="3493008" y="2020824"/>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Rule 2"/>
          <p:cNvSpPr txBox="1"/>
          <p:nvPr/>
        </p:nvSpPr>
        <p:spPr>
          <a:xfrm>
            <a:off x="3383280" y="2642616"/>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Keep an SBOM and audit</a:t>
            </a:r>
            <a:endParaRPr lang="en-US" sz="1400" dirty="0"/>
          </a:p>
          <a:p>
            <a:pPr algn="l" indent="0" marL="0">
              <a:buNone/>
            </a:pPr>
            <a:r>
              <a:rPr lang="en-US" sz="1200" dirty="0">
                <a:solidFill>
                  <a:schemeClr val="tx1"/>
                </a:solidFill>
              </a:rPr>
              <a:t>Know what you ship. Use npm audit and dotnet list package --vulnerable.</a:t>
            </a:r>
            <a:endParaRPr lang="en-US" sz="1400" dirty="0"/>
          </a:p>
        </p:txBody>
      </p:sp>
      <p:sp>
        <p:nvSpPr>
          <p:cNvPr id="12" name="Rule num 2"/>
          <p:cNvSpPr txBox="1"/>
          <p:nvPr/>
        </p:nvSpPr>
        <p:spPr>
          <a:xfrm>
            <a:off x="3493008" y="2770632"/>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Chip NG"/>
          <p:cNvSpPr txBox="1"/>
          <p:nvPr/>
        </p:nvSpPr>
        <p:spPr>
          <a:xfrm>
            <a:off x="3383280" y="3429000"/>
            <a:ext cx="2606040" cy="804672"/>
          </a:xfrm>
          <a:prstGeom prst="roundRect">
            <a:avLst>
              <a:gd name="adj" fmla="val 11364"/>
            </a:avLst>
          </a:prstGeom>
          <a:solidFill>
            <a:schemeClr val="accent5">
              <a:alpha val="12000"/>
            </a:schemeClr>
          </a:solidFill>
          <a:ln w="12700">
            <a:solidFill>
              <a:schemeClr val="accent5"/>
            </a:solidFill>
          </a:ln>
        </p:spPr>
        <p:txBody>
          <a:bodyPr wrap="square" lIns="127000" tIns="25400" rIns="101600" bIns="25400" rtlCol="0" anchor="ctr"/>
          <a:lstStyle/>
          <a:p>
            <a:pPr algn="l" indent="0" marL="0">
              <a:buNone/>
            </a:pPr>
            <a:r>
              <a:rPr lang="en-US" sz="1100" b="1" spc="200" kern="0" dirty="0">
                <a:solidFill>
                  <a:schemeClr val="accent5"/>
                </a:solidFill>
              </a:rPr>
              <a:t>IN ANGULAR</a:t>
            </a:r>
            <a:endParaRPr lang="en-US" sz="1100" dirty="0"/>
          </a:p>
          <a:p>
            <a:pPr algn="l" indent="0" marL="0">
              <a:buNone/>
            </a:pPr>
            <a:r>
              <a:rPr lang="en-US" sz="1200" dirty="0">
                <a:solidFill>
                  <a:schemeClr val="tx1"/>
                </a:solidFill>
              </a:rPr>
              <a:t>npm ci --ignore-scripts. .npmrc points to the internal registry.</a:t>
            </a:r>
            <a:endParaRPr lang="en-US" sz="1100" dirty="0"/>
          </a:p>
        </p:txBody>
      </p:sp>
      <p:sp>
        <p:nvSpPr>
          <p:cNvPr id="14" name="Chip NET"/>
          <p:cNvSpPr txBox="1"/>
          <p:nvPr/>
        </p:nvSpPr>
        <p:spPr>
          <a:xfrm>
            <a:off x="6080760" y="3429000"/>
            <a:ext cx="2606040" cy="804672"/>
          </a:xfrm>
          <a:prstGeom prst="roundRect">
            <a:avLst>
              <a:gd name="adj" fmla="val 11364"/>
            </a:avLst>
          </a:prstGeom>
          <a:solidFill>
            <a:schemeClr val="accent6">
              <a:alpha val="12000"/>
            </a:schemeClr>
          </a:solidFill>
          <a:ln w="12700">
            <a:solidFill>
              <a:schemeClr val="accent6"/>
            </a:solidFill>
          </a:ln>
        </p:spPr>
        <p:txBody>
          <a:bodyPr wrap="square" lIns="127000" tIns="25400" rIns="101600" bIns="25400" rtlCol="0" anchor="ctr"/>
          <a:lstStyle/>
          <a:p>
            <a:pPr algn="l" indent="0" marL="0">
              <a:buNone/>
            </a:pPr>
            <a:r>
              <a:rPr lang="en-US" sz="1100" b="1" spc="200" kern="0" dirty="0">
                <a:solidFill>
                  <a:schemeClr val="accent6"/>
                </a:solidFill>
              </a:rPr>
              <a:t>IN .NET CORE</a:t>
            </a:r>
            <a:endParaRPr lang="en-US" sz="1100" dirty="0"/>
          </a:p>
          <a:p>
            <a:pPr algn="l" indent="0" marL="0">
              <a:buNone/>
            </a:pPr>
            <a:r>
              <a:rPr lang="en-US" sz="1200" dirty="0">
                <a:solidFill>
                  <a:schemeClr val="tx1"/>
                </a:solidFill>
              </a:rPr>
              <a:t>NuGet.config with packageSourceMapping and locked restore.</a:t>
            </a:r>
            <a:endParaRPr lang="en-US" sz="1100" dirty="0"/>
          </a:p>
        </p:txBody>
      </p:sp>
      <p:sp>
        <p:nvSpPr>
          <p:cNvPr id="15" name="Takeaway"/>
          <p:cNvSpPr txBox="1"/>
          <p:nvPr/>
        </p:nvSpPr>
        <p:spPr>
          <a:xfrm>
            <a:off x="457200" y="4279392"/>
            <a:ext cx="4754880" cy="411480"/>
          </a:xfrm>
          <a:prstGeom prst="rect">
            <a:avLst/>
          </a:prstGeom>
          <a:noFill/>
          <a:ln/>
        </p:spPr>
        <p:txBody>
          <a:bodyPr wrap="square" lIns="0" tIns="0" rIns="0" bIns="0" rtlCol="0" anchor="ctr"/>
          <a:lstStyle/>
          <a:p>
            <a:pPr indent="0" marL="0">
              <a:buNone/>
            </a:pPr>
            <a:r>
              <a:rPr lang="en-US" sz="1600" b="1" dirty="0">
                <a:solidFill>
                  <a:schemeClr val="accent1"/>
                </a:solidFill>
              </a:rPr>
              <a:t>Trust, then verify every package.</a:t>
            </a:r>
            <a:endParaRPr lang="en-US" sz="16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cond evt="onBegin" delay="0">
                          <p:tn val="2"/>
                        </p:cond>
                      </p:stCondLst>
                      <p:childTnLst>
                        <p:par>
                          <p:cTn id="19"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5"/>
                                        </p:tgtEl>
                                        <p:attrNameLst>
                                          <p:attrName>style.visibility</p:attrName>
                                        </p:attrNameLst>
                                      </p:cBhvr>
                                      <p:to>
                                        <p:strVal val="visible"/>
                                      </p:to>
                                    </p:set>
                                    <p:anim calcmode="lin" valueType="num">
                                      <p:cBhvr additive="base">
                                        <p:cTn id="4" dur="400" fill="hold"/>
                                        <p:tgtEl>
                                          <p:spTgt spid="5"/>
                                        </p:tgtEl>
                                        <p:attrNameLst>
                                          <p:attrName>ppt_w</p:attrName>
                                        </p:attrNameLst>
                                      </p:cBhvr>
                                      <p:tavLst>
                                        <p:tav tm="0">
                                          <p:val>
                                            <p:fltVal val="0"/>
                                          </p:val>
                                        </p:tav>
                                        <p:tav tm="100000">
                                          <p:val>
                                            <p:strVal val="#ppt_w"/>
                                          </p:val>
                                        </p:tav>
                                      </p:tavLst>
                                    </p:anim>
                                    <p:anim calcmode="lin" valueType="num">
                                      <p:cBhvr additive="base">
                                        <p:cTn id="5" dur="400" fill="hold"/>
                                        <p:tgtEl>
                                          <p:spTgt spid="5"/>
                                        </p:tgtEl>
                                        <p:attrNameLst>
                                          <p:attrName>ppt_h</p:attrName>
                                        </p:attrNameLst>
                                      </p:cBhvr>
                                      <p:tavLst>
                                        <p:tav tm="0">
                                          <p:val>
                                            <p:fltVal val="0"/>
                                          </p:val>
                                        </p:tav>
                                        <p:tav tm="100000">
                                          <p:val>
                                            <p:strVal val="#ppt_h"/>
                                          </p:val>
                                        </p:tav>
                                      </p:tavLst>
                                    </p:anim>
                                    <p:animEffect transition="in" filter="fade">
                                      <p:cBhvr>
                                        <p:cTn id="6" dur="400"/>
                                        <p:tgtEl>
                                          <p:spTgt spid="5"/>
                                        </p:tgtEl>
                                      </p:cBhvr>
                                    </p:animEffect>
                                  </p:childTnLst>
                                </p:cTn>
                              </p:par>
                              <p:par>
                                <p:cTn id="10" presetID="10" presetClass="entr" presetSubtype="0" fill="hold" nodeType="withEffect">
                                  <p:stCondLst>
                                    <p:cond delay="20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300"/>
                                        <p:tgtEl>
                                          <p:spTgt spid="6"/>
                                        </p:tgtEl>
                                      </p:cBhvr>
                                    </p:animEffect>
                                  </p:childTnLst>
                                </p:cTn>
                              </p:par>
                              <p:par>
                                <p:cTn id="12" presetID="0" presetClass="path" presetSubtype="0" fill="hold" nodeType="withEffect">
                                  <p:stCondLst>
                                    <p:cond delay="600"/>
                                  </p:stCondLst>
                                  <p:childTnLst>
                                    <p:animMotion origin="layout" path="M 0 0 L 0.1 0 E" pathEditMode="relative">
                                      <p:cBhvr>
                                        <p:cTn id="11" dur="2400" fill="hold"/>
                                        <p:tgtEl>
                                          <p:spTgt spid="6"/>
                                        </p:tgtEl>
                                        <p:attrNameLst>
                                          <p:attrName>ppt_x</p:attrName>
                                          <p:attrName>ppt_y</p:attrName>
                                        </p:attrNameLst>
                                      </p:cBhvr>
                                      <p:rCtr x="0.05" y="0"/>
                                    </p:animMotion>
                                  </p:childTnLst>
                                </p:cTn>
                              </p:par>
                              <p:par>
                                <p:cTn id="17" presetID="53" presetClass="entr" presetSubtype="16" fill="hold" nodeType="withEffect">
                                  <p:stCondLst>
                                    <p:cond delay="300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ppt_w</p:attrName>
                                        </p:attrNameLst>
                                      </p:cBhvr>
                                      <p:tavLst>
                                        <p:tav tm="0">
                                          <p:val>
                                            <p:fltVal val="0"/>
                                          </p:val>
                                        </p:tav>
                                        <p:tav tm="100000">
                                          <p:val>
                                            <p:strVal val="#ppt_w"/>
                                          </p:val>
                                        </p:tav>
                                      </p:tavLst>
                                    </p:anim>
                                    <p:anim calcmode="lin" valueType="num">
                                      <p:cBhvr additive="base">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23" presetID="2" presetClass="entr" presetSubtype="2"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450" fill="hold"/>
                                        <p:tgtEl>
                                          <p:spTgt spid="7"/>
                                        </p:tgtEl>
                                        <p:attrNameLst>
                                          <p:attrName>ppt_x</p:attrName>
                                        </p:attrNameLst>
                                      </p:cBhvr>
                                      <p:tavLst>
                                        <p:tav tm="0">
                                          <p:val>
                                            <p:strVal val="1+#ppt_w/2"/>
                                          </p:val>
                                        </p:tav>
                                        <p:tav tm="100000">
                                          <p:val>
                                            <p:strVal val="#ppt_x"/>
                                          </p:val>
                                        </p:tav>
                                      </p:tavLst>
                                    </p:anim>
                                    <p:anim calcmode="lin" valueType="num">
                                      <p:cBhvr additive="base">
                                        <p:cTn id="22" dur="450" fill="hold"/>
                                        <p:tgtEl>
                                          <p:spTgt spid="7"/>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450" fill="hold"/>
                                        <p:tgtEl>
                                          <p:spTgt spid="8"/>
                                        </p:tgtEl>
                                        <p:attrNameLst>
                                          <p:attrName>ppt_x</p:attrName>
                                        </p:attrNameLst>
                                      </p:cBhvr>
                                      <p:tavLst>
                                        <p:tav tm="0">
                                          <p:val>
                                            <p:strVal val="1+#ppt_w/2"/>
                                          </p:val>
                                        </p:tav>
                                        <p:tav tm="100000">
                                          <p:val>
                                            <p:strVal val="#ppt_x"/>
                                          </p:val>
                                        </p:tav>
                                      </p:tavLst>
                                    </p:anim>
                                    <p:anim calcmode="lin" valueType="num">
                                      <p:cBhvr additive="base">
                                        <p:cTn id="26" dur="45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33" presetID="2" presetClass="entr" presetSubtype="2"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450" fill="hold"/>
                                        <p:tgtEl>
                                          <p:spTgt spid="9"/>
                                        </p:tgtEl>
                                        <p:attrNameLst>
                                          <p:attrName>ppt_x</p:attrName>
                                        </p:attrNameLst>
                                      </p:cBhvr>
                                      <p:tavLst>
                                        <p:tav tm="0">
                                          <p:val>
                                            <p:strVal val="1+#ppt_w/2"/>
                                          </p:val>
                                        </p:tav>
                                        <p:tav tm="100000">
                                          <p:val>
                                            <p:strVal val="#ppt_x"/>
                                          </p:val>
                                        </p:tav>
                                      </p:tavLst>
                                    </p:anim>
                                    <p:anim calcmode="lin" valueType="num">
                                      <p:cBhvr additive="base">
                                        <p:cTn id="32" dur="450" fill="hold"/>
                                        <p:tgtEl>
                                          <p:spTgt spid="9"/>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450" fill="hold"/>
                                        <p:tgtEl>
                                          <p:spTgt spid="10"/>
                                        </p:tgtEl>
                                        <p:attrNameLst>
                                          <p:attrName>ppt_x</p:attrName>
                                        </p:attrNameLst>
                                      </p:cBhvr>
                                      <p:tavLst>
                                        <p:tav tm="0">
                                          <p:val>
                                            <p:strVal val="1+#ppt_w/2"/>
                                          </p:val>
                                        </p:tav>
                                        <p:tav tm="100000">
                                          <p:val>
                                            <p:strVal val="#ppt_x"/>
                                          </p:val>
                                        </p:tav>
                                      </p:tavLst>
                                    </p:anim>
                                    <p:anim calcmode="lin" valueType="num">
                                      <p:cBhvr additive="base">
                                        <p:cTn id="36" dur="45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3" presetID="2" presetClass="entr" presetSubtype="2"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450" fill="hold"/>
                                        <p:tgtEl>
                                          <p:spTgt spid="11"/>
                                        </p:tgtEl>
                                        <p:attrNameLst>
                                          <p:attrName>ppt_x</p:attrName>
                                        </p:attrNameLst>
                                      </p:cBhvr>
                                      <p:tavLst>
                                        <p:tav tm="0">
                                          <p:val>
                                            <p:strVal val="1+#ppt_w/2"/>
                                          </p:val>
                                        </p:tav>
                                        <p:tav tm="100000">
                                          <p:val>
                                            <p:strVal val="#ppt_x"/>
                                          </p:val>
                                        </p:tav>
                                      </p:tavLst>
                                    </p:anim>
                                    <p:anim calcmode="lin" valueType="num">
                                      <p:cBhvr additive="base">
                                        <p:cTn id="42" dur="450" fill="hold"/>
                                        <p:tgtEl>
                                          <p:spTgt spid="11"/>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450" fill="hold"/>
                                        <p:tgtEl>
                                          <p:spTgt spid="12"/>
                                        </p:tgtEl>
                                        <p:attrNameLst>
                                          <p:attrName>ppt_x</p:attrName>
                                        </p:attrNameLst>
                                      </p:cBhvr>
                                      <p:tavLst>
                                        <p:tav tm="0">
                                          <p:val>
                                            <p:strVal val="1+#ppt_w/2"/>
                                          </p:val>
                                        </p:tav>
                                        <p:tav tm="100000">
                                          <p:val>
                                            <p:strVal val="#ppt_x"/>
                                          </p:val>
                                        </p:tav>
                                      </p:tavLst>
                                    </p:anim>
                                    <p:anim calcmode="lin" valueType="num">
                                      <p:cBhvr additive="base">
                                        <p:cTn id="46" dur="45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53" presetID="2" presetClass="entr" presetSubtype="4"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450" fill="hold"/>
                                        <p:tgtEl>
                                          <p:spTgt spid="13"/>
                                        </p:tgtEl>
                                        <p:attrNameLst>
                                          <p:attrName>ppt_x</p:attrName>
                                        </p:attrNameLst>
                                      </p:cBhvr>
                                      <p:tavLst>
                                        <p:tav tm="0">
                                          <p:val>
                                            <p:strVal val="#ppt_x"/>
                                          </p:val>
                                        </p:tav>
                                        <p:tav tm="100000">
                                          <p:val>
                                            <p:strVal val="#ppt_x"/>
                                          </p:val>
                                        </p:tav>
                                      </p:tavLst>
                                    </p:anim>
                                    <p:anim calcmode="lin" valueType="num">
                                      <p:cBhvr additive="base">
                                        <p:cTn id="52" dur="450" fill="hold"/>
                                        <p:tgtEl>
                                          <p:spTgt spid="13"/>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15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450" fill="hold"/>
                                        <p:tgtEl>
                                          <p:spTgt spid="14"/>
                                        </p:tgtEl>
                                        <p:attrNameLst>
                                          <p:attrName>ppt_x</p:attrName>
                                        </p:attrNameLst>
                                      </p:cBhvr>
                                      <p:tavLst>
                                        <p:tav tm="0">
                                          <p:val>
                                            <p:strVal val="#ppt_x"/>
                                          </p:val>
                                        </p:tav>
                                        <p:tav tm="100000">
                                          <p:val>
                                            <p:strVal val="#ppt_x"/>
                                          </p:val>
                                        </p:tav>
                                      </p:tavLst>
                                    </p:anim>
                                    <p:anim calcmode="lin" valueType="num">
                                      <p:cBhvr additive="base">
                                        <p:cTn id="56"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450" fill="hold"/>
                                        <p:tgtEl>
                                          <p:spTgt spid="15"/>
                                        </p:tgtEl>
                                        <p:attrNameLst>
                                          <p:attrName>ppt_w</p:attrName>
                                        </p:attrNameLst>
                                      </p:cBhvr>
                                      <p:tavLst>
                                        <p:tav tm="0">
                                          <p:val>
                                            <p:fltVal val="0"/>
                                          </p:val>
                                        </p:tav>
                                        <p:tav tm="100000">
                                          <p:val>
                                            <p:strVal val="#ppt_w"/>
                                          </p:val>
                                        </p:tav>
                                      </p:tavLst>
                                    </p:anim>
                                    <p:anim calcmode="lin" valueType="num">
                                      <p:cBhvr additive="base">
                                        <p:cTn id="62" dur="450" fill="hold"/>
                                        <p:tgtEl>
                                          <p:spTgt spid="15"/>
                                        </p:tgtEl>
                                        <p:attrNameLst>
                                          <p:attrName>ppt_h</p:attrName>
                                        </p:attrNameLst>
                                      </p:cBhvr>
                                      <p:tavLst>
                                        <p:tav tm="0">
                                          <p:val>
                                            <p:fltVal val="0"/>
                                          </p:val>
                                        </p:tav>
                                        <p:tav tm="100000">
                                          <p:val>
                                            <p:strVal val="#ppt_h"/>
                                          </p:val>
                                        </p:tav>
                                      </p:tavLst>
                                    </p:anim>
                                    <p:animEffect transition="in" filter="fade">
                                      <p:cBhvr>
                                        <p:cTn id="63"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A04 · Cryptographic Failures: the story</a:t>
            </a:r>
            <a:endParaRPr lang="en-US" sz="3000" dirty="0"/>
          </a:p>
        </p:txBody>
      </p:sp>
      <p:sp>
        <p:nvSpPr>
          <p:cNvPr id="4" name="Station 0"/>
          <p:cNvSpPr txBox="1"/>
          <p:nvPr/>
        </p:nvSpPr>
        <p:spPr>
          <a:xfrm>
            <a:off x="2926080" y="2880360"/>
            <a:ext cx="1737360" cy="868680"/>
          </a:xfrm>
          <a:prstGeom prst="roundRect">
            <a:avLst>
              <a:gd name="adj" fmla="val 12632"/>
            </a:avLst>
          </a:prstGeom>
          <a:solidFill>
            <a:schemeClr val="bg2"/>
          </a:solidFill>
          <a:ln w="15875">
            <a:solidFill>
              <a:schemeClr val="accent5"/>
            </a:solidFill>
          </a:ln>
        </p:spPr>
        <p:txBody>
          <a:bodyPr wrap="square" lIns="50800" tIns="50800" rIns="50800" bIns="50800" rtlCol="0" anchor="ctr"/>
          <a:lstStyle/>
          <a:p>
            <a:pPr algn="ctr" indent="0" marL="0">
              <a:buNone/>
            </a:pPr>
            <a:r>
              <a:rPr lang="en-US" sz="1500" b="1" dirty="0">
                <a:solidFill>
                  <a:schemeClr val="accent5"/>
                </a:solidFill>
              </a:rPr>
              <a:t>Angular app</a:t>
            </a:r>
            <a:endParaRPr lang="en-US" sz="1500" dirty="0"/>
          </a:p>
          <a:p>
            <a:pPr algn="ctr" indent="0" marL="0">
              <a:buNone/>
            </a:pPr>
            <a:r>
              <a:rPr lang="en-US" sz="1200" dirty="0">
                <a:solidFill>
                  <a:schemeClr val="tx2"/>
                </a:solidFill>
              </a:rPr>
              <a:t>CryptoJS in the bundle</a:t>
            </a:r>
            <a:endParaRPr lang="en-US" sz="1500" dirty="0"/>
          </a:p>
        </p:txBody>
      </p:sp>
      <p:sp>
        <p:nvSpPr>
          <p:cNvPr id="5" name="Station 1"/>
          <p:cNvSpPr txBox="1"/>
          <p:nvPr/>
        </p:nvSpPr>
        <p:spPr>
          <a:xfrm>
            <a:off x="4846320" y="2880360"/>
            <a:ext cx="1737360" cy="868680"/>
          </a:xfrm>
          <a:prstGeom prst="roundRect">
            <a:avLst>
              <a:gd name="adj" fmla="val 12632"/>
            </a:avLst>
          </a:prstGeom>
          <a:solidFill>
            <a:schemeClr val="bg2"/>
          </a:solidFill>
          <a:ln w="15875">
            <a:solidFill>
              <a:schemeClr val="accent1"/>
            </a:solidFill>
          </a:ln>
        </p:spPr>
        <p:txBody>
          <a:bodyPr wrap="square" lIns="50800" tIns="50800" rIns="50800" bIns="50800" rtlCol="0" anchor="ctr"/>
          <a:lstStyle/>
          <a:p>
            <a:pPr algn="ctr" indent="0" marL="0">
              <a:buNone/>
            </a:pPr>
            <a:r>
              <a:rPr lang="en-US" sz="1500" b="1" dirty="0">
                <a:solidFill>
                  <a:schemeClr val="accent1"/>
                </a:solidFill>
              </a:rPr>
              <a:t>.NET API</a:t>
            </a:r>
            <a:endParaRPr lang="en-US" sz="1500" dirty="0"/>
          </a:p>
          <a:p>
            <a:pPr algn="ctr" indent="0" marL="0">
              <a:buNone/>
            </a:pPr>
            <a:r>
              <a:rPr lang="en-US" sz="1200" dirty="0">
                <a:solidFill>
                  <a:schemeClr val="tx2"/>
                </a:solidFill>
              </a:rPr>
              <a:t>MD5 password hash</a:t>
            </a:r>
            <a:endParaRPr lang="en-US" sz="1500" dirty="0"/>
          </a:p>
        </p:txBody>
      </p:sp>
      <p:sp>
        <p:nvSpPr>
          <p:cNvPr id="6" name="Station 2"/>
          <p:cNvSpPr txBox="1"/>
          <p:nvPr/>
        </p:nvSpPr>
        <p:spPr>
          <a:xfrm>
            <a:off x="6766560" y="2880360"/>
            <a:ext cx="1737360" cy="868680"/>
          </a:xfrm>
          <a:prstGeom prst="roundRect">
            <a:avLst>
              <a:gd name="adj" fmla="val 12632"/>
            </a:avLst>
          </a:prstGeom>
          <a:solidFill>
            <a:schemeClr val="bg2"/>
          </a:solidFill>
          <a:ln w="15875">
            <a:solidFill>
              <a:schemeClr val="accent4"/>
            </a:solidFill>
          </a:ln>
        </p:spPr>
        <p:txBody>
          <a:bodyPr wrap="square" lIns="50800" tIns="50800" rIns="50800" bIns="50800" rtlCol="0" anchor="ctr"/>
          <a:lstStyle/>
          <a:p>
            <a:pPr algn="ctr" indent="0" marL="0">
              <a:buNone/>
            </a:pPr>
            <a:r>
              <a:rPr lang="en-US" sz="1500" b="1" dirty="0">
                <a:solidFill>
                  <a:schemeClr val="accent4"/>
                </a:solidFill>
              </a:rPr>
              <a:t>Oracle DB</a:t>
            </a:r>
            <a:endParaRPr lang="en-US" sz="1500" dirty="0"/>
          </a:p>
          <a:p>
            <a:pPr algn="ctr" indent="0" marL="0">
              <a:buNone/>
            </a:pPr>
            <a:r>
              <a:rPr lang="en-US" sz="1200" dirty="0">
                <a:solidFill>
                  <a:schemeClr val="tx2"/>
                </a:solidFill>
              </a:rPr>
              <a:t>users table</a:t>
            </a:r>
            <a:endParaRPr lang="en-US" sz="1500" dirty="0"/>
          </a:p>
        </p:txBody>
      </p:sp>
      <p:pic>
        <p:nvPicPr>
          <p:cNvPr id="7" name="Hacker" descr="Hacker cartoon">    </p:cNvPr>
          <p:cNvPicPr>
            <a:picLocks noChangeAspect="1"/>
          </p:cNvPicPr>
          <p:nvPr/>
        </p:nvPicPr>
        <p:blipFill>
          <a:blip r:embed="rId1"/>
          <a:stretch>
            <a:fillRect/>
          </a:stretch>
        </p:blipFill>
        <p:spPr>
          <a:xfrm>
            <a:off x="365760" y="2606040"/>
            <a:ext cx="1188720" cy="1188720"/>
          </a:xfrm>
          <a:prstGeom prst="rect">
            <a:avLst/>
          </a:prstGeom>
        </p:spPr>
      </p:pic>
      <p:sp>
        <p:nvSpPr>
          <p:cNvPr id="8" name="Bubble 0"/>
          <p:cNvSpPr txBox="1"/>
          <p:nvPr/>
        </p:nvSpPr>
        <p:spPr>
          <a:xfrm>
            <a:off x="457200" y="1097280"/>
            <a:ext cx="1920240" cy="1097280"/>
          </a:xfrm>
          <a:prstGeom prst="roundRect">
            <a:avLst>
              <a:gd name="adj" fmla="val 11667"/>
            </a:avLst>
          </a:prstGeom>
          <a:solidFill>
            <a:schemeClr val="bg2"/>
          </a:solidFill>
          <a:ln w="19050">
            <a:solidFill>
              <a:schemeClr val="accent6"/>
            </a:solidFill>
          </a:ln>
        </p:spPr>
        <p:txBody>
          <a:bodyPr wrap="square" lIns="114300" tIns="63500" rIns="101600" bIns="50800" rtlCol="0" anchor="t"/>
          <a:lstStyle/>
          <a:p>
            <a:pPr algn="l" indent="0" marL="0">
              <a:buNone/>
            </a:pPr>
            <a:r>
              <a:rPr lang="en-US" sz="1100" b="1" spc="200" kern="0" dirty="0">
                <a:solidFill>
                  <a:schemeClr val="accent6"/>
                </a:solidFill>
              </a:rPr>
              <a:t>HACKER</a:t>
            </a:r>
            <a:endParaRPr lang="en-US" sz="1100" dirty="0"/>
          </a:p>
          <a:p>
            <a:pPr algn="l" indent="0" marL="0">
              <a:buNone/>
            </a:pPr>
            <a:r>
              <a:rPr lang="en-US" sz="1300" dirty="0">
                <a:solidFill>
                  <a:schemeClr val="tx1"/>
                </a:solidFill>
              </a:rPr>
              <a:t>I got a database backup. The passwords are plain MD5 hashes.</a:t>
            </a:r>
            <a:endParaRPr lang="en-US" sz="1100" dirty="0"/>
          </a:p>
        </p:txBody>
      </p:sp>
      <p:sp>
        <p:nvSpPr>
          <p:cNvPr id="9" name="Bubble 1"/>
          <p:cNvSpPr txBox="1"/>
          <p:nvPr/>
        </p:nvSpPr>
        <p:spPr>
          <a:xfrm>
            <a:off x="2560320" y="1097280"/>
            <a:ext cx="1920240" cy="1097280"/>
          </a:xfrm>
          <a:prstGeom prst="roundRect">
            <a:avLst>
              <a:gd name="adj" fmla="val 11667"/>
            </a:avLst>
          </a:prstGeom>
          <a:solidFill>
            <a:schemeClr val="bg2"/>
          </a:solidFill>
          <a:ln w="19050">
            <a:solidFill>
              <a:schemeClr val="accent4"/>
            </a:solidFill>
          </a:ln>
        </p:spPr>
        <p:txBody>
          <a:bodyPr wrap="square" lIns="114300" tIns="63500" rIns="101600" bIns="50800" rtlCol="0" anchor="t"/>
          <a:lstStyle/>
          <a:p>
            <a:pPr algn="l" indent="0" marL="0">
              <a:buNone/>
            </a:pPr>
            <a:r>
              <a:rPr lang="en-US" sz="1100" b="1" spc="200" kern="0" dirty="0">
                <a:solidFill>
                  <a:schemeClr val="accent4"/>
                </a:solidFill>
              </a:rPr>
              <a:t>DATABASE</a:t>
            </a:r>
            <a:endParaRPr lang="en-US" sz="1100" dirty="0"/>
          </a:p>
          <a:p>
            <a:pPr algn="l" indent="0" marL="0">
              <a:buNone/>
            </a:pPr>
            <a:r>
              <a:rPr lang="en-US" sz="1300" dirty="0">
                <a:solidFill>
                  <a:schemeClr val="tx1"/>
                </a:solidFill>
              </a:rPr>
              <a:t>No salt and no work factor. They are very fast to crack.</a:t>
            </a:r>
            <a:endParaRPr lang="en-US" sz="1100" dirty="0"/>
          </a:p>
        </p:txBody>
      </p:sp>
      <p:sp>
        <p:nvSpPr>
          <p:cNvPr id="10" name="Bubble 2"/>
          <p:cNvSpPr txBox="1"/>
          <p:nvPr/>
        </p:nvSpPr>
        <p:spPr>
          <a:xfrm>
            <a:off x="4663440" y="1097280"/>
            <a:ext cx="1920240" cy="1097280"/>
          </a:xfrm>
          <a:prstGeom prst="roundRect">
            <a:avLst>
              <a:gd name="adj" fmla="val 11667"/>
            </a:avLst>
          </a:prstGeom>
          <a:solidFill>
            <a:schemeClr val="bg2"/>
          </a:solidFill>
          <a:ln w="19050">
            <a:solidFill>
              <a:schemeClr val="accent6"/>
            </a:solidFill>
          </a:ln>
        </p:spPr>
        <p:txBody>
          <a:bodyPr wrap="square" lIns="114300" tIns="63500" rIns="101600" bIns="50800" rtlCol="0" anchor="t"/>
          <a:lstStyle/>
          <a:p>
            <a:pPr algn="l" indent="0" marL="0">
              <a:buNone/>
            </a:pPr>
            <a:r>
              <a:rPr lang="en-US" sz="1100" b="1" spc="200" kern="0" dirty="0">
                <a:solidFill>
                  <a:schemeClr val="accent6"/>
                </a:solidFill>
              </a:rPr>
              <a:t>HACKER</a:t>
            </a:r>
            <a:endParaRPr lang="en-US" sz="1100" dirty="0"/>
          </a:p>
          <a:p>
            <a:pPr algn="l" indent="0" marL="0">
              <a:buNone/>
            </a:pPr>
            <a:r>
              <a:rPr lang="en-US" sz="1300" dirty="0">
                <a:solidFill>
                  <a:schemeClr val="tx1"/>
                </a:solidFill>
              </a:rPr>
              <a:t>One gaming GPU tests billions of guesses every second.</a:t>
            </a:r>
            <a:endParaRPr lang="en-US" sz="1100" dirty="0"/>
          </a:p>
        </p:txBody>
      </p:sp>
      <p:sp>
        <p:nvSpPr>
          <p:cNvPr id="11" name="Bubble 3"/>
          <p:cNvSpPr txBox="1"/>
          <p:nvPr/>
        </p:nvSpPr>
        <p:spPr>
          <a:xfrm>
            <a:off x="6766560" y="1097280"/>
            <a:ext cx="1920240" cy="1097280"/>
          </a:xfrm>
          <a:prstGeom prst="roundRect">
            <a:avLst>
              <a:gd name="adj" fmla="val 11667"/>
            </a:avLst>
          </a:prstGeom>
          <a:solidFill>
            <a:schemeClr val="bg2"/>
          </a:solidFill>
          <a:ln w="19050">
            <a:solidFill>
              <a:schemeClr val="accent2"/>
            </a:solidFill>
          </a:ln>
        </p:spPr>
        <p:txBody>
          <a:bodyPr wrap="square" lIns="114300" tIns="63500" rIns="101600" bIns="50800" rtlCol="0" anchor="t"/>
          <a:lstStyle/>
          <a:p>
            <a:pPr algn="l" indent="0" marL="0">
              <a:buNone/>
            </a:pPr>
            <a:r>
              <a:rPr lang="en-US" sz="1100" b="1" spc="200" kern="0" dirty="0">
                <a:solidFill>
                  <a:schemeClr val="accent2"/>
                </a:solidFill>
              </a:rPr>
              <a:t>RESULT</a:t>
            </a:r>
            <a:endParaRPr lang="en-US" sz="1100" dirty="0"/>
          </a:p>
          <a:p>
            <a:pPr algn="l" indent="0" marL="0">
              <a:buNone/>
            </a:pPr>
            <a:r>
              <a:rPr lang="en-US" sz="1300" dirty="0">
                <a:solidFill>
                  <a:schemeClr val="tx1"/>
                </a:solidFill>
              </a:rPr>
              <a:t>Users reuse passwords, so other systems fall as well.</a:t>
            </a:r>
            <a:endParaRPr lang="en-US" sz="1100" dirty="0"/>
          </a:p>
        </p:txBody>
      </p:sp>
      <p:sp>
        <p:nvSpPr>
          <p:cNvPr id="12" name="Damage"/>
          <p:cNvSpPr txBox="1"/>
          <p:nvPr/>
        </p:nvSpPr>
        <p:spPr>
          <a:xfrm>
            <a:off x="8138160" y="2697480"/>
            <a:ext cx="384048" cy="384048"/>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pic>
        <p:nvPicPr>
          <p:cNvPr id="13" name="Bug" descr="Bug cartoon">    </p:cNvPr>
          <p:cNvPicPr>
            <a:picLocks noChangeAspect="1"/>
          </p:cNvPicPr>
          <p:nvPr/>
        </p:nvPicPr>
        <p:blipFill>
          <a:blip r:embed="rId2"/>
          <a:stretch>
            <a:fillRect/>
          </a:stretch>
        </p:blipFill>
        <p:spPr>
          <a:xfrm>
            <a:off x="6949440" y="2103120"/>
            <a:ext cx="822960" cy="822960"/>
          </a:xfrm>
          <a:prstGeom prst="rect">
            <a:avLst/>
          </a:prstGeom>
        </p:spPr>
      </p:pic>
      <p:sp>
        <p:nvSpPr>
          <p:cNvPr id="14" name="Moral"/>
          <p:cNvSpPr txBox="1"/>
          <p:nvPr/>
        </p:nvSpPr>
        <p:spPr>
          <a:xfrm>
            <a:off x="457200" y="3977640"/>
            <a:ext cx="8229600" cy="548640"/>
          </a:xfrm>
          <a:prstGeom prst="rect">
            <a:avLst/>
          </a:prstGeom>
          <a:noFill/>
          <a:ln/>
        </p:spPr>
        <p:txBody>
          <a:bodyPr wrap="square" lIns="0" tIns="0" rIns="0" bIns="0" rtlCol="0" anchor="ctr"/>
          <a:lstStyle/>
          <a:p>
            <a:pPr indent="0" marL="0">
              <a:buNone/>
            </a:pPr>
            <a:r>
              <a:rPr lang="en-US" sz="2200" b="1" i="1" dirty="0">
                <a:solidFill>
                  <a:schemeClr val="accent1"/>
                </a:solidFill>
              </a:rPr>
              <a:t>Fast hashes and browser-side keys protect nothing.</a:t>
            </a:r>
            <a:endParaRPr lang="en-US" sz="22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0" fill="hold">
                      <p:stCondLst>
                        <p:cond delay="indefinite"/>
                        <p:cond evt="onBegin" delay="0">
                          <p:tn val="2"/>
                        </p:cond>
                      </p:stCondLst>
                      <p:childTnLst>
                        <p:par>
                          <p:cTn id="21" fill="hold">
                            <p:stCondLst>
                              <p:cond delay="0"/>
                            </p:stCondLst>
                            <p:childTnLst>
                              <p:par>
                                <p:cTn id="6" presetID="2" presetClass="entr" presetSubtype="4" fill="hold" grpId="0" nodeType="afterEffect">
                                  <p:stCondLst>
                                    <p:cond delay="0"/>
                                  </p:stCondLst>
                                  <p:childTnLst>
                                    <p:set>
                                      <p:cBhvr>
                                        <p:cTn id="3" dur="1" fill="hold">
                                          <p:stCondLst>
                                            <p:cond delay="0"/>
                                          </p:stCondLst>
                                        </p:cTn>
                                        <p:tgtEl>
                                          <p:spTgt spid="4"/>
                                        </p:tgtEl>
                                        <p:attrNameLst>
                                          <p:attrName>style.visibility</p:attrName>
                                        </p:attrNameLst>
                                      </p:cBhvr>
                                      <p:to>
                                        <p:strVal val="visible"/>
                                      </p:to>
                                    </p:set>
                                    <p:anim calcmode="lin" valueType="num">
                                      <p:cBhvr additive="base">
                                        <p:cTn id="4" dur="450" fill="hold"/>
                                        <p:tgtEl>
                                          <p:spTgt spid="4"/>
                                        </p:tgtEl>
                                        <p:attrNameLst>
                                          <p:attrName>ppt_x</p:attrName>
                                        </p:attrNameLst>
                                      </p:cBhvr>
                                      <p:tavLst>
                                        <p:tav tm="0">
                                          <p:val>
                                            <p:strVal val="#ppt_x"/>
                                          </p:val>
                                        </p:tav>
                                        <p:tav tm="100000">
                                          <p:val>
                                            <p:strVal val="#ppt_x"/>
                                          </p:val>
                                        </p:tav>
                                      </p:tavLst>
                                    </p:anim>
                                    <p:anim calcmode="lin" valueType="num">
                                      <p:cBhvr additive="base">
                                        <p:cTn id="5" dur="450" fill="hold"/>
                                        <p:tgtEl>
                                          <p:spTgt spid="4"/>
                                        </p:tgtEl>
                                        <p:attrNameLst>
                                          <p:attrName>ppt_y</p:attrName>
                                        </p:attrNameLst>
                                      </p:cBhvr>
                                      <p:tavLst>
                                        <p:tav tm="0">
                                          <p:val>
                                            <p:strVal val="1+#ppt_h/2"/>
                                          </p:val>
                                        </p:tav>
                                        <p:tav tm="100000">
                                          <p:val>
                                            <p:strVal val="#ppt_y"/>
                                          </p:val>
                                        </p:tav>
                                      </p:tavLst>
                                    </p:anim>
                                  </p:childTnLst>
                                </p:cTn>
                              </p:par>
                              <p:par>
                                <p:cTn id="10" presetID="2" presetClass="entr" presetSubtype="4" fill="hold" grpId="0" nodeType="withEffect">
                                  <p:stCondLst>
                                    <p:cond delay="200"/>
                                  </p:stCondLst>
                                  <p:childTnLst>
                                    <p:set>
                                      <p:cBhvr>
                                        <p:cTn id="7" dur="1" fill="hold">
                                          <p:stCondLst>
                                            <p:cond delay="0"/>
                                          </p:stCondLst>
                                        </p:cTn>
                                        <p:tgtEl>
                                          <p:spTgt spid="5"/>
                                        </p:tgtEl>
                                        <p:attrNameLst>
                                          <p:attrName>style.visibility</p:attrName>
                                        </p:attrNameLst>
                                      </p:cBhvr>
                                      <p:to>
                                        <p:strVal val="visible"/>
                                      </p:to>
                                    </p:set>
                                    <p:anim calcmode="lin" valueType="num">
                                      <p:cBhvr additive="base">
                                        <p:cTn id="8" dur="450" fill="hold"/>
                                        <p:tgtEl>
                                          <p:spTgt spid="5"/>
                                        </p:tgtEl>
                                        <p:attrNameLst>
                                          <p:attrName>ppt_x</p:attrName>
                                        </p:attrNameLst>
                                      </p:cBhvr>
                                      <p:tavLst>
                                        <p:tav tm="0">
                                          <p:val>
                                            <p:strVal val="#ppt_x"/>
                                          </p:val>
                                        </p:tav>
                                        <p:tav tm="100000">
                                          <p:val>
                                            <p:strVal val="#ppt_x"/>
                                          </p:val>
                                        </p:tav>
                                      </p:tavLst>
                                    </p:anim>
                                    <p:anim calcmode="lin" valueType="num">
                                      <p:cBhvr additive="base">
                                        <p:cTn id="9" dur="450" fill="hold"/>
                                        <p:tgtEl>
                                          <p:spTgt spid="5"/>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40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450" fill="hold"/>
                                        <p:tgtEl>
                                          <p:spTgt spid="6"/>
                                        </p:tgtEl>
                                        <p:attrNameLst>
                                          <p:attrName>ppt_x</p:attrName>
                                        </p:attrNameLst>
                                      </p:cBhvr>
                                      <p:tavLst>
                                        <p:tav tm="0">
                                          <p:val>
                                            <p:strVal val="#ppt_x"/>
                                          </p:val>
                                        </p:tav>
                                        <p:tav tm="100000">
                                          <p:val>
                                            <p:strVal val="#ppt_x"/>
                                          </p:val>
                                        </p:tav>
                                      </p:tavLst>
                                    </p:anim>
                                    <p:anim calcmode="lin" valueType="num">
                                      <p:cBhvr additive="base">
                                        <p:cTn id="13" dur="450" fill="hold"/>
                                        <p:tgtEl>
                                          <p:spTgt spid="6"/>
                                        </p:tgtEl>
                                        <p:attrNameLst>
                                          <p:attrName>ppt_y</p:attrName>
                                        </p:attrNameLst>
                                      </p:cBhvr>
                                      <p:tavLst>
                                        <p:tav tm="0">
                                          <p:val>
                                            <p:strVal val="1+#ppt_h/2"/>
                                          </p:val>
                                        </p:tav>
                                        <p:tav tm="100000">
                                          <p:val>
                                            <p:strVal val="#ppt_y"/>
                                          </p:val>
                                        </p:tav>
                                      </p:tavLst>
                                    </p:anim>
                                  </p:childTnLst>
                                </p:cTn>
                              </p:par>
                              <p:par>
                                <p:cTn id="17"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par>
                                <p:cTn id="19" presetID="0" presetClass="path" presetSubtype="0" fill="hold" nodeType="withEffect">
                                  <p:stCondLst>
                                    <p:cond delay="500"/>
                                  </p:stCondLst>
                                  <p:childTnLst>
                                    <p:animMotion origin="layout" path="M 0 0 L 0.12 0 E" pathEditMode="relative">
                                      <p:cBhvr>
                                        <p:cTn id="18" dur="2600" fill="hold"/>
                                        <p:tgtEl>
                                          <p:spTgt spid="7"/>
                                        </p:tgtEl>
                                        <p:attrNameLst>
                                          <p:attrName>ppt_x</p:attrName>
                                          <p:attrName>ppt_y</p:attrName>
                                        </p:attrNameLst>
                                      </p:cBhvr>
                                      <p:rCtr x="0.06" y="0"/>
                                    </p:animMotion>
                                  </p:childTnLst>
                                </p:cTn>
                              </p:par>
                            </p:childTnLst>
                          </p:cTn>
                        </p:par>
                      </p:childTnLst>
                    </p:cTn>
                  </p:par>
                  <p:par>
                    <p:cTn id="27" fill="hold">
                      <p:stCondLst>
                        <p:cond delay="indefinite"/>
                      </p:stCondLst>
                      <p:childTnLst>
                        <p:par>
                          <p:cTn id="28" fill="hold">
                            <p:stCondLst>
                              <p:cond delay="0"/>
                            </p:stCondLst>
                            <p:childTnLst>
                              <p:par>
                                <p:cTn id="26" presetID="53" presetClass="entr" presetSubtype="16"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450" fill="hold"/>
                                        <p:tgtEl>
                                          <p:spTgt spid="8"/>
                                        </p:tgtEl>
                                        <p:attrNameLst>
                                          <p:attrName>ppt_w</p:attrName>
                                        </p:attrNameLst>
                                      </p:cBhvr>
                                      <p:tavLst>
                                        <p:tav tm="0">
                                          <p:val>
                                            <p:fltVal val="0"/>
                                          </p:val>
                                        </p:tav>
                                        <p:tav tm="100000">
                                          <p:val>
                                            <p:strVal val="#ppt_w"/>
                                          </p:val>
                                        </p:tav>
                                      </p:tavLst>
                                    </p:anim>
                                    <p:anim calcmode="lin" valueType="num">
                                      <p:cBhvr additive="base">
                                        <p:cTn id="24" dur="450" fill="hold"/>
                                        <p:tgtEl>
                                          <p:spTgt spid="8"/>
                                        </p:tgtEl>
                                        <p:attrNameLst>
                                          <p:attrName>ppt_h</p:attrName>
                                        </p:attrNameLst>
                                      </p:cBhvr>
                                      <p:tavLst>
                                        <p:tav tm="0">
                                          <p:val>
                                            <p:fltVal val="0"/>
                                          </p:val>
                                        </p:tav>
                                        <p:tav tm="100000">
                                          <p:val>
                                            <p:strVal val="#ppt_h"/>
                                          </p:val>
                                        </p:tav>
                                      </p:tavLst>
                                    </p:anim>
                                    <p:animEffect transition="in" filter="fade">
                                      <p:cBhvr>
                                        <p:cTn id="25" dur="450"/>
                                        <p:tgtEl>
                                          <p:spTgt spid="8"/>
                                        </p:tgtEl>
                                      </p:cBhvr>
                                    </p:animEffect>
                                  </p:childTnLst>
                                </p:cTn>
                              </p:par>
                            </p:childTnLst>
                          </p:cTn>
                        </p:par>
                      </p:childTnLst>
                    </p:cTn>
                  </p:par>
                  <p:par>
                    <p:cTn id="34" fill="hold">
                      <p:stCondLst>
                        <p:cond delay="indefinite"/>
                      </p:stCondLst>
                      <p:childTnLst>
                        <p:par>
                          <p:cTn id="35" fill="hold">
                            <p:stCondLst>
                              <p:cond delay="0"/>
                            </p:stCondLst>
                            <p:childTnLst>
                              <p:par>
                                <p:cTn id="33" presetID="53" presetClass="entr" presetSubtype="16"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450" fill="hold"/>
                                        <p:tgtEl>
                                          <p:spTgt spid="9"/>
                                        </p:tgtEl>
                                        <p:attrNameLst>
                                          <p:attrName>ppt_w</p:attrName>
                                        </p:attrNameLst>
                                      </p:cBhvr>
                                      <p:tavLst>
                                        <p:tav tm="0">
                                          <p:val>
                                            <p:fltVal val="0"/>
                                          </p:val>
                                        </p:tav>
                                        <p:tav tm="100000">
                                          <p:val>
                                            <p:strVal val="#ppt_w"/>
                                          </p:val>
                                        </p:tav>
                                      </p:tavLst>
                                    </p:anim>
                                    <p:anim calcmode="lin" valueType="num">
                                      <p:cBhvr additive="base">
                                        <p:cTn id="31" dur="450" fill="hold"/>
                                        <p:tgtEl>
                                          <p:spTgt spid="9"/>
                                        </p:tgtEl>
                                        <p:attrNameLst>
                                          <p:attrName>ppt_h</p:attrName>
                                        </p:attrNameLst>
                                      </p:cBhvr>
                                      <p:tavLst>
                                        <p:tav tm="0">
                                          <p:val>
                                            <p:fltVal val="0"/>
                                          </p:val>
                                        </p:tav>
                                        <p:tav tm="100000">
                                          <p:val>
                                            <p:strVal val="#ppt_h"/>
                                          </p:val>
                                        </p:tav>
                                      </p:tavLst>
                                    </p:anim>
                                    <p:animEffect transition="in" filter="fade">
                                      <p:cBhvr>
                                        <p:cTn id="32" dur="450"/>
                                        <p:tgtEl>
                                          <p:spTgt spid="9"/>
                                        </p:tgtEl>
                                      </p:cBhvr>
                                    </p:animEffect>
                                  </p:childTnLst>
                                </p:cTn>
                              </p:par>
                            </p:childTnLst>
                          </p:cTn>
                        </p:par>
                      </p:childTnLst>
                    </p:cTn>
                  </p:par>
                  <p:par>
                    <p:cTn id="51" fill="hold">
                      <p:stCondLst>
                        <p:cond delay="indefinite"/>
                      </p:stCondLst>
                      <p:childTnLst>
                        <p:par>
                          <p:cTn id="52" fill="hold">
                            <p:stCondLst>
                              <p:cond delay="0"/>
                            </p:stCondLst>
                            <p:childTnLst>
                              <p:par>
                                <p:cTn id="40" presetID="53" presetClass="entr" presetSubtype="16"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450" fill="hold"/>
                                        <p:tgtEl>
                                          <p:spTgt spid="10"/>
                                        </p:tgtEl>
                                        <p:attrNameLst>
                                          <p:attrName>ppt_w</p:attrName>
                                        </p:attrNameLst>
                                      </p:cBhvr>
                                      <p:tavLst>
                                        <p:tav tm="0">
                                          <p:val>
                                            <p:fltVal val="0"/>
                                          </p:val>
                                        </p:tav>
                                        <p:tav tm="100000">
                                          <p:val>
                                            <p:strVal val="#ppt_w"/>
                                          </p:val>
                                        </p:tav>
                                      </p:tavLst>
                                    </p:anim>
                                    <p:anim calcmode="lin" valueType="num">
                                      <p:cBhvr additive="base">
                                        <p:cTn id="38" dur="450" fill="hold"/>
                                        <p:tgtEl>
                                          <p:spTgt spid="10"/>
                                        </p:tgtEl>
                                        <p:attrNameLst>
                                          <p:attrName>ppt_h</p:attrName>
                                        </p:attrNameLst>
                                      </p:cBhvr>
                                      <p:tavLst>
                                        <p:tav tm="0">
                                          <p:val>
                                            <p:fltVal val="0"/>
                                          </p:val>
                                        </p:tav>
                                        <p:tav tm="100000">
                                          <p:val>
                                            <p:strVal val="#ppt_h"/>
                                          </p:val>
                                        </p:tav>
                                      </p:tavLst>
                                    </p:anim>
                                    <p:animEffect transition="in" filter="fade">
                                      <p:cBhvr>
                                        <p:cTn id="39" dur="450"/>
                                        <p:tgtEl>
                                          <p:spTgt spid="10"/>
                                        </p:tgtEl>
                                      </p:cBhvr>
                                    </p:animEffect>
                                  </p:childTnLst>
                                </p:cTn>
                              </p:par>
                              <p:par>
                                <p:cTn id="45" presetID="53" presetClass="entr" presetSubtype="16" fill="hold" grpId="0" nodeType="withEffect">
                                  <p:stCondLst>
                                    <p:cond delay="25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350" fill="hold"/>
                                        <p:tgtEl>
                                          <p:spTgt spid="12"/>
                                        </p:tgtEl>
                                        <p:attrNameLst>
                                          <p:attrName>ppt_w</p:attrName>
                                        </p:attrNameLst>
                                      </p:cBhvr>
                                      <p:tavLst>
                                        <p:tav tm="0">
                                          <p:val>
                                            <p:fltVal val="0"/>
                                          </p:val>
                                        </p:tav>
                                        <p:tav tm="100000">
                                          <p:val>
                                            <p:strVal val="#ppt_w"/>
                                          </p:val>
                                        </p:tav>
                                      </p:tavLst>
                                    </p:anim>
                                    <p:anim calcmode="lin" valueType="num">
                                      <p:cBhvr additive="base">
                                        <p:cTn id="43" dur="350" fill="hold"/>
                                        <p:tgtEl>
                                          <p:spTgt spid="12"/>
                                        </p:tgtEl>
                                        <p:attrNameLst>
                                          <p:attrName>ppt_h</p:attrName>
                                        </p:attrNameLst>
                                      </p:cBhvr>
                                      <p:tavLst>
                                        <p:tav tm="0">
                                          <p:val>
                                            <p:fltVal val="0"/>
                                          </p:val>
                                        </p:tav>
                                        <p:tav tm="100000">
                                          <p:val>
                                            <p:strVal val="#ppt_h"/>
                                          </p:val>
                                        </p:tav>
                                      </p:tavLst>
                                    </p:anim>
                                    <p:animEffect transition="in" filter="fade">
                                      <p:cBhvr>
                                        <p:cTn id="44" dur="350"/>
                                        <p:tgtEl>
                                          <p:spTgt spid="12"/>
                                        </p:tgtEl>
                                      </p:cBhvr>
                                    </p:animEffect>
                                  </p:childTnLst>
                                </p:cTn>
                              </p:par>
                              <p:par>
                                <p:cTn id="48" presetID="10" presetClass="entr" presetSubtype="0" fill="hold" nodeType="withEffect">
                                  <p:stCondLst>
                                    <p:cond delay="25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350"/>
                                        <p:tgtEl>
                                          <p:spTgt spid="13"/>
                                        </p:tgtEl>
                                      </p:cBhvr>
                                    </p:animEffect>
                                  </p:childTnLst>
                                </p:cTn>
                              </p:par>
                              <p:par>
                                <p:cTn id="50" presetID="0" presetClass="path" presetSubtype="0" fill="hold" nodeType="withEffect">
                                  <p:stCondLst>
                                    <p:cond delay="700"/>
                                  </p:stCondLst>
                                  <p:childTnLst>
                                    <p:animMotion origin="layout" path="M 0 0 L 0.07 0 E" pathEditMode="relative">
                                      <p:cBhvr>
                                        <p:cTn id="49" dur="2500" fill="hold"/>
                                        <p:tgtEl>
                                          <p:spTgt spid="13"/>
                                        </p:tgtEl>
                                        <p:attrNameLst>
                                          <p:attrName>ppt_x</p:attrName>
                                          <p:attrName>ppt_y</p:attrName>
                                        </p:attrNameLst>
                                      </p:cBhvr>
                                      <p:rCtr x="0.035" y="0"/>
                                    </p:animMotion>
                                  </p:childTnLst>
                                </p:cTn>
                              </p:par>
                            </p:childTnLst>
                          </p:cTn>
                        </p:par>
                      </p:childTnLst>
                    </p:cTn>
                  </p:par>
                  <p:par>
                    <p:cTn id="58" fill="hold">
                      <p:stCondLst>
                        <p:cond delay="indefinite"/>
                      </p:stCondLst>
                      <p:childTnLst>
                        <p:par>
                          <p:cTn id="59" fill="hold">
                            <p:stCondLst>
                              <p:cond delay="0"/>
                            </p:stCondLst>
                            <p:childTnLst>
                              <p:par>
                                <p:cTn id="57" presetID="53" presetClass="entr" presetSubtype="16"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 calcmode="lin" valueType="num">
                                      <p:cBhvr additive="base">
                                        <p:cTn id="54" dur="450" fill="hold"/>
                                        <p:tgtEl>
                                          <p:spTgt spid="11"/>
                                        </p:tgtEl>
                                        <p:attrNameLst>
                                          <p:attrName>ppt_w</p:attrName>
                                        </p:attrNameLst>
                                      </p:cBhvr>
                                      <p:tavLst>
                                        <p:tav tm="0">
                                          <p:val>
                                            <p:fltVal val="0"/>
                                          </p:val>
                                        </p:tav>
                                        <p:tav tm="100000">
                                          <p:val>
                                            <p:strVal val="#ppt_w"/>
                                          </p:val>
                                        </p:tav>
                                      </p:tavLst>
                                    </p:anim>
                                    <p:anim calcmode="lin" valueType="num">
                                      <p:cBhvr additive="base">
                                        <p:cTn id="55" dur="450" fill="hold"/>
                                        <p:tgtEl>
                                          <p:spTgt spid="11"/>
                                        </p:tgtEl>
                                        <p:attrNameLst>
                                          <p:attrName>ppt_h</p:attrName>
                                        </p:attrNameLst>
                                      </p:cBhvr>
                                      <p:tavLst>
                                        <p:tav tm="0">
                                          <p:val>
                                            <p:fltVal val="0"/>
                                          </p:val>
                                        </p:tav>
                                        <p:tav tm="100000">
                                          <p:val>
                                            <p:strVal val="#ppt_h"/>
                                          </p:val>
                                        </p:tav>
                                      </p:tavLst>
                                    </p:anim>
                                    <p:animEffect transition="in" filter="fade">
                                      <p:cBhvr>
                                        <p:cTn id="56" dur="450"/>
                                        <p:tgtEl>
                                          <p:spTgt spid="11"/>
                                        </p:tgtEl>
                                      </p:cBhvr>
                                    </p:animEffect>
                                  </p:childTnLst>
                                </p:cTn>
                              </p:par>
                            </p:childTnLst>
                          </p:cTn>
                        </p:par>
                      </p:childTnLst>
                    </p:cTn>
                  </p:par>
                  <p:par>
                    <p:cTn id="65" fill="hold">
                      <p:stCondLst>
                        <p:cond delay="indefinite"/>
                      </p:stCondLst>
                      <p:childTnLst>
                        <p:par>
                          <p:cTn id="66"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p:tgtEl>
                                          <p:spTgt spid="14"/>
                                        </p:tgtEl>
                                        <p:attrNameLst>
                                          <p:attrName>ppt_w</p:attrName>
                                        </p:attrNameLst>
                                      </p:cBhvr>
                                      <p:tavLst>
                                        <p:tav tm="0">
                                          <p:val>
                                            <p:fltVal val="0"/>
                                          </p:val>
                                        </p:tav>
                                        <p:tav tm="100000">
                                          <p:val>
                                            <p:strVal val="#ppt_w"/>
                                          </p:val>
                                        </p:tav>
                                      </p:tavLst>
                                    </p:anim>
                                    <p:anim calcmode="lin" valueType="num">
                                      <p:cBhvr additive="base">
                                        <p:cTn id="62" dur="500" fill="hold"/>
                                        <p:tgtEl>
                                          <p:spTgt spid="14"/>
                                        </p:tgtEl>
                                        <p:attrNameLst>
                                          <p:attrName>ppt_h</p:attrName>
                                        </p:attrNameLst>
                                      </p:cBhvr>
                                      <p:tavLst>
                                        <p:tav tm="0">
                                          <p:val>
                                            <p:fltVal val="0"/>
                                          </p:val>
                                        </p:tav>
                                        <p:tav tm="100000">
                                          <p:val>
                                            <p:strVal val="#ppt_h"/>
                                          </p:val>
                                        </p:tav>
                                      </p:tavLst>
                                    </p:anim>
                                    <p:animEffect transition="in" filter="fade">
                                      <p:cBhvr>
                                        <p:cTn id="6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2" grpId="0" animBg="1"/>
      <p:bldP spid="11"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A04 · Cryptographic Failures: the fix</a:t>
            </a:r>
            <a:endParaRPr lang="en-US" sz="3000" dirty="0"/>
          </a:p>
        </p:txBody>
      </p:sp>
      <p:pic>
        <p:nvPicPr>
          <p:cNvPr id="4" name="Mascot" descr="Mascot cartoon">    </p:cNvPr>
          <p:cNvPicPr>
            <a:picLocks noChangeAspect="1"/>
          </p:cNvPicPr>
          <p:nvPr/>
        </p:nvPicPr>
        <p:blipFill>
          <a:blip r:embed="rId1"/>
          <a:stretch>
            <a:fillRect/>
          </a:stretch>
        </p:blipFill>
        <p:spPr>
          <a:xfrm>
            <a:off x="640080" y="1097280"/>
            <a:ext cx="1737360" cy="1737360"/>
          </a:xfrm>
          <a:prstGeom prst="rect">
            <a:avLst/>
          </a:prstGeom>
        </p:spPr>
      </p:pic>
      <p:sp>
        <p:nvSpPr>
          <p:cNvPr id="5" name="Stop sign"/>
          <p:cNvSpPr txBox="1"/>
          <p:nvPr/>
        </p:nvSpPr>
        <p:spPr>
          <a:xfrm>
            <a:off x="2377440" y="3063240"/>
            <a:ext cx="777240" cy="777240"/>
          </a:xfrm>
          <a:prstGeom prst="octagon">
            <a:avLst/>
          </a:prstGeom>
          <a:solidFill>
            <a:schemeClr val="accent2"/>
          </a:solidFill>
          <a:ln/>
        </p:spPr>
        <p:txBody>
          <a:bodyPr wrap="square" lIns="0" tIns="0" rIns="0" bIns="0" rtlCol="0" anchor="ctr"/>
          <a:lstStyle/>
          <a:p>
            <a:pPr algn="ctr" indent="0" marL="0">
              <a:buNone/>
            </a:pPr>
            <a:r>
              <a:rPr lang="en-US" sz="1300" b="1" dirty="0">
                <a:solidFill>
                  <a:srgbClr val="FFFFFF"/>
                </a:solidFill>
              </a:rPr>
              <a:t>STOP</a:t>
            </a:r>
            <a:endParaRPr lang="en-US" sz="1300" dirty="0"/>
          </a:p>
        </p:txBody>
      </p:sp>
      <p:pic>
        <p:nvPicPr>
          <p:cNvPr id="6" name="Hacker" descr="Hacker cartoon">    </p:cNvPr>
          <p:cNvPicPr>
            <a:picLocks noChangeAspect="1"/>
          </p:cNvPicPr>
          <p:nvPr/>
        </p:nvPicPr>
        <p:blipFill>
          <a:blip r:embed="rId2"/>
          <a:stretch>
            <a:fillRect/>
          </a:stretch>
        </p:blipFill>
        <p:spPr>
          <a:xfrm>
            <a:off x="274320" y="2834640"/>
            <a:ext cx="1188720" cy="1188720"/>
          </a:xfrm>
          <a:prstGeom prst="rect">
            <a:avLst/>
          </a:prstGeom>
        </p:spPr>
      </p:pic>
      <p:sp>
        <p:nvSpPr>
          <p:cNvPr id="7" name="Rule 0"/>
          <p:cNvSpPr txBox="1"/>
          <p:nvPr/>
        </p:nvSpPr>
        <p:spPr>
          <a:xfrm>
            <a:off x="3383280" y="1143000"/>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Hash passwords properly</a:t>
            </a:r>
            <a:endParaRPr lang="en-US" sz="1400" dirty="0"/>
          </a:p>
          <a:p>
            <a:pPr algn="l" indent="0" marL="0">
              <a:buNone/>
            </a:pPr>
            <a:r>
              <a:rPr lang="en-US" sz="1200" dirty="0">
                <a:solidFill>
                  <a:schemeClr val="tx1"/>
                </a:solidFill>
              </a:rPr>
              <a:t>PasswordHasher&lt;T&gt; (PBKDF2) or Argon2: slow, with a unique salt.</a:t>
            </a:r>
            <a:endParaRPr lang="en-US" sz="1400" dirty="0"/>
          </a:p>
        </p:txBody>
      </p:sp>
      <p:sp>
        <p:nvSpPr>
          <p:cNvPr id="8" name="Rule num 0"/>
          <p:cNvSpPr txBox="1"/>
          <p:nvPr/>
        </p:nvSpPr>
        <p:spPr>
          <a:xfrm>
            <a:off x="3493008" y="1271016"/>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Rule 1"/>
          <p:cNvSpPr txBox="1"/>
          <p:nvPr/>
        </p:nvSpPr>
        <p:spPr>
          <a:xfrm>
            <a:off x="3383280" y="1892808"/>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Encrypt on the server</a:t>
            </a:r>
            <a:endParaRPr lang="en-US" sz="1400" dirty="0"/>
          </a:p>
          <a:p>
            <a:pPr algn="l" indent="0" marL="0">
              <a:buNone/>
            </a:pPr>
            <a:r>
              <a:rPr lang="en-US" sz="1200" dirty="0">
                <a:solidFill>
                  <a:schemeClr val="tx1"/>
                </a:solidFill>
              </a:rPr>
              <a:t>A key in Angular is public. Use AES-GCM and a protected secret store.</a:t>
            </a:r>
            <a:endParaRPr lang="en-US" sz="1400" dirty="0"/>
          </a:p>
        </p:txBody>
      </p:sp>
      <p:sp>
        <p:nvSpPr>
          <p:cNvPr id="10" name="Rule num 1"/>
          <p:cNvSpPr txBox="1"/>
          <p:nvPr/>
        </p:nvSpPr>
        <p:spPr>
          <a:xfrm>
            <a:off x="3493008" y="2020824"/>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Rule 2"/>
          <p:cNvSpPr txBox="1"/>
          <p:nvPr/>
        </p:nvSpPr>
        <p:spPr>
          <a:xfrm>
            <a:off x="3383280" y="2642616"/>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TLS everywhere</a:t>
            </a:r>
            <a:endParaRPr lang="en-US" sz="1400" dirty="0"/>
          </a:p>
          <a:p>
            <a:pPr algn="l" indent="0" marL="0">
              <a:buNone/>
            </a:pPr>
            <a:r>
              <a:rPr lang="en-US" sz="1200" dirty="0">
                <a:solidFill>
                  <a:schemeClr val="tx1"/>
                </a:solidFill>
              </a:rPr>
              <a:t>HTTPS from browser to API to database. Never switch off certificate checks.</a:t>
            </a:r>
            <a:endParaRPr lang="en-US" sz="1400" dirty="0"/>
          </a:p>
        </p:txBody>
      </p:sp>
      <p:sp>
        <p:nvSpPr>
          <p:cNvPr id="12" name="Rule num 2"/>
          <p:cNvSpPr txBox="1"/>
          <p:nvPr/>
        </p:nvSpPr>
        <p:spPr>
          <a:xfrm>
            <a:off x="3493008" y="2770632"/>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Chip NG"/>
          <p:cNvSpPr txBox="1"/>
          <p:nvPr/>
        </p:nvSpPr>
        <p:spPr>
          <a:xfrm>
            <a:off x="3383280" y="3429000"/>
            <a:ext cx="2606040" cy="804672"/>
          </a:xfrm>
          <a:prstGeom prst="roundRect">
            <a:avLst>
              <a:gd name="adj" fmla="val 11364"/>
            </a:avLst>
          </a:prstGeom>
          <a:solidFill>
            <a:schemeClr val="accent5">
              <a:alpha val="12000"/>
            </a:schemeClr>
          </a:solidFill>
          <a:ln w="12700">
            <a:solidFill>
              <a:schemeClr val="accent5"/>
            </a:solidFill>
          </a:ln>
        </p:spPr>
        <p:txBody>
          <a:bodyPr wrap="square" lIns="127000" tIns="25400" rIns="101600" bIns="25400" rtlCol="0" anchor="ctr"/>
          <a:lstStyle/>
          <a:p>
            <a:pPr algn="l" indent="0" marL="0">
              <a:buNone/>
            </a:pPr>
            <a:r>
              <a:rPr lang="en-US" sz="1100" b="1" spc="200" kern="0" dirty="0">
                <a:solidFill>
                  <a:schemeClr val="accent5"/>
                </a:solidFill>
              </a:rPr>
              <a:t>IN ANGULAR</a:t>
            </a:r>
            <a:endParaRPr lang="en-US" sz="1100" dirty="0"/>
          </a:p>
          <a:p>
            <a:pPr algn="l" indent="0" marL="0">
              <a:buNone/>
            </a:pPr>
            <a:r>
              <a:rPr lang="en-US" sz="1200" dirty="0">
                <a:solidFill>
                  <a:schemeClr val="tx1"/>
                </a:solidFill>
              </a:rPr>
              <a:t>No keys or secrets in the browser. HTTPS only.</a:t>
            </a:r>
            <a:endParaRPr lang="en-US" sz="1100" dirty="0"/>
          </a:p>
        </p:txBody>
      </p:sp>
      <p:sp>
        <p:nvSpPr>
          <p:cNvPr id="14" name="Chip NET"/>
          <p:cNvSpPr txBox="1"/>
          <p:nvPr/>
        </p:nvSpPr>
        <p:spPr>
          <a:xfrm>
            <a:off x="6080760" y="3429000"/>
            <a:ext cx="2606040" cy="804672"/>
          </a:xfrm>
          <a:prstGeom prst="roundRect">
            <a:avLst>
              <a:gd name="adj" fmla="val 11364"/>
            </a:avLst>
          </a:prstGeom>
          <a:solidFill>
            <a:schemeClr val="accent6">
              <a:alpha val="12000"/>
            </a:schemeClr>
          </a:solidFill>
          <a:ln w="12700">
            <a:solidFill>
              <a:schemeClr val="accent6"/>
            </a:solidFill>
          </a:ln>
        </p:spPr>
        <p:txBody>
          <a:bodyPr wrap="square" lIns="127000" tIns="25400" rIns="101600" bIns="25400" rtlCol="0" anchor="ctr"/>
          <a:lstStyle/>
          <a:p>
            <a:pPr algn="l" indent="0" marL="0">
              <a:buNone/>
            </a:pPr>
            <a:r>
              <a:rPr lang="en-US" sz="1100" b="1" spc="200" kern="0" dirty="0">
                <a:solidFill>
                  <a:schemeClr val="accent6"/>
                </a:solidFill>
              </a:rPr>
              <a:t>IN .NET CORE</a:t>
            </a:r>
            <a:endParaRPr lang="en-US" sz="1100" dirty="0"/>
          </a:p>
          <a:p>
            <a:pPr algn="l" indent="0" marL="0">
              <a:buNone/>
            </a:pPr>
            <a:r>
              <a:rPr lang="en-US" sz="1200" dirty="0">
                <a:solidFill>
                  <a:schemeClr val="tx1"/>
                </a:solidFill>
              </a:rPr>
              <a:t>Data Protection API, PasswordHasher. No MD5, SHA1 or DES.</a:t>
            </a:r>
            <a:endParaRPr lang="en-US" sz="1100" dirty="0"/>
          </a:p>
        </p:txBody>
      </p:sp>
      <p:sp>
        <p:nvSpPr>
          <p:cNvPr id="15" name="Takeaway"/>
          <p:cNvSpPr txBox="1"/>
          <p:nvPr/>
        </p:nvSpPr>
        <p:spPr>
          <a:xfrm>
            <a:off x="457200" y="4279392"/>
            <a:ext cx="4754880" cy="411480"/>
          </a:xfrm>
          <a:prstGeom prst="rect">
            <a:avLst/>
          </a:prstGeom>
          <a:noFill/>
          <a:ln/>
        </p:spPr>
        <p:txBody>
          <a:bodyPr wrap="square" lIns="0" tIns="0" rIns="0" bIns="0" rtlCol="0" anchor="ctr"/>
          <a:lstStyle/>
          <a:p>
            <a:pPr indent="0" marL="0">
              <a:buNone/>
            </a:pPr>
            <a:r>
              <a:rPr lang="en-US" sz="1600" b="1" dirty="0">
                <a:solidFill>
                  <a:schemeClr val="accent1"/>
                </a:solidFill>
              </a:rPr>
              <a:t>Use vetted libraries. Never invent crypto.</a:t>
            </a:r>
            <a:endParaRPr lang="en-US" sz="16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cond evt="onBegin" delay="0">
                          <p:tn val="2"/>
                        </p:cond>
                      </p:stCondLst>
                      <p:childTnLst>
                        <p:par>
                          <p:cTn id="19"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5"/>
                                        </p:tgtEl>
                                        <p:attrNameLst>
                                          <p:attrName>style.visibility</p:attrName>
                                        </p:attrNameLst>
                                      </p:cBhvr>
                                      <p:to>
                                        <p:strVal val="visible"/>
                                      </p:to>
                                    </p:set>
                                    <p:anim calcmode="lin" valueType="num">
                                      <p:cBhvr additive="base">
                                        <p:cTn id="4" dur="400" fill="hold"/>
                                        <p:tgtEl>
                                          <p:spTgt spid="5"/>
                                        </p:tgtEl>
                                        <p:attrNameLst>
                                          <p:attrName>ppt_w</p:attrName>
                                        </p:attrNameLst>
                                      </p:cBhvr>
                                      <p:tavLst>
                                        <p:tav tm="0">
                                          <p:val>
                                            <p:fltVal val="0"/>
                                          </p:val>
                                        </p:tav>
                                        <p:tav tm="100000">
                                          <p:val>
                                            <p:strVal val="#ppt_w"/>
                                          </p:val>
                                        </p:tav>
                                      </p:tavLst>
                                    </p:anim>
                                    <p:anim calcmode="lin" valueType="num">
                                      <p:cBhvr additive="base">
                                        <p:cTn id="5" dur="400" fill="hold"/>
                                        <p:tgtEl>
                                          <p:spTgt spid="5"/>
                                        </p:tgtEl>
                                        <p:attrNameLst>
                                          <p:attrName>ppt_h</p:attrName>
                                        </p:attrNameLst>
                                      </p:cBhvr>
                                      <p:tavLst>
                                        <p:tav tm="0">
                                          <p:val>
                                            <p:fltVal val="0"/>
                                          </p:val>
                                        </p:tav>
                                        <p:tav tm="100000">
                                          <p:val>
                                            <p:strVal val="#ppt_h"/>
                                          </p:val>
                                        </p:tav>
                                      </p:tavLst>
                                    </p:anim>
                                    <p:animEffect transition="in" filter="fade">
                                      <p:cBhvr>
                                        <p:cTn id="6" dur="400"/>
                                        <p:tgtEl>
                                          <p:spTgt spid="5"/>
                                        </p:tgtEl>
                                      </p:cBhvr>
                                    </p:animEffect>
                                  </p:childTnLst>
                                </p:cTn>
                              </p:par>
                              <p:par>
                                <p:cTn id="10" presetID="10" presetClass="entr" presetSubtype="0" fill="hold" nodeType="withEffect">
                                  <p:stCondLst>
                                    <p:cond delay="20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300"/>
                                        <p:tgtEl>
                                          <p:spTgt spid="6"/>
                                        </p:tgtEl>
                                      </p:cBhvr>
                                    </p:animEffect>
                                  </p:childTnLst>
                                </p:cTn>
                              </p:par>
                              <p:par>
                                <p:cTn id="12" presetID="0" presetClass="path" presetSubtype="0" fill="hold" nodeType="withEffect">
                                  <p:stCondLst>
                                    <p:cond delay="600"/>
                                  </p:stCondLst>
                                  <p:childTnLst>
                                    <p:animMotion origin="layout" path="M 0 0 L 0.1 0 E" pathEditMode="relative">
                                      <p:cBhvr>
                                        <p:cTn id="11" dur="2400" fill="hold"/>
                                        <p:tgtEl>
                                          <p:spTgt spid="6"/>
                                        </p:tgtEl>
                                        <p:attrNameLst>
                                          <p:attrName>ppt_x</p:attrName>
                                          <p:attrName>ppt_y</p:attrName>
                                        </p:attrNameLst>
                                      </p:cBhvr>
                                      <p:rCtr x="0.05" y="0"/>
                                    </p:animMotion>
                                  </p:childTnLst>
                                </p:cTn>
                              </p:par>
                              <p:par>
                                <p:cTn id="17" presetID="53" presetClass="entr" presetSubtype="16" fill="hold" nodeType="withEffect">
                                  <p:stCondLst>
                                    <p:cond delay="300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ppt_w</p:attrName>
                                        </p:attrNameLst>
                                      </p:cBhvr>
                                      <p:tavLst>
                                        <p:tav tm="0">
                                          <p:val>
                                            <p:fltVal val="0"/>
                                          </p:val>
                                        </p:tav>
                                        <p:tav tm="100000">
                                          <p:val>
                                            <p:strVal val="#ppt_w"/>
                                          </p:val>
                                        </p:tav>
                                      </p:tavLst>
                                    </p:anim>
                                    <p:anim calcmode="lin" valueType="num">
                                      <p:cBhvr additive="base">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23" presetID="2" presetClass="entr" presetSubtype="2"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450" fill="hold"/>
                                        <p:tgtEl>
                                          <p:spTgt spid="7"/>
                                        </p:tgtEl>
                                        <p:attrNameLst>
                                          <p:attrName>ppt_x</p:attrName>
                                        </p:attrNameLst>
                                      </p:cBhvr>
                                      <p:tavLst>
                                        <p:tav tm="0">
                                          <p:val>
                                            <p:strVal val="1+#ppt_w/2"/>
                                          </p:val>
                                        </p:tav>
                                        <p:tav tm="100000">
                                          <p:val>
                                            <p:strVal val="#ppt_x"/>
                                          </p:val>
                                        </p:tav>
                                      </p:tavLst>
                                    </p:anim>
                                    <p:anim calcmode="lin" valueType="num">
                                      <p:cBhvr additive="base">
                                        <p:cTn id="22" dur="450" fill="hold"/>
                                        <p:tgtEl>
                                          <p:spTgt spid="7"/>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450" fill="hold"/>
                                        <p:tgtEl>
                                          <p:spTgt spid="8"/>
                                        </p:tgtEl>
                                        <p:attrNameLst>
                                          <p:attrName>ppt_x</p:attrName>
                                        </p:attrNameLst>
                                      </p:cBhvr>
                                      <p:tavLst>
                                        <p:tav tm="0">
                                          <p:val>
                                            <p:strVal val="1+#ppt_w/2"/>
                                          </p:val>
                                        </p:tav>
                                        <p:tav tm="100000">
                                          <p:val>
                                            <p:strVal val="#ppt_x"/>
                                          </p:val>
                                        </p:tav>
                                      </p:tavLst>
                                    </p:anim>
                                    <p:anim calcmode="lin" valueType="num">
                                      <p:cBhvr additive="base">
                                        <p:cTn id="26" dur="45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33" presetID="2" presetClass="entr" presetSubtype="2"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450" fill="hold"/>
                                        <p:tgtEl>
                                          <p:spTgt spid="9"/>
                                        </p:tgtEl>
                                        <p:attrNameLst>
                                          <p:attrName>ppt_x</p:attrName>
                                        </p:attrNameLst>
                                      </p:cBhvr>
                                      <p:tavLst>
                                        <p:tav tm="0">
                                          <p:val>
                                            <p:strVal val="1+#ppt_w/2"/>
                                          </p:val>
                                        </p:tav>
                                        <p:tav tm="100000">
                                          <p:val>
                                            <p:strVal val="#ppt_x"/>
                                          </p:val>
                                        </p:tav>
                                      </p:tavLst>
                                    </p:anim>
                                    <p:anim calcmode="lin" valueType="num">
                                      <p:cBhvr additive="base">
                                        <p:cTn id="32" dur="450" fill="hold"/>
                                        <p:tgtEl>
                                          <p:spTgt spid="9"/>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450" fill="hold"/>
                                        <p:tgtEl>
                                          <p:spTgt spid="10"/>
                                        </p:tgtEl>
                                        <p:attrNameLst>
                                          <p:attrName>ppt_x</p:attrName>
                                        </p:attrNameLst>
                                      </p:cBhvr>
                                      <p:tavLst>
                                        <p:tav tm="0">
                                          <p:val>
                                            <p:strVal val="1+#ppt_w/2"/>
                                          </p:val>
                                        </p:tav>
                                        <p:tav tm="100000">
                                          <p:val>
                                            <p:strVal val="#ppt_x"/>
                                          </p:val>
                                        </p:tav>
                                      </p:tavLst>
                                    </p:anim>
                                    <p:anim calcmode="lin" valueType="num">
                                      <p:cBhvr additive="base">
                                        <p:cTn id="36" dur="45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3" presetID="2" presetClass="entr" presetSubtype="2"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450" fill="hold"/>
                                        <p:tgtEl>
                                          <p:spTgt spid="11"/>
                                        </p:tgtEl>
                                        <p:attrNameLst>
                                          <p:attrName>ppt_x</p:attrName>
                                        </p:attrNameLst>
                                      </p:cBhvr>
                                      <p:tavLst>
                                        <p:tav tm="0">
                                          <p:val>
                                            <p:strVal val="1+#ppt_w/2"/>
                                          </p:val>
                                        </p:tav>
                                        <p:tav tm="100000">
                                          <p:val>
                                            <p:strVal val="#ppt_x"/>
                                          </p:val>
                                        </p:tav>
                                      </p:tavLst>
                                    </p:anim>
                                    <p:anim calcmode="lin" valueType="num">
                                      <p:cBhvr additive="base">
                                        <p:cTn id="42" dur="450" fill="hold"/>
                                        <p:tgtEl>
                                          <p:spTgt spid="11"/>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450" fill="hold"/>
                                        <p:tgtEl>
                                          <p:spTgt spid="12"/>
                                        </p:tgtEl>
                                        <p:attrNameLst>
                                          <p:attrName>ppt_x</p:attrName>
                                        </p:attrNameLst>
                                      </p:cBhvr>
                                      <p:tavLst>
                                        <p:tav tm="0">
                                          <p:val>
                                            <p:strVal val="1+#ppt_w/2"/>
                                          </p:val>
                                        </p:tav>
                                        <p:tav tm="100000">
                                          <p:val>
                                            <p:strVal val="#ppt_x"/>
                                          </p:val>
                                        </p:tav>
                                      </p:tavLst>
                                    </p:anim>
                                    <p:anim calcmode="lin" valueType="num">
                                      <p:cBhvr additive="base">
                                        <p:cTn id="46" dur="45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53" presetID="2" presetClass="entr" presetSubtype="4"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450" fill="hold"/>
                                        <p:tgtEl>
                                          <p:spTgt spid="13"/>
                                        </p:tgtEl>
                                        <p:attrNameLst>
                                          <p:attrName>ppt_x</p:attrName>
                                        </p:attrNameLst>
                                      </p:cBhvr>
                                      <p:tavLst>
                                        <p:tav tm="0">
                                          <p:val>
                                            <p:strVal val="#ppt_x"/>
                                          </p:val>
                                        </p:tav>
                                        <p:tav tm="100000">
                                          <p:val>
                                            <p:strVal val="#ppt_x"/>
                                          </p:val>
                                        </p:tav>
                                      </p:tavLst>
                                    </p:anim>
                                    <p:anim calcmode="lin" valueType="num">
                                      <p:cBhvr additive="base">
                                        <p:cTn id="52" dur="450" fill="hold"/>
                                        <p:tgtEl>
                                          <p:spTgt spid="13"/>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15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450" fill="hold"/>
                                        <p:tgtEl>
                                          <p:spTgt spid="14"/>
                                        </p:tgtEl>
                                        <p:attrNameLst>
                                          <p:attrName>ppt_x</p:attrName>
                                        </p:attrNameLst>
                                      </p:cBhvr>
                                      <p:tavLst>
                                        <p:tav tm="0">
                                          <p:val>
                                            <p:strVal val="#ppt_x"/>
                                          </p:val>
                                        </p:tav>
                                        <p:tav tm="100000">
                                          <p:val>
                                            <p:strVal val="#ppt_x"/>
                                          </p:val>
                                        </p:tav>
                                      </p:tavLst>
                                    </p:anim>
                                    <p:anim calcmode="lin" valueType="num">
                                      <p:cBhvr additive="base">
                                        <p:cTn id="56"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450" fill="hold"/>
                                        <p:tgtEl>
                                          <p:spTgt spid="15"/>
                                        </p:tgtEl>
                                        <p:attrNameLst>
                                          <p:attrName>ppt_w</p:attrName>
                                        </p:attrNameLst>
                                      </p:cBhvr>
                                      <p:tavLst>
                                        <p:tav tm="0">
                                          <p:val>
                                            <p:fltVal val="0"/>
                                          </p:val>
                                        </p:tav>
                                        <p:tav tm="100000">
                                          <p:val>
                                            <p:strVal val="#ppt_w"/>
                                          </p:val>
                                        </p:tav>
                                      </p:tavLst>
                                    </p:anim>
                                    <p:anim calcmode="lin" valueType="num">
                                      <p:cBhvr additive="base">
                                        <p:cTn id="62" dur="450" fill="hold"/>
                                        <p:tgtEl>
                                          <p:spTgt spid="15"/>
                                        </p:tgtEl>
                                        <p:attrNameLst>
                                          <p:attrName>ppt_h</p:attrName>
                                        </p:attrNameLst>
                                      </p:cBhvr>
                                      <p:tavLst>
                                        <p:tav tm="0">
                                          <p:val>
                                            <p:fltVal val="0"/>
                                          </p:val>
                                        </p:tav>
                                        <p:tav tm="100000">
                                          <p:val>
                                            <p:strVal val="#ppt_h"/>
                                          </p:val>
                                        </p:tav>
                                      </p:tavLst>
                                    </p:anim>
                                    <p:animEffect transition="in" filter="fade">
                                      <p:cBhvr>
                                        <p:cTn id="63"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A05 · Injection: the story</a:t>
            </a:r>
            <a:endParaRPr lang="en-US" sz="3000" dirty="0"/>
          </a:p>
        </p:txBody>
      </p:sp>
      <p:sp>
        <p:nvSpPr>
          <p:cNvPr id="4" name="Station 0"/>
          <p:cNvSpPr txBox="1"/>
          <p:nvPr/>
        </p:nvSpPr>
        <p:spPr>
          <a:xfrm>
            <a:off x="2926080" y="2880360"/>
            <a:ext cx="1737360" cy="868680"/>
          </a:xfrm>
          <a:prstGeom prst="roundRect">
            <a:avLst>
              <a:gd name="adj" fmla="val 12632"/>
            </a:avLst>
          </a:prstGeom>
          <a:solidFill>
            <a:schemeClr val="bg2"/>
          </a:solidFill>
          <a:ln w="15875">
            <a:solidFill>
              <a:schemeClr val="accent5"/>
            </a:solidFill>
          </a:ln>
        </p:spPr>
        <p:txBody>
          <a:bodyPr wrap="square" lIns="50800" tIns="50800" rIns="50800" bIns="50800" rtlCol="0" anchor="ctr"/>
          <a:lstStyle/>
          <a:p>
            <a:pPr algn="ctr" indent="0" marL="0">
              <a:buNone/>
            </a:pPr>
            <a:r>
              <a:rPr lang="en-US" sz="1500" b="1" dirty="0">
                <a:solidFill>
                  <a:schemeClr val="accent5"/>
                </a:solidFill>
              </a:rPr>
              <a:t>Angular form</a:t>
            </a:r>
            <a:endParaRPr lang="en-US" sz="1500" dirty="0"/>
          </a:p>
          <a:p>
            <a:pPr algn="ctr" indent="0" marL="0">
              <a:buNone/>
            </a:pPr>
            <a:r>
              <a:rPr lang="en-US" sz="1200" dirty="0">
                <a:solidFill>
                  <a:schemeClr val="tx2"/>
                </a:solidFill>
              </a:rPr>
              <a:t>search box</a:t>
            </a:r>
            <a:endParaRPr lang="en-US" sz="1500" dirty="0"/>
          </a:p>
        </p:txBody>
      </p:sp>
      <p:sp>
        <p:nvSpPr>
          <p:cNvPr id="5" name="Station 1"/>
          <p:cNvSpPr txBox="1"/>
          <p:nvPr/>
        </p:nvSpPr>
        <p:spPr>
          <a:xfrm>
            <a:off x="4846320" y="2880360"/>
            <a:ext cx="1737360" cy="868680"/>
          </a:xfrm>
          <a:prstGeom prst="roundRect">
            <a:avLst>
              <a:gd name="adj" fmla="val 12632"/>
            </a:avLst>
          </a:prstGeom>
          <a:solidFill>
            <a:schemeClr val="bg2"/>
          </a:solidFill>
          <a:ln w="15875">
            <a:solidFill>
              <a:schemeClr val="accent1"/>
            </a:solidFill>
          </a:ln>
        </p:spPr>
        <p:txBody>
          <a:bodyPr wrap="square" lIns="50800" tIns="50800" rIns="50800" bIns="50800" rtlCol="0" anchor="ctr"/>
          <a:lstStyle/>
          <a:p>
            <a:pPr algn="ctr" indent="0" marL="0">
              <a:buNone/>
            </a:pPr>
            <a:r>
              <a:rPr lang="en-US" sz="1500" b="1" dirty="0">
                <a:solidFill>
                  <a:schemeClr val="accent1"/>
                </a:solidFill>
              </a:rPr>
              <a:t>.NET API</a:t>
            </a:r>
            <a:endParaRPr lang="en-US" sz="1500" dirty="0"/>
          </a:p>
          <a:p>
            <a:pPr algn="ctr" indent="0" marL="0">
              <a:buNone/>
            </a:pPr>
            <a:r>
              <a:rPr lang="en-US" sz="1200" dirty="0">
                <a:solidFill>
                  <a:schemeClr val="tx2"/>
                </a:solidFill>
              </a:rPr>
              <a:t>string concatenation</a:t>
            </a:r>
            <a:endParaRPr lang="en-US" sz="1500" dirty="0"/>
          </a:p>
        </p:txBody>
      </p:sp>
      <p:sp>
        <p:nvSpPr>
          <p:cNvPr id="6" name="Station 2"/>
          <p:cNvSpPr txBox="1"/>
          <p:nvPr/>
        </p:nvSpPr>
        <p:spPr>
          <a:xfrm>
            <a:off x="6766560" y="2880360"/>
            <a:ext cx="1737360" cy="868680"/>
          </a:xfrm>
          <a:prstGeom prst="roundRect">
            <a:avLst>
              <a:gd name="adj" fmla="val 12632"/>
            </a:avLst>
          </a:prstGeom>
          <a:solidFill>
            <a:schemeClr val="bg2"/>
          </a:solidFill>
          <a:ln w="15875">
            <a:solidFill>
              <a:schemeClr val="accent4"/>
            </a:solidFill>
          </a:ln>
        </p:spPr>
        <p:txBody>
          <a:bodyPr wrap="square" lIns="50800" tIns="50800" rIns="50800" bIns="50800" rtlCol="0" anchor="ctr"/>
          <a:lstStyle/>
          <a:p>
            <a:pPr algn="ctr" indent="0" marL="0">
              <a:buNone/>
            </a:pPr>
            <a:r>
              <a:rPr lang="en-US" sz="1500" b="1" dirty="0">
                <a:solidFill>
                  <a:schemeClr val="accent4"/>
                </a:solidFill>
              </a:rPr>
              <a:t>SQL Server / Oracle</a:t>
            </a:r>
            <a:endParaRPr lang="en-US" sz="1500" dirty="0"/>
          </a:p>
          <a:p>
            <a:pPr algn="ctr" indent="0" marL="0">
              <a:buNone/>
            </a:pPr>
            <a:r>
              <a:rPr lang="en-US" sz="1200" dirty="0">
                <a:solidFill>
                  <a:schemeClr val="tx2"/>
                </a:solidFill>
              </a:rPr>
              <a:t>users table</a:t>
            </a:r>
            <a:endParaRPr lang="en-US" sz="1500" dirty="0"/>
          </a:p>
        </p:txBody>
      </p:sp>
      <p:pic>
        <p:nvPicPr>
          <p:cNvPr id="7" name="Hacker" descr="Hacker cartoon">    </p:cNvPr>
          <p:cNvPicPr>
            <a:picLocks noChangeAspect="1"/>
          </p:cNvPicPr>
          <p:nvPr/>
        </p:nvPicPr>
        <p:blipFill>
          <a:blip r:embed="rId1"/>
          <a:stretch>
            <a:fillRect/>
          </a:stretch>
        </p:blipFill>
        <p:spPr>
          <a:xfrm>
            <a:off x="365760" y="2606040"/>
            <a:ext cx="1188720" cy="1188720"/>
          </a:xfrm>
          <a:prstGeom prst="rect">
            <a:avLst/>
          </a:prstGeom>
        </p:spPr>
      </p:pic>
      <p:sp>
        <p:nvSpPr>
          <p:cNvPr id="8" name="Bubble 0"/>
          <p:cNvSpPr txBox="1"/>
          <p:nvPr/>
        </p:nvSpPr>
        <p:spPr>
          <a:xfrm>
            <a:off x="457200" y="1097280"/>
            <a:ext cx="1920240" cy="1097280"/>
          </a:xfrm>
          <a:prstGeom prst="roundRect">
            <a:avLst>
              <a:gd name="adj" fmla="val 11667"/>
            </a:avLst>
          </a:prstGeom>
          <a:solidFill>
            <a:schemeClr val="bg2"/>
          </a:solidFill>
          <a:ln w="19050">
            <a:solidFill>
              <a:schemeClr val="accent6"/>
            </a:solidFill>
          </a:ln>
        </p:spPr>
        <p:txBody>
          <a:bodyPr wrap="square" lIns="114300" tIns="63500" rIns="101600" bIns="50800" rtlCol="0" anchor="t"/>
          <a:lstStyle/>
          <a:p>
            <a:pPr algn="l" indent="0" marL="0">
              <a:buNone/>
            </a:pPr>
            <a:r>
              <a:rPr lang="en-US" sz="1100" b="1" spc="200" kern="0" dirty="0">
                <a:solidFill>
                  <a:schemeClr val="accent6"/>
                </a:solidFill>
              </a:rPr>
              <a:t>HACKER</a:t>
            </a:r>
            <a:endParaRPr lang="en-US" sz="1100" dirty="0"/>
          </a:p>
          <a:p>
            <a:pPr algn="l" indent="0" marL="0">
              <a:buNone/>
            </a:pPr>
            <a:r>
              <a:rPr lang="en-US" sz="1300" dirty="0">
                <a:solidFill>
                  <a:schemeClr val="tx1"/>
                </a:solidFill>
              </a:rPr>
              <a:t>In the search box I type:  ' OR '1'='1</a:t>
            </a:r>
            <a:endParaRPr lang="en-US" sz="1100" dirty="0"/>
          </a:p>
        </p:txBody>
      </p:sp>
      <p:sp>
        <p:nvSpPr>
          <p:cNvPr id="9" name="Bubble 1"/>
          <p:cNvSpPr txBox="1"/>
          <p:nvPr/>
        </p:nvSpPr>
        <p:spPr>
          <a:xfrm>
            <a:off x="2560320" y="1097280"/>
            <a:ext cx="1920240" cy="1097280"/>
          </a:xfrm>
          <a:prstGeom prst="roundRect">
            <a:avLst>
              <a:gd name="adj" fmla="val 11667"/>
            </a:avLst>
          </a:prstGeom>
          <a:solidFill>
            <a:schemeClr val="bg2"/>
          </a:solidFill>
          <a:ln w="19050">
            <a:solidFill>
              <a:schemeClr val="accent1"/>
            </a:solidFill>
          </a:ln>
        </p:spPr>
        <p:txBody>
          <a:bodyPr wrap="square" lIns="114300" tIns="63500" rIns="101600" bIns="50800" rtlCol="0" anchor="t"/>
          <a:lstStyle/>
          <a:p>
            <a:pPr algn="l" indent="0" marL="0">
              <a:buNone/>
            </a:pPr>
            <a:r>
              <a:rPr lang="en-US" sz="1100" b="1" spc="200" kern="0" dirty="0">
                <a:solidFill>
                  <a:schemeClr val="accent1"/>
                </a:solidFill>
              </a:rPr>
              <a:t>API</a:t>
            </a:r>
            <a:endParaRPr lang="en-US" sz="1100" dirty="0"/>
          </a:p>
          <a:p>
            <a:pPr algn="l" indent="0" marL="0">
              <a:buNone/>
            </a:pPr>
            <a:r>
              <a:rPr lang="en-US" sz="1300" dirty="0">
                <a:solidFill>
                  <a:schemeClr val="tx1"/>
                </a:solidFill>
              </a:rPr>
              <a:t>I paste your text straight into my SQL query. Looks fine to me!</a:t>
            </a:r>
            <a:endParaRPr lang="en-US" sz="1100" dirty="0"/>
          </a:p>
        </p:txBody>
      </p:sp>
      <p:sp>
        <p:nvSpPr>
          <p:cNvPr id="10" name="Bubble 2"/>
          <p:cNvSpPr txBox="1"/>
          <p:nvPr/>
        </p:nvSpPr>
        <p:spPr>
          <a:xfrm>
            <a:off x="4663440" y="1097280"/>
            <a:ext cx="1920240" cy="1097280"/>
          </a:xfrm>
          <a:prstGeom prst="roundRect">
            <a:avLst>
              <a:gd name="adj" fmla="val 11667"/>
            </a:avLst>
          </a:prstGeom>
          <a:solidFill>
            <a:schemeClr val="bg2"/>
          </a:solidFill>
          <a:ln w="19050">
            <a:solidFill>
              <a:schemeClr val="accent4"/>
            </a:solidFill>
          </a:ln>
        </p:spPr>
        <p:txBody>
          <a:bodyPr wrap="square" lIns="114300" tIns="63500" rIns="101600" bIns="50800" rtlCol="0" anchor="t"/>
          <a:lstStyle/>
          <a:p>
            <a:pPr algn="l" indent="0" marL="0">
              <a:buNone/>
            </a:pPr>
            <a:r>
              <a:rPr lang="en-US" sz="1100" b="1" spc="200" kern="0" dirty="0">
                <a:solidFill>
                  <a:schemeClr val="accent4"/>
                </a:solidFill>
              </a:rPr>
              <a:t>DATABASE</a:t>
            </a:r>
            <a:endParaRPr lang="en-US" sz="1100" dirty="0"/>
          </a:p>
          <a:p>
            <a:pPr algn="l" indent="0" marL="0">
              <a:buNone/>
            </a:pPr>
            <a:r>
              <a:rPr lang="en-US" sz="1300" dirty="0">
                <a:solidFill>
                  <a:schemeClr val="tx1"/>
                </a:solidFill>
              </a:rPr>
              <a:t>That is valid SQL, so here are ALL the users.</a:t>
            </a:r>
            <a:endParaRPr lang="en-US" sz="1100" dirty="0"/>
          </a:p>
        </p:txBody>
      </p:sp>
      <p:sp>
        <p:nvSpPr>
          <p:cNvPr id="11" name="Bubble 3"/>
          <p:cNvSpPr txBox="1"/>
          <p:nvPr/>
        </p:nvSpPr>
        <p:spPr>
          <a:xfrm>
            <a:off x="6766560" y="1097280"/>
            <a:ext cx="1920240" cy="1097280"/>
          </a:xfrm>
          <a:prstGeom prst="roundRect">
            <a:avLst>
              <a:gd name="adj" fmla="val 11667"/>
            </a:avLst>
          </a:prstGeom>
          <a:solidFill>
            <a:schemeClr val="bg2"/>
          </a:solidFill>
          <a:ln w="19050">
            <a:solidFill>
              <a:schemeClr val="accent2"/>
            </a:solidFill>
          </a:ln>
        </p:spPr>
        <p:txBody>
          <a:bodyPr wrap="square" lIns="114300" tIns="63500" rIns="101600" bIns="50800" rtlCol="0" anchor="t"/>
          <a:lstStyle/>
          <a:p>
            <a:pPr algn="l" indent="0" marL="0">
              <a:buNone/>
            </a:pPr>
            <a:r>
              <a:rPr lang="en-US" sz="1100" b="1" spc="200" kern="0" dirty="0">
                <a:solidFill>
                  <a:schemeClr val="accent2"/>
                </a:solidFill>
              </a:rPr>
              <a:t>RESULT</a:t>
            </a:r>
            <a:endParaRPr lang="en-US" sz="1100" dirty="0"/>
          </a:p>
          <a:p>
            <a:pPr algn="l" indent="0" marL="0">
              <a:buNone/>
            </a:pPr>
            <a:r>
              <a:rPr lang="en-US" sz="1300" dirty="0">
                <a:solidFill>
                  <a:schemeClr val="tx1"/>
                </a:solidFill>
              </a:rPr>
              <a:t>One quote turned data into code. The same idea breaks HTML (XSS).</a:t>
            </a:r>
            <a:endParaRPr lang="en-US" sz="1100" dirty="0"/>
          </a:p>
        </p:txBody>
      </p:sp>
      <p:sp>
        <p:nvSpPr>
          <p:cNvPr id="12" name="Damage"/>
          <p:cNvSpPr txBox="1"/>
          <p:nvPr/>
        </p:nvSpPr>
        <p:spPr>
          <a:xfrm>
            <a:off x="8138160" y="2697480"/>
            <a:ext cx="384048" cy="384048"/>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pic>
        <p:nvPicPr>
          <p:cNvPr id="13" name="Bug" descr="Bug cartoon">    </p:cNvPr>
          <p:cNvPicPr>
            <a:picLocks noChangeAspect="1"/>
          </p:cNvPicPr>
          <p:nvPr/>
        </p:nvPicPr>
        <p:blipFill>
          <a:blip r:embed="rId2"/>
          <a:stretch>
            <a:fillRect/>
          </a:stretch>
        </p:blipFill>
        <p:spPr>
          <a:xfrm>
            <a:off x="6949440" y="2103120"/>
            <a:ext cx="822960" cy="822960"/>
          </a:xfrm>
          <a:prstGeom prst="rect">
            <a:avLst/>
          </a:prstGeom>
        </p:spPr>
      </p:pic>
      <p:sp>
        <p:nvSpPr>
          <p:cNvPr id="14" name="Moral"/>
          <p:cNvSpPr txBox="1"/>
          <p:nvPr/>
        </p:nvSpPr>
        <p:spPr>
          <a:xfrm>
            <a:off x="457200" y="3977640"/>
            <a:ext cx="8229600" cy="548640"/>
          </a:xfrm>
          <a:prstGeom prst="rect">
            <a:avLst/>
          </a:prstGeom>
          <a:noFill/>
          <a:ln/>
        </p:spPr>
        <p:txBody>
          <a:bodyPr wrap="square" lIns="0" tIns="0" rIns="0" bIns="0" rtlCol="0" anchor="ctr"/>
          <a:lstStyle/>
          <a:p>
            <a:pPr indent="0" marL="0">
              <a:buNone/>
            </a:pPr>
            <a:r>
              <a:rPr lang="en-US" sz="2200" b="1" i="1" dirty="0">
                <a:solidFill>
                  <a:schemeClr val="accent1"/>
                </a:solidFill>
              </a:rPr>
              <a:t>Data must never become code.</a:t>
            </a:r>
            <a:endParaRPr lang="en-US" sz="22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0" fill="hold">
                      <p:stCondLst>
                        <p:cond delay="indefinite"/>
                        <p:cond evt="onBegin" delay="0">
                          <p:tn val="2"/>
                        </p:cond>
                      </p:stCondLst>
                      <p:childTnLst>
                        <p:par>
                          <p:cTn id="21" fill="hold">
                            <p:stCondLst>
                              <p:cond delay="0"/>
                            </p:stCondLst>
                            <p:childTnLst>
                              <p:par>
                                <p:cTn id="6" presetID="2" presetClass="entr" presetSubtype="4" fill="hold" grpId="0" nodeType="afterEffect">
                                  <p:stCondLst>
                                    <p:cond delay="0"/>
                                  </p:stCondLst>
                                  <p:childTnLst>
                                    <p:set>
                                      <p:cBhvr>
                                        <p:cTn id="3" dur="1" fill="hold">
                                          <p:stCondLst>
                                            <p:cond delay="0"/>
                                          </p:stCondLst>
                                        </p:cTn>
                                        <p:tgtEl>
                                          <p:spTgt spid="4"/>
                                        </p:tgtEl>
                                        <p:attrNameLst>
                                          <p:attrName>style.visibility</p:attrName>
                                        </p:attrNameLst>
                                      </p:cBhvr>
                                      <p:to>
                                        <p:strVal val="visible"/>
                                      </p:to>
                                    </p:set>
                                    <p:anim calcmode="lin" valueType="num">
                                      <p:cBhvr additive="base">
                                        <p:cTn id="4" dur="450" fill="hold"/>
                                        <p:tgtEl>
                                          <p:spTgt spid="4"/>
                                        </p:tgtEl>
                                        <p:attrNameLst>
                                          <p:attrName>ppt_x</p:attrName>
                                        </p:attrNameLst>
                                      </p:cBhvr>
                                      <p:tavLst>
                                        <p:tav tm="0">
                                          <p:val>
                                            <p:strVal val="#ppt_x"/>
                                          </p:val>
                                        </p:tav>
                                        <p:tav tm="100000">
                                          <p:val>
                                            <p:strVal val="#ppt_x"/>
                                          </p:val>
                                        </p:tav>
                                      </p:tavLst>
                                    </p:anim>
                                    <p:anim calcmode="lin" valueType="num">
                                      <p:cBhvr additive="base">
                                        <p:cTn id="5" dur="450" fill="hold"/>
                                        <p:tgtEl>
                                          <p:spTgt spid="4"/>
                                        </p:tgtEl>
                                        <p:attrNameLst>
                                          <p:attrName>ppt_y</p:attrName>
                                        </p:attrNameLst>
                                      </p:cBhvr>
                                      <p:tavLst>
                                        <p:tav tm="0">
                                          <p:val>
                                            <p:strVal val="1+#ppt_h/2"/>
                                          </p:val>
                                        </p:tav>
                                        <p:tav tm="100000">
                                          <p:val>
                                            <p:strVal val="#ppt_y"/>
                                          </p:val>
                                        </p:tav>
                                      </p:tavLst>
                                    </p:anim>
                                  </p:childTnLst>
                                </p:cTn>
                              </p:par>
                              <p:par>
                                <p:cTn id="10" presetID="2" presetClass="entr" presetSubtype="4" fill="hold" grpId="0" nodeType="withEffect">
                                  <p:stCondLst>
                                    <p:cond delay="200"/>
                                  </p:stCondLst>
                                  <p:childTnLst>
                                    <p:set>
                                      <p:cBhvr>
                                        <p:cTn id="7" dur="1" fill="hold">
                                          <p:stCondLst>
                                            <p:cond delay="0"/>
                                          </p:stCondLst>
                                        </p:cTn>
                                        <p:tgtEl>
                                          <p:spTgt spid="5"/>
                                        </p:tgtEl>
                                        <p:attrNameLst>
                                          <p:attrName>style.visibility</p:attrName>
                                        </p:attrNameLst>
                                      </p:cBhvr>
                                      <p:to>
                                        <p:strVal val="visible"/>
                                      </p:to>
                                    </p:set>
                                    <p:anim calcmode="lin" valueType="num">
                                      <p:cBhvr additive="base">
                                        <p:cTn id="8" dur="450" fill="hold"/>
                                        <p:tgtEl>
                                          <p:spTgt spid="5"/>
                                        </p:tgtEl>
                                        <p:attrNameLst>
                                          <p:attrName>ppt_x</p:attrName>
                                        </p:attrNameLst>
                                      </p:cBhvr>
                                      <p:tavLst>
                                        <p:tav tm="0">
                                          <p:val>
                                            <p:strVal val="#ppt_x"/>
                                          </p:val>
                                        </p:tav>
                                        <p:tav tm="100000">
                                          <p:val>
                                            <p:strVal val="#ppt_x"/>
                                          </p:val>
                                        </p:tav>
                                      </p:tavLst>
                                    </p:anim>
                                    <p:anim calcmode="lin" valueType="num">
                                      <p:cBhvr additive="base">
                                        <p:cTn id="9" dur="450" fill="hold"/>
                                        <p:tgtEl>
                                          <p:spTgt spid="5"/>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40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450" fill="hold"/>
                                        <p:tgtEl>
                                          <p:spTgt spid="6"/>
                                        </p:tgtEl>
                                        <p:attrNameLst>
                                          <p:attrName>ppt_x</p:attrName>
                                        </p:attrNameLst>
                                      </p:cBhvr>
                                      <p:tavLst>
                                        <p:tav tm="0">
                                          <p:val>
                                            <p:strVal val="#ppt_x"/>
                                          </p:val>
                                        </p:tav>
                                        <p:tav tm="100000">
                                          <p:val>
                                            <p:strVal val="#ppt_x"/>
                                          </p:val>
                                        </p:tav>
                                      </p:tavLst>
                                    </p:anim>
                                    <p:anim calcmode="lin" valueType="num">
                                      <p:cBhvr additive="base">
                                        <p:cTn id="13" dur="450" fill="hold"/>
                                        <p:tgtEl>
                                          <p:spTgt spid="6"/>
                                        </p:tgtEl>
                                        <p:attrNameLst>
                                          <p:attrName>ppt_y</p:attrName>
                                        </p:attrNameLst>
                                      </p:cBhvr>
                                      <p:tavLst>
                                        <p:tav tm="0">
                                          <p:val>
                                            <p:strVal val="1+#ppt_h/2"/>
                                          </p:val>
                                        </p:tav>
                                        <p:tav tm="100000">
                                          <p:val>
                                            <p:strVal val="#ppt_y"/>
                                          </p:val>
                                        </p:tav>
                                      </p:tavLst>
                                    </p:anim>
                                  </p:childTnLst>
                                </p:cTn>
                              </p:par>
                              <p:par>
                                <p:cTn id="17"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par>
                                <p:cTn id="19" presetID="0" presetClass="path" presetSubtype="0" fill="hold" nodeType="withEffect">
                                  <p:stCondLst>
                                    <p:cond delay="500"/>
                                  </p:stCondLst>
                                  <p:childTnLst>
                                    <p:animMotion origin="layout" path="M 0 0 L 0.12 0 E" pathEditMode="relative">
                                      <p:cBhvr>
                                        <p:cTn id="18" dur="2600" fill="hold"/>
                                        <p:tgtEl>
                                          <p:spTgt spid="7"/>
                                        </p:tgtEl>
                                        <p:attrNameLst>
                                          <p:attrName>ppt_x</p:attrName>
                                          <p:attrName>ppt_y</p:attrName>
                                        </p:attrNameLst>
                                      </p:cBhvr>
                                      <p:rCtr x="0.06" y="0"/>
                                    </p:animMotion>
                                  </p:childTnLst>
                                </p:cTn>
                              </p:par>
                            </p:childTnLst>
                          </p:cTn>
                        </p:par>
                      </p:childTnLst>
                    </p:cTn>
                  </p:par>
                  <p:par>
                    <p:cTn id="27" fill="hold">
                      <p:stCondLst>
                        <p:cond delay="indefinite"/>
                      </p:stCondLst>
                      <p:childTnLst>
                        <p:par>
                          <p:cTn id="28" fill="hold">
                            <p:stCondLst>
                              <p:cond delay="0"/>
                            </p:stCondLst>
                            <p:childTnLst>
                              <p:par>
                                <p:cTn id="26" presetID="53" presetClass="entr" presetSubtype="16"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450" fill="hold"/>
                                        <p:tgtEl>
                                          <p:spTgt spid="8"/>
                                        </p:tgtEl>
                                        <p:attrNameLst>
                                          <p:attrName>ppt_w</p:attrName>
                                        </p:attrNameLst>
                                      </p:cBhvr>
                                      <p:tavLst>
                                        <p:tav tm="0">
                                          <p:val>
                                            <p:fltVal val="0"/>
                                          </p:val>
                                        </p:tav>
                                        <p:tav tm="100000">
                                          <p:val>
                                            <p:strVal val="#ppt_w"/>
                                          </p:val>
                                        </p:tav>
                                      </p:tavLst>
                                    </p:anim>
                                    <p:anim calcmode="lin" valueType="num">
                                      <p:cBhvr additive="base">
                                        <p:cTn id="24" dur="450" fill="hold"/>
                                        <p:tgtEl>
                                          <p:spTgt spid="8"/>
                                        </p:tgtEl>
                                        <p:attrNameLst>
                                          <p:attrName>ppt_h</p:attrName>
                                        </p:attrNameLst>
                                      </p:cBhvr>
                                      <p:tavLst>
                                        <p:tav tm="0">
                                          <p:val>
                                            <p:fltVal val="0"/>
                                          </p:val>
                                        </p:tav>
                                        <p:tav tm="100000">
                                          <p:val>
                                            <p:strVal val="#ppt_h"/>
                                          </p:val>
                                        </p:tav>
                                      </p:tavLst>
                                    </p:anim>
                                    <p:animEffect transition="in" filter="fade">
                                      <p:cBhvr>
                                        <p:cTn id="25" dur="450"/>
                                        <p:tgtEl>
                                          <p:spTgt spid="8"/>
                                        </p:tgtEl>
                                      </p:cBhvr>
                                    </p:animEffect>
                                  </p:childTnLst>
                                </p:cTn>
                              </p:par>
                            </p:childTnLst>
                          </p:cTn>
                        </p:par>
                      </p:childTnLst>
                    </p:cTn>
                  </p:par>
                  <p:par>
                    <p:cTn id="34" fill="hold">
                      <p:stCondLst>
                        <p:cond delay="indefinite"/>
                      </p:stCondLst>
                      <p:childTnLst>
                        <p:par>
                          <p:cTn id="35" fill="hold">
                            <p:stCondLst>
                              <p:cond delay="0"/>
                            </p:stCondLst>
                            <p:childTnLst>
                              <p:par>
                                <p:cTn id="33" presetID="53" presetClass="entr" presetSubtype="16"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450" fill="hold"/>
                                        <p:tgtEl>
                                          <p:spTgt spid="9"/>
                                        </p:tgtEl>
                                        <p:attrNameLst>
                                          <p:attrName>ppt_w</p:attrName>
                                        </p:attrNameLst>
                                      </p:cBhvr>
                                      <p:tavLst>
                                        <p:tav tm="0">
                                          <p:val>
                                            <p:fltVal val="0"/>
                                          </p:val>
                                        </p:tav>
                                        <p:tav tm="100000">
                                          <p:val>
                                            <p:strVal val="#ppt_w"/>
                                          </p:val>
                                        </p:tav>
                                      </p:tavLst>
                                    </p:anim>
                                    <p:anim calcmode="lin" valueType="num">
                                      <p:cBhvr additive="base">
                                        <p:cTn id="31" dur="450" fill="hold"/>
                                        <p:tgtEl>
                                          <p:spTgt spid="9"/>
                                        </p:tgtEl>
                                        <p:attrNameLst>
                                          <p:attrName>ppt_h</p:attrName>
                                        </p:attrNameLst>
                                      </p:cBhvr>
                                      <p:tavLst>
                                        <p:tav tm="0">
                                          <p:val>
                                            <p:fltVal val="0"/>
                                          </p:val>
                                        </p:tav>
                                        <p:tav tm="100000">
                                          <p:val>
                                            <p:strVal val="#ppt_h"/>
                                          </p:val>
                                        </p:tav>
                                      </p:tavLst>
                                    </p:anim>
                                    <p:animEffect transition="in" filter="fade">
                                      <p:cBhvr>
                                        <p:cTn id="32" dur="450"/>
                                        <p:tgtEl>
                                          <p:spTgt spid="9"/>
                                        </p:tgtEl>
                                      </p:cBhvr>
                                    </p:animEffect>
                                  </p:childTnLst>
                                </p:cTn>
                              </p:par>
                            </p:childTnLst>
                          </p:cTn>
                        </p:par>
                      </p:childTnLst>
                    </p:cTn>
                  </p:par>
                  <p:par>
                    <p:cTn id="51" fill="hold">
                      <p:stCondLst>
                        <p:cond delay="indefinite"/>
                      </p:stCondLst>
                      <p:childTnLst>
                        <p:par>
                          <p:cTn id="52" fill="hold">
                            <p:stCondLst>
                              <p:cond delay="0"/>
                            </p:stCondLst>
                            <p:childTnLst>
                              <p:par>
                                <p:cTn id="40" presetID="53" presetClass="entr" presetSubtype="16"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450" fill="hold"/>
                                        <p:tgtEl>
                                          <p:spTgt spid="10"/>
                                        </p:tgtEl>
                                        <p:attrNameLst>
                                          <p:attrName>ppt_w</p:attrName>
                                        </p:attrNameLst>
                                      </p:cBhvr>
                                      <p:tavLst>
                                        <p:tav tm="0">
                                          <p:val>
                                            <p:fltVal val="0"/>
                                          </p:val>
                                        </p:tav>
                                        <p:tav tm="100000">
                                          <p:val>
                                            <p:strVal val="#ppt_w"/>
                                          </p:val>
                                        </p:tav>
                                      </p:tavLst>
                                    </p:anim>
                                    <p:anim calcmode="lin" valueType="num">
                                      <p:cBhvr additive="base">
                                        <p:cTn id="38" dur="450" fill="hold"/>
                                        <p:tgtEl>
                                          <p:spTgt spid="10"/>
                                        </p:tgtEl>
                                        <p:attrNameLst>
                                          <p:attrName>ppt_h</p:attrName>
                                        </p:attrNameLst>
                                      </p:cBhvr>
                                      <p:tavLst>
                                        <p:tav tm="0">
                                          <p:val>
                                            <p:fltVal val="0"/>
                                          </p:val>
                                        </p:tav>
                                        <p:tav tm="100000">
                                          <p:val>
                                            <p:strVal val="#ppt_h"/>
                                          </p:val>
                                        </p:tav>
                                      </p:tavLst>
                                    </p:anim>
                                    <p:animEffect transition="in" filter="fade">
                                      <p:cBhvr>
                                        <p:cTn id="39" dur="450"/>
                                        <p:tgtEl>
                                          <p:spTgt spid="10"/>
                                        </p:tgtEl>
                                      </p:cBhvr>
                                    </p:animEffect>
                                  </p:childTnLst>
                                </p:cTn>
                              </p:par>
                              <p:par>
                                <p:cTn id="45" presetID="53" presetClass="entr" presetSubtype="16" fill="hold" grpId="0" nodeType="withEffect">
                                  <p:stCondLst>
                                    <p:cond delay="25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350" fill="hold"/>
                                        <p:tgtEl>
                                          <p:spTgt spid="12"/>
                                        </p:tgtEl>
                                        <p:attrNameLst>
                                          <p:attrName>ppt_w</p:attrName>
                                        </p:attrNameLst>
                                      </p:cBhvr>
                                      <p:tavLst>
                                        <p:tav tm="0">
                                          <p:val>
                                            <p:fltVal val="0"/>
                                          </p:val>
                                        </p:tav>
                                        <p:tav tm="100000">
                                          <p:val>
                                            <p:strVal val="#ppt_w"/>
                                          </p:val>
                                        </p:tav>
                                      </p:tavLst>
                                    </p:anim>
                                    <p:anim calcmode="lin" valueType="num">
                                      <p:cBhvr additive="base">
                                        <p:cTn id="43" dur="350" fill="hold"/>
                                        <p:tgtEl>
                                          <p:spTgt spid="12"/>
                                        </p:tgtEl>
                                        <p:attrNameLst>
                                          <p:attrName>ppt_h</p:attrName>
                                        </p:attrNameLst>
                                      </p:cBhvr>
                                      <p:tavLst>
                                        <p:tav tm="0">
                                          <p:val>
                                            <p:fltVal val="0"/>
                                          </p:val>
                                        </p:tav>
                                        <p:tav tm="100000">
                                          <p:val>
                                            <p:strVal val="#ppt_h"/>
                                          </p:val>
                                        </p:tav>
                                      </p:tavLst>
                                    </p:anim>
                                    <p:animEffect transition="in" filter="fade">
                                      <p:cBhvr>
                                        <p:cTn id="44" dur="350"/>
                                        <p:tgtEl>
                                          <p:spTgt spid="12"/>
                                        </p:tgtEl>
                                      </p:cBhvr>
                                    </p:animEffect>
                                  </p:childTnLst>
                                </p:cTn>
                              </p:par>
                              <p:par>
                                <p:cTn id="48" presetID="10" presetClass="entr" presetSubtype="0" fill="hold" nodeType="withEffect">
                                  <p:stCondLst>
                                    <p:cond delay="25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350"/>
                                        <p:tgtEl>
                                          <p:spTgt spid="13"/>
                                        </p:tgtEl>
                                      </p:cBhvr>
                                    </p:animEffect>
                                  </p:childTnLst>
                                </p:cTn>
                              </p:par>
                              <p:par>
                                <p:cTn id="50" presetID="0" presetClass="path" presetSubtype="0" fill="hold" nodeType="withEffect">
                                  <p:stCondLst>
                                    <p:cond delay="700"/>
                                  </p:stCondLst>
                                  <p:childTnLst>
                                    <p:animMotion origin="layout" path="M 0 0 L 0.07 0 E" pathEditMode="relative">
                                      <p:cBhvr>
                                        <p:cTn id="49" dur="2500" fill="hold"/>
                                        <p:tgtEl>
                                          <p:spTgt spid="13"/>
                                        </p:tgtEl>
                                        <p:attrNameLst>
                                          <p:attrName>ppt_x</p:attrName>
                                          <p:attrName>ppt_y</p:attrName>
                                        </p:attrNameLst>
                                      </p:cBhvr>
                                      <p:rCtr x="0.035" y="0"/>
                                    </p:animMotion>
                                  </p:childTnLst>
                                </p:cTn>
                              </p:par>
                            </p:childTnLst>
                          </p:cTn>
                        </p:par>
                      </p:childTnLst>
                    </p:cTn>
                  </p:par>
                  <p:par>
                    <p:cTn id="58" fill="hold">
                      <p:stCondLst>
                        <p:cond delay="indefinite"/>
                      </p:stCondLst>
                      <p:childTnLst>
                        <p:par>
                          <p:cTn id="59" fill="hold">
                            <p:stCondLst>
                              <p:cond delay="0"/>
                            </p:stCondLst>
                            <p:childTnLst>
                              <p:par>
                                <p:cTn id="57" presetID="53" presetClass="entr" presetSubtype="16"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 calcmode="lin" valueType="num">
                                      <p:cBhvr additive="base">
                                        <p:cTn id="54" dur="450" fill="hold"/>
                                        <p:tgtEl>
                                          <p:spTgt spid="11"/>
                                        </p:tgtEl>
                                        <p:attrNameLst>
                                          <p:attrName>ppt_w</p:attrName>
                                        </p:attrNameLst>
                                      </p:cBhvr>
                                      <p:tavLst>
                                        <p:tav tm="0">
                                          <p:val>
                                            <p:fltVal val="0"/>
                                          </p:val>
                                        </p:tav>
                                        <p:tav tm="100000">
                                          <p:val>
                                            <p:strVal val="#ppt_w"/>
                                          </p:val>
                                        </p:tav>
                                      </p:tavLst>
                                    </p:anim>
                                    <p:anim calcmode="lin" valueType="num">
                                      <p:cBhvr additive="base">
                                        <p:cTn id="55" dur="450" fill="hold"/>
                                        <p:tgtEl>
                                          <p:spTgt spid="11"/>
                                        </p:tgtEl>
                                        <p:attrNameLst>
                                          <p:attrName>ppt_h</p:attrName>
                                        </p:attrNameLst>
                                      </p:cBhvr>
                                      <p:tavLst>
                                        <p:tav tm="0">
                                          <p:val>
                                            <p:fltVal val="0"/>
                                          </p:val>
                                        </p:tav>
                                        <p:tav tm="100000">
                                          <p:val>
                                            <p:strVal val="#ppt_h"/>
                                          </p:val>
                                        </p:tav>
                                      </p:tavLst>
                                    </p:anim>
                                    <p:animEffect transition="in" filter="fade">
                                      <p:cBhvr>
                                        <p:cTn id="56" dur="450"/>
                                        <p:tgtEl>
                                          <p:spTgt spid="11"/>
                                        </p:tgtEl>
                                      </p:cBhvr>
                                    </p:animEffect>
                                  </p:childTnLst>
                                </p:cTn>
                              </p:par>
                            </p:childTnLst>
                          </p:cTn>
                        </p:par>
                      </p:childTnLst>
                    </p:cTn>
                  </p:par>
                  <p:par>
                    <p:cTn id="65" fill="hold">
                      <p:stCondLst>
                        <p:cond delay="indefinite"/>
                      </p:stCondLst>
                      <p:childTnLst>
                        <p:par>
                          <p:cTn id="66"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p:tgtEl>
                                          <p:spTgt spid="14"/>
                                        </p:tgtEl>
                                        <p:attrNameLst>
                                          <p:attrName>ppt_w</p:attrName>
                                        </p:attrNameLst>
                                      </p:cBhvr>
                                      <p:tavLst>
                                        <p:tav tm="0">
                                          <p:val>
                                            <p:fltVal val="0"/>
                                          </p:val>
                                        </p:tav>
                                        <p:tav tm="100000">
                                          <p:val>
                                            <p:strVal val="#ppt_w"/>
                                          </p:val>
                                        </p:tav>
                                      </p:tavLst>
                                    </p:anim>
                                    <p:anim calcmode="lin" valueType="num">
                                      <p:cBhvr additive="base">
                                        <p:cTn id="62" dur="500" fill="hold"/>
                                        <p:tgtEl>
                                          <p:spTgt spid="14"/>
                                        </p:tgtEl>
                                        <p:attrNameLst>
                                          <p:attrName>ppt_h</p:attrName>
                                        </p:attrNameLst>
                                      </p:cBhvr>
                                      <p:tavLst>
                                        <p:tav tm="0">
                                          <p:val>
                                            <p:fltVal val="0"/>
                                          </p:val>
                                        </p:tav>
                                        <p:tav tm="100000">
                                          <p:val>
                                            <p:strVal val="#ppt_h"/>
                                          </p:val>
                                        </p:tav>
                                      </p:tavLst>
                                    </p:anim>
                                    <p:animEffect transition="in" filter="fade">
                                      <p:cBhvr>
                                        <p:cTn id="6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2" grpId="0" animBg="1"/>
      <p:bldP spid="11"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A05 · Injection: the fix</a:t>
            </a:r>
            <a:endParaRPr lang="en-US" sz="3000" dirty="0"/>
          </a:p>
        </p:txBody>
      </p:sp>
      <p:pic>
        <p:nvPicPr>
          <p:cNvPr id="4" name="Mascot" descr="Mascot cartoon">    </p:cNvPr>
          <p:cNvPicPr>
            <a:picLocks noChangeAspect="1"/>
          </p:cNvPicPr>
          <p:nvPr/>
        </p:nvPicPr>
        <p:blipFill>
          <a:blip r:embed="rId1"/>
          <a:stretch>
            <a:fillRect/>
          </a:stretch>
        </p:blipFill>
        <p:spPr>
          <a:xfrm>
            <a:off x="640080" y="1097280"/>
            <a:ext cx="1737360" cy="1737360"/>
          </a:xfrm>
          <a:prstGeom prst="rect">
            <a:avLst/>
          </a:prstGeom>
        </p:spPr>
      </p:pic>
      <p:sp>
        <p:nvSpPr>
          <p:cNvPr id="5" name="Stop sign"/>
          <p:cNvSpPr txBox="1"/>
          <p:nvPr/>
        </p:nvSpPr>
        <p:spPr>
          <a:xfrm>
            <a:off x="2377440" y="3063240"/>
            <a:ext cx="777240" cy="777240"/>
          </a:xfrm>
          <a:prstGeom prst="octagon">
            <a:avLst/>
          </a:prstGeom>
          <a:solidFill>
            <a:schemeClr val="accent2"/>
          </a:solidFill>
          <a:ln/>
        </p:spPr>
        <p:txBody>
          <a:bodyPr wrap="square" lIns="0" tIns="0" rIns="0" bIns="0" rtlCol="0" anchor="ctr"/>
          <a:lstStyle/>
          <a:p>
            <a:pPr algn="ctr" indent="0" marL="0">
              <a:buNone/>
            </a:pPr>
            <a:r>
              <a:rPr lang="en-US" sz="1300" b="1" dirty="0">
                <a:solidFill>
                  <a:srgbClr val="FFFFFF"/>
                </a:solidFill>
              </a:rPr>
              <a:t>STOP</a:t>
            </a:r>
            <a:endParaRPr lang="en-US" sz="1300" dirty="0"/>
          </a:p>
        </p:txBody>
      </p:sp>
      <p:pic>
        <p:nvPicPr>
          <p:cNvPr id="6" name="Hacker" descr="Hacker cartoon">    </p:cNvPr>
          <p:cNvPicPr>
            <a:picLocks noChangeAspect="1"/>
          </p:cNvPicPr>
          <p:nvPr/>
        </p:nvPicPr>
        <p:blipFill>
          <a:blip r:embed="rId2"/>
          <a:stretch>
            <a:fillRect/>
          </a:stretch>
        </p:blipFill>
        <p:spPr>
          <a:xfrm>
            <a:off x="274320" y="2834640"/>
            <a:ext cx="1188720" cy="1188720"/>
          </a:xfrm>
          <a:prstGeom prst="rect">
            <a:avLst/>
          </a:prstGeom>
        </p:spPr>
      </p:pic>
      <p:sp>
        <p:nvSpPr>
          <p:cNvPr id="7" name="Rule 0"/>
          <p:cNvSpPr txBox="1"/>
          <p:nvPr/>
        </p:nvSpPr>
        <p:spPr>
          <a:xfrm>
            <a:off x="3383280" y="1143000"/>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Bind variables, always</a:t>
            </a:r>
            <a:endParaRPr lang="en-US" sz="1400" dirty="0"/>
          </a:p>
          <a:p>
            <a:pPr algn="l" indent="0" marL="0">
              <a:buNone/>
            </a:pPr>
            <a:r>
              <a:rPr lang="en-US" sz="1200" dirty="0">
                <a:solidFill>
                  <a:schemeClr val="tx1"/>
                </a:solidFill>
              </a:rPr>
              <a:t>Oracle :name. SQL Server and SQLite @name. Never concatenate strings.</a:t>
            </a:r>
            <a:endParaRPr lang="en-US" sz="1400" dirty="0"/>
          </a:p>
        </p:txBody>
      </p:sp>
      <p:sp>
        <p:nvSpPr>
          <p:cNvPr id="8" name="Rule num 0"/>
          <p:cNvSpPr txBox="1"/>
          <p:nvPr/>
        </p:nvSpPr>
        <p:spPr>
          <a:xfrm>
            <a:off x="3493008" y="1271016"/>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Rule 1"/>
          <p:cNvSpPr txBox="1"/>
          <p:nvPr/>
        </p:nvSpPr>
        <p:spPr>
          <a:xfrm>
            <a:off x="3383280" y="1892808"/>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EF Core: stay parameterized</a:t>
            </a:r>
            <a:endParaRPr lang="en-US" sz="1400" dirty="0"/>
          </a:p>
          <a:p>
            <a:pPr algn="l" indent="0" marL="0">
              <a:buNone/>
            </a:pPr>
            <a:r>
              <a:rPr lang="en-US" sz="1200" dirty="0">
                <a:solidFill>
                  <a:schemeClr val="tx1"/>
                </a:solidFill>
              </a:rPr>
              <a:t>FromSqlInterpolated, not FromSqlRaw with strings. Allow-list table names.</a:t>
            </a:r>
            <a:endParaRPr lang="en-US" sz="1400" dirty="0"/>
          </a:p>
        </p:txBody>
      </p:sp>
      <p:sp>
        <p:nvSpPr>
          <p:cNvPr id="10" name="Rule num 1"/>
          <p:cNvSpPr txBox="1"/>
          <p:nvPr/>
        </p:nvSpPr>
        <p:spPr>
          <a:xfrm>
            <a:off x="3493008" y="2020824"/>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Rule 2"/>
          <p:cNvSpPr txBox="1"/>
          <p:nvPr/>
        </p:nvSpPr>
        <p:spPr>
          <a:xfrm>
            <a:off x="3383280" y="2642616"/>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Let Angular escape</a:t>
            </a:r>
            <a:endParaRPr lang="en-US" sz="1400" dirty="0"/>
          </a:p>
          <a:p>
            <a:pPr algn="l" indent="0" marL="0">
              <a:buNone/>
            </a:pPr>
            <a:r>
              <a:rPr lang="en-US" sz="1200" dirty="0">
                <a:solidFill>
                  <a:schemeClr val="tx1"/>
                </a:solidFill>
              </a:rPr>
              <a:t>Use {{ }}. Avoid bypassSecurityTrustHtml. Add a CSP header.</a:t>
            </a:r>
            <a:endParaRPr lang="en-US" sz="1400" dirty="0"/>
          </a:p>
        </p:txBody>
      </p:sp>
      <p:sp>
        <p:nvSpPr>
          <p:cNvPr id="12" name="Rule num 2"/>
          <p:cNvSpPr txBox="1"/>
          <p:nvPr/>
        </p:nvSpPr>
        <p:spPr>
          <a:xfrm>
            <a:off x="3493008" y="2770632"/>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Chip NG"/>
          <p:cNvSpPr txBox="1"/>
          <p:nvPr/>
        </p:nvSpPr>
        <p:spPr>
          <a:xfrm>
            <a:off x="3383280" y="3429000"/>
            <a:ext cx="2606040" cy="804672"/>
          </a:xfrm>
          <a:prstGeom prst="roundRect">
            <a:avLst>
              <a:gd name="adj" fmla="val 11364"/>
            </a:avLst>
          </a:prstGeom>
          <a:solidFill>
            <a:schemeClr val="accent5">
              <a:alpha val="12000"/>
            </a:schemeClr>
          </a:solidFill>
          <a:ln w="12700">
            <a:solidFill>
              <a:schemeClr val="accent5"/>
            </a:solidFill>
          </a:ln>
        </p:spPr>
        <p:txBody>
          <a:bodyPr wrap="square" lIns="127000" tIns="25400" rIns="101600" bIns="25400" rtlCol="0" anchor="ctr"/>
          <a:lstStyle/>
          <a:p>
            <a:pPr algn="l" indent="0" marL="0">
              <a:buNone/>
            </a:pPr>
            <a:r>
              <a:rPr lang="en-US" sz="1100" b="1" spc="200" kern="0" dirty="0">
                <a:solidFill>
                  <a:schemeClr val="accent5"/>
                </a:solidFill>
              </a:rPr>
              <a:t>IN ANGULAR</a:t>
            </a:r>
            <a:endParaRPr lang="en-US" sz="1100" dirty="0"/>
          </a:p>
          <a:p>
            <a:pPr algn="l" indent="0" marL="0">
              <a:buNone/>
            </a:pPr>
            <a:r>
              <a:rPr lang="en-US" sz="1200" dirty="0">
                <a:solidFill>
                  <a:schemeClr val="tx1"/>
                </a:solidFill>
              </a:rPr>
              <a:t>[innerHTML] is sanitized. bypassSecurityTrust* turns it off.</a:t>
            </a:r>
            <a:endParaRPr lang="en-US" sz="1100" dirty="0"/>
          </a:p>
        </p:txBody>
      </p:sp>
      <p:sp>
        <p:nvSpPr>
          <p:cNvPr id="14" name="Chip NET"/>
          <p:cNvSpPr txBox="1"/>
          <p:nvPr/>
        </p:nvSpPr>
        <p:spPr>
          <a:xfrm>
            <a:off x="6080760" y="3429000"/>
            <a:ext cx="2606040" cy="804672"/>
          </a:xfrm>
          <a:prstGeom prst="roundRect">
            <a:avLst>
              <a:gd name="adj" fmla="val 11364"/>
            </a:avLst>
          </a:prstGeom>
          <a:solidFill>
            <a:schemeClr val="accent6">
              <a:alpha val="12000"/>
            </a:schemeClr>
          </a:solidFill>
          <a:ln w="12700">
            <a:solidFill>
              <a:schemeClr val="accent6"/>
            </a:solidFill>
          </a:ln>
        </p:spPr>
        <p:txBody>
          <a:bodyPr wrap="square" lIns="127000" tIns="25400" rIns="101600" bIns="25400" rtlCol="0" anchor="ctr"/>
          <a:lstStyle/>
          <a:p>
            <a:pPr algn="l" indent="0" marL="0">
              <a:buNone/>
            </a:pPr>
            <a:r>
              <a:rPr lang="en-US" sz="1100" b="1" spc="200" kern="0" dirty="0">
                <a:solidFill>
                  <a:schemeClr val="accent6"/>
                </a:solidFill>
              </a:rPr>
              <a:t>IN .NET CORE</a:t>
            </a:r>
            <a:endParaRPr lang="en-US" sz="1100" dirty="0"/>
          </a:p>
          <a:p>
            <a:pPr algn="l" indent="0" marL="0">
              <a:buNone/>
            </a:pPr>
            <a:r>
              <a:rPr lang="en-US" sz="1200" dirty="0">
                <a:solidFill>
                  <a:schemeClr val="tx1"/>
                </a:solidFill>
              </a:rPr>
              <a:t>cmd.Parameters.Add(...) for ODP.NET, SqlClient and SQLite.</a:t>
            </a:r>
            <a:endParaRPr lang="en-US" sz="1100" dirty="0"/>
          </a:p>
        </p:txBody>
      </p:sp>
      <p:sp>
        <p:nvSpPr>
          <p:cNvPr id="15" name="Takeaway"/>
          <p:cNvSpPr txBox="1"/>
          <p:nvPr/>
        </p:nvSpPr>
        <p:spPr>
          <a:xfrm>
            <a:off x="457200" y="4279392"/>
            <a:ext cx="4754880" cy="411480"/>
          </a:xfrm>
          <a:prstGeom prst="rect">
            <a:avLst/>
          </a:prstGeom>
          <a:noFill/>
          <a:ln/>
        </p:spPr>
        <p:txBody>
          <a:bodyPr wrap="square" lIns="0" tIns="0" rIns="0" bIns="0" rtlCol="0" anchor="ctr"/>
          <a:lstStyle/>
          <a:p>
            <a:pPr indent="0" marL="0">
              <a:buNone/>
            </a:pPr>
            <a:r>
              <a:rPr lang="en-US" sz="1600" b="1" dirty="0">
                <a:solidFill>
                  <a:schemeClr val="accent1"/>
                </a:solidFill>
              </a:rPr>
              <a:t>Parameters, always.</a:t>
            </a:r>
            <a:endParaRPr lang="en-US" sz="16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cond evt="onBegin" delay="0">
                          <p:tn val="2"/>
                        </p:cond>
                      </p:stCondLst>
                      <p:childTnLst>
                        <p:par>
                          <p:cTn id="19"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5"/>
                                        </p:tgtEl>
                                        <p:attrNameLst>
                                          <p:attrName>style.visibility</p:attrName>
                                        </p:attrNameLst>
                                      </p:cBhvr>
                                      <p:to>
                                        <p:strVal val="visible"/>
                                      </p:to>
                                    </p:set>
                                    <p:anim calcmode="lin" valueType="num">
                                      <p:cBhvr additive="base">
                                        <p:cTn id="4" dur="400" fill="hold"/>
                                        <p:tgtEl>
                                          <p:spTgt spid="5"/>
                                        </p:tgtEl>
                                        <p:attrNameLst>
                                          <p:attrName>ppt_w</p:attrName>
                                        </p:attrNameLst>
                                      </p:cBhvr>
                                      <p:tavLst>
                                        <p:tav tm="0">
                                          <p:val>
                                            <p:fltVal val="0"/>
                                          </p:val>
                                        </p:tav>
                                        <p:tav tm="100000">
                                          <p:val>
                                            <p:strVal val="#ppt_w"/>
                                          </p:val>
                                        </p:tav>
                                      </p:tavLst>
                                    </p:anim>
                                    <p:anim calcmode="lin" valueType="num">
                                      <p:cBhvr additive="base">
                                        <p:cTn id="5" dur="400" fill="hold"/>
                                        <p:tgtEl>
                                          <p:spTgt spid="5"/>
                                        </p:tgtEl>
                                        <p:attrNameLst>
                                          <p:attrName>ppt_h</p:attrName>
                                        </p:attrNameLst>
                                      </p:cBhvr>
                                      <p:tavLst>
                                        <p:tav tm="0">
                                          <p:val>
                                            <p:fltVal val="0"/>
                                          </p:val>
                                        </p:tav>
                                        <p:tav tm="100000">
                                          <p:val>
                                            <p:strVal val="#ppt_h"/>
                                          </p:val>
                                        </p:tav>
                                      </p:tavLst>
                                    </p:anim>
                                    <p:animEffect transition="in" filter="fade">
                                      <p:cBhvr>
                                        <p:cTn id="6" dur="400"/>
                                        <p:tgtEl>
                                          <p:spTgt spid="5"/>
                                        </p:tgtEl>
                                      </p:cBhvr>
                                    </p:animEffect>
                                  </p:childTnLst>
                                </p:cTn>
                              </p:par>
                              <p:par>
                                <p:cTn id="10" presetID="10" presetClass="entr" presetSubtype="0" fill="hold" nodeType="withEffect">
                                  <p:stCondLst>
                                    <p:cond delay="20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300"/>
                                        <p:tgtEl>
                                          <p:spTgt spid="6"/>
                                        </p:tgtEl>
                                      </p:cBhvr>
                                    </p:animEffect>
                                  </p:childTnLst>
                                </p:cTn>
                              </p:par>
                              <p:par>
                                <p:cTn id="12" presetID="0" presetClass="path" presetSubtype="0" fill="hold" nodeType="withEffect">
                                  <p:stCondLst>
                                    <p:cond delay="600"/>
                                  </p:stCondLst>
                                  <p:childTnLst>
                                    <p:animMotion origin="layout" path="M 0 0 L 0.1 0 E" pathEditMode="relative">
                                      <p:cBhvr>
                                        <p:cTn id="11" dur="2400" fill="hold"/>
                                        <p:tgtEl>
                                          <p:spTgt spid="6"/>
                                        </p:tgtEl>
                                        <p:attrNameLst>
                                          <p:attrName>ppt_x</p:attrName>
                                          <p:attrName>ppt_y</p:attrName>
                                        </p:attrNameLst>
                                      </p:cBhvr>
                                      <p:rCtr x="0.05" y="0"/>
                                    </p:animMotion>
                                  </p:childTnLst>
                                </p:cTn>
                              </p:par>
                              <p:par>
                                <p:cTn id="17" presetID="53" presetClass="entr" presetSubtype="16" fill="hold" nodeType="withEffect">
                                  <p:stCondLst>
                                    <p:cond delay="300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ppt_w</p:attrName>
                                        </p:attrNameLst>
                                      </p:cBhvr>
                                      <p:tavLst>
                                        <p:tav tm="0">
                                          <p:val>
                                            <p:fltVal val="0"/>
                                          </p:val>
                                        </p:tav>
                                        <p:tav tm="100000">
                                          <p:val>
                                            <p:strVal val="#ppt_w"/>
                                          </p:val>
                                        </p:tav>
                                      </p:tavLst>
                                    </p:anim>
                                    <p:anim calcmode="lin" valueType="num">
                                      <p:cBhvr additive="base">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23" presetID="2" presetClass="entr" presetSubtype="2"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450" fill="hold"/>
                                        <p:tgtEl>
                                          <p:spTgt spid="7"/>
                                        </p:tgtEl>
                                        <p:attrNameLst>
                                          <p:attrName>ppt_x</p:attrName>
                                        </p:attrNameLst>
                                      </p:cBhvr>
                                      <p:tavLst>
                                        <p:tav tm="0">
                                          <p:val>
                                            <p:strVal val="1+#ppt_w/2"/>
                                          </p:val>
                                        </p:tav>
                                        <p:tav tm="100000">
                                          <p:val>
                                            <p:strVal val="#ppt_x"/>
                                          </p:val>
                                        </p:tav>
                                      </p:tavLst>
                                    </p:anim>
                                    <p:anim calcmode="lin" valueType="num">
                                      <p:cBhvr additive="base">
                                        <p:cTn id="22" dur="450" fill="hold"/>
                                        <p:tgtEl>
                                          <p:spTgt spid="7"/>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450" fill="hold"/>
                                        <p:tgtEl>
                                          <p:spTgt spid="8"/>
                                        </p:tgtEl>
                                        <p:attrNameLst>
                                          <p:attrName>ppt_x</p:attrName>
                                        </p:attrNameLst>
                                      </p:cBhvr>
                                      <p:tavLst>
                                        <p:tav tm="0">
                                          <p:val>
                                            <p:strVal val="1+#ppt_w/2"/>
                                          </p:val>
                                        </p:tav>
                                        <p:tav tm="100000">
                                          <p:val>
                                            <p:strVal val="#ppt_x"/>
                                          </p:val>
                                        </p:tav>
                                      </p:tavLst>
                                    </p:anim>
                                    <p:anim calcmode="lin" valueType="num">
                                      <p:cBhvr additive="base">
                                        <p:cTn id="26" dur="45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33" presetID="2" presetClass="entr" presetSubtype="2"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450" fill="hold"/>
                                        <p:tgtEl>
                                          <p:spTgt spid="9"/>
                                        </p:tgtEl>
                                        <p:attrNameLst>
                                          <p:attrName>ppt_x</p:attrName>
                                        </p:attrNameLst>
                                      </p:cBhvr>
                                      <p:tavLst>
                                        <p:tav tm="0">
                                          <p:val>
                                            <p:strVal val="1+#ppt_w/2"/>
                                          </p:val>
                                        </p:tav>
                                        <p:tav tm="100000">
                                          <p:val>
                                            <p:strVal val="#ppt_x"/>
                                          </p:val>
                                        </p:tav>
                                      </p:tavLst>
                                    </p:anim>
                                    <p:anim calcmode="lin" valueType="num">
                                      <p:cBhvr additive="base">
                                        <p:cTn id="32" dur="450" fill="hold"/>
                                        <p:tgtEl>
                                          <p:spTgt spid="9"/>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450" fill="hold"/>
                                        <p:tgtEl>
                                          <p:spTgt spid="10"/>
                                        </p:tgtEl>
                                        <p:attrNameLst>
                                          <p:attrName>ppt_x</p:attrName>
                                        </p:attrNameLst>
                                      </p:cBhvr>
                                      <p:tavLst>
                                        <p:tav tm="0">
                                          <p:val>
                                            <p:strVal val="1+#ppt_w/2"/>
                                          </p:val>
                                        </p:tav>
                                        <p:tav tm="100000">
                                          <p:val>
                                            <p:strVal val="#ppt_x"/>
                                          </p:val>
                                        </p:tav>
                                      </p:tavLst>
                                    </p:anim>
                                    <p:anim calcmode="lin" valueType="num">
                                      <p:cBhvr additive="base">
                                        <p:cTn id="36" dur="45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3" presetID="2" presetClass="entr" presetSubtype="2"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450" fill="hold"/>
                                        <p:tgtEl>
                                          <p:spTgt spid="11"/>
                                        </p:tgtEl>
                                        <p:attrNameLst>
                                          <p:attrName>ppt_x</p:attrName>
                                        </p:attrNameLst>
                                      </p:cBhvr>
                                      <p:tavLst>
                                        <p:tav tm="0">
                                          <p:val>
                                            <p:strVal val="1+#ppt_w/2"/>
                                          </p:val>
                                        </p:tav>
                                        <p:tav tm="100000">
                                          <p:val>
                                            <p:strVal val="#ppt_x"/>
                                          </p:val>
                                        </p:tav>
                                      </p:tavLst>
                                    </p:anim>
                                    <p:anim calcmode="lin" valueType="num">
                                      <p:cBhvr additive="base">
                                        <p:cTn id="42" dur="450" fill="hold"/>
                                        <p:tgtEl>
                                          <p:spTgt spid="11"/>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450" fill="hold"/>
                                        <p:tgtEl>
                                          <p:spTgt spid="12"/>
                                        </p:tgtEl>
                                        <p:attrNameLst>
                                          <p:attrName>ppt_x</p:attrName>
                                        </p:attrNameLst>
                                      </p:cBhvr>
                                      <p:tavLst>
                                        <p:tav tm="0">
                                          <p:val>
                                            <p:strVal val="1+#ppt_w/2"/>
                                          </p:val>
                                        </p:tav>
                                        <p:tav tm="100000">
                                          <p:val>
                                            <p:strVal val="#ppt_x"/>
                                          </p:val>
                                        </p:tav>
                                      </p:tavLst>
                                    </p:anim>
                                    <p:anim calcmode="lin" valueType="num">
                                      <p:cBhvr additive="base">
                                        <p:cTn id="46" dur="45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53" presetID="2" presetClass="entr" presetSubtype="4"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450" fill="hold"/>
                                        <p:tgtEl>
                                          <p:spTgt spid="13"/>
                                        </p:tgtEl>
                                        <p:attrNameLst>
                                          <p:attrName>ppt_x</p:attrName>
                                        </p:attrNameLst>
                                      </p:cBhvr>
                                      <p:tavLst>
                                        <p:tav tm="0">
                                          <p:val>
                                            <p:strVal val="#ppt_x"/>
                                          </p:val>
                                        </p:tav>
                                        <p:tav tm="100000">
                                          <p:val>
                                            <p:strVal val="#ppt_x"/>
                                          </p:val>
                                        </p:tav>
                                      </p:tavLst>
                                    </p:anim>
                                    <p:anim calcmode="lin" valueType="num">
                                      <p:cBhvr additive="base">
                                        <p:cTn id="52" dur="450" fill="hold"/>
                                        <p:tgtEl>
                                          <p:spTgt spid="13"/>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15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450" fill="hold"/>
                                        <p:tgtEl>
                                          <p:spTgt spid="14"/>
                                        </p:tgtEl>
                                        <p:attrNameLst>
                                          <p:attrName>ppt_x</p:attrName>
                                        </p:attrNameLst>
                                      </p:cBhvr>
                                      <p:tavLst>
                                        <p:tav tm="0">
                                          <p:val>
                                            <p:strVal val="#ppt_x"/>
                                          </p:val>
                                        </p:tav>
                                        <p:tav tm="100000">
                                          <p:val>
                                            <p:strVal val="#ppt_x"/>
                                          </p:val>
                                        </p:tav>
                                      </p:tavLst>
                                    </p:anim>
                                    <p:anim calcmode="lin" valueType="num">
                                      <p:cBhvr additive="base">
                                        <p:cTn id="56"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450" fill="hold"/>
                                        <p:tgtEl>
                                          <p:spTgt spid="15"/>
                                        </p:tgtEl>
                                        <p:attrNameLst>
                                          <p:attrName>ppt_w</p:attrName>
                                        </p:attrNameLst>
                                      </p:cBhvr>
                                      <p:tavLst>
                                        <p:tav tm="0">
                                          <p:val>
                                            <p:fltVal val="0"/>
                                          </p:val>
                                        </p:tav>
                                        <p:tav tm="100000">
                                          <p:val>
                                            <p:strVal val="#ppt_w"/>
                                          </p:val>
                                        </p:tav>
                                      </p:tavLst>
                                    </p:anim>
                                    <p:anim calcmode="lin" valueType="num">
                                      <p:cBhvr additive="base">
                                        <p:cTn id="62" dur="450" fill="hold"/>
                                        <p:tgtEl>
                                          <p:spTgt spid="15"/>
                                        </p:tgtEl>
                                        <p:attrNameLst>
                                          <p:attrName>ppt_h</p:attrName>
                                        </p:attrNameLst>
                                      </p:cBhvr>
                                      <p:tavLst>
                                        <p:tav tm="0">
                                          <p:val>
                                            <p:fltVal val="0"/>
                                          </p:val>
                                        </p:tav>
                                        <p:tav tm="100000">
                                          <p:val>
                                            <p:strVal val="#ppt_h"/>
                                          </p:val>
                                        </p:tav>
                                      </p:tavLst>
                                    </p:anim>
                                    <p:animEffect transition="in" filter="fade">
                                      <p:cBhvr>
                                        <p:cTn id="63"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A06 · Insecure Design: the story</a:t>
            </a:r>
            <a:endParaRPr lang="en-US" sz="3000" dirty="0"/>
          </a:p>
        </p:txBody>
      </p:sp>
      <p:sp>
        <p:nvSpPr>
          <p:cNvPr id="4" name="Station 0"/>
          <p:cNvSpPr txBox="1"/>
          <p:nvPr/>
        </p:nvSpPr>
        <p:spPr>
          <a:xfrm>
            <a:off x="2926080" y="2880360"/>
            <a:ext cx="1737360" cy="868680"/>
          </a:xfrm>
          <a:prstGeom prst="roundRect">
            <a:avLst>
              <a:gd name="adj" fmla="val 12632"/>
            </a:avLst>
          </a:prstGeom>
          <a:solidFill>
            <a:schemeClr val="bg2"/>
          </a:solidFill>
          <a:ln w="15875">
            <a:solidFill>
              <a:schemeClr val="accent5"/>
            </a:solidFill>
          </a:ln>
        </p:spPr>
        <p:txBody>
          <a:bodyPr wrap="square" lIns="50800" tIns="50800" rIns="50800" bIns="50800" rtlCol="0" anchor="ctr"/>
          <a:lstStyle/>
          <a:p>
            <a:pPr algn="ctr" indent="0" marL="0">
              <a:buNone/>
            </a:pPr>
            <a:r>
              <a:rPr lang="en-US" sz="1500" b="1" dirty="0">
                <a:solidFill>
                  <a:schemeClr val="accent5"/>
                </a:solidFill>
              </a:rPr>
              <a:t>Refund form</a:t>
            </a:r>
            <a:endParaRPr lang="en-US" sz="1500" dirty="0"/>
          </a:p>
          <a:p>
            <a:pPr algn="ctr" indent="0" marL="0">
              <a:buNone/>
            </a:pPr>
            <a:r>
              <a:rPr lang="en-US" sz="1200" dirty="0">
                <a:solidFill>
                  <a:schemeClr val="tx2"/>
                </a:solidFill>
              </a:rPr>
              <a:t>Angular</a:t>
            </a:r>
            <a:endParaRPr lang="en-US" sz="1500" dirty="0"/>
          </a:p>
        </p:txBody>
      </p:sp>
      <p:sp>
        <p:nvSpPr>
          <p:cNvPr id="5" name="Station 1"/>
          <p:cNvSpPr txBox="1"/>
          <p:nvPr/>
        </p:nvSpPr>
        <p:spPr>
          <a:xfrm>
            <a:off x="4846320" y="2880360"/>
            <a:ext cx="1737360" cy="868680"/>
          </a:xfrm>
          <a:prstGeom prst="roundRect">
            <a:avLst>
              <a:gd name="adj" fmla="val 12632"/>
            </a:avLst>
          </a:prstGeom>
          <a:solidFill>
            <a:schemeClr val="bg2"/>
          </a:solidFill>
          <a:ln w="15875">
            <a:solidFill>
              <a:schemeClr val="accent1"/>
            </a:solidFill>
          </a:ln>
        </p:spPr>
        <p:txBody>
          <a:bodyPr wrap="square" lIns="50800" tIns="50800" rIns="50800" bIns="50800" rtlCol="0" anchor="ctr"/>
          <a:lstStyle/>
          <a:p>
            <a:pPr algn="ctr" indent="0" marL="0">
              <a:buNone/>
            </a:pPr>
            <a:r>
              <a:rPr lang="en-US" sz="1500" b="1" dirty="0">
                <a:solidFill>
                  <a:schemeClr val="accent1"/>
                </a:solidFill>
              </a:rPr>
              <a:t>Approval API</a:t>
            </a:r>
            <a:endParaRPr lang="en-US" sz="1500" dirty="0"/>
          </a:p>
          <a:p>
            <a:pPr algn="ctr" indent="0" marL="0">
              <a:buNone/>
            </a:pPr>
            <a:r>
              <a:rPr lang="en-US" sz="1200" dirty="0">
                <a:solidFill>
                  <a:schemeClr val="tx2"/>
                </a:solidFill>
              </a:rPr>
              <a:t>one endpoint</a:t>
            </a:r>
            <a:endParaRPr lang="en-US" sz="1500" dirty="0"/>
          </a:p>
        </p:txBody>
      </p:sp>
      <p:sp>
        <p:nvSpPr>
          <p:cNvPr id="6" name="Station 2"/>
          <p:cNvSpPr txBox="1"/>
          <p:nvPr/>
        </p:nvSpPr>
        <p:spPr>
          <a:xfrm>
            <a:off x="6766560" y="2880360"/>
            <a:ext cx="1737360" cy="868680"/>
          </a:xfrm>
          <a:prstGeom prst="roundRect">
            <a:avLst>
              <a:gd name="adj" fmla="val 12632"/>
            </a:avLst>
          </a:prstGeom>
          <a:solidFill>
            <a:schemeClr val="bg2"/>
          </a:solidFill>
          <a:ln w="15875">
            <a:solidFill>
              <a:schemeClr val="accent4"/>
            </a:solidFill>
          </a:ln>
        </p:spPr>
        <p:txBody>
          <a:bodyPr wrap="square" lIns="50800" tIns="50800" rIns="50800" bIns="50800" rtlCol="0" anchor="ctr"/>
          <a:lstStyle/>
          <a:p>
            <a:pPr algn="ctr" indent="0" marL="0">
              <a:buNone/>
            </a:pPr>
            <a:r>
              <a:rPr lang="en-US" sz="1500" b="1" dirty="0">
                <a:solidFill>
                  <a:schemeClr val="accent4"/>
                </a:solidFill>
              </a:rPr>
              <a:t>Finance DB</a:t>
            </a:r>
            <a:endParaRPr lang="en-US" sz="1500" dirty="0"/>
          </a:p>
          <a:p>
            <a:pPr algn="ctr" indent="0" marL="0">
              <a:buNone/>
            </a:pPr>
            <a:r>
              <a:rPr lang="en-US" sz="1200" dirty="0">
                <a:solidFill>
                  <a:schemeClr val="tx2"/>
                </a:solidFill>
              </a:rPr>
              <a:t>payments</a:t>
            </a:r>
            <a:endParaRPr lang="en-US" sz="1500" dirty="0"/>
          </a:p>
        </p:txBody>
      </p:sp>
      <p:pic>
        <p:nvPicPr>
          <p:cNvPr id="7" name="Hacker" descr="Hacker cartoon">    </p:cNvPr>
          <p:cNvPicPr>
            <a:picLocks noChangeAspect="1"/>
          </p:cNvPicPr>
          <p:nvPr/>
        </p:nvPicPr>
        <p:blipFill>
          <a:blip r:embed="rId1"/>
          <a:stretch>
            <a:fillRect/>
          </a:stretch>
        </p:blipFill>
        <p:spPr>
          <a:xfrm>
            <a:off x="365760" y="2606040"/>
            <a:ext cx="1188720" cy="1188720"/>
          </a:xfrm>
          <a:prstGeom prst="rect">
            <a:avLst/>
          </a:prstGeom>
        </p:spPr>
      </p:pic>
      <p:sp>
        <p:nvSpPr>
          <p:cNvPr id="8" name="Bubble 0"/>
          <p:cNvSpPr txBox="1"/>
          <p:nvPr/>
        </p:nvSpPr>
        <p:spPr>
          <a:xfrm>
            <a:off x="457200" y="1097280"/>
            <a:ext cx="1920240" cy="1097280"/>
          </a:xfrm>
          <a:prstGeom prst="roundRect">
            <a:avLst>
              <a:gd name="adj" fmla="val 11667"/>
            </a:avLst>
          </a:prstGeom>
          <a:solidFill>
            <a:schemeClr val="bg2"/>
          </a:solidFill>
          <a:ln w="19050">
            <a:solidFill>
              <a:schemeClr val="accent6"/>
            </a:solidFill>
          </a:ln>
        </p:spPr>
        <p:txBody>
          <a:bodyPr wrap="square" lIns="114300" tIns="63500" rIns="101600" bIns="50800" rtlCol="0" anchor="t"/>
          <a:lstStyle/>
          <a:p>
            <a:pPr algn="l" indent="0" marL="0">
              <a:buNone/>
            </a:pPr>
            <a:r>
              <a:rPr lang="en-US" sz="1100" b="1" spc="200" kern="0" dirty="0">
                <a:solidFill>
                  <a:schemeClr val="accent6"/>
                </a:solidFill>
              </a:rPr>
              <a:t>INSIDER</a:t>
            </a:r>
            <a:endParaRPr lang="en-US" sz="1100" dirty="0"/>
          </a:p>
          <a:p>
            <a:pPr algn="l" indent="0" marL="0">
              <a:buNone/>
            </a:pPr>
            <a:r>
              <a:rPr lang="en-US" sz="1300" dirty="0">
                <a:solidFill>
                  <a:schemeClr val="tx1"/>
                </a:solidFill>
              </a:rPr>
              <a:t>I create a refund request for 50,000.</a:t>
            </a:r>
            <a:endParaRPr lang="en-US" sz="1100" dirty="0"/>
          </a:p>
        </p:txBody>
      </p:sp>
      <p:sp>
        <p:nvSpPr>
          <p:cNvPr id="9" name="Bubble 1"/>
          <p:cNvSpPr txBox="1"/>
          <p:nvPr/>
        </p:nvSpPr>
        <p:spPr>
          <a:xfrm>
            <a:off x="2560320" y="1097280"/>
            <a:ext cx="1920240" cy="1097280"/>
          </a:xfrm>
          <a:prstGeom prst="roundRect">
            <a:avLst>
              <a:gd name="adj" fmla="val 11667"/>
            </a:avLst>
          </a:prstGeom>
          <a:solidFill>
            <a:schemeClr val="bg2"/>
          </a:solidFill>
          <a:ln w="19050">
            <a:solidFill>
              <a:schemeClr val="accent6"/>
            </a:solidFill>
          </a:ln>
        </p:spPr>
        <p:txBody>
          <a:bodyPr wrap="square" lIns="114300" tIns="63500" rIns="101600" bIns="50800" rtlCol="0" anchor="t"/>
          <a:lstStyle/>
          <a:p>
            <a:pPr algn="l" indent="0" marL="0">
              <a:buNone/>
            </a:pPr>
            <a:r>
              <a:rPr lang="en-US" sz="1100" b="1" spc="200" kern="0" dirty="0">
                <a:solidFill>
                  <a:schemeClr val="accent6"/>
                </a:solidFill>
              </a:rPr>
              <a:t>INSIDER</a:t>
            </a:r>
            <a:endParaRPr lang="en-US" sz="1100" dirty="0"/>
          </a:p>
          <a:p>
            <a:pPr algn="l" indent="0" marL="0">
              <a:buNone/>
            </a:pPr>
            <a:r>
              <a:rPr lang="en-US" sz="1300" dirty="0">
                <a:solidFill>
                  <a:schemeClr val="tx1"/>
                </a:solidFill>
              </a:rPr>
              <a:t>Now I approve my own request. The API allows it.</a:t>
            </a:r>
            <a:endParaRPr lang="en-US" sz="1100" dirty="0"/>
          </a:p>
        </p:txBody>
      </p:sp>
      <p:sp>
        <p:nvSpPr>
          <p:cNvPr id="10" name="Bubble 2"/>
          <p:cNvSpPr txBox="1"/>
          <p:nvPr/>
        </p:nvSpPr>
        <p:spPr>
          <a:xfrm>
            <a:off x="4663440" y="1097280"/>
            <a:ext cx="1920240" cy="1097280"/>
          </a:xfrm>
          <a:prstGeom prst="roundRect">
            <a:avLst>
              <a:gd name="adj" fmla="val 11667"/>
            </a:avLst>
          </a:prstGeom>
          <a:solidFill>
            <a:schemeClr val="bg2"/>
          </a:solidFill>
          <a:ln w="19050">
            <a:solidFill>
              <a:schemeClr val="accent1"/>
            </a:solidFill>
          </a:ln>
        </p:spPr>
        <p:txBody>
          <a:bodyPr wrap="square" lIns="114300" tIns="63500" rIns="101600" bIns="50800" rtlCol="0" anchor="t"/>
          <a:lstStyle/>
          <a:p>
            <a:pPr algn="l" indent="0" marL="0">
              <a:buNone/>
            </a:pPr>
            <a:r>
              <a:rPr lang="en-US" sz="1100" b="1" spc="200" kern="0" dirty="0">
                <a:solidFill>
                  <a:schemeClr val="accent1"/>
                </a:solidFill>
              </a:rPr>
              <a:t>API</a:t>
            </a:r>
            <a:endParaRPr lang="en-US" sz="1100" dirty="0"/>
          </a:p>
          <a:p>
            <a:pPr algn="l" indent="0" marL="0">
              <a:buNone/>
            </a:pPr>
            <a:r>
              <a:rPr lang="en-US" sz="1300" dirty="0">
                <a:solidFill>
                  <a:schemeClr val="tx1"/>
                </a:solidFill>
              </a:rPr>
              <a:t>Both calls are valid. No bug, no error. Everything works!</a:t>
            </a:r>
            <a:endParaRPr lang="en-US" sz="1100" dirty="0"/>
          </a:p>
        </p:txBody>
      </p:sp>
      <p:sp>
        <p:nvSpPr>
          <p:cNvPr id="11" name="Bubble 3"/>
          <p:cNvSpPr txBox="1"/>
          <p:nvPr/>
        </p:nvSpPr>
        <p:spPr>
          <a:xfrm>
            <a:off x="6766560" y="1097280"/>
            <a:ext cx="1920240" cy="1097280"/>
          </a:xfrm>
          <a:prstGeom prst="roundRect">
            <a:avLst>
              <a:gd name="adj" fmla="val 11667"/>
            </a:avLst>
          </a:prstGeom>
          <a:solidFill>
            <a:schemeClr val="bg2"/>
          </a:solidFill>
          <a:ln w="19050">
            <a:solidFill>
              <a:schemeClr val="accent2"/>
            </a:solidFill>
          </a:ln>
        </p:spPr>
        <p:txBody>
          <a:bodyPr wrap="square" lIns="114300" tIns="63500" rIns="101600" bIns="50800" rtlCol="0" anchor="t"/>
          <a:lstStyle/>
          <a:p>
            <a:pPr algn="l" indent="0" marL="0">
              <a:buNone/>
            </a:pPr>
            <a:r>
              <a:rPr lang="en-US" sz="1100" b="1" spc="200" kern="0" dirty="0">
                <a:solidFill>
                  <a:schemeClr val="accent2"/>
                </a:solidFill>
              </a:rPr>
              <a:t>RESULT</a:t>
            </a:r>
            <a:endParaRPr lang="en-US" sz="1100" dirty="0"/>
          </a:p>
          <a:p>
            <a:pPr algn="l" indent="0" marL="0">
              <a:buNone/>
            </a:pPr>
            <a:r>
              <a:rPr lang="en-US" sz="1300" dirty="0">
                <a:solidFill>
                  <a:schemeClr val="tx1"/>
                </a:solidFill>
              </a:rPr>
              <a:t>The code is perfect. The design forgot separation of duties.</a:t>
            </a:r>
            <a:endParaRPr lang="en-US" sz="1100" dirty="0"/>
          </a:p>
        </p:txBody>
      </p:sp>
      <p:sp>
        <p:nvSpPr>
          <p:cNvPr id="12" name="Damage"/>
          <p:cNvSpPr txBox="1"/>
          <p:nvPr/>
        </p:nvSpPr>
        <p:spPr>
          <a:xfrm>
            <a:off x="6217920" y="2697480"/>
            <a:ext cx="384048" cy="384048"/>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pic>
        <p:nvPicPr>
          <p:cNvPr id="13" name="Bug" descr="Bug cartoon">    </p:cNvPr>
          <p:cNvPicPr>
            <a:picLocks noChangeAspect="1"/>
          </p:cNvPicPr>
          <p:nvPr/>
        </p:nvPicPr>
        <p:blipFill>
          <a:blip r:embed="rId2"/>
          <a:stretch>
            <a:fillRect/>
          </a:stretch>
        </p:blipFill>
        <p:spPr>
          <a:xfrm>
            <a:off x="5029200" y="2103120"/>
            <a:ext cx="822960" cy="822960"/>
          </a:xfrm>
          <a:prstGeom prst="rect">
            <a:avLst/>
          </a:prstGeom>
        </p:spPr>
      </p:pic>
      <p:sp>
        <p:nvSpPr>
          <p:cNvPr id="14" name="Moral"/>
          <p:cNvSpPr txBox="1"/>
          <p:nvPr/>
        </p:nvSpPr>
        <p:spPr>
          <a:xfrm>
            <a:off x="457200" y="3977640"/>
            <a:ext cx="8229600" cy="548640"/>
          </a:xfrm>
          <a:prstGeom prst="rect">
            <a:avLst/>
          </a:prstGeom>
          <a:noFill/>
          <a:ln/>
        </p:spPr>
        <p:txBody>
          <a:bodyPr wrap="square" lIns="0" tIns="0" rIns="0" bIns="0" rtlCol="0" anchor="ctr"/>
          <a:lstStyle/>
          <a:p>
            <a:pPr indent="0" marL="0">
              <a:buNone/>
            </a:pPr>
            <a:r>
              <a:rPr lang="en-US" sz="2200" b="1" i="1" dirty="0">
                <a:solidFill>
                  <a:schemeClr val="accent1"/>
                </a:solidFill>
              </a:rPr>
              <a:t>You cannot code-review your way out of a bad design.</a:t>
            </a:r>
            <a:endParaRPr lang="en-US" sz="22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0" fill="hold">
                      <p:stCondLst>
                        <p:cond delay="indefinite"/>
                        <p:cond evt="onBegin" delay="0">
                          <p:tn val="2"/>
                        </p:cond>
                      </p:stCondLst>
                      <p:childTnLst>
                        <p:par>
                          <p:cTn id="21" fill="hold">
                            <p:stCondLst>
                              <p:cond delay="0"/>
                            </p:stCondLst>
                            <p:childTnLst>
                              <p:par>
                                <p:cTn id="6" presetID="2" presetClass="entr" presetSubtype="4" fill="hold" grpId="0" nodeType="afterEffect">
                                  <p:stCondLst>
                                    <p:cond delay="0"/>
                                  </p:stCondLst>
                                  <p:childTnLst>
                                    <p:set>
                                      <p:cBhvr>
                                        <p:cTn id="3" dur="1" fill="hold">
                                          <p:stCondLst>
                                            <p:cond delay="0"/>
                                          </p:stCondLst>
                                        </p:cTn>
                                        <p:tgtEl>
                                          <p:spTgt spid="4"/>
                                        </p:tgtEl>
                                        <p:attrNameLst>
                                          <p:attrName>style.visibility</p:attrName>
                                        </p:attrNameLst>
                                      </p:cBhvr>
                                      <p:to>
                                        <p:strVal val="visible"/>
                                      </p:to>
                                    </p:set>
                                    <p:anim calcmode="lin" valueType="num">
                                      <p:cBhvr additive="base">
                                        <p:cTn id="4" dur="450" fill="hold"/>
                                        <p:tgtEl>
                                          <p:spTgt spid="4"/>
                                        </p:tgtEl>
                                        <p:attrNameLst>
                                          <p:attrName>ppt_x</p:attrName>
                                        </p:attrNameLst>
                                      </p:cBhvr>
                                      <p:tavLst>
                                        <p:tav tm="0">
                                          <p:val>
                                            <p:strVal val="#ppt_x"/>
                                          </p:val>
                                        </p:tav>
                                        <p:tav tm="100000">
                                          <p:val>
                                            <p:strVal val="#ppt_x"/>
                                          </p:val>
                                        </p:tav>
                                      </p:tavLst>
                                    </p:anim>
                                    <p:anim calcmode="lin" valueType="num">
                                      <p:cBhvr additive="base">
                                        <p:cTn id="5" dur="450" fill="hold"/>
                                        <p:tgtEl>
                                          <p:spTgt spid="4"/>
                                        </p:tgtEl>
                                        <p:attrNameLst>
                                          <p:attrName>ppt_y</p:attrName>
                                        </p:attrNameLst>
                                      </p:cBhvr>
                                      <p:tavLst>
                                        <p:tav tm="0">
                                          <p:val>
                                            <p:strVal val="1+#ppt_h/2"/>
                                          </p:val>
                                        </p:tav>
                                        <p:tav tm="100000">
                                          <p:val>
                                            <p:strVal val="#ppt_y"/>
                                          </p:val>
                                        </p:tav>
                                      </p:tavLst>
                                    </p:anim>
                                  </p:childTnLst>
                                </p:cTn>
                              </p:par>
                              <p:par>
                                <p:cTn id="10" presetID="2" presetClass="entr" presetSubtype="4" fill="hold" grpId="0" nodeType="withEffect">
                                  <p:stCondLst>
                                    <p:cond delay="200"/>
                                  </p:stCondLst>
                                  <p:childTnLst>
                                    <p:set>
                                      <p:cBhvr>
                                        <p:cTn id="7" dur="1" fill="hold">
                                          <p:stCondLst>
                                            <p:cond delay="0"/>
                                          </p:stCondLst>
                                        </p:cTn>
                                        <p:tgtEl>
                                          <p:spTgt spid="5"/>
                                        </p:tgtEl>
                                        <p:attrNameLst>
                                          <p:attrName>style.visibility</p:attrName>
                                        </p:attrNameLst>
                                      </p:cBhvr>
                                      <p:to>
                                        <p:strVal val="visible"/>
                                      </p:to>
                                    </p:set>
                                    <p:anim calcmode="lin" valueType="num">
                                      <p:cBhvr additive="base">
                                        <p:cTn id="8" dur="450" fill="hold"/>
                                        <p:tgtEl>
                                          <p:spTgt spid="5"/>
                                        </p:tgtEl>
                                        <p:attrNameLst>
                                          <p:attrName>ppt_x</p:attrName>
                                        </p:attrNameLst>
                                      </p:cBhvr>
                                      <p:tavLst>
                                        <p:tav tm="0">
                                          <p:val>
                                            <p:strVal val="#ppt_x"/>
                                          </p:val>
                                        </p:tav>
                                        <p:tav tm="100000">
                                          <p:val>
                                            <p:strVal val="#ppt_x"/>
                                          </p:val>
                                        </p:tav>
                                      </p:tavLst>
                                    </p:anim>
                                    <p:anim calcmode="lin" valueType="num">
                                      <p:cBhvr additive="base">
                                        <p:cTn id="9" dur="450" fill="hold"/>
                                        <p:tgtEl>
                                          <p:spTgt spid="5"/>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40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450" fill="hold"/>
                                        <p:tgtEl>
                                          <p:spTgt spid="6"/>
                                        </p:tgtEl>
                                        <p:attrNameLst>
                                          <p:attrName>ppt_x</p:attrName>
                                        </p:attrNameLst>
                                      </p:cBhvr>
                                      <p:tavLst>
                                        <p:tav tm="0">
                                          <p:val>
                                            <p:strVal val="#ppt_x"/>
                                          </p:val>
                                        </p:tav>
                                        <p:tav tm="100000">
                                          <p:val>
                                            <p:strVal val="#ppt_x"/>
                                          </p:val>
                                        </p:tav>
                                      </p:tavLst>
                                    </p:anim>
                                    <p:anim calcmode="lin" valueType="num">
                                      <p:cBhvr additive="base">
                                        <p:cTn id="13" dur="450" fill="hold"/>
                                        <p:tgtEl>
                                          <p:spTgt spid="6"/>
                                        </p:tgtEl>
                                        <p:attrNameLst>
                                          <p:attrName>ppt_y</p:attrName>
                                        </p:attrNameLst>
                                      </p:cBhvr>
                                      <p:tavLst>
                                        <p:tav tm="0">
                                          <p:val>
                                            <p:strVal val="1+#ppt_h/2"/>
                                          </p:val>
                                        </p:tav>
                                        <p:tav tm="100000">
                                          <p:val>
                                            <p:strVal val="#ppt_y"/>
                                          </p:val>
                                        </p:tav>
                                      </p:tavLst>
                                    </p:anim>
                                  </p:childTnLst>
                                </p:cTn>
                              </p:par>
                              <p:par>
                                <p:cTn id="17"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par>
                                <p:cTn id="19" presetID="0" presetClass="path" presetSubtype="0" fill="hold" nodeType="withEffect">
                                  <p:stCondLst>
                                    <p:cond delay="500"/>
                                  </p:stCondLst>
                                  <p:childTnLst>
                                    <p:animMotion origin="layout" path="M 0 0 L 0.12 0 E" pathEditMode="relative">
                                      <p:cBhvr>
                                        <p:cTn id="18" dur="2600" fill="hold"/>
                                        <p:tgtEl>
                                          <p:spTgt spid="7"/>
                                        </p:tgtEl>
                                        <p:attrNameLst>
                                          <p:attrName>ppt_x</p:attrName>
                                          <p:attrName>ppt_y</p:attrName>
                                        </p:attrNameLst>
                                      </p:cBhvr>
                                      <p:rCtr x="0.06" y="0"/>
                                    </p:animMotion>
                                  </p:childTnLst>
                                </p:cTn>
                              </p:par>
                            </p:childTnLst>
                          </p:cTn>
                        </p:par>
                      </p:childTnLst>
                    </p:cTn>
                  </p:par>
                  <p:par>
                    <p:cTn id="27" fill="hold">
                      <p:stCondLst>
                        <p:cond delay="indefinite"/>
                      </p:stCondLst>
                      <p:childTnLst>
                        <p:par>
                          <p:cTn id="28" fill="hold">
                            <p:stCondLst>
                              <p:cond delay="0"/>
                            </p:stCondLst>
                            <p:childTnLst>
                              <p:par>
                                <p:cTn id="26" presetID="53" presetClass="entr" presetSubtype="16"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450" fill="hold"/>
                                        <p:tgtEl>
                                          <p:spTgt spid="8"/>
                                        </p:tgtEl>
                                        <p:attrNameLst>
                                          <p:attrName>ppt_w</p:attrName>
                                        </p:attrNameLst>
                                      </p:cBhvr>
                                      <p:tavLst>
                                        <p:tav tm="0">
                                          <p:val>
                                            <p:fltVal val="0"/>
                                          </p:val>
                                        </p:tav>
                                        <p:tav tm="100000">
                                          <p:val>
                                            <p:strVal val="#ppt_w"/>
                                          </p:val>
                                        </p:tav>
                                      </p:tavLst>
                                    </p:anim>
                                    <p:anim calcmode="lin" valueType="num">
                                      <p:cBhvr additive="base">
                                        <p:cTn id="24" dur="450" fill="hold"/>
                                        <p:tgtEl>
                                          <p:spTgt spid="8"/>
                                        </p:tgtEl>
                                        <p:attrNameLst>
                                          <p:attrName>ppt_h</p:attrName>
                                        </p:attrNameLst>
                                      </p:cBhvr>
                                      <p:tavLst>
                                        <p:tav tm="0">
                                          <p:val>
                                            <p:fltVal val="0"/>
                                          </p:val>
                                        </p:tav>
                                        <p:tav tm="100000">
                                          <p:val>
                                            <p:strVal val="#ppt_h"/>
                                          </p:val>
                                        </p:tav>
                                      </p:tavLst>
                                    </p:anim>
                                    <p:animEffect transition="in" filter="fade">
                                      <p:cBhvr>
                                        <p:cTn id="25" dur="450"/>
                                        <p:tgtEl>
                                          <p:spTgt spid="8"/>
                                        </p:tgtEl>
                                      </p:cBhvr>
                                    </p:animEffect>
                                  </p:childTnLst>
                                </p:cTn>
                              </p:par>
                            </p:childTnLst>
                          </p:cTn>
                        </p:par>
                      </p:childTnLst>
                    </p:cTn>
                  </p:par>
                  <p:par>
                    <p:cTn id="34" fill="hold">
                      <p:stCondLst>
                        <p:cond delay="indefinite"/>
                      </p:stCondLst>
                      <p:childTnLst>
                        <p:par>
                          <p:cTn id="35" fill="hold">
                            <p:stCondLst>
                              <p:cond delay="0"/>
                            </p:stCondLst>
                            <p:childTnLst>
                              <p:par>
                                <p:cTn id="33" presetID="53" presetClass="entr" presetSubtype="16"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450" fill="hold"/>
                                        <p:tgtEl>
                                          <p:spTgt spid="9"/>
                                        </p:tgtEl>
                                        <p:attrNameLst>
                                          <p:attrName>ppt_w</p:attrName>
                                        </p:attrNameLst>
                                      </p:cBhvr>
                                      <p:tavLst>
                                        <p:tav tm="0">
                                          <p:val>
                                            <p:fltVal val="0"/>
                                          </p:val>
                                        </p:tav>
                                        <p:tav tm="100000">
                                          <p:val>
                                            <p:strVal val="#ppt_w"/>
                                          </p:val>
                                        </p:tav>
                                      </p:tavLst>
                                    </p:anim>
                                    <p:anim calcmode="lin" valueType="num">
                                      <p:cBhvr additive="base">
                                        <p:cTn id="31" dur="450" fill="hold"/>
                                        <p:tgtEl>
                                          <p:spTgt spid="9"/>
                                        </p:tgtEl>
                                        <p:attrNameLst>
                                          <p:attrName>ppt_h</p:attrName>
                                        </p:attrNameLst>
                                      </p:cBhvr>
                                      <p:tavLst>
                                        <p:tav tm="0">
                                          <p:val>
                                            <p:fltVal val="0"/>
                                          </p:val>
                                        </p:tav>
                                        <p:tav tm="100000">
                                          <p:val>
                                            <p:strVal val="#ppt_h"/>
                                          </p:val>
                                        </p:tav>
                                      </p:tavLst>
                                    </p:anim>
                                    <p:animEffect transition="in" filter="fade">
                                      <p:cBhvr>
                                        <p:cTn id="32" dur="450"/>
                                        <p:tgtEl>
                                          <p:spTgt spid="9"/>
                                        </p:tgtEl>
                                      </p:cBhvr>
                                    </p:animEffect>
                                  </p:childTnLst>
                                </p:cTn>
                              </p:par>
                            </p:childTnLst>
                          </p:cTn>
                        </p:par>
                      </p:childTnLst>
                    </p:cTn>
                  </p:par>
                  <p:par>
                    <p:cTn id="51" fill="hold">
                      <p:stCondLst>
                        <p:cond delay="indefinite"/>
                      </p:stCondLst>
                      <p:childTnLst>
                        <p:par>
                          <p:cTn id="52" fill="hold">
                            <p:stCondLst>
                              <p:cond delay="0"/>
                            </p:stCondLst>
                            <p:childTnLst>
                              <p:par>
                                <p:cTn id="40" presetID="53" presetClass="entr" presetSubtype="16"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450" fill="hold"/>
                                        <p:tgtEl>
                                          <p:spTgt spid="10"/>
                                        </p:tgtEl>
                                        <p:attrNameLst>
                                          <p:attrName>ppt_w</p:attrName>
                                        </p:attrNameLst>
                                      </p:cBhvr>
                                      <p:tavLst>
                                        <p:tav tm="0">
                                          <p:val>
                                            <p:fltVal val="0"/>
                                          </p:val>
                                        </p:tav>
                                        <p:tav tm="100000">
                                          <p:val>
                                            <p:strVal val="#ppt_w"/>
                                          </p:val>
                                        </p:tav>
                                      </p:tavLst>
                                    </p:anim>
                                    <p:anim calcmode="lin" valueType="num">
                                      <p:cBhvr additive="base">
                                        <p:cTn id="38" dur="450" fill="hold"/>
                                        <p:tgtEl>
                                          <p:spTgt spid="10"/>
                                        </p:tgtEl>
                                        <p:attrNameLst>
                                          <p:attrName>ppt_h</p:attrName>
                                        </p:attrNameLst>
                                      </p:cBhvr>
                                      <p:tavLst>
                                        <p:tav tm="0">
                                          <p:val>
                                            <p:fltVal val="0"/>
                                          </p:val>
                                        </p:tav>
                                        <p:tav tm="100000">
                                          <p:val>
                                            <p:strVal val="#ppt_h"/>
                                          </p:val>
                                        </p:tav>
                                      </p:tavLst>
                                    </p:anim>
                                    <p:animEffect transition="in" filter="fade">
                                      <p:cBhvr>
                                        <p:cTn id="39" dur="450"/>
                                        <p:tgtEl>
                                          <p:spTgt spid="10"/>
                                        </p:tgtEl>
                                      </p:cBhvr>
                                    </p:animEffect>
                                  </p:childTnLst>
                                </p:cTn>
                              </p:par>
                              <p:par>
                                <p:cTn id="45" presetID="53" presetClass="entr" presetSubtype="16" fill="hold" grpId="0" nodeType="withEffect">
                                  <p:stCondLst>
                                    <p:cond delay="25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350" fill="hold"/>
                                        <p:tgtEl>
                                          <p:spTgt spid="12"/>
                                        </p:tgtEl>
                                        <p:attrNameLst>
                                          <p:attrName>ppt_w</p:attrName>
                                        </p:attrNameLst>
                                      </p:cBhvr>
                                      <p:tavLst>
                                        <p:tav tm="0">
                                          <p:val>
                                            <p:fltVal val="0"/>
                                          </p:val>
                                        </p:tav>
                                        <p:tav tm="100000">
                                          <p:val>
                                            <p:strVal val="#ppt_w"/>
                                          </p:val>
                                        </p:tav>
                                      </p:tavLst>
                                    </p:anim>
                                    <p:anim calcmode="lin" valueType="num">
                                      <p:cBhvr additive="base">
                                        <p:cTn id="43" dur="350" fill="hold"/>
                                        <p:tgtEl>
                                          <p:spTgt spid="12"/>
                                        </p:tgtEl>
                                        <p:attrNameLst>
                                          <p:attrName>ppt_h</p:attrName>
                                        </p:attrNameLst>
                                      </p:cBhvr>
                                      <p:tavLst>
                                        <p:tav tm="0">
                                          <p:val>
                                            <p:fltVal val="0"/>
                                          </p:val>
                                        </p:tav>
                                        <p:tav tm="100000">
                                          <p:val>
                                            <p:strVal val="#ppt_h"/>
                                          </p:val>
                                        </p:tav>
                                      </p:tavLst>
                                    </p:anim>
                                    <p:animEffect transition="in" filter="fade">
                                      <p:cBhvr>
                                        <p:cTn id="44" dur="350"/>
                                        <p:tgtEl>
                                          <p:spTgt spid="12"/>
                                        </p:tgtEl>
                                      </p:cBhvr>
                                    </p:animEffect>
                                  </p:childTnLst>
                                </p:cTn>
                              </p:par>
                              <p:par>
                                <p:cTn id="48" presetID="10" presetClass="entr" presetSubtype="0" fill="hold" nodeType="withEffect">
                                  <p:stCondLst>
                                    <p:cond delay="25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350"/>
                                        <p:tgtEl>
                                          <p:spTgt spid="13"/>
                                        </p:tgtEl>
                                      </p:cBhvr>
                                    </p:animEffect>
                                  </p:childTnLst>
                                </p:cTn>
                              </p:par>
                              <p:par>
                                <p:cTn id="50" presetID="0" presetClass="path" presetSubtype="0" fill="hold" nodeType="withEffect">
                                  <p:stCondLst>
                                    <p:cond delay="700"/>
                                  </p:stCondLst>
                                  <p:childTnLst>
                                    <p:animMotion origin="layout" path="M 0 0 L 0.07 0 E" pathEditMode="relative">
                                      <p:cBhvr>
                                        <p:cTn id="49" dur="2500" fill="hold"/>
                                        <p:tgtEl>
                                          <p:spTgt spid="13"/>
                                        </p:tgtEl>
                                        <p:attrNameLst>
                                          <p:attrName>ppt_x</p:attrName>
                                          <p:attrName>ppt_y</p:attrName>
                                        </p:attrNameLst>
                                      </p:cBhvr>
                                      <p:rCtr x="0.035" y="0"/>
                                    </p:animMotion>
                                  </p:childTnLst>
                                </p:cTn>
                              </p:par>
                            </p:childTnLst>
                          </p:cTn>
                        </p:par>
                      </p:childTnLst>
                    </p:cTn>
                  </p:par>
                  <p:par>
                    <p:cTn id="58" fill="hold">
                      <p:stCondLst>
                        <p:cond delay="indefinite"/>
                      </p:stCondLst>
                      <p:childTnLst>
                        <p:par>
                          <p:cTn id="59" fill="hold">
                            <p:stCondLst>
                              <p:cond delay="0"/>
                            </p:stCondLst>
                            <p:childTnLst>
                              <p:par>
                                <p:cTn id="57" presetID="53" presetClass="entr" presetSubtype="16"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 calcmode="lin" valueType="num">
                                      <p:cBhvr additive="base">
                                        <p:cTn id="54" dur="450" fill="hold"/>
                                        <p:tgtEl>
                                          <p:spTgt spid="11"/>
                                        </p:tgtEl>
                                        <p:attrNameLst>
                                          <p:attrName>ppt_w</p:attrName>
                                        </p:attrNameLst>
                                      </p:cBhvr>
                                      <p:tavLst>
                                        <p:tav tm="0">
                                          <p:val>
                                            <p:fltVal val="0"/>
                                          </p:val>
                                        </p:tav>
                                        <p:tav tm="100000">
                                          <p:val>
                                            <p:strVal val="#ppt_w"/>
                                          </p:val>
                                        </p:tav>
                                      </p:tavLst>
                                    </p:anim>
                                    <p:anim calcmode="lin" valueType="num">
                                      <p:cBhvr additive="base">
                                        <p:cTn id="55" dur="450" fill="hold"/>
                                        <p:tgtEl>
                                          <p:spTgt spid="11"/>
                                        </p:tgtEl>
                                        <p:attrNameLst>
                                          <p:attrName>ppt_h</p:attrName>
                                        </p:attrNameLst>
                                      </p:cBhvr>
                                      <p:tavLst>
                                        <p:tav tm="0">
                                          <p:val>
                                            <p:fltVal val="0"/>
                                          </p:val>
                                        </p:tav>
                                        <p:tav tm="100000">
                                          <p:val>
                                            <p:strVal val="#ppt_h"/>
                                          </p:val>
                                        </p:tav>
                                      </p:tavLst>
                                    </p:anim>
                                    <p:animEffect transition="in" filter="fade">
                                      <p:cBhvr>
                                        <p:cTn id="56" dur="450"/>
                                        <p:tgtEl>
                                          <p:spTgt spid="11"/>
                                        </p:tgtEl>
                                      </p:cBhvr>
                                    </p:animEffect>
                                  </p:childTnLst>
                                </p:cTn>
                              </p:par>
                            </p:childTnLst>
                          </p:cTn>
                        </p:par>
                      </p:childTnLst>
                    </p:cTn>
                  </p:par>
                  <p:par>
                    <p:cTn id="65" fill="hold">
                      <p:stCondLst>
                        <p:cond delay="indefinite"/>
                      </p:stCondLst>
                      <p:childTnLst>
                        <p:par>
                          <p:cTn id="66"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p:tgtEl>
                                          <p:spTgt spid="14"/>
                                        </p:tgtEl>
                                        <p:attrNameLst>
                                          <p:attrName>ppt_w</p:attrName>
                                        </p:attrNameLst>
                                      </p:cBhvr>
                                      <p:tavLst>
                                        <p:tav tm="0">
                                          <p:val>
                                            <p:fltVal val="0"/>
                                          </p:val>
                                        </p:tav>
                                        <p:tav tm="100000">
                                          <p:val>
                                            <p:strVal val="#ppt_w"/>
                                          </p:val>
                                        </p:tav>
                                      </p:tavLst>
                                    </p:anim>
                                    <p:anim calcmode="lin" valueType="num">
                                      <p:cBhvr additive="base">
                                        <p:cTn id="62" dur="500" fill="hold"/>
                                        <p:tgtEl>
                                          <p:spTgt spid="14"/>
                                        </p:tgtEl>
                                        <p:attrNameLst>
                                          <p:attrName>ppt_h</p:attrName>
                                        </p:attrNameLst>
                                      </p:cBhvr>
                                      <p:tavLst>
                                        <p:tav tm="0">
                                          <p:val>
                                            <p:fltVal val="0"/>
                                          </p:val>
                                        </p:tav>
                                        <p:tav tm="100000">
                                          <p:val>
                                            <p:strVal val="#ppt_h"/>
                                          </p:val>
                                        </p:tav>
                                      </p:tavLst>
                                    </p:anim>
                                    <p:animEffect transition="in" filter="fade">
                                      <p:cBhvr>
                                        <p:cTn id="6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2" grpId="0" animBg="1"/>
      <p:bldP spid="11" grpId="0" animBg="1"/>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A06 · Insecure Design: the fix</a:t>
            </a:r>
            <a:endParaRPr lang="en-US" sz="3000" dirty="0"/>
          </a:p>
        </p:txBody>
      </p:sp>
      <p:pic>
        <p:nvPicPr>
          <p:cNvPr id="4" name="Mascot" descr="Mascot cartoon">    </p:cNvPr>
          <p:cNvPicPr>
            <a:picLocks noChangeAspect="1"/>
          </p:cNvPicPr>
          <p:nvPr/>
        </p:nvPicPr>
        <p:blipFill>
          <a:blip r:embed="rId1"/>
          <a:stretch>
            <a:fillRect/>
          </a:stretch>
        </p:blipFill>
        <p:spPr>
          <a:xfrm>
            <a:off x="640080" y="1097280"/>
            <a:ext cx="1737360" cy="1737360"/>
          </a:xfrm>
          <a:prstGeom prst="rect">
            <a:avLst/>
          </a:prstGeom>
        </p:spPr>
      </p:pic>
      <p:sp>
        <p:nvSpPr>
          <p:cNvPr id="5" name="Stop sign"/>
          <p:cNvSpPr txBox="1"/>
          <p:nvPr/>
        </p:nvSpPr>
        <p:spPr>
          <a:xfrm>
            <a:off x="2377440" y="3063240"/>
            <a:ext cx="777240" cy="777240"/>
          </a:xfrm>
          <a:prstGeom prst="octagon">
            <a:avLst/>
          </a:prstGeom>
          <a:solidFill>
            <a:schemeClr val="accent2"/>
          </a:solidFill>
          <a:ln/>
        </p:spPr>
        <p:txBody>
          <a:bodyPr wrap="square" lIns="0" tIns="0" rIns="0" bIns="0" rtlCol="0" anchor="ctr"/>
          <a:lstStyle/>
          <a:p>
            <a:pPr algn="ctr" indent="0" marL="0">
              <a:buNone/>
            </a:pPr>
            <a:r>
              <a:rPr lang="en-US" sz="1300" b="1" dirty="0">
                <a:solidFill>
                  <a:srgbClr val="FFFFFF"/>
                </a:solidFill>
              </a:rPr>
              <a:t>STOP</a:t>
            </a:r>
            <a:endParaRPr lang="en-US" sz="1300" dirty="0"/>
          </a:p>
        </p:txBody>
      </p:sp>
      <p:pic>
        <p:nvPicPr>
          <p:cNvPr id="6" name="Hacker" descr="Hacker cartoon">    </p:cNvPr>
          <p:cNvPicPr>
            <a:picLocks noChangeAspect="1"/>
          </p:cNvPicPr>
          <p:nvPr/>
        </p:nvPicPr>
        <p:blipFill>
          <a:blip r:embed="rId2"/>
          <a:stretch>
            <a:fillRect/>
          </a:stretch>
        </p:blipFill>
        <p:spPr>
          <a:xfrm>
            <a:off x="274320" y="2834640"/>
            <a:ext cx="1188720" cy="1188720"/>
          </a:xfrm>
          <a:prstGeom prst="rect">
            <a:avLst/>
          </a:prstGeom>
        </p:spPr>
      </p:pic>
      <p:sp>
        <p:nvSpPr>
          <p:cNvPr id="7" name="Rule 0"/>
          <p:cNvSpPr txBox="1"/>
          <p:nvPr/>
        </p:nvSpPr>
        <p:spPr>
          <a:xfrm>
            <a:off x="3383280" y="1143000"/>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Threat model early</a:t>
            </a:r>
            <a:endParaRPr lang="en-US" sz="1400" dirty="0"/>
          </a:p>
          <a:p>
            <a:pPr algn="l" indent="0" marL="0">
              <a:buNone/>
            </a:pPr>
            <a:r>
              <a:rPr lang="en-US" sz="1200" dirty="0">
                <a:solidFill>
                  <a:schemeClr val="tx1"/>
                </a:solidFill>
              </a:rPr>
              <a:t>Ask 'how could this be abused?' before coding. Try STRIDE on each flow.</a:t>
            </a:r>
            <a:endParaRPr lang="en-US" sz="1400" dirty="0"/>
          </a:p>
        </p:txBody>
      </p:sp>
      <p:sp>
        <p:nvSpPr>
          <p:cNvPr id="8" name="Rule num 0"/>
          <p:cNvSpPr txBox="1"/>
          <p:nvPr/>
        </p:nvSpPr>
        <p:spPr>
          <a:xfrm>
            <a:off x="3493008" y="1271016"/>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Rule 1"/>
          <p:cNvSpPr txBox="1"/>
          <p:nvPr/>
        </p:nvSpPr>
        <p:spPr>
          <a:xfrm>
            <a:off x="3383280" y="1892808"/>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Separation of duties</a:t>
            </a:r>
            <a:endParaRPr lang="en-US" sz="1400" dirty="0"/>
          </a:p>
          <a:p>
            <a:pPr algn="l" indent="0" marL="0">
              <a:buNone/>
            </a:pPr>
            <a:r>
              <a:rPr lang="en-US" sz="1200" dirty="0">
                <a:solidFill>
                  <a:schemeClr val="tx1"/>
                </a:solidFill>
              </a:rPr>
              <a:t>The requester can never approve. Enforce it in the API and the database.</a:t>
            </a:r>
            <a:endParaRPr lang="en-US" sz="1400" dirty="0"/>
          </a:p>
        </p:txBody>
      </p:sp>
      <p:sp>
        <p:nvSpPr>
          <p:cNvPr id="10" name="Rule num 1"/>
          <p:cNvSpPr txBox="1"/>
          <p:nvPr/>
        </p:nvSpPr>
        <p:spPr>
          <a:xfrm>
            <a:off x="3493008" y="2020824"/>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Rule 2"/>
          <p:cNvSpPr txBox="1"/>
          <p:nvPr/>
        </p:nvSpPr>
        <p:spPr>
          <a:xfrm>
            <a:off x="3383280" y="2642616"/>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Abuse cases and limits</a:t>
            </a:r>
            <a:endParaRPr lang="en-US" sz="1400" dirty="0"/>
          </a:p>
          <a:p>
            <a:pPr algn="l" indent="0" marL="0">
              <a:buNone/>
            </a:pPr>
            <a:r>
              <a:rPr lang="en-US" sz="1200" dirty="0">
                <a:solidFill>
                  <a:schemeClr val="tx1"/>
                </a:solidFill>
              </a:rPr>
              <a:t>Write tests for misuse. Add rate limits, quotas and transaction locks.</a:t>
            </a:r>
            <a:endParaRPr lang="en-US" sz="1400" dirty="0"/>
          </a:p>
        </p:txBody>
      </p:sp>
      <p:sp>
        <p:nvSpPr>
          <p:cNvPr id="12" name="Rule num 2"/>
          <p:cNvSpPr txBox="1"/>
          <p:nvPr/>
        </p:nvSpPr>
        <p:spPr>
          <a:xfrm>
            <a:off x="3493008" y="2770632"/>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Chip NG"/>
          <p:cNvSpPr txBox="1"/>
          <p:nvPr/>
        </p:nvSpPr>
        <p:spPr>
          <a:xfrm>
            <a:off x="3383280" y="3429000"/>
            <a:ext cx="2606040" cy="804672"/>
          </a:xfrm>
          <a:prstGeom prst="roundRect">
            <a:avLst>
              <a:gd name="adj" fmla="val 11364"/>
            </a:avLst>
          </a:prstGeom>
          <a:solidFill>
            <a:schemeClr val="accent5">
              <a:alpha val="12000"/>
            </a:schemeClr>
          </a:solidFill>
          <a:ln w="12700">
            <a:solidFill>
              <a:schemeClr val="accent5"/>
            </a:solidFill>
          </a:ln>
        </p:spPr>
        <p:txBody>
          <a:bodyPr wrap="square" lIns="127000" tIns="25400" rIns="101600" bIns="25400" rtlCol="0" anchor="ctr"/>
          <a:lstStyle/>
          <a:p>
            <a:pPr algn="l" indent="0" marL="0">
              <a:buNone/>
            </a:pPr>
            <a:r>
              <a:rPr lang="en-US" sz="1100" b="1" spc="200" kern="0" dirty="0">
                <a:solidFill>
                  <a:schemeClr val="accent5"/>
                </a:solidFill>
              </a:rPr>
              <a:t>IN ANGULAR</a:t>
            </a:r>
            <a:endParaRPr lang="en-US" sz="1100" dirty="0"/>
          </a:p>
          <a:p>
            <a:pPr algn="l" indent="0" marL="0">
              <a:buNone/>
            </a:pPr>
            <a:r>
              <a:rPr lang="en-US" sz="1200" dirty="0">
                <a:solidFill>
                  <a:schemeClr val="tx1"/>
                </a:solidFill>
              </a:rPr>
              <a:t>The UI follows the rules but never enforces them.</a:t>
            </a:r>
            <a:endParaRPr lang="en-US" sz="1100" dirty="0"/>
          </a:p>
        </p:txBody>
      </p:sp>
      <p:sp>
        <p:nvSpPr>
          <p:cNvPr id="14" name="Chip NET"/>
          <p:cNvSpPr txBox="1"/>
          <p:nvPr/>
        </p:nvSpPr>
        <p:spPr>
          <a:xfrm>
            <a:off x="6080760" y="3429000"/>
            <a:ext cx="2606040" cy="804672"/>
          </a:xfrm>
          <a:prstGeom prst="roundRect">
            <a:avLst>
              <a:gd name="adj" fmla="val 11364"/>
            </a:avLst>
          </a:prstGeom>
          <a:solidFill>
            <a:schemeClr val="accent6">
              <a:alpha val="12000"/>
            </a:schemeClr>
          </a:solidFill>
          <a:ln w="12700">
            <a:solidFill>
              <a:schemeClr val="accent6"/>
            </a:solidFill>
          </a:ln>
        </p:spPr>
        <p:txBody>
          <a:bodyPr wrap="square" lIns="127000" tIns="25400" rIns="101600" bIns="25400" rtlCol="0" anchor="ctr"/>
          <a:lstStyle/>
          <a:p>
            <a:pPr algn="l" indent="0" marL="0">
              <a:buNone/>
            </a:pPr>
            <a:r>
              <a:rPr lang="en-US" sz="1100" b="1" spc="200" kern="0" dirty="0">
                <a:solidFill>
                  <a:schemeClr val="accent6"/>
                </a:solidFill>
              </a:rPr>
              <a:t>IN .NET CORE</a:t>
            </a:r>
            <a:endParaRPr lang="en-US" sz="1100" dirty="0"/>
          </a:p>
          <a:p>
            <a:pPr algn="l" indent="0" marL="0">
              <a:buNone/>
            </a:pPr>
            <a:r>
              <a:rPr lang="en-US" sz="1200" dirty="0">
                <a:solidFill>
                  <a:schemeClr val="tx1"/>
                </a:solidFill>
              </a:rPr>
              <a:t>Policy handler: request.CreatedBy != user.Id. Use transactions.</a:t>
            </a:r>
            <a:endParaRPr lang="en-US" sz="1100" dirty="0"/>
          </a:p>
        </p:txBody>
      </p:sp>
      <p:sp>
        <p:nvSpPr>
          <p:cNvPr id="15" name="Takeaway"/>
          <p:cNvSpPr txBox="1"/>
          <p:nvPr/>
        </p:nvSpPr>
        <p:spPr>
          <a:xfrm>
            <a:off x="457200" y="4279392"/>
            <a:ext cx="4754880" cy="411480"/>
          </a:xfrm>
          <a:prstGeom prst="rect">
            <a:avLst/>
          </a:prstGeom>
          <a:noFill/>
          <a:ln/>
        </p:spPr>
        <p:txBody>
          <a:bodyPr wrap="square" lIns="0" tIns="0" rIns="0" bIns="0" rtlCol="0" anchor="ctr"/>
          <a:lstStyle/>
          <a:p>
            <a:pPr indent="0" marL="0">
              <a:buNone/>
            </a:pPr>
            <a:r>
              <a:rPr lang="en-US" sz="1600" b="1" dirty="0">
                <a:solidFill>
                  <a:schemeClr val="accent1"/>
                </a:solidFill>
              </a:rPr>
              <a:t>Design for the attacker too.</a:t>
            </a:r>
            <a:endParaRPr lang="en-US" sz="16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cond evt="onBegin" delay="0">
                          <p:tn val="2"/>
                        </p:cond>
                      </p:stCondLst>
                      <p:childTnLst>
                        <p:par>
                          <p:cTn id="19"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5"/>
                                        </p:tgtEl>
                                        <p:attrNameLst>
                                          <p:attrName>style.visibility</p:attrName>
                                        </p:attrNameLst>
                                      </p:cBhvr>
                                      <p:to>
                                        <p:strVal val="visible"/>
                                      </p:to>
                                    </p:set>
                                    <p:anim calcmode="lin" valueType="num">
                                      <p:cBhvr additive="base">
                                        <p:cTn id="4" dur="400" fill="hold"/>
                                        <p:tgtEl>
                                          <p:spTgt spid="5"/>
                                        </p:tgtEl>
                                        <p:attrNameLst>
                                          <p:attrName>ppt_w</p:attrName>
                                        </p:attrNameLst>
                                      </p:cBhvr>
                                      <p:tavLst>
                                        <p:tav tm="0">
                                          <p:val>
                                            <p:fltVal val="0"/>
                                          </p:val>
                                        </p:tav>
                                        <p:tav tm="100000">
                                          <p:val>
                                            <p:strVal val="#ppt_w"/>
                                          </p:val>
                                        </p:tav>
                                      </p:tavLst>
                                    </p:anim>
                                    <p:anim calcmode="lin" valueType="num">
                                      <p:cBhvr additive="base">
                                        <p:cTn id="5" dur="400" fill="hold"/>
                                        <p:tgtEl>
                                          <p:spTgt spid="5"/>
                                        </p:tgtEl>
                                        <p:attrNameLst>
                                          <p:attrName>ppt_h</p:attrName>
                                        </p:attrNameLst>
                                      </p:cBhvr>
                                      <p:tavLst>
                                        <p:tav tm="0">
                                          <p:val>
                                            <p:fltVal val="0"/>
                                          </p:val>
                                        </p:tav>
                                        <p:tav tm="100000">
                                          <p:val>
                                            <p:strVal val="#ppt_h"/>
                                          </p:val>
                                        </p:tav>
                                      </p:tavLst>
                                    </p:anim>
                                    <p:animEffect transition="in" filter="fade">
                                      <p:cBhvr>
                                        <p:cTn id="6" dur="400"/>
                                        <p:tgtEl>
                                          <p:spTgt spid="5"/>
                                        </p:tgtEl>
                                      </p:cBhvr>
                                    </p:animEffect>
                                  </p:childTnLst>
                                </p:cTn>
                              </p:par>
                              <p:par>
                                <p:cTn id="10" presetID="10" presetClass="entr" presetSubtype="0" fill="hold" nodeType="withEffect">
                                  <p:stCondLst>
                                    <p:cond delay="20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300"/>
                                        <p:tgtEl>
                                          <p:spTgt spid="6"/>
                                        </p:tgtEl>
                                      </p:cBhvr>
                                    </p:animEffect>
                                  </p:childTnLst>
                                </p:cTn>
                              </p:par>
                              <p:par>
                                <p:cTn id="12" presetID="0" presetClass="path" presetSubtype="0" fill="hold" nodeType="withEffect">
                                  <p:stCondLst>
                                    <p:cond delay="600"/>
                                  </p:stCondLst>
                                  <p:childTnLst>
                                    <p:animMotion origin="layout" path="M 0 0 L 0.1 0 E" pathEditMode="relative">
                                      <p:cBhvr>
                                        <p:cTn id="11" dur="2400" fill="hold"/>
                                        <p:tgtEl>
                                          <p:spTgt spid="6"/>
                                        </p:tgtEl>
                                        <p:attrNameLst>
                                          <p:attrName>ppt_x</p:attrName>
                                          <p:attrName>ppt_y</p:attrName>
                                        </p:attrNameLst>
                                      </p:cBhvr>
                                      <p:rCtr x="0.05" y="0"/>
                                    </p:animMotion>
                                  </p:childTnLst>
                                </p:cTn>
                              </p:par>
                              <p:par>
                                <p:cTn id="17" presetID="53" presetClass="entr" presetSubtype="16" fill="hold" nodeType="withEffect">
                                  <p:stCondLst>
                                    <p:cond delay="300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ppt_w</p:attrName>
                                        </p:attrNameLst>
                                      </p:cBhvr>
                                      <p:tavLst>
                                        <p:tav tm="0">
                                          <p:val>
                                            <p:fltVal val="0"/>
                                          </p:val>
                                        </p:tav>
                                        <p:tav tm="100000">
                                          <p:val>
                                            <p:strVal val="#ppt_w"/>
                                          </p:val>
                                        </p:tav>
                                      </p:tavLst>
                                    </p:anim>
                                    <p:anim calcmode="lin" valueType="num">
                                      <p:cBhvr additive="base">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23" presetID="2" presetClass="entr" presetSubtype="2"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450" fill="hold"/>
                                        <p:tgtEl>
                                          <p:spTgt spid="7"/>
                                        </p:tgtEl>
                                        <p:attrNameLst>
                                          <p:attrName>ppt_x</p:attrName>
                                        </p:attrNameLst>
                                      </p:cBhvr>
                                      <p:tavLst>
                                        <p:tav tm="0">
                                          <p:val>
                                            <p:strVal val="1+#ppt_w/2"/>
                                          </p:val>
                                        </p:tav>
                                        <p:tav tm="100000">
                                          <p:val>
                                            <p:strVal val="#ppt_x"/>
                                          </p:val>
                                        </p:tav>
                                      </p:tavLst>
                                    </p:anim>
                                    <p:anim calcmode="lin" valueType="num">
                                      <p:cBhvr additive="base">
                                        <p:cTn id="22" dur="450" fill="hold"/>
                                        <p:tgtEl>
                                          <p:spTgt spid="7"/>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450" fill="hold"/>
                                        <p:tgtEl>
                                          <p:spTgt spid="8"/>
                                        </p:tgtEl>
                                        <p:attrNameLst>
                                          <p:attrName>ppt_x</p:attrName>
                                        </p:attrNameLst>
                                      </p:cBhvr>
                                      <p:tavLst>
                                        <p:tav tm="0">
                                          <p:val>
                                            <p:strVal val="1+#ppt_w/2"/>
                                          </p:val>
                                        </p:tav>
                                        <p:tav tm="100000">
                                          <p:val>
                                            <p:strVal val="#ppt_x"/>
                                          </p:val>
                                        </p:tav>
                                      </p:tavLst>
                                    </p:anim>
                                    <p:anim calcmode="lin" valueType="num">
                                      <p:cBhvr additive="base">
                                        <p:cTn id="26" dur="45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33" presetID="2" presetClass="entr" presetSubtype="2"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450" fill="hold"/>
                                        <p:tgtEl>
                                          <p:spTgt spid="9"/>
                                        </p:tgtEl>
                                        <p:attrNameLst>
                                          <p:attrName>ppt_x</p:attrName>
                                        </p:attrNameLst>
                                      </p:cBhvr>
                                      <p:tavLst>
                                        <p:tav tm="0">
                                          <p:val>
                                            <p:strVal val="1+#ppt_w/2"/>
                                          </p:val>
                                        </p:tav>
                                        <p:tav tm="100000">
                                          <p:val>
                                            <p:strVal val="#ppt_x"/>
                                          </p:val>
                                        </p:tav>
                                      </p:tavLst>
                                    </p:anim>
                                    <p:anim calcmode="lin" valueType="num">
                                      <p:cBhvr additive="base">
                                        <p:cTn id="32" dur="450" fill="hold"/>
                                        <p:tgtEl>
                                          <p:spTgt spid="9"/>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450" fill="hold"/>
                                        <p:tgtEl>
                                          <p:spTgt spid="10"/>
                                        </p:tgtEl>
                                        <p:attrNameLst>
                                          <p:attrName>ppt_x</p:attrName>
                                        </p:attrNameLst>
                                      </p:cBhvr>
                                      <p:tavLst>
                                        <p:tav tm="0">
                                          <p:val>
                                            <p:strVal val="1+#ppt_w/2"/>
                                          </p:val>
                                        </p:tav>
                                        <p:tav tm="100000">
                                          <p:val>
                                            <p:strVal val="#ppt_x"/>
                                          </p:val>
                                        </p:tav>
                                      </p:tavLst>
                                    </p:anim>
                                    <p:anim calcmode="lin" valueType="num">
                                      <p:cBhvr additive="base">
                                        <p:cTn id="36" dur="45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3" presetID="2" presetClass="entr" presetSubtype="2"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450" fill="hold"/>
                                        <p:tgtEl>
                                          <p:spTgt spid="11"/>
                                        </p:tgtEl>
                                        <p:attrNameLst>
                                          <p:attrName>ppt_x</p:attrName>
                                        </p:attrNameLst>
                                      </p:cBhvr>
                                      <p:tavLst>
                                        <p:tav tm="0">
                                          <p:val>
                                            <p:strVal val="1+#ppt_w/2"/>
                                          </p:val>
                                        </p:tav>
                                        <p:tav tm="100000">
                                          <p:val>
                                            <p:strVal val="#ppt_x"/>
                                          </p:val>
                                        </p:tav>
                                      </p:tavLst>
                                    </p:anim>
                                    <p:anim calcmode="lin" valueType="num">
                                      <p:cBhvr additive="base">
                                        <p:cTn id="42" dur="450" fill="hold"/>
                                        <p:tgtEl>
                                          <p:spTgt spid="11"/>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450" fill="hold"/>
                                        <p:tgtEl>
                                          <p:spTgt spid="12"/>
                                        </p:tgtEl>
                                        <p:attrNameLst>
                                          <p:attrName>ppt_x</p:attrName>
                                        </p:attrNameLst>
                                      </p:cBhvr>
                                      <p:tavLst>
                                        <p:tav tm="0">
                                          <p:val>
                                            <p:strVal val="1+#ppt_w/2"/>
                                          </p:val>
                                        </p:tav>
                                        <p:tav tm="100000">
                                          <p:val>
                                            <p:strVal val="#ppt_x"/>
                                          </p:val>
                                        </p:tav>
                                      </p:tavLst>
                                    </p:anim>
                                    <p:anim calcmode="lin" valueType="num">
                                      <p:cBhvr additive="base">
                                        <p:cTn id="46" dur="45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53" presetID="2" presetClass="entr" presetSubtype="4"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450" fill="hold"/>
                                        <p:tgtEl>
                                          <p:spTgt spid="13"/>
                                        </p:tgtEl>
                                        <p:attrNameLst>
                                          <p:attrName>ppt_x</p:attrName>
                                        </p:attrNameLst>
                                      </p:cBhvr>
                                      <p:tavLst>
                                        <p:tav tm="0">
                                          <p:val>
                                            <p:strVal val="#ppt_x"/>
                                          </p:val>
                                        </p:tav>
                                        <p:tav tm="100000">
                                          <p:val>
                                            <p:strVal val="#ppt_x"/>
                                          </p:val>
                                        </p:tav>
                                      </p:tavLst>
                                    </p:anim>
                                    <p:anim calcmode="lin" valueType="num">
                                      <p:cBhvr additive="base">
                                        <p:cTn id="52" dur="450" fill="hold"/>
                                        <p:tgtEl>
                                          <p:spTgt spid="13"/>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15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450" fill="hold"/>
                                        <p:tgtEl>
                                          <p:spTgt spid="14"/>
                                        </p:tgtEl>
                                        <p:attrNameLst>
                                          <p:attrName>ppt_x</p:attrName>
                                        </p:attrNameLst>
                                      </p:cBhvr>
                                      <p:tavLst>
                                        <p:tav tm="0">
                                          <p:val>
                                            <p:strVal val="#ppt_x"/>
                                          </p:val>
                                        </p:tav>
                                        <p:tav tm="100000">
                                          <p:val>
                                            <p:strVal val="#ppt_x"/>
                                          </p:val>
                                        </p:tav>
                                      </p:tavLst>
                                    </p:anim>
                                    <p:anim calcmode="lin" valueType="num">
                                      <p:cBhvr additive="base">
                                        <p:cTn id="56"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450" fill="hold"/>
                                        <p:tgtEl>
                                          <p:spTgt spid="15"/>
                                        </p:tgtEl>
                                        <p:attrNameLst>
                                          <p:attrName>ppt_w</p:attrName>
                                        </p:attrNameLst>
                                      </p:cBhvr>
                                      <p:tavLst>
                                        <p:tav tm="0">
                                          <p:val>
                                            <p:fltVal val="0"/>
                                          </p:val>
                                        </p:tav>
                                        <p:tav tm="100000">
                                          <p:val>
                                            <p:strVal val="#ppt_w"/>
                                          </p:val>
                                        </p:tav>
                                      </p:tavLst>
                                    </p:anim>
                                    <p:anim calcmode="lin" valueType="num">
                                      <p:cBhvr additive="base">
                                        <p:cTn id="62" dur="450" fill="hold"/>
                                        <p:tgtEl>
                                          <p:spTgt spid="15"/>
                                        </p:tgtEl>
                                        <p:attrNameLst>
                                          <p:attrName>ppt_h</p:attrName>
                                        </p:attrNameLst>
                                      </p:cBhvr>
                                      <p:tavLst>
                                        <p:tav tm="0">
                                          <p:val>
                                            <p:fltVal val="0"/>
                                          </p:val>
                                        </p:tav>
                                        <p:tav tm="100000">
                                          <p:val>
                                            <p:strVal val="#ppt_h"/>
                                          </p:val>
                                        </p:tav>
                                      </p:tavLst>
                                    </p:anim>
                                    <p:animEffect transition="in" filter="fade">
                                      <p:cBhvr>
                                        <p:cTn id="63"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A07 · Authentication Failures: the story</a:t>
            </a:r>
            <a:endParaRPr lang="en-US" sz="3000" dirty="0"/>
          </a:p>
        </p:txBody>
      </p:sp>
      <p:sp>
        <p:nvSpPr>
          <p:cNvPr id="4" name="Station 0"/>
          <p:cNvSpPr txBox="1"/>
          <p:nvPr/>
        </p:nvSpPr>
        <p:spPr>
          <a:xfrm>
            <a:off x="2926080" y="2880360"/>
            <a:ext cx="1737360" cy="868680"/>
          </a:xfrm>
          <a:prstGeom prst="roundRect">
            <a:avLst>
              <a:gd name="adj" fmla="val 12632"/>
            </a:avLst>
          </a:prstGeom>
          <a:solidFill>
            <a:schemeClr val="bg2"/>
          </a:solidFill>
          <a:ln w="15875">
            <a:solidFill>
              <a:schemeClr val="accent5"/>
            </a:solidFill>
          </a:ln>
        </p:spPr>
        <p:txBody>
          <a:bodyPr wrap="square" lIns="50800" tIns="50800" rIns="50800" bIns="50800" rtlCol="0" anchor="ctr"/>
          <a:lstStyle/>
          <a:p>
            <a:pPr algn="ctr" indent="0" marL="0">
              <a:buNone/>
            </a:pPr>
            <a:r>
              <a:rPr lang="en-US" sz="1500" b="1" dirty="0">
                <a:solidFill>
                  <a:schemeClr val="accent5"/>
                </a:solidFill>
              </a:rPr>
              <a:t>Angular app</a:t>
            </a:r>
            <a:endParaRPr lang="en-US" sz="1500" dirty="0"/>
          </a:p>
          <a:p>
            <a:pPr algn="ctr" indent="0" marL="0">
              <a:buNone/>
            </a:pPr>
            <a:r>
              <a:rPr lang="en-US" sz="1200" dirty="0">
                <a:solidFill>
                  <a:schemeClr val="tx2"/>
                </a:solidFill>
              </a:rPr>
              <a:t>token in localStorage</a:t>
            </a:r>
            <a:endParaRPr lang="en-US" sz="1500" dirty="0"/>
          </a:p>
        </p:txBody>
      </p:sp>
      <p:sp>
        <p:nvSpPr>
          <p:cNvPr id="5" name="Station 1"/>
          <p:cNvSpPr txBox="1"/>
          <p:nvPr/>
        </p:nvSpPr>
        <p:spPr>
          <a:xfrm>
            <a:off x="4846320" y="2880360"/>
            <a:ext cx="1737360" cy="868680"/>
          </a:xfrm>
          <a:prstGeom prst="roundRect">
            <a:avLst>
              <a:gd name="adj" fmla="val 12632"/>
            </a:avLst>
          </a:prstGeom>
          <a:solidFill>
            <a:schemeClr val="bg2"/>
          </a:solidFill>
          <a:ln w="15875">
            <a:solidFill>
              <a:schemeClr val="accent1"/>
            </a:solidFill>
          </a:ln>
        </p:spPr>
        <p:txBody>
          <a:bodyPr wrap="square" lIns="50800" tIns="50800" rIns="50800" bIns="50800" rtlCol="0" anchor="ctr"/>
          <a:lstStyle/>
          <a:p>
            <a:pPr algn="ctr" indent="0" marL="0">
              <a:buNone/>
            </a:pPr>
            <a:r>
              <a:rPr lang="en-US" sz="1500" b="1" dirty="0">
                <a:solidFill>
                  <a:schemeClr val="accent1"/>
                </a:solidFill>
              </a:rPr>
              <a:t>Login API</a:t>
            </a:r>
            <a:endParaRPr lang="en-US" sz="1500" dirty="0"/>
          </a:p>
          <a:p>
            <a:pPr algn="ctr" indent="0" marL="0">
              <a:buNone/>
            </a:pPr>
            <a:r>
              <a:rPr lang="en-US" sz="1200" dirty="0">
                <a:solidFill>
                  <a:schemeClr val="tx2"/>
                </a:solidFill>
              </a:rPr>
              <a:t>different error texts</a:t>
            </a:r>
            <a:endParaRPr lang="en-US" sz="1500" dirty="0"/>
          </a:p>
        </p:txBody>
      </p:sp>
      <p:sp>
        <p:nvSpPr>
          <p:cNvPr id="6" name="Station 2"/>
          <p:cNvSpPr txBox="1"/>
          <p:nvPr/>
        </p:nvSpPr>
        <p:spPr>
          <a:xfrm>
            <a:off x="6766560" y="2880360"/>
            <a:ext cx="1737360" cy="868680"/>
          </a:xfrm>
          <a:prstGeom prst="roundRect">
            <a:avLst>
              <a:gd name="adj" fmla="val 12632"/>
            </a:avLst>
          </a:prstGeom>
          <a:solidFill>
            <a:schemeClr val="bg2"/>
          </a:solidFill>
          <a:ln w="15875">
            <a:solidFill>
              <a:schemeClr val="accent4"/>
            </a:solidFill>
          </a:ln>
        </p:spPr>
        <p:txBody>
          <a:bodyPr wrap="square" lIns="50800" tIns="50800" rIns="50800" bIns="50800" rtlCol="0" anchor="ctr"/>
          <a:lstStyle/>
          <a:p>
            <a:pPr algn="ctr" indent="0" marL="0">
              <a:buNone/>
            </a:pPr>
            <a:r>
              <a:rPr lang="en-US" sz="1500" b="1" dirty="0">
                <a:solidFill>
                  <a:schemeClr val="accent4"/>
                </a:solidFill>
              </a:rPr>
              <a:t>Oracle DB</a:t>
            </a:r>
            <a:endParaRPr lang="en-US" sz="1500" dirty="0"/>
          </a:p>
          <a:p>
            <a:pPr algn="ctr" indent="0" marL="0">
              <a:buNone/>
            </a:pPr>
            <a:r>
              <a:rPr lang="en-US" sz="1200" dirty="0">
                <a:solidFill>
                  <a:schemeClr val="tx2"/>
                </a:solidFill>
              </a:rPr>
              <a:t>users table</a:t>
            </a:r>
            <a:endParaRPr lang="en-US" sz="1500" dirty="0"/>
          </a:p>
        </p:txBody>
      </p:sp>
      <p:pic>
        <p:nvPicPr>
          <p:cNvPr id="7" name="Hacker" descr="Hacker cartoon">    </p:cNvPr>
          <p:cNvPicPr>
            <a:picLocks noChangeAspect="1"/>
          </p:cNvPicPr>
          <p:nvPr/>
        </p:nvPicPr>
        <p:blipFill>
          <a:blip r:embed="rId1"/>
          <a:stretch>
            <a:fillRect/>
          </a:stretch>
        </p:blipFill>
        <p:spPr>
          <a:xfrm>
            <a:off x="365760" y="2606040"/>
            <a:ext cx="1188720" cy="1188720"/>
          </a:xfrm>
          <a:prstGeom prst="rect">
            <a:avLst/>
          </a:prstGeom>
        </p:spPr>
      </p:pic>
      <p:sp>
        <p:nvSpPr>
          <p:cNvPr id="8" name="Bubble 0"/>
          <p:cNvSpPr txBox="1"/>
          <p:nvPr/>
        </p:nvSpPr>
        <p:spPr>
          <a:xfrm>
            <a:off x="457200" y="1097280"/>
            <a:ext cx="1920240" cy="1097280"/>
          </a:xfrm>
          <a:prstGeom prst="roundRect">
            <a:avLst>
              <a:gd name="adj" fmla="val 11667"/>
            </a:avLst>
          </a:prstGeom>
          <a:solidFill>
            <a:schemeClr val="bg2"/>
          </a:solidFill>
          <a:ln w="19050">
            <a:solidFill>
              <a:schemeClr val="accent6"/>
            </a:solidFill>
          </a:ln>
        </p:spPr>
        <p:txBody>
          <a:bodyPr wrap="square" lIns="114300" tIns="63500" rIns="101600" bIns="50800" rtlCol="0" anchor="t"/>
          <a:lstStyle/>
          <a:p>
            <a:pPr algn="l" indent="0" marL="0">
              <a:buNone/>
            </a:pPr>
            <a:r>
              <a:rPr lang="en-US" sz="1100" b="1" spc="200" kern="0" dirty="0">
                <a:solidFill>
                  <a:schemeClr val="accent6"/>
                </a:solidFill>
              </a:rPr>
              <a:t>HACKER</a:t>
            </a:r>
            <a:endParaRPr lang="en-US" sz="1100" dirty="0"/>
          </a:p>
          <a:p>
            <a:pPr algn="l" indent="0" marL="0">
              <a:buNone/>
            </a:pPr>
            <a:r>
              <a:rPr lang="en-US" sz="1300" dirty="0">
                <a:solidFill>
                  <a:schemeClr val="tx1"/>
                </a:solidFill>
              </a:rPr>
              <a:t>'User not found' or 'Wrong password'? Now I know which names exist.</a:t>
            </a:r>
            <a:endParaRPr lang="en-US" sz="1100" dirty="0"/>
          </a:p>
        </p:txBody>
      </p:sp>
      <p:sp>
        <p:nvSpPr>
          <p:cNvPr id="9" name="Bubble 1"/>
          <p:cNvSpPr txBox="1"/>
          <p:nvPr/>
        </p:nvSpPr>
        <p:spPr>
          <a:xfrm>
            <a:off x="2560320" y="1097280"/>
            <a:ext cx="1920240" cy="1097280"/>
          </a:xfrm>
          <a:prstGeom prst="roundRect">
            <a:avLst>
              <a:gd name="adj" fmla="val 11667"/>
            </a:avLst>
          </a:prstGeom>
          <a:solidFill>
            <a:schemeClr val="bg2"/>
          </a:solidFill>
          <a:ln w="19050">
            <a:solidFill>
              <a:schemeClr val="accent1"/>
            </a:solidFill>
          </a:ln>
        </p:spPr>
        <p:txBody>
          <a:bodyPr wrap="square" lIns="114300" tIns="63500" rIns="101600" bIns="50800" rtlCol="0" anchor="t"/>
          <a:lstStyle/>
          <a:p>
            <a:pPr algn="l" indent="0" marL="0">
              <a:buNone/>
            </a:pPr>
            <a:r>
              <a:rPr lang="en-US" sz="1100" b="1" spc="200" kern="0" dirty="0">
                <a:solidFill>
                  <a:schemeClr val="accent1"/>
                </a:solidFill>
              </a:rPr>
              <a:t>API</a:t>
            </a:r>
            <a:endParaRPr lang="en-US" sz="1100" dirty="0"/>
          </a:p>
          <a:p>
            <a:pPr algn="l" indent="0" marL="0">
              <a:buNone/>
            </a:pPr>
            <a:r>
              <a:rPr lang="en-US" sz="1300" dirty="0">
                <a:solidFill>
                  <a:schemeClr val="tx1"/>
                </a:solidFill>
              </a:rPr>
              <a:t>No lockout, so you may try 10,000 passwords. Go ahead!</a:t>
            </a:r>
            <a:endParaRPr lang="en-US" sz="1100" dirty="0"/>
          </a:p>
        </p:txBody>
      </p:sp>
      <p:sp>
        <p:nvSpPr>
          <p:cNvPr id="10" name="Bubble 2"/>
          <p:cNvSpPr txBox="1"/>
          <p:nvPr/>
        </p:nvSpPr>
        <p:spPr>
          <a:xfrm>
            <a:off x="4663440" y="1097280"/>
            <a:ext cx="1920240" cy="1097280"/>
          </a:xfrm>
          <a:prstGeom prst="roundRect">
            <a:avLst>
              <a:gd name="adj" fmla="val 11667"/>
            </a:avLst>
          </a:prstGeom>
          <a:solidFill>
            <a:schemeClr val="bg2"/>
          </a:solidFill>
          <a:ln w="19050">
            <a:solidFill>
              <a:schemeClr val="accent6"/>
            </a:solidFill>
          </a:ln>
        </p:spPr>
        <p:txBody>
          <a:bodyPr wrap="square" lIns="114300" tIns="63500" rIns="101600" bIns="50800" rtlCol="0" anchor="t"/>
          <a:lstStyle/>
          <a:p>
            <a:pPr algn="l" indent="0" marL="0">
              <a:buNone/>
            </a:pPr>
            <a:r>
              <a:rPr lang="en-US" sz="1100" b="1" spc="200" kern="0" dirty="0">
                <a:solidFill>
                  <a:schemeClr val="accent6"/>
                </a:solidFill>
              </a:rPr>
              <a:t>HACKER</a:t>
            </a:r>
            <a:endParaRPr lang="en-US" sz="1100" dirty="0"/>
          </a:p>
          <a:p>
            <a:pPr algn="l" indent="0" marL="0">
              <a:buNone/>
            </a:pPr>
            <a:r>
              <a:rPr lang="en-US" sz="1300" dirty="0">
                <a:solidFill>
                  <a:schemeClr val="tx1"/>
                </a:solidFill>
              </a:rPr>
              <a:t>Or I inject one script and read the JWT from localStorage.</a:t>
            </a:r>
            <a:endParaRPr lang="en-US" sz="1100" dirty="0"/>
          </a:p>
        </p:txBody>
      </p:sp>
      <p:sp>
        <p:nvSpPr>
          <p:cNvPr id="11" name="Bubble 3"/>
          <p:cNvSpPr txBox="1"/>
          <p:nvPr/>
        </p:nvSpPr>
        <p:spPr>
          <a:xfrm>
            <a:off x="6766560" y="1097280"/>
            <a:ext cx="1920240" cy="1097280"/>
          </a:xfrm>
          <a:prstGeom prst="roundRect">
            <a:avLst>
              <a:gd name="adj" fmla="val 11667"/>
            </a:avLst>
          </a:prstGeom>
          <a:solidFill>
            <a:schemeClr val="bg2"/>
          </a:solidFill>
          <a:ln w="19050">
            <a:solidFill>
              <a:schemeClr val="accent2"/>
            </a:solidFill>
          </a:ln>
        </p:spPr>
        <p:txBody>
          <a:bodyPr wrap="square" lIns="114300" tIns="63500" rIns="101600" bIns="50800" rtlCol="0" anchor="t"/>
          <a:lstStyle/>
          <a:p>
            <a:pPr algn="l" indent="0" marL="0">
              <a:buNone/>
            </a:pPr>
            <a:r>
              <a:rPr lang="en-US" sz="1100" b="1" spc="200" kern="0" dirty="0">
                <a:solidFill>
                  <a:schemeClr val="accent2"/>
                </a:solidFill>
              </a:rPr>
              <a:t>RESULT</a:t>
            </a:r>
            <a:endParaRPr lang="en-US" sz="1100" dirty="0"/>
          </a:p>
          <a:p>
            <a:pPr algn="l" indent="0" marL="0">
              <a:buNone/>
            </a:pPr>
            <a:r>
              <a:rPr lang="en-US" sz="1300" dirty="0">
                <a:solidFill>
                  <a:schemeClr val="tx1"/>
                </a:solidFill>
              </a:rPr>
              <a:t>A stolen session. The attacker is now the user.</a:t>
            </a:r>
            <a:endParaRPr lang="en-US" sz="1100" dirty="0"/>
          </a:p>
        </p:txBody>
      </p:sp>
      <p:sp>
        <p:nvSpPr>
          <p:cNvPr id="12" name="Damage"/>
          <p:cNvSpPr txBox="1"/>
          <p:nvPr/>
        </p:nvSpPr>
        <p:spPr>
          <a:xfrm>
            <a:off x="6217920" y="2697480"/>
            <a:ext cx="384048" cy="384048"/>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pic>
        <p:nvPicPr>
          <p:cNvPr id="13" name="Bug" descr="Bug cartoon">    </p:cNvPr>
          <p:cNvPicPr>
            <a:picLocks noChangeAspect="1"/>
          </p:cNvPicPr>
          <p:nvPr/>
        </p:nvPicPr>
        <p:blipFill>
          <a:blip r:embed="rId2"/>
          <a:stretch>
            <a:fillRect/>
          </a:stretch>
        </p:blipFill>
        <p:spPr>
          <a:xfrm>
            <a:off x="5029200" y="2103120"/>
            <a:ext cx="822960" cy="822960"/>
          </a:xfrm>
          <a:prstGeom prst="rect">
            <a:avLst/>
          </a:prstGeom>
        </p:spPr>
      </p:pic>
      <p:sp>
        <p:nvSpPr>
          <p:cNvPr id="14" name="Moral"/>
          <p:cNvSpPr txBox="1"/>
          <p:nvPr/>
        </p:nvSpPr>
        <p:spPr>
          <a:xfrm>
            <a:off x="457200" y="3977640"/>
            <a:ext cx="8229600" cy="548640"/>
          </a:xfrm>
          <a:prstGeom prst="rect">
            <a:avLst/>
          </a:prstGeom>
          <a:noFill/>
          <a:ln/>
        </p:spPr>
        <p:txBody>
          <a:bodyPr wrap="square" lIns="0" tIns="0" rIns="0" bIns="0" rtlCol="0" anchor="ctr"/>
          <a:lstStyle/>
          <a:p>
            <a:pPr indent="0" marL="0">
              <a:buNone/>
            </a:pPr>
            <a:r>
              <a:rPr lang="en-US" sz="2200" b="1" i="1" dirty="0">
                <a:solidFill>
                  <a:schemeClr val="accent1"/>
                </a:solidFill>
              </a:rPr>
              <a:t>Authentication is a system, not a login form.</a:t>
            </a:r>
            <a:endParaRPr lang="en-US" sz="22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0" fill="hold">
                      <p:stCondLst>
                        <p:cond delay="indefinite"/>
                        <p:cond evt="onBegin" delay="0">
                          <p:tn val="2"/>
                        </p:cond>
                      </p:stCondLst>
                      <p:childTnLst>
                        <p:par>
                          <p:cTn id="21" fill="hold">
                            <p:stCondLst>
                              <p:cond delay="0"/>
                            </p:stCondLst>
                            <p:childTnLst>
                              <p:par>
                                <p:cTn id="6" presetID="2" presetClass="entr" presetSubtype="4" fill="hold" grpId="0" nodeType="afterEffect">
                                  <p:stCondLst>
                                    <p:cond delay="0"/>
                                  </p:stCondLst>
                                  <p:childTnLst>
                                    <p:set>
                                      <p:cBhvr>
                                        <p:cTn id="3" dur="1" fill="hold">
                                          <p:stCondLst>
                                            <p:cond delay="0"/>
                                          </p:stCondLst>
                                        </p:cTn>
                                        <p:tgtEl>
                                          <p:spTgt spid="4"/>
                                        </p:tgtEl>
                                        <p:attrNameLst>
                                          <p:attrName>style.visibility</p:attrName>
                                        </p:attrNameLst>
                                      </p:cBhvr>
                                      <p:to>
                                        <p:strVal val="visible"/>
                                      </p:to>
                                    </p:set>
                                    <p:anim calcmode="lin" valueType="num">
                                      <p:cBhvr additive="base">
                                        <p:cTn id="4" dur="450" fill="hold"/>
                                        <p:tgtEl>
                                          <p:spTgt spid="4"/>
                                        </p:tgtEl>
                                        <p:attrNameLst>
                                          <p:attrName>ppt_x</p:attrName>
                                        </p:attrNameLst>
                                      </p:cBhvr>
                                      <p:tavLst>
                                        <p:tav tm="0">
                                          <p:val>
                                            <p:strVal val="#ppt_x"/>
                                          </p:val>
                                        </p:tav>
                                        <p:tav tm="100000">
                                          <p:val>
                                            <p:strVal val="#ppt_x"/>
                                          </p:val>
                                        </p:tav>
                                      </p:tavLst>
                                    </p:anim>
                                    <p:anim calcmode="lin" valueType="num">
                                      <p:cBhvr additive="base">
                                        <p:cTn id="5" dur="450" fill="hold"/>
                                        <p:tgtEl>
                                          <p:spTgt spid="4"/>
                                        </p:tgtEl>
                                        <p:attrNameLst>
                                          <p:attrName>ppt_y</p:attrName>
                                        </p:attrNameLst>
                                      </p:cBhvr>
                                      <p:tavLst>
                                        <p:tav tm="0">
                                          <p:val>
                                            <p:strVal val="1+#ppt_h/2"/>
                                          </p:val>
                                        </p:tav>
                                        <p:tav tm="100000">
                                          <p:val>
                                            <p:strVal val="#ppt_y"/>
                                          </p:val>
                                        </p:tav>
                                      </p:tavLst>
                                    </p:anim>
                                  </p:childTnLst>
                                </p:cTn>
                              </p:par>
                              <p:par>
                                <p:cTn id="10" presetID="2" presetClass="entr" presetSubtype="4" fill="hold" grpId="0" nodeType="withEffect">
                                  <p:stCondLst>
                                    <p:cond delay="200"/>
                                  </p:stCondLst>
                                  <p:childTnLst>
                                    <p:set>
                                      <p:cBhvr>
                                        <p:cTn id="7" dur="1" fill="hold">
                                          <p:stCondLst>
                                            <p:cond delay="0"/>
                                          </p:stCondLst>
                                        </p:cTn>
                                        <p:tgtEl>
                                          <p:spTgt spid="5"/>
                                        </p:tgtEl>
                                        <p:attrNameLst>
                                          <p:attrName>style.visibility</p:attrName>
                                        </p:attrNameLst>
                                      </p:cBhvr>
                                      <p:to>
                                        <p:strVal val="visible"/>
                                      </p:to>
                                    </p:set>
                                    <p:anim calcmode="lin" valueType="num">
                                      <p:cBhvr additive="base">
                                        <p:cTn id="8" dur="450" fill="hold"/>
                                        <p:tgtEl>
                                          <p:spTgt spid="5"/>
                                        </p:tgtEl>
                                        <p:attrNameLst>
                                          <p:attrName>ppt_x</p:attrName>
                                        </p:attrNameLst>
                                      </p:cBhvr>
                                      <p:tavLst>
                                        <p:tav tm="0">
                                          <p:val>
                                            <p:strVal val="#ppt_x"/>
                                          </p:val>
                                        </p:tav>
                                        <p:tav tm="100000">
                                          <p:val>
                                            <p:strVal val="#ppt_x"/>
                                          </p:val>
                                        </p:tav>
                                      </p:tavLst>
                                    </p:anim>
                                    <p:anim calcmode="lin" valueType="num">
                                      <p:cBhvr additive="base">
                                        <p:cTn id="9" dur="450" fill="hold"/>
                                        <p:tgtEl>
                                          <p:spTgt spid="5"/>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40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450" fill="hold"/>
                                        <p:tgtEl>
                                          <p:spTgt spid="6"/>
                                        </p:tgtEl>
                                        <p:attrNameLst>
                                          <p:attrName>ppt_x</p:attrName>
                                        </p:attrNameLst>
                                      </p:cBhvr>
                                      <p:tavLst>
                                        <p:tav tm="0">
                                          <p:val>
                                            <p:strVal val="#ppt_x"/>
                                          </p:val>
                                        </p:tav>
                                        <p:tav tm="100000">
                                          <p:val>
                                            <p:strVal val="#ppt_x"/>
                                          </p:val>
                                        </p:tav>
                                      </p:tavLst>
                                    </p:anim>
                                    <p:anim calcmode="lin" valueType="num">
                                      <p:cBhvr additive="base">
                                        <p:cTn id="13" dur="450" fill="hold"/>
                                        <p:tgtEl>
                                          <p:spTgt spid="6"/>
                                        </p:tgtEl>
                                        <p:attrNameLst>
                                          <p:attrName>ppt_y</p:attrName>
                                        </p:attrNameLst>
                                      </p:cBhvr>
                                      <p:tavLst>
                                        <p:tav tm="0">
                                          <p:val>
                                            <p:strVal val="1+#ppt_h/2"/>
                                          </p:val>
                                        </p:tav>
                                        <p:tav tm="100000">
                                          <p:val>
                                            <p:strVal val="#ppt_y"/>
                                          </p:val>
                                        </p:tav>
                                      </p:tavLst>
                                    </p:anim>
                                  </p:childTnLst>
                                </p:cTn>
                              </p:par>
                              <p:par>
                                <p:cTn id="17"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par>
                                <p:cTn id="19" presetID="0" presetClass="path" presetSubtype="0" fill="hold" nodeType="withEffect">
                                  <p:stCondLst>
                                    <p:cond delay="500"/>
                                  </p:stCondLst>
                                  <p:childTnLst>
                                    <p:animMotion origin="layout" path="M 0 0 L 0.12 0 E" pathEditMode="relative">
                                      <p:cBhvr>
                                        <p:cTn id="18" dur="2600" fill="hold"/>
                                        <p:tgtEl>
                                          <p:spTgt spid="7"/>
                                        </p:tgtEl>
                                        <p:attrNameLst>
                                          <p:attrName>ppt_x</p:attrName>
                                          <p:attrName>ppt_y</p:attrName>
                                        </p:attrNameLst>
                                      </p:cBhvr>
                                      <p:rCtr x="0.06" y="0"/>
                                    </p:animMotion>
                                  </p:childTnLst>
                                </p:cTn>
                              </p:par>
                            </p:childTnLst>
                          </p:cTn>
                        </p:par>
                      </p:childTnLst>
                    </p:cTn>
                  </p:par>
                  <p:par>
                    <p:cTn id="27" fill="hold">
                      <p:stCondLst>
                        <p:cond delay="indefinite"/>
                      </p:stCondLst>
                      <p:childTnLst>
                        <p:par>
                          <p:cTn id="28" fill="hold">
                            <p:stCondLst>
                              <p:cond delay="0"/>
                            </p:stCondLst>
                            <p:childTnLst>
                              <p:par>
                                <p:cTn id="26" presetID="53" presetClass="entr" presetSubtype="16"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450" fill="hold"/>
                                        <p:tgtEl>
                                          <p:spTgt spid="8"/>
                                        </p:tgtEl>
                                        <p:attrNameLst>
                                          <p:attrName>ppt_w</p:attrName>
                                        </p:attrNameLst>
                                      </p:cBhvr>
                                      <p:tavLst>
                                        <p:tav tm="0">
                                          <p:val>
                                            <p:fltVal val="0"/>
                                          </p:val>
                                        </p:tav>
                                        <p:tav tm="100000">
                                          <p:val>
                                            <p:strVal val="#ppt_w"/>
                                          </p:val>
                                        </p:tav>
                                      </p:tavLst>
                                    </p:anim>
                                    <p:anim calcmode="lin" valueType="num">
                                      <p:cBhvr additive="base">
                                        <p:cTn id="24" dur="450" fill="hold"/>
                                        <p:tgtEl>
                                          <p:spTgt spid="8"/>
                                        </p:tgtEl>
                                        <p:attrNameLst>
                                          <p:attrName>ppt_h</p:attrName>
                                        </p:attrNameLst>
                                      </p:cBhvr>
                                      <p:tavLst>
                                        <p:tav tm="0">
                                          <p:val>
                                            <p:fltVal val="0"/>
                                          </p:val>
                                        </p:tav>
                                        <p:tav tm="100000">
                                          <p:val>
                                            <p:strVal val="#ppt_h"/>
                                          </p:val>
                                        </p:tav>
                                      </p:tavLst>
                                    </p:anim>
                                    <p:animEffect transition="in" filter="fade">
                                      <p:cBhvr>
                                        <p:cTn id="25" dur="450"/>
                                        <p:tgtEl>
                                          <p:spTgt spid="8"/>
                                        </p:tgtEl>
                                      </p:cBhvr>
                                    </p:animEffect>
                                  </p:childTnLst>
                                </p:cTn>
                              </p:par>
                            </p:childTnLst>
                          </p:cTn>
                        </p:par>
                      </p:childTnLst>
                    </p:cTn>
                  </p:par>
                  <p:par>
                    <p:cTn id="44" fill="hold">
                      <p:stCondLst>
                        <p:cond delay="indefinite"/>
                      </p:stCondLst>
                      <p:childTnLst>
                        <p:par>
                          <p:cTn id="45" fill="hold">
                            <p:stCondLst>
                              <p:cond delay="0"/>
                            </p:stCondLst>
                            <p:childTnLst>
                              <p:par>
                                <p:cTn id="33" presetID="53" presetClass="entr" presetSubtype="16"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450" fill="hold"/>
                                        <p:tgtEl>
                                          <p:spTgt spid="9"/>
                                        </p:tgtEl>
                                        <p:attrNameLst>
                                          <p:attrName>ppt_w</p:attrName>
                                        </p:attrNameLst>
                                      </p:cBhvr>
                                      <p:tavLst>
                                        <p:tav tm="0">
                                          <p:val>
                                            <p:fltVal val="0"/>
                                          </p:val>
                                        </p:tav>
                                        <p:tav tm="100000">
                                          <p:val>
                                            <p:strVal val="#ppt_w"/>
                                          </p:val>
                                        </p:tav>
                                      </p:tavLst>
                                    </p:anim>
                                    <p:anim calcmode="lin" valueType="num">
                                      <p:cBhvr additive="base">
                                        <p:cTn id="31" dur="450" fill="hold"/>
                                        <p:tgtEl>
                                          <p:spTgt spid="9"/>
                                        </p:tgtEl>
                                        <p:attrNameLst>
                                          <p:attrName>ppt_h</p:attrName>
                                        </p:attrNameLst>
                                      </p:cBhvr>
                                      <p:tavLst>
                                        <p:tav tm="0">
                                          <p:val>
                                            <p:fltVal val="0"/>
                                          </p:val>
                                        </p:tav>
                                        <p:tav tm="100000">
                                          <p:val>
                                            <p:strVal val="#ppt_h"/>
                                          </p:val>
                                        </p:tav>
                                      </p:tavLst>
                                    </p:anim>
                                    <p:animEffect transition="in" filter="fade">
                                      <p:cBhvr>
                                        <p:cTn id="32" dur="450"/>
                                        <p:tgtEl>
                                          <p:spTgt spid="9"/>
                                        </p:tgtEl>
                                      </p:cBhvr>
                                    </p:animEffect>
                                  </p:childTnLst>
                                </p:cTn>
                              </p:par>
                              <p:par>
                                <p:cTn id="38" presetID="53" presetClass="entr" presetSubtype="16" fill="hold" grpId="0" nodeType="withEffect">
                                  <p:stCondLst>
                                    <p:cond delay="25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350" fill="hold"/>
                                        <p:tgtEl>
                                          <p:spTgt spid="12"/>
                                        </p:tgtEl>
                                        <p:attrNameLst>
                                          <p:attrName>ppt_w</p:attrName>
                                        </p:attrNameLst>
                                      </p:cBhvr>
                                      <p:tavLst>
                                        <p:tav tm="0">
                                          <p:val>
                                            <p:fltVal val="0"/>
                                          </p:val>
                                        </p:tav>
                                        <p:tav tm="100000">
                                          <p:val>
                                            <p:strVal val="#ppt_w"/>
                                          </p:val>
                                        </p:tav>
                                      </p:tavLst>
                                    </p:anim>
                                    <p:anim calcmode="lin" valueType="num">
                                      <p:cBhvr additive="base">
                                        <p:cTn id="36" dur="350" fill="hold"/>
                                        <p:tgtEl>
                                          <p:spTgt spid="12"/>
                                        </p:tgtEl>
                                        <p:attrNameLst>
                                          <p:attrName>ppt_h</p:attrName>
                                        </p:attrNameLst>
                                      </p:cBhvr>
                                      <p:tavLst>
                                        <p:tav tm="0">
                                          <p:val>
                                            <p:fltVal val="0"/>
                                          </p:val>
                                        </p:tav>
                                        <p:tav tm="100000">
                                          <p:val>
                                            <p:strVal val="#ppt_h"/>
                                          </p:val>
                                        </p:tav>
                                      </p:tavLst>
                                    </p:anim>
                                    <p:animEffect transition="in" filter="fade">
                                      <p:cBhvr>
                                        <p:cTn id="37" dur="350"/>
                                        <p:tgtEl>
                                          <p:spTgt spid="12"/>
                                        </p:tgtEl>
                                      </p:cBhvr>
                                    </p:animEffect>
                                  </p:childTnLst>
                                </p:cTn>
                              </p:par>
                              <p:par>
                                <p:cTn id="41" presetID="10" presetClass="entr" presetSubtype="0" fill="hold" nodeType="withEffect">
                                  <p:stCondLst>
                                    <p:cond delay="25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350"/>
                                        <p:tgtEl>
                                          <p:spTgt spid="13"/>
                                        </p:tgtEl>
                                      </p:cBhvr>
                                    </p:animEffect>
                                  </p:childTnLst>
                                </p:cTn>
                              </p:par>
                              <p:par>
                                <p:cTn id="43" presetID="0" presetClass="path" presetSubtype="0" fill="hold" nodeType="withEffect">
                                  <p:stCondLst>
                                    <p:cond delay="700"/>
                                  </p:stCondLst>
                                  <p:childTnLst>
                                    <p:animMotion origin="layout" path="M 0 0 L 0.07 0 E" pathEditMode="relative">
                                      <p:cBhvr>
                                        <p:cTn id="42" dur="2500" fill="hold"/>
                                        <p:tgtEl>
                                          <p:spTgt spid="13"/>
                                        </p:tgtEl>
                                        <p:attrNameLst>
                                          <p:attrName>ppt_x</p:attrName>
                                          <p:attrName>ppt_y</p:attrName>
                                        </p:attrNameLst>
                                      </p:cBhvr>
                                      <p:rCtr x="0.035" y="0"/>
                                    </p:animMotion>
                                  </p:childTnLst>
                                </p:cTn>
                              </p:par>
                            </p:childTnLst>
                          </p:cTn>
                        </p:par>
                      </p:childTnLst>
                    </p:cTn>
                  </p:par>
                  <p:par>
                    <p:cTn id="51" fill="hold">
                      <p:stCondLst>
                        <p:cond delay="indefinite"/>
                      </p:stCondLst>
                      <p:childTnLst>
                        <p:par>
                          <p:cTn id="52" fill="hold">
                            <p:stCondLst>
                              <p:cond delay="0"/>
                            </p:stCondLst>
                            <p:childTnLst>
                              <p:par>
                                <p:cTn id="50" presetID="53" presetClass="entr" presetSubtype="16"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450" fill="hold"/>
                                        <p:tgtEl>
                                          <p:spTgt spid="10"/>
                                        </p:tgtEl>
                                        <p:attrNameLst>
                                          <p:attrName>ppt_w</p:attrName>
                                        </p:attrNameLst>
                                      </p:cBhvr>
                                      <p:tavLst>
                                        <p:tav tm="0">
                                          <p:val>
                                            <p:fltVal val="0"/>
                                          </p:val>
                                        </p:tav>
                                        <p:tav tm="100000">
                                          <p:val>
                                            <p:strVal val="#ppt_w"/>
                                          </p:val>
                                        </p:tav>
                                      </p:tavLst>
                                    </p:anim>
                                    <p:anim calcmode="lin" valueType="num">
                                      <p:cBhvr additive="base">
                                        <p:cTn id="48" dur="450" fill="hold"/>
                                        <p:tgtEl>
                                          <p:spTgt spid="10"/>
                                        </p:tgtEl>
                                        <p:attrNameLst>
                                          <p:attrName>ppt_h</p:attrName>
                                        </p:attrNameLst>
                                      </p:cBhvr>
                                      <p:tavLst>
                                        <p:tav tm="0">
                                          <p:val>
                                            <p:fltVal val="0"/>
                                          </p:val>
                                        </p:tav>
                                        <p:tav tm="100000">
                                          <p:val>
                                            <p:strVal val="#ppt_h"/>
                                          </p:val>
                                        </p:tav>
                                      </p:tavLst>
                                    </p:anim>
                                    <p:animEffect transition="in" filter="fade">
                                      <p:cBhvr>
                                        <p:cTn id="49" dur="450"/>
                                        <p:tgtEl>
                                          <p:spTgt spid="10"/>
                                        </p:tgtEl>
                                      </p:cBhvr>
                                    </p:animEffect>
                                  </p:childTnLst>
                                </p:cTn>
                              </p:par>
                            </p:childTnLst>
                          </p:cTn>
                        </p:par>
                      </p:childTnLst>
                    </p:cTn>
                  </p:par>
                  <p:par>
                    <p:cTn id="58" fill="hold">
                      <p:stCondLst>
                        <p:cond delay="indefinite"/>
                      </p:stCondLst>
                      <p:childTnLst>
                        <p:par>
                          <p:cTn id="59" fill="hold">
                            <p:stCondLst>
                              <p:cond delay="0"/>
                            </p:stCondLst>
                            <p:childTnLst>
                              <p:par>
                                <p:cTn id="57" presetID="53" presetClass="entr" presetSubtype="16"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 calcmode="lin" valueType="num">
                                      <p:cBhvr additive="base">
                                        <p:cTn id="54" dur="450" fill="hold"/>
                                        <p:tgtEl>
                                          <p:spTgt spid="11"/>
                                        </p:tgtEl>
                                        <p:attrNameLst>
                                          <p:attrName>ppt_w</p:attrName>
                                        </p:attrNameLst>
                                      </p:cBhvr>
                                      <p:tavLst>
                                        <p:tav tm="0">
                                          <p:val>
                                            <p:fltVal val="0"/>
                                          </p:val>
                                        </p:tav>
                                        <p:tav tm="100000">
                                          <p:val>
                                            <p:strVal val="#ppt_w"/>
                                          </p:val>
                                        </p:tav>
                                      </p:tavLst>
                                    </p:anim>
                                    <p:anim calcmode="lin" valueType="num">
                                      <p:cBhvr additive="base">
                                        <p:cTn id="55" dur="450" fill="hold"/>
                                        <p:tgtEl>
                                          <p:spTgt spid="11"/>
                                        </p:tgtEl>
                                        <p:attrNameLst>
                                          <p:attrName>ppt_h</p:attrName>
                                        </p:attrNameLst>
                                      </p:cBhvr>
                                      <p:tavLst>
                                        <p:tav tm="0">
                                          <p:val>
                                            <p:fltVal val="0"/>
                                          </p:val>
                                        </p:tav>
                                        <p:tav tm="100000">
                                          <p:val>
                                            <p:strVal val="#ppt_h"/>
                                          </p:val>
                                        </p:tav>
                                      </p:tavLst>
                                    </p:anim>
                                    <p:animEffect transition="in" filter="fade">
                                      <p:cBhvr>
                                        <p:cTn id="56" dur="450"/>
                                        <p:tgtEl>
                                          <p:spTgt spid="11"/>
                                        </p:tgtEl>
                                      </p:cBhvr>
                                    </p:animEffect>
                                  </p:childTnLst>
                                </p:cTn>
                              </p:par>
                            </p:childTnLst>
                          </p:cTn>
                        </p:par>
                      </p:childTnLst>
                    </p:cTn>
                  </p:par>
                  <p:par>
                    <p:cTn id="65" fill="hold">
                      <p:stCondLst>
                        <p:cond delay="indefinite"/>
                      </p:stCondLst>
                      <p:childTnLst>
                        <p:par>
                          <p:cTn id="66"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p:tgtEl>
                                          <p:spTgt spid="14"/>
                                        </p:tgtEl>
                                        <p:attrNameLst>
                                          <p:attrName>ppt_w</p:attrName>
                                        </p:attrNameLst>
                                      </p:cBhvr>
                                      <p:tavLst>
                                        <p:tav tm="0">
                                          <p:val>
                                            <p:fltVal val="0"/>
                                          </p:val>
                                        </p:tav>
                                        <p:tav tm="100000">
                                          <p:val>
                                            <p:strVal val="#ppt_w"/>
                                          </p:val>
                                        </p:tav>
                                      </p:tavLst>
                                    </p:anim>
                                    <p:anim calcmode="lin" valueType="num">
                                      <p:cBhvr additive="base">
                                        <p:cTn id="62" dur="500" fill="hold"/>
                                        <p:tgtEl>
                                          <p:spTgt spid="14"/>
                                        </p:tgtEl>
                                        <p:attrNameLst>
                                          <p:attrName>ppt_h</p:attrName>
                                        </p:attrNameLst>
                                      </p:cBhvr>
                                      <p:tavLst>
                                        <p:tav tm="0">
                                          <p:val>
                                            <p:fltVal val="0"/>
                                          </p:val>
                                        </p:tav>
                                        <p:tav tm="100000">
                                          <p:val>
                                            <p:strVal val="#ppt_h"/>
                                          </p:val>
                                        </p:tav>
                                      </p:tavLst>
                                    </p:anim>
                                    <p:animEffect transition="in" filter="fade">
                                      <p:cBhvr>
                                        <p:cTn id="6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2" grpId="0" animBg="1"/>
      <p:bldP spid="10" grpId="0" animBg="1"/>
      <p:bldP spid="11" grpId="0" animBg="1"/>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A07 · Authentication Failures: the fix</a:t>
            </a:r>
            <a:endParaRPr lang="en-US" sz="3000" dirty="0"/>
          </a:p>
        </p:txBody>
      </p:sp>
      <p:pic>
        <p:nvPicPr>
          <p:cNvPr id="4" name="Mascot" descr="Mascot cartoon">    </p:cNvPr>
          <p:cNvPicPr>
            <a:picLocks noChangeAspect="1"/>
          </p:cNvPicPr>
          <p:nvPr/>
        </p:nvPicPr>
        <p:blipFill>
          <a:blip r:embed="rId1"/>
          <a:stretch>
            <a:fillRect/>
          </a:stretch>
        </p:blipFill>
        <p:spPr>
          <a:xfrm>
            <a:off x="640080" y="1097280"/>
            <a:ext cx="1737360" cy="1737360"/>
          </a:xfrm>
          <a:prstGeom prst="rect">
            <a:avLst/>
          </a:prstGeom>
        </p:spPr>
      </p:pic>
      <p:sp>
        <p:nvSpPr>
          <p:cNvPr id="5" name="Stop sign"/>
          <p:cNvSpPr txBox="1"/>
          <p:nvPr/>
        </p:nvSpPr>
        <p:spPr>
          <a:xfrm>
            <a:off x="2377440" y="3063240"/>
            <a:ext cx="777240" cy="777240"/>
          </a:xfrm>
          <a:prstGeom prst="octagon">
            <a:avLst/>
          </a:prstGeom>
          <a:solidFill>
            <a:schemeClr val="accent2"/>
          </a:solidFill>
          <a:ln/>
        </p:spPr>
        <p:txBody>
          <a:bodyPr wrap="square" lIns="0" tIns="0" rIns="0" bIns="0" rtlCol="0" anchor="ctr"/>
          <a:lstStyle/>
          <a:p>
            <a:pPr algn="ctr" indent="0" marL="0">
              <a:buNone/>
            </a:pPr>
            <a:r>
              <a:rPr lang="en-US" sz="1300" b="1" dirty="0">
                <a:solidFill>
                  <a:srgbClr val="FFFFFF"/>
                </a:solidFill>
              </a:rPr>
              <a:t>STOP</a:t>
            </a:r>
            <a:endParaRPr lang="en-US" sz="1300" dirty="0"/>
          </a:p>
        </p:txBody>
      </p:sp>
      <p:pic>
        <p:nvPicPr>
          <p:cNvPr id="6" name="Hacker" descr="Hacker cartoon">    </p:cNvPr>
          <p:cNvPicPr>
            <a:picLocks noChangeAspect="1"/>
          </p:cNvPicPr>
          <p:nvPr/>
        </p:nvPicPr>
        <p:blipFill>
          <a:blip r:embed="rId2"/>
          <a:stretch>
            <a:fillRect/>
          </a:stretch>
        </p:blipFill>
        <p:spPr>
          <a:xfrm>
            <a:off x="274320" y="2834640"/>
            <a:ext cx="1188720" cy="1188720"/>
          </a:xfrm>
          <a:prstGeom prst="rect">
            <a:avLst/>
          </a:prstGeom>
        </p:spPr>
      </p:pic>
      <p:sp>
        <p:nvSpPr>
          <p:cNvPr id="7" name="Rule 0"/>
          <p:cNvSpPr txBox="1"/>
          <p:nvPr/>
        </p:nvSpPr>
        <p:spPr>
          <a:xfrm>
            <a:off x="3383280" y="1143000"/>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One generic error</a:t>
            </a:r>
            <a:endParaRPr lang="en-US" sz="1400" dirty="0"/>
          </a:p>
          <a:p>
            <a:pPr algn="l" indent="0" marL="0">
              <a:buNone/>
            </a:pPr>
            <a:r>
              <a:rPr lang="en-US" sz="1200" dirty="0">
                <a:solidFill>
                  <a:schemeClr val="tx1"/>
                </a:solidFill>
              </a:rPr>
              <a:t>'Invalid username or password' plus lockout, throttling and an alert.</a:t>
            </a:r>
            <a:endParaRPr lang="en-US" sz="1400" dirty="0"/>
          </a:p>
        </p:txBody>
      </p:sp>
      <p:sp>
        <p:nvSpPr>
          <p:cNvPr id="8" name="Rule num 0"/>
          <p:cNvSpPr txBox="1"/>
          <p:nvPr/>
        </p:nvSpPr>
        <p:spPr>
          <a:xfrm>
            <a:off x="3493008" y="1271016"/>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Rule 1"/>
          <p:cNvSpPr txBox="1"/>
          <p:nvPr/>
        </p:nvSpPr>
        <p:spPr>
          <a:xfrm>
            <a:off x="3383280" y="1892808"/>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Validate every JWT</a:t>
            </a:r>
            <a:endParaRPr lang="en-US" sz="1400" dirty="0"/>
          </a:p>
          <a:p>
            <a:pPr algn="l" indent="0" marL="0">
              <a:buNone/>
            </a:pPr>
            <a:r>
              <a:rPr lang="en-US" sz="1200" dirty="0">
                <a:solidFill>
                  <a:schemeClr val="tx1"/>
                </a:solidFill>
              </a:rPr>
              <a:t>Signature, issuer, audience, lifetime. Short access tokens, rotated refresh tokens.</a:t>
            </a:r>
            <a:endParaRPr lang="en-US" sz="1400" dirty="0"/>
          </a:p>
        </p:txBody>
      </p:sp>
      <p:sp>
        <p:nvSpPr>
          <p:cNvPr id="10" name="Rule num 1"/>
          <p:cNvSpPr txBox="1"/>
          <p:nvPr/>
        </p:nvSpPr>
        <p:spPr>
          <a:xfrm>
            <a:off x="3493008" y="2020824"/>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Rule 2"/>
          <p:cNvSpPr txBox="1"/>
          <p:nvPr/>
        </p:nvSpPr>
        <p:spPr>
          <a:xfrm>
            <a:off x="3383280" y="2642616"/>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Keep tokens away from scripts</a:t>
            </a:r>
            <a:endParaRPr lang="en-US" sz="1400" dirty="0"/>
          </a:p>
          <a:p>
            <a:pPr algn="l" indent="0" marL="0">
              <a:buNone/>
            </a:pPr>
            <a:r>
              <a:rPr lang="en-US" sz="1200" dirty="0">
                <a:solidFill>
                  <a:schemeClr val="tx1"/>
                </a:solidFill>
              </a:rPr>
              <a:t>HttpOnly, Secure, SameSite cookie. Not localStorage.</a:t>
            </a:r>
            <a:endParaRPr lang="en-US" sz="1400" dirty="0"/>
          </a:p>
        </p:txBody>
      </p:sp>
      <p:sp>
        <p:nvSpPr>
          <p:cNvPr id="12" name="Rule num 2"/>
          <p:cNvSpPr txBox="1"/>
          <p:nvPr/>
        </p:nvSpPr>
        <p:spPr>
          <a:xfrm>
            <a:off x="3493008" y="2770632"/>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Chip NG"/>
          <p:cNvSpPr txBox="1"/>
          <p:nvPr/>
        </p:nvSpPr>
        <p:spPr>
          <a:xfrm>
            <a:off x="3383280" y="3429000"/>
            <a:ext cx="2606040" cy="804672"/>
          </a:xfrm>
          <a:prstGeom prst="roundRect">
            <a:avLst>
              <a:gd name="adj" fmla="val 11364"/>
            </a:avLst>
          </a:prstGeom>
          <a:solidFill>
            <a:schemeClr val="accent5">
              <a:alpha val="12000"/>
            </a:schemeClr>
          </a:solidFill>
          <a:ln w="12700">
            <a:solidFill>
              <a:schemeClr val="accent5"/>
            </a:solidFill>
          </a:ln>
        </p:spPr>
        <p:txBody>
          <a:bodyPr wrap="square" lIns="127000" tIns="25400" rIns="101600" bIns="25400" rtlCol="0" anchor="ctr"/>
          <a:lstStyle/>
          <a:p>
            <a:pPr algn="l" indent="0" marL="0">
              <a:buNone/>
            </a:pPr>
            <a:r>
              <a:rPr lang="en-US" sz="1100" b="1" spc="200" kern="0" dirty="0">
                <a:solidFill>
                  <a:schemeClr val="accent5"/>
                </a:solidFill>
              </a:rPr>
              <a:t>IN ANGULAR</a:t>
            </a:r>
            <a:endParaRPr lang="en-US" sz="1100" dirty="0"/>
          </a:p>
          <a:p>
            <a:pPr algn="l" indent="0" marL="0">
              <a:buNone/>
            </a:pPr>
            <a:r>
              <a:rPr lang="en-US" sz="1200" dirty="0">
                <a:solidFill>
                  <a:schemeClr val="tx1"/>
                </a:solidFill>
              </a:rPr>
              <a:t>withCredentials: true and an interceptor. No token in storage.</a:t>
            </a:r>
            <a:endParaRPr lang="en-US" sz="1100" dirty="0"/>
          </a:p>
        </p:txBody>
      </p:sp>
      <p:sp>
        <p:nvSpPr>
          <p:cNvPr id="14" name="Chip NET"/>
          <p:cNvSpPr txBox="1"/>
          <p:nvPr/>
        </p:nvSpPr>
        <p:spPr>
          <a:xfrm>
            <a:off x="6080760" y="3429000"/>
            <a:ext cx="2606040" cy="804672"/>
          </a:xfrm>
          <a:prstGeom prst="roundRect">
            <a:avLst>
              <a:gd name="adj" fmla="val 11364"/>
            </a:avLst>
          </a:prstGeom>
          <a:solidFill>
            <a:schemeClr val="accent6">
              <a:alpha val="12000"/>
            </a:schemeClr>
          </a:solidFill>
          <a:ln w="12700">
            <a:solidFill>
              <a:schemeClr val="accent6"/>
            </a:solidFill>
          </a:ln>
        </p:spPr>
        <p:txBody>
          <a:bodyPr wrap="square" lIns="127000" tIns="25400" rIns="101600" bIns="25400" rtlCol="0" anchor="ctr"/>
          <a:lstStyle/>
          <a:p>
            <a:pPr algn="l" indent="0" marL="0">
              <a:buNone/>
            </a:pPr>
            <a:r>
              <a:rPr lang="en-US" sz="1100" b="1" spc="200" kern="0" dirty="0">
                <a:solidFill>
                  <a:schemeClr val="accent6"/>
                </a:solidFill>
              </a:rPr>
              <a:t>IN .NET CORE</a:t>
            </a:r>
            <a:endParaRPr lang="en-US" sz="1100" dirty="0"/>
          </a:p>
          <a:p>
            <a:pPr algn="l" indent="0" marL="0">
              <a:buNone/>
            </a:pPr>
            <a:r>
              <a:rPr lang="en-US" sz="1200" dirty="0">
                <a:solidFill>
                  <a:schemeClr val="tx1"/>
                </a:solidFill>
              </a:rPr>
              <a:t>Identity lockout. All TokenValidationParameters set to true.</a:t>
            </a:r>
            <a:endParaRPr lang="en-US" sz="1100" dirty="0"/>
          </a:p>
        </p:txBody>
      </p:sp>
      <p:sp>
        <p:nvSpPr>
          <p:cNvPr id="15" name="Takeaway"/>
          <p:cNvSpPr txBox="1"/>
          <p:nvPr/>
        </p:nvSpPr>
        <p:spPr>
          <a:xfrm>
            <a:off x="457200" y="4279392"/>
            <a:ext cx="4754880" cy="411480"/>
          </a:xfrm>
          <a:prstGeom prst="rect">
            <a:avLst/>
          </a:prstGeom>
          <a:noFill/>
          <a:ln/>
        </p:spPr>
        <p:txBody>
          <a:bodyPr wrap="square" lIns="0" tIns="0" rIns="0" bIns="0" rtlCol="0" anchor="ctr"/>
          <a:lstStyle/>
          <a:p>
            <a:pPr indent="0" marL="0">
              <a:buNone/>
            </a:pPr>
            <a:r>
              <a:rPr lang="en-US" sz="1600" b="1" dirty="0">
                <a:solidFill>
                  <a:schemeClr val="accent1"/>
                </a:solidFill>
              </a:rPr>
              <a:t>Assume tokens will be targeted.</a:t>
            </a:r>
            <a:endParaRPr lang="en-US" sz="16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cond evt="onBegin" delay="0">
                          <p:tn val="2"/>
                        </p:cond>
                      </p:stCondLst>
                      <p:childTnLst>
                        <p:par>
                          <p:cTn id="19"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5"/>
                                        </p:tgtEl>
                                        <p:attrNameLst>
                                          <p:attrName>style.visibility</p:attrName>
                                        </p:attrNameLst>
                                      </p:cBhvr>
                                      <p:to>
                                        <p:strVal val="visible"/>
                                      </p:to>
                                    </p:set>
                                    <p:anim calcmode="lin" valueType="num">
                                      <p:cBhvr additive="base">
                                        <p:cTn id="4" dur="400" fill="hold"/>
                                        <p:tgtEl>
                                          <p:spTgt spid="5"/>
                                        </p:tgtEl>
                                        <p:attrNameLst>
                                          <p:attrName>ppt_w</p:attrName>
                                        </p:attrNameLst>
                                      </p:cBhvr>
                                      <p:tavLst>
                                        <p:tav tm="0">
                                          <p:val>
                                            <p:fltVal val="0"/>
                                          </p:val>
                                        </p:tav>
                                        <p:tav tm="100000">
                                          <p:val>
                                            <p:strVal val="#ppt_w"/>
                                          </p:val>
                                        </p:tav>
                                      </p:tavLst>
                                    </p:anim>
                                    <p:anim calcmode="lin" valueType="num">
                                      <p:cBhvr additive="base">
                                        <p:cTn id="5" dur="400" fill="hold"/>
                                        <p:tgtEl>
                                          <p:spTgt spid="5"/>
                                        </p:tgtEl>
                                        <p:attrNameLst>
                                          <p:attrName>ppt_h</p:attrName>
                                        </p:attrNameLst>
                                      </p:cBhvr>
                                      <p:tavLst>
                                        <p:tav tm="0">
                                          <p:val>
                                            <p:fltVal val="0"/>
                                          </p:val>
                                        </p:tav>
                                        <p:tav tm="100000">
                                          <p:val>
                                            <p:strVal val="#ppt_h"/>
                                          </p:val>
                                        </p:tav>
                                      </p:tavLst>
                                    </p:anim>
                                    <p:animEffect transition="in" filter="fade">
                                      <p:cBhvr>
                                        <p:cTn id="6" dur="400"/>
                                        <p:tgtEl>
                                          <p:spTgt spid="5"/>
                                        </p:tgtEl>
                                      </p:cBhvr>
                                    </p:animEffect>
                                  </p:childTnLst>
                                </p:cTn>
                              </p:par>
                              <p:par>
                                <p:cTn id="10" presetID="10" presetClass="entr" presetSubtype="0" fill="hold" nodeType="withEffect">
                                  <p:stCondLst>
                                    <p:cond delay="20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300"/>
                                        <p:tgtEl>
                                          <p:spTgt spid="6"/>
                                        </p:tgtEl>
                                      </p:cBhvr>
                                    </p:animEffect>
                                  </p:childTnLst>
                                </p:cTn>
                              </p:par>
                              <p:par>
                                <p:cTn id="12" presetID="0" presetClass="path" presetSubtype="0" fill="hold" nodeType="withEffect">
                                  <p:stCondLst>
                                    <p:cond delay="600"/>
                                  </p:stCondLst>
                                  <p:childTnLst>
                                    <p:animMotion origin="layout" path="M 0 0 L 0.1 0 E" pathEditMode="relative">
                                      <p:cBhvr>
                                        <p:cTn id="11" dur="2400" fill="hold"/>
                                        <p:tgtEl>
                                          <p:spTgt spid="6"/>
                                        </p:tgtEl>
                                        <p:attrNameLst>
                                          <p:attrName>ppt_x</p:attrName>
                                          <p:attrName>ppt_y</p:attrName>
                                        </p:attrNameLst>
                                      </p:cBhvr>
                                      <p:rCtr x="0.05" y="0"/>
                                    </p:animMotion>
                                  </p:childTnLst>
                                </p:cTn>
                              </p:par>
                              <p:par>
                                <p:cTn id="17" presetID="53" presetClass="entr" presetSubtype="16" fill="hold" nodeType="withEffect">
                                  <p:stCondLst>
                                    <p:cond delay="300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ppt_w</p:attrName>
                                        </p:attrNameLst>
                                      </p:cBhvr>
                                      <p:tavLst>
                                        <p:tav tm="0">
                                          <p:val>
                                            <p:fltVal val="0"/>
                                          </p:val>
                                        </p:tav>
                                        <p:tav tm="100000">
                                          <p:val>
                                            <p:strVal val="#ppt_w"/>
                                          </p:val>
                                        </p:tav>
                                      </p:tavLst>
                                    </p:anim>
                                    <p:anim calcmode="lin" valueType="num">
                                      <p:cBhvr additive="base">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23" presetID="2" presetClass="entr" presetSubtype="2"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450" fill="hold"/>
                                        <p:tgtEl>
                                          <p:spTgt spid="7"/>
                                        </p:tgtEl>
                                        <p:attrNameLst>
                                          <p:attrName>ppt_x</p:attrName>
                                        </p:attrNameLst>
                                      </p:cBhvr>
                                      <p:tavLst>
                                        <p:tav tm="0">
                                          <p:val>
                                            <p:strVal val="1+#ppt_w/2"/>
                                          </p:val>
                                        </p:tav>
                                        <p:tav tm="100000">
                                          <p:val>
                                            <p:strVal val="#ppt_x"/>
                                          </p:val>
                                        </p:tav>
                                      </p:tavLst>
                                    </p:anim>
                                    <p:anim calcmode="lin" valueType="num">
                                      <p:cBhvr additive="base">
                                        <p:cTn id="22" dur="450" fill="hold"/>
                                        <p:tgtEl>
                                          <p:spTgt spid="7"/>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450" fill="hold"/>
                                        <p:tgtEl>
                                          <p:spTgt spid="8"/>
                                        </p:tgtEl>
                                        <p:attrNameLst>
                                          <p:attrName>ppt_x</p:attrName>
                                        </p:attrNameLst>
                                      </p:cBhvr>
                                      <p:tavLst>
                                        <p:tav tm="0">
                                          <p:val>
                                            <p:strVal val="1+#ppt_w/2"/>
                                          </p:val>
                                        </p:tav>
                                        <p:tav tm="100000">
                                          <p:val>
                                            <p:strVal val="#ppt_x"/>
                                          </p:val>
                                        </p:tav>
                                      </p:tavLst>
                                    </p:anim>
                                    <p:anim calcmode="lin" valueType="num">
                                      <p:cBhvr additive="base">
                                        <p:cTn id="26" dur="45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33" presetID="2" presetClass="entr" presetSubtype="2"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450" fill="hold"/>
                                        <p:tgtEl>
                                          <p:spTgt spid="9"/>
                                        </p:tgtEl>
                                        <p:attrNameLst>
                                          <p:attrName>ppt_x</p:attrName>
                                        </p:attrNameLst>
                                      </p:cBhvr>
                                      <p:tavLst>
                                        <p:tav tm="0">
                                          <p:val>
                                            <p:strVal val="1+#ppt_w/2"/>
                                          </p:val>
                                        </p:tav>
                                        <p:tav tm="100000">
                                          <p:val>
                                            <p:strVal val="#ppt_x"/>
                                          </p:val>
                                        </p:tav>
                                      </p:tavLst>
                                    </p:anim>
                                    <p:anim calcmode="lin" valueType="num">
                                      <p:cBhvr additive="base">
                                        <p:cTn id="32" dur="450" fill="hold"/>
                                        <p:tgtEl>
                                          <p:spTgt spid="9"/>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450" fill="hold"/>
                                        <p:tgtEl>
                                          <p:spTgt spid="10"/>
                                        </p:tgtEl>
                                        <p:attrNameLst>
                                          <p:attrName>ppt_x</p:attrName>
                                        </p:attrNameLst>
                                      </p:cBhvr>
                                      <p:tavLst>
                                        <p:tav tm="0">
                                          <p:val>
                                            <p:strVal val="1+#ppt_w/2"/>
                                          </p:val>
                                        </p:tav>
                                        <p:tav tm="100000">
                                          <p:val>
                                            <p:strVal val="#ppt_x"/>
                                          </p:val>
                                        </p:tav>
                                      </p:tavLst>
                                    </p:anim>
                                    <p:anim calcmode="lin" valueType="num">
                                      <p:cBhvr additive="base">
                                        <p:cTn id="36" dur="45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3" presetID="2" presetClass="entr" presetSubtype="2"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450" fill="hold"/>
                                        <p:tgtEl>
                                          <p:spTgt spid="11"/>
                                        </p:tgtEl>
                                        <p:attrNameLst>
                                          <p:attrName>ppt_x</p:attrName>
                                        </p:attrNameLst>
                                      </p:cBhvr>
                                      <p:tavLst>
                                        <p:tav tm="0">
                                          <p:val>
                                            <p:strVal val="1+#ppt_w/2"/>
                                          </p:val>
                                        </p:tav>
                                        <p:tav tm="100000">
                                          <p:val>
                                            <p:strVal val="#ppt_x"/>
                                          </p:val>
                                        </p:tav>
                                      </p:tavLst>
                                    </p:anim>
                                    <p:anim calcmode="lin" valueType="num">
                                      <p:cBhvr additive="base">
                                        <p:cTn id="42" dur="450" fill="hold"/>
                                        <p:tgtEl>
                                          <p:spTgt spid="11"/>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450" fill="hold"/>
                                        <p:tgtEl>
                                          <p:spTgt spid="12"/>
                                        </p:tgtEl>
                                        <p:attrNameLst>
                                          <p:attrName>ppt_x</p:attrName>
                                        </p:attrNameLst>
                                      </p:cBhvr>
                                      <p:tavLst>
                                        <p:tav tm="0">
                                          <p:val>
                                            <p:strVal val="1+#ppt_w/2"/>
                                          </p:val>
                                        </p:tav>
                                        <p:tav tm="100000">
                                          <p:val>
                                            <p:strVal val="#ppt_x"/>
                                          </p:val>
                                        </p:tav>
                                      </p:tavLst>
                                    </p:anim>
                                    <p:anim calcmode="lin" valueType="num">
                                      <p:cBhvr additive="base">
                                        <p:cTn id="46" dur="45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53" presetID="2" presetClass="entr" presetSubtype="4"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450" fill="hold"/>
                                        <p:tgtEl>
                                          <p:spTgt spid="13"/>
                                        </p:tgtEl>
                                        <p:attrNameLst>
                                          <p:attrName>ppt_x</p:attrName>
                                        </p:attrNameLst>
                                      </p:cBhvr>
                                      <p:tavLst>
                                        <p:tav tm="0">
                                          <p:val>
                                            <p:strVal val="#ppt_x"/>
                                          </p:val>
                                        </p:tav>
                                        <p:tav tm="100000">
                                          <p:val>
                                            <p:strVal val="#ppt_x"/>
                                          </p:val>
                                        </p:tav>
                                      </p:tavLst>
                                    </p:anim>
                                    <p:anim calcmode="lin" valueType="num">
                                      <p:cBhvr additive="base">
                                        <p:cTn id="52" dur="450" fill="hold"/>
                                        <p:tgtEl>
                                          <p:spTgt spid="13"/>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15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450" fill="hold"/>
                                        <p:tgtEl>
                                          <p:spTgt spid="14"/>
                                        </p:tgtEl>
                                        <p:attrNameLst>
                                          <p:attrName>ppt_x</p:attrName>
                                        </p:attrNameLst>
                                      </p:cBhvr>
                                      <p:tavLst>
                                        <p:tav tm="0">
                                          <p:val>
                                            <p:strVal val="#ppt_x"/>
                                          </p:val>
                                        </p:tav>
                                        <p:tav tm="100000">
                                          <p:val>
                                            <p:strVal val="#ppt_x"/>
                                          </p:val>
                                        </p:tav>
                                      </p:tavLst>
                                    </p:anim>
                                    <p:anim calcmode="lin" valueType="num">
                                      <p:cBhvr additive="base">
                                        <p:cTn id="56"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450" fill="hold"/>
                                        <p:tgtEl>
                                          <p:spTgt spid="15"/>
                                        </p:tgtEl>
                                        <p:attrNameLst>
                                          <p:attrName>ppt_w</p:attrName>
                                        </p:attrNameLst>
                                      </p:cBhvr>
                                      <p:tavLst>
                                        <p:tav tm="0">
                                          <p:val>
                                            <p:fltVal val="0"/>
                                          </p:val>
                                        </p:tav>
                                        <p:tav tm="100000">
                                          <p:val>
                                            <p:strVal val="#ppt_w"/>
                                          </p:val>
                                        </p:tav>
                                      </p:tavLst>
                                    </p:anim>
                                    <p:anim calcmode="lin" valueType="num">
                                      <p:cBhvr additive="base">
                                        <p:cTn id="62" dur="450" fill="hold"/>
                                        <p:tgtEl>
                                          <p:spTgt spid="15"/>
                                        </p:tgtEl>
                                        <p:attrNameLst>
                                          <p:attrName>ppt_h</p:attrName>
                                        </p:attrNameLst>
                                      </p:cBhvr>
                                      <p:tavLst>
                                        <p:tav tm="0">
                                          <p:val>
                                            <p:fltVal val="0"/>
                                          </p:val>
                                        </p:tav>
                                        <p:tav tm="100000">
                                          <p:val>
                                            <p:strVal val="#ppt_h"/>
                                          </p:val>
                                        </p:tav>
                                      </p:tavLst>
                                    </p:anim>
                                    <p:animEffect transition="in" filter="fade">
                                      <p:cBhvr>
                                        <p:cTn id="63"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A08 · Software and Data Integrity: the story</a:t>
            </a:r>
            <a:endParaRPr lang="en-US" sz="3000" dirty="0"/>
          </a:p>
        </p:txBody>
      </p:sp>
      <p:sp>
        <p:nvSpPr>
          <p:cNvPr id="4" name="Station 0"/>
          <p:cNvSpPr txBox="1"/>
          <p:nvPr/>
        </p:nvSpPr>
        <p:spPr>
          <a:xfrm>
            <a:off x="2926080" y="2880360"/>
            <a:ext cx="1737360" cy="868680"/>
          </a:xfrm>
          <a:prstGeom prst="roundRect">
            <a:avLst>
              <a:gd name="adj" fmla="val 12632"/>
            </a:avLst>
          </a:prstGeom>
          <a:solidFill>
            <a:schemeClr val="bg2"/>
          </a:solidFill>
          <a:ln w="15875">
            <a:solidFill>
              <a:schemeClr val="accent5"/>
            </a:solidFill>
          </a:ln>
        </p:spPr>
        <p:txBody>
          <a:bodyPr wrap="square" lIns="50800" tIns="50800" rIns="50800" bIns="50800" rtlCol="0" anchor="ctr"/>
          <a:lstStyle/>
          <a:p>
            <a:pPr algn="ctr" indent="0" marL="0">
              <a:buNone/>
            </a:pPr>
            <a:r>
              <a:rPr lang="en-US" sz="1500" b="1" dirty="0">
                <a:solidFill>
                  <a:schemeClr val="accent5"/>
                </a:solidFill>
              </a:rPr>
              <a:t>Angular page</a:t>
            </a:r>
            <a:endParaRPr lang="en-US" sz="1500" dirty="0"/>
          </a:p>
          <a:p>
            <a:pPr algn="ctr" indent="0" marL="0">
              <a:buNone/>
            </a:pPr>
            <a:r>
              <a:rPr lang="en-US" sz="1200" dirty="0">
                <a:solidFill>
                  <a:schemeClr val="tx2"/>
                </a:solidFill>
              </a:rPr>
              <a:t>CDN script tag</a:t>
            </a:r>
            <a:endParaRPr lang="en-US" sz="1500" dirty="0"/>
          </a:p>
        </p:txBody>
      </p:sp>
      <p:sp>
        <p:nvSpPr>
          <p:cNvPr id="5" name="Station 1"/>
          <p:cNvSpPr txBox="1"/>
          <p:nvPr/>
        </p:nvSpPr>
        <p:spPr>
          <a:xfrm>
            <a:off x="4846320" y="2880360"/>
            <a:ext cx="1737360" cy="868680"/>
          </a:xfrm>
          <a:prstGeom prst="roundRect">
            <a:avLst>
              <a:gd name="adj" fmla="val 12632"/>
            </a:avLst>
          </a:prstGeom>
          <a:solidFill>
            <a:schemeClr val="bg2"/>
          </a:solidFill>
          <a:ln w="15875">
            <a:solidFill>
              <a:schemeClr val="accent1"/>
            </a:solidFill>
          </a:ln>
        </p:spPr>
        <p:txBody>
          <a:bodyPr wrap="square" lIns="50800" tIns="50800" rIns="50800" bIns="50800" rtlCol="0" anchor="ctr"/>
          <a:lstStyle/>
          <a:p>
            <a:pPr algn="ctr" indent="0" marL="0">
              <a:buNone/>
            </a:pPr>
            <a:r>
              <a:rPr lang="en-US" sz="1500" b="1" dirty="0">
                <a:solidFill>
                  <a:schemeClr val="accent1"/>
                </a:solidFill>
              </a:rPr>
              <a:t>Update service</a:t>
            </a:r>
            <a:endParaRPr lang="en-US" sz="1500" dirty="0"/>
          </a:p>
          <a:p>
            <a:pPr algn="ctr" indent="0" marL="0">
              <a:buNone/>
            </a:pPr>
            <a:r>
              <a:rPr lang="en-US" sz="1200" dirty="0">
                <a:solidFill>
                  <a:schemeClr val="tx2"/>
                </a:solidFill>
              </a:rPr>
              <a:t>downloads packages</a:t>
            </a:r>
            <a:endParaRPr lang="en-US" sz="1500" dirty="0"/>
          </a:p>
        </p:txBody>
      </p:sp>
      <p:sp>
        <p:nvSpPr>
          <p:cNvPr id="6" name="Station 2"/>
          <p:cNvSpPr txBox="1"/>
          <p:nvPr/>
        </p:nvSpPr>
        <p:spPr>
          <a:xfrm>
            <a:off x="6766560" y="2880360"/>
            <a:ext cx="1737360" cy="868680"/>
          </a:xfrm>
          <a:prstGeom prst="roundRect">
            <a:avLst>
              <a:gd name="adj" fmla="val 12632"/>
            </a:avLst>
          </a:prstGeom>
          <a:solidFill>
            <a:schemeClr val="bg2"/>
          </a:solidFill>
          <a:ln w="15875">
            <a:solidFill>
              <a:schemeClr val="accent4"/>
            </a:solidFill>
          </a:ln>
        </p:spPr>
        <p:txBody>
          <a:bodyPr wrap="square" lIns="50800" tIns="50800" rIns="50800" bIns="50800" rtlCol="0" anchor="ctr"/>
          <a:lstStyle/>
          <a:p>
            <a:pPr algn="ctr" indent="0" marL="0">
              <a:buNone/>
            </a:pPr>
            <a:r>
              <a:rPr lang="en-US" sz="1500" b="1" dirty="0">
                <a:solidFill>
                  <a:schemeClr val="accent4"/>
                </a:solidFill>
              </a:rPr>
              <a:t>.NET server</a:t>
            </a:r>
            <a:endParaRPr lang="en-US" sz="1500" dirty="0"/>
          </a:p>
          <a:p>
            <a:pPr algn="ctr" indent="0" marL="0">
              <a:buNone/>
            </a:pPr>
            <a:r>
              <a:rPr lang="en-US" sz="1200" dirty="0">
                <a:solidFill>
                  <a:schemeClr val="tx2"/>
                </a:solidFill>
              </a:rPr>
              <a:t>deserializes JSON</a:t>
            </a:r>
            <a:endParaRPr lang="en-US" sz="1500" dirty="0"/>
          </a:p>
        </p:txBody>
      </p:sp>
      <p:pic>
        <p:nvPicPr>
          <p:cNvPr id="7" name="Hacker" descr="Hacker cartoon">    </p:cNvPr>
          <p:cNvPicPr>
            <a:picLocks noChangeAspect="1"/>
          </p:cNvPicPr>
          <p:nvPr/>
        </p:nvPicPr>
        <p:blipFill>
          <a:blip r:embed="rId1"/>
          <a:stretch>
            <a:fillRect/>
          </a:stretch>
        </p:blipFill>
        <p:spPr>
          <a:xfrm>
            <a:off x="365760" y="2606040"/>
            <a:ext cx="1188720" cy="1188720"/>
          </a:xfrm>
          <a:prstGeom prst="rect">
            <a:avLst/>
          </a:prstGeom>
        </p:spPr>
      </p:pic>
      <p:sp>
        <p:nvSpPr>
          <p:cNvPr id="8" name="Bubble 0"/>
          <p:cNvSpPr txBox="1"/>
          <p:nvPr/>
        </p:nvSpPr>
        <p:spPr>
          <a:xfrm>
            <a:off x="457200" y="1097280"/>
            <a:ext cx="1920240" cy="1097280"/>
          </a:xfrm>
          <a:prstGeom prst="roundRect">
            <a:avLst>
              <a:gd name="adj" fmla="val 11667"/>
            </a:avLst>
          </a:prstGeom>
          <a:solidFill>
            <a:schemeClr val="bg2"/>
          </a:solidFill>
          <a:ln w="19050">
            <a:solidFill>
              <a:schemeClr val="accent6"/>
            </a:solidFill>
          </a:ln>
        </p:spPr>
        <p:txBody>
          <a:bodyPr wrap="square" lIns="114300" tIns="63500" rIns="101600" bIns="50800" rtlCol="0" anchor="t"/>
          <a:lstStyle/>
          <a:p>
            <a:pPr algn="l" indent="0" marL="0">
              <a:buNone/>
            </a:pPr>
            <a:r>
              <a:rPr lang="en-US" sz="1100" b="1" spc="200" kern="0" dirty="0">
                <a:solidFill>
                  <a:schemeClr val="accent6"/>
                </a:solidFill>
              </a:rPr>
              <a:t>HACKER</a:t>
            </a:r>
            <a:endParaRPr lang="en-US" sz="1100" dirty="0"/>
          </a:p>
          <a:p>
            <a:pPr algn="l" indent="0" marL="0">
              <a:buNone/>
            </a:pPr>
            <a:r>
              <a:rPr lang="en-US" sz="1300" dirty="0">
                <a:solidFill>
                  <a:schemeClr val="tx1"/>
                </a:solidFill>
              </a:rPr>
              <a:t>I modify the update package on the shared drive.</a:t>
            </a:r>
            <a:endParaRPr lang="en-US" sz="1100" dirty="0"/>
          </a:p>
        </p:txBody>
      </p:sp>
      <p:sp>
        <p:nvSpPr>
          <p:cNvPr id="9" name="Bubble 1"/>
          <p:cNvSpPr txBox="1"/>
          <p:nvPr/>
        </p:nvSpPr>
        <p:spPr>
          <a:xfrm>
            <a:off x="2560320" y="1097280"/>
            <a:ext cx="1920240" cy="1097280"/>
          </a:xfrm>
          <a:prstGeom prst="roundRect">
            <a:avLst>
              <a:gd name="adj" fmla="val 11667"/>
            </a:avLst>
          </a:prstGeom>
          <a:solidFill>
            <a:schemeClr val="bg2"/>
          </a:solidFill>
          <a:ln w="19050">
            <a:solidFill>
              <a:schemeClr val="accent1"/>
            </a:solidFill>
          </a:ln>
        </p:spPr>
        <p:txBody>
          <a:bodyPr wrap="square" lIns="114300" tIns="63500" rIns="101600" bIns="50800" rtlCol="0" anchor="t"/>
          <a:lstStyle/>
          <a:p>
            <a:pPr algn="l" indent="0" marL="0">
              <a:buNone/>
            </a:pPr>
            <a:r>
              <a:rPr lang="en-US" sz="1100" b="1" spc="200" kern="0" dirty="0">
                <a:solidFill>
                  <a:schemeClr val="accent1"/>
                </a:solidFill>
              </a:rPr>
              <a:t>UPDATER</a:t>
            </a:r>
            <a:endParaRPr lang="en-US" sz="1100" dirty="0"/>
          </a:p>
          <a:p>
            <a:pPr algn="l" indent="0" marL="0">
              <a:buNone/>
            </a:pPr>
            <a:r>
              <a:rPr lang="en-US" sz="1300" dirty="0">
                <a:solidFill>
                  <a:schemeClr val="tx1"/>
                </a:solidFill>
              </a:rPr>
              <a:t>No signature check. Installing the update now!</a:t>
            </a:r>
            <a:endParaRPr lang="en-US" sz="1100" dirty="0"/>
          </a:p>
        </p:txBody>
      </p:sp>
      <p:sp>
        <p:nvSpPr>
          <p:cNvPr id="10" name="Bubble 2"/>
          <p:cNvSpPr txBox="1"/>
          <p:nvPr/>
        </p:nvSpPr>
        <p:spPr>
          <a:xfrm>
            <a:off x="4663440" y="1097280"/>
            <a:ext cx="1920240" cy="1097280"/>
          </a:xfrm>
          <a:prstGeom prst="roundRect">
            <a:avLst>
              <a:gd name="adj" fmla="val 11667"/>
            </a:avLst>
          </a:prstGeom>
          <a:solidFill>
            <a:schemeClr val="bg2"/>
          </a:solidFill>
          <a:ln w="19050">
            <a:solidFill>
              <a:schemeClr val="accent6"/>
            </a:solidFill>
          </a:ln>
        </p:spPr>
        <p:txBody>
          <a:bodyPr wrap="square" lIns="114300" tIns="63500" rIns="101600" bIns="50800" rtlCol="0" anchor="t"/>
          <a:lstStyle/>
          <a:p>
            <a:pPr algn="l" indent="0" marL="0">
              <a:buNone/>
            </a:pPr>
            <a:r>
              <a:rPr lang="en-US" sz="1100" b="1" spc="200" kern="0" dirty="0">
                <a:solidFill>
                  <a:schemeClr val="accent6"/>
                </a:solidFill>
              </a:rPr>
              <a:t>HACKER</a:t>
            </a:r>
            <a:endParaRPr lang="en-US" sz="1100" dirty="0"/>
          </a:p>
          <a:p>
            <a:pPr algn="l" indent="0" marL="0">
              <a:buNone/>
            </a:pPr>
            <a:r>
              <a:rPr lang="en-US" sz="1300" dirty="0">
                <a:solidFill>
                  <a:schemeClr val="tx1"/>
                </a:solidFill>
              </a:rPr>
              <a:t>My JSON says $type: a class that runs a command.</a:t>
            </a:r>
            <a:endParaRPr lang="en-US" sz="1100" dirty="0"/>
          </a:p>
        </p:txBody>
      </p:sp>
      <p:sp>
        <p:nvSpPr>
          <p:cNvPr id="11" name="Bubble 3"/>
          <p:cNvSpPr txBox="1"/>
          <p:nvPr/>
        </p:nvSpPr>
        <p:spPr>
          <a:xfrm>
            <a:off x="6766560" y="1097280"/>
            <a:ext cx="1920240" cy="1097280"/>
          </a:xfrm>
          <a:prstGeom prst="roundRect">
            <a:avLst>
              <a:gd name="adj" fmla="val 11667"/>
            </a:avLst>
          </a:prstGeom>
          <a:solidFill>
            <a:schemeClr val="bg2"/>
          </a:solidFill>
          <a:ln w="19050">
            <a:solidFill>
              <a:schemeClr val="accent2"/>
            </a:solidFill>
          </a:ln>
        </p:spPr>
        <p:txBody>
          <a:bodyPr wrap="square" lIns="114300" tIns="63500" rIns="101600" bIns="50800" rtlCol="0" anchor="t"/>
          <a:lstStyle/>
          <a:p>
            <a:pPr algn="l" indent="0" marL="0">
              <a:buNone/>
            </a:pPr>
            <a:r>
              <a:rPr lang="en-US" sz="1100" b="1" spc="200" kern="0" dirty="0">
                <a:solidFill>
                  <a:schemeClr val="accent2"/>
                </a:solidFill>
              </a:rPr>
              <a:t>RESULT</a:t>
            </a:r>
            <a:endParaRPr lang="en-US" sz="1100" dirty="0"/>
          </a:p>
          <a:p>
            <a:pPr algn="l" indent="0" marL="0">
              <a:buNone/>
            </a:pPr>
            <a:r>
              <a:rPr lang="en-US" sz="1300" dirty="0">
                <a:solidFill>
                  <a:schemeClr val="tx1"/>
                </a:solidFill>
              </a:rPr>
              <a:t>Code runs on the server, started by data that looked trusted.</a:t>
            </a:r>
            <a:endParaRPr lang="en-US" sz="1100" dirty="0"/>
          </a:p>
        </p:txBody>
      </p:sp>
      <p:sp>
        <p:nvSpPr>
          <p:cNvPr id="12" name="Damage"/>
          <p:cNvSpPr txBox="1"/>
          <p:nvPr/>
        </p:nvSpPr>
        <p:spPr>
          <a:xfrm>
            <a:off x="6217920" y="2697480"/>
            <a:ext cx="384048" cy="384048"/>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pic>
        <p:nvPicPr>
          <p:cNvPr id="13" name="Bug" descr="Bug cartoon">    </p:cNvPr>
          <p:cNvPicPr>
            <a:picLocks noChangeAspect="1"/>
          </p:cNvPicPr>
          <p:nvPr/>
        </p:nvPicPr>
        <p:blipFill>
          <a:blip r:embed="rId2"/>
          <a:stretch>
            <a:fillRect/>
          </a:stretch>
        </p:blipFill>
        <p:spPr>
          <a:xfrm>
            <a:off x="5029200" y="2103120"/>
            <a:ext cx="822960" cy="822960"/>
          </a:xfrm>
          <a:prstGeom prst="rect">
            <a:avLst/>
          </a:prstGeom>
        </p:spPr>
      </p:pic>
      <p:sp>
        <p:nvSpPr>
          <p:cNvPr id="14" name="Moral"/>
          <p:cNvSpPr txBox="1"/>
          <p:nvPr/>
        </p:nvSpPr>
        <p:spPr>
          <a:xfrm>
            <a:off x="457200" y="3977640"/>
            <a:ext cx="8229600" cy="548640"/>
          </a:xfrm>
          <a:prstGeom prst="rect">
            <a:avLst/>
          </a:prstGeom>
          <a:noFill/>
          <a:ln/>
        </p:spPr>
        <p:txBody>
          <a:bodyPr wrap="square" lIns="0" tIns="0" rIns="0" bIns="0" rtlCol="0" anchor="ctr"/>
          <a:lstStyle/>
          <a:p>
            <a:pPr indent="0" marL="0">
              <a:buNone/>
            </a:pPr>
            <a:r>
              <a:rPr lang="en-US" sz="2200" b="1" i="1" dirty="0">
                <a:solidFill>
                  <a:schemeClr val="accent1"/>
                </a:solidFill>
              </a:rPr>
              <a:t>Verify before you trust or run.</a:t>
            </a:r>
            <a:endParaRPr lang="en-US" sz="22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0" fill="hold">
                      <p:stCondLst>
                        <p:cond delay="indefinite"/>
                        <p:cond evt="onBegin" delay="0">
                          <p:tn val="2"/>
                        </p:cond>
                      </p:stCondLst>
                      <p:childTnLst>
                        <p:par>
                          <p:cTn id="21" fill="hold">
                            <p:stCondLst>
                              <p:cond delay="0"/>
                            </p:stCondLst>
                            <p:childTnLst>
                              <p:par>
                                <p:cTn id="6" presetID="2" presetClass="entr" presetSubtype="4" fill="hold" grpId="0" nodeType="afterEffect">
                                  <p:stCondLst>
                                    <p:cond delay="0"/>
                                  </p:stCondLst>
                                  <p:childTnLst>
                                    <p:set>
                                      <p:cBhvr>
                                        <p:cTn id="3" dur="1" fill="hold">
                                          <p:stCondLst>
                                            <p:cond delay="0"/>
                                          </p:stCondLst>
                                        </p:cTn>
                                        <p:tgtEl>
                                          <p:spTgt spid="4"/>
                                        </p:tgtEl>
                                        <p:attrNameLst>
                                          <p:attrName>style.visibility</p:attrName>
                                        </p:attrNameLst>
                                      </p:cBhvr>
                                      <p:to>
                                        <p:strVal val="visible"/>
                                      </p:to>
                                    </p:set>
                                    <p:anim calcmode="lin" valueType="num">
                                      <p:cBhvr additive="base">
                                        <p:cTn id="4" dur="450" fill="hold"/>
                                        <p:tgtEl>
                                          <p:spTgt spid="4"/>
                                        </p:tgtEl>
                                        <p:attrNameLst>
                                          <p:attrName>ppt_x</p:attrName>
                                        </p:attrNameLst>
                                      </p:cBhvr>
                                      <p:tavLst>
                                        <p:tav tm="0">
                                          <p:val>
                                            <p:strVal val="#ppt_x"/>
                                          </p:val>
                                        </p:tav>
                                        <p:tav tm="100000">
                                          <p:val>
                                            <p:strVal val="#ppt_x"/>
                                          </p:val>
                                        </p:tav>
                                      </p:tavLst>
                                    </p:anim>
                                    <p:anim calcmode="lin" valueType="num">
                                      <p:cBhvr additive="base">
                                        <p:cTn id="5" dur="450" fill="hold"/>
                                        <p:tgtEl>
                                          <p:spTgt spid="4"/>
                                        </p:tgtEl>
                                        <p:attrNameLst>
                                          <p:attrName>ppt_y</p:attrName>
                                        </p:attrNameLst>
                                      </p:cBhvr>
                                      <p:tavLst>
                                        <p:tav tm="0">
                                          <p:val>
                                            <p:strVal val="1+#ppt_h/2"/>
                                          </p:val>
                                        </p:tav>
                                        <p:tav tm="100000">
                                          <p:val>
                                            <p:strVal val="#ppt_y"/>
                                          </p:val>
                                        </p:tav>
                                      </p:tavLst>
                                    </p:anim>
                                  </p:childTnLst>
                                </p:cTn>
                              </p:par>
                              <p:par>
                                <p:cTn id="10" presetID="2" presetClass="entr" presetSubtype="4" fill="hold" grpId="0" nodeType="withEffect">
                                  <p:stCondLst>
                                    <p:cond delay="200"/>
                                  </p:stCondLst>
                                  <p:childTnLst>
                                    <p:set>
                                      <p:cBhvr>
                                        <p:cTn id="7" dur="1" fill="hold">
                                          <p:stCondLst>
                                            <p:cond delay="0"/>
                                          </p:stCondLst>
                                        </p:cTn>
                                        <p:tgtEl>
                                          <p:spTgt spid="5"/>
                                        </p:tgtEl>
                                        <p:attrNameLst>
                                          <p:attrName>style.visibility</p:attrName>
                                        </p:attrNameLst>
                                      </p:cBhvr>
                                      <p:to>
                                        <p:strVal val="visible"/>
                                      </p:to>
                                    </p:set>
                                    <p:anim calcmode="lin" valueType="num">
                                      <p:cBhvr additive="base">
                                        <p:cTn id="8" dur="450" fill="hold"/>
                                        <p:tgtEl>
                                          <p:spTgt spid="5"/>
                                        </p:tgtEl>
                                        <p:attrNameLst>
                                          <p:attrName>ppt_x</p:attrName>
                                        </p:attrNameLst>
                                      </p:cBhvr>
                                      <p:tavLst>
                                        <p:tav tm="0">
                                          <p:val>
                                            <p:strVal val="#ppt_x"/>
                                          </p:val>
                                        </p:tav>
                                        <p:tav tm="100000">
                                          <p:val>
                                            <p:strVal val="#ppt_x"/>
                                          </p:val>
                                        </p:tav>
                                      </p:tavLst>
                                    </p:anim>
                                    <p:anim calcmode="lin" valueType="num">
                                      <p:cBhvr additive="base">
                                        <p:cTn id="9" dur="450" fill="hold"/>
                                        <p:tgtEl>
                                          <p:spTgt spid="5"/>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40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450" fill="hold"/>
                                        <p:tgtEl>
                                          <p:spTgt spid="6"/>
                                        </p:tgtEl>
                                        <p:attrNameLst>
                                          <p:attrName>ppt_x</p:attrName>
                                        </p:attrNameLst>
                                      </p:cBhvr>
                                      <p:tavLst>
                                        <p:tav tm="0">
                                          <p:val>
                                            <p:strVal val="#ppt_x"/>
                                          </p:val>
                                        </p:tav>
                                        <p:tav tm="100000">
                                          <p:val>
                                            <p:strVal val="#ppt_x"/>
                                          </p:val>
                                        </p:tav>
                                      </p:tavLst>
                                    </p:anim>
                                    <p:anim calcmode="lin" valueType="num">
                                      <p:cBhvr additive="base">
                                        <p:cTn id="13" dur="450" fill="hold"/>
                                        <p:tgtEl>
                                          <p:spTgt spid="6"/>
                                        </p:tgtEl>
                                        <p:attrNameLst>
                                          <p:attrName>ppt_y</p:attrName>
                                        </p:attrNameLst>
                                      </p:cBhvr>
                                      <p:tavLst>
                                        <p:tav tm="0">
                                          <p:val>
                                            <p:strVal val="1+#ppt_h/2"/>
                                          </p:val>
                                        </p:tav>
                                        <p:tav tm="100000">
                                          <p:val>
                                            <p:strVal val="#ppt_y"/>
                                          </p:val>
                                        </p:tav>
                                      </p:tavLst>
                                    </p:anim>
                                  </p:childTnLst>
                                </p:cTn>
                              </p:par>
                              <p:par>
                                <p:cTn id="17"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par>
                                <p:cTn id="19" presetID="0" presetClass="path" presetSubtype="0" fill="hold" nodeType="withEffect">
                                  <p:stCondLst>
                                    <p:cond delay="500"/>
                                  </p:stCondLst>
                                  <p:childTnLst>
                                    <p:animMotion origin="layout" path="M 0 0 L 0.12 0 E" pathEditMode="relative">
                                      <p:cBhvr>
                                        <p:cTn id="18" dur="2600" fill="hold"/>
                                        <p:tgtEl>
                                          <p:spTgt spid="7"/>
                                        </p:tgtEl>
                                        <p:attrNameLst>
                                          <p:attrName>ppt_x</p:attrName>
                                          <p:attrName>ppt_y</p:attrName>
                                        </p:attrNameLst>
                                      </p:cBhvr>
                                      <p:rCtr x="0.06" y="0"/>
                                    </p:animMotion>
                                  </p:childTnLst>
                                </p:cTn>
                              </p:par>
                            </p:childTnLst>
                          </p:cTn>
                        </p:par>
                      </p:childTnLst>
                    </p:cTn>
                  </p:par>
                  <p:par>
                    <p:cTn id="27" fill="hold">
                      <p:stCondLst>
                        <p:cond delay="indefinite"/>
                      </p:stCondLst>
                      <p:childTnLst>
                        <p:par>
                          <p:cTn id="28" fill="hold">
                            <p:stCondLst>
                              <p:cond delay="0"/>
                            </p:stCondLst>
                            <p:childTnLst>
                              <p:par>
                                <p:cTn id="26" presetID="53" presetClass="entr" presetSubtype="16"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450" fill="hold"/>
                                        <p:tgtEl>
                                          <p:spTgt spid="8"/>
                                        </p:tgtEl>
                                        <p:attrNameLst>
                                          <p:attrName>ppt_w</p:attrName>
                                        </p:attrNameLst>
                                      </p:cBhvr>
                                      <p:tavLst>
                                        <p:tav tm="0">
                                          <p:val>
                                            <p:fltVal val="0"/>
                                          </p:val>
                                        </p:tav>
                                        <p:tav tm="100000">
                                          <p:val>
                                            <p:strVal val="#ppt_w"/>
                                          </p:val>
                                        </p:tav>
                                      </p:tavLst>
                                    </p:anim>
                                    <p:anim calcmode="lin" valueType="num">
                                      <p:cBhvr additive="base">
                                        <p:cTn id="24" dur="450" fill="hold"/>
                                        <p:tgtEl>
                                          <p:spTgt spid="8"/>
                                        </p:tgtEl>
                                        <p:attrNameLst>
                                          <p:attrName>ppt_h</p:attrName>
                                        </p:attrNameLst>
                                      </p:cBhvr>
                                      <p:tavLst>
                                        <p:tav tm="0">
                                          <p:val>
                                            <p:fltVal val="0"/>
                                          </p:val>
                                        </p:tav>
                                        <p:tav tm="100000">
                                          <p:val>
                                            <p:strVal val="#ppt_h"/>
                                          </p:val>
                                        </p:tav>
                                      </p:tavLst>
                                    </p:anim>
                                    <p:animEffect transition="in" filter="fade">
                                      <p:cBhvr>
                                        <p:cTn id="25" dur="450"/>
                                        <p:tgtEl>
                                          <p:spTgt spid="8"/>
                                        </p:tgtEl>
                                      </p:cBhvr>
                                    </p:animEffect>
                                  </p:childTnLst>
                                </p:cTn>
                              </p:par>
                            </p:childTnLst>
                          </p:cTn>
                        </p:par>
                      </p:childTnLst>
                    </p:cTn>
                  </p:par>
                  <p:par>
                    <p:cTn id="44" fill="hold">
                      <p:stCondLst>
                        <p:cond delay="indefinite"/>
                      </p:stCondLst>
                      <p:childTnLst>
                        <p:par>
                          <p:cTn id="45" fill="hold">
                            <p:stCondLst>
                              <p:cond delay="0"/>
                            </p:stCondLst>
                            <p:childTnLst>
                              <p:par>
                                <p:cTn id="33" presetID="53" presetClass="entr" presetSubtype="16"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450" fill="hold"/>
                                        <p:tgtEl>
                                          <p:spTgt spid="9"/>
                                        </p:tgtEl>
                                        <p:attrNameLst>
                                          <p:attrName>ppt_w</p:attrName>
                                        </p:attrNameLst>
                                      </p:cBhvr>
                                      <p:tavLst>
                                        <p:tav tm="0">
                                          <p:val>
                                            <p:fltVal val="0"/>
                                          </p:val>
                                        </p:tav>
                                        <p:tav tm="100000">
                                          <p:val>
                                            <p:strVal val="#ppt_w"/>
                                          </p:val>
                                        </p:tav>
                                      </p:tavLst>
                                    </p:anim>
                                    <p:anim calcmode="lin" valueType="num">
                                      <p:cBhvr additive="base">
                                        <p:cTn id="31" dur="450" fill="hold"/>
                                        <p:tgtEl>
                                          <p:spTgt spid="9"/>
                                        </p:tgtEl>
                                        <p:attrNameLst>
                                          <p:attrName>ppt_h</p:attrName>
                                        </p:attrNameLst>
                                      </p:cBhvr>
                                      <p:tavLst>
                                        <p:tav tm="0">
                                          <p:val>
                                            <p:fltVal val="0"/>
                                          </p:val>
                                        </p:tav>
                                        <p:tav tm="100000">
                                          <p:val>
                                            <p:strVal val="#ppt_h"/>
                                          </p:val>
                                        </p:tav>
                                      </p:tavLst>
                                    </p:anim>
                                    <p:animEffect transition="in" filter="fade">
                                      <p:cBhvr>
                                        <p:cTn id="32" dur="450"/>
                                        <p:tgtEl>
                                          <p:spTgt spid="9"/>
                                        </p:tgtEl>
                                      </p:cBhvr>
                                    </p:animEffect>
                                  </p:childTnLst>
                                </p:cTn>
                              </p:par>
                              <p:par>
                                <p:cTn id="38" presetID="53" presetClass="entr" presetSubtype="16" fill="hold" grpId="0" nodeType="withEffect">
                                  <p:stCondLst>
                                    <p:cond delay="25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350" fill="hold"/>
                                        <p:tgtEl>
                                          <p:spTgt spid="12"/>
                                        </p:tgtEl>
                                        <p:attrNameLst>
                                          <p:attrName>ppt_w</p:attrName>
                                        </p:attrNameLst>
                                      </p:cBhvr>
                                      <p:tavLst>
                                        <p:tav tm="0">
                                          <p:val>
                                            <p:fltVal val="0"/>
                                          </p:val>
                                        </p:tav>
                                        <p:tav tm="100000">
                                          <p:val>
                                            <p:strVal val="#ppt_w"/>
                                          </p:val>
                                        </p:tav>
                                      </p:tavLst>
                                    </p:anim>
                                    <p:anim calcmode="lin" valueType="num">
                                      <p:cBhvr additive="base">
                                        <p:cTn id="36" dur="350" fill="hold"/>
                                        <p:tgtEl>
                                          <p:spTgt spid="12"/>
                                        </p:tgtEl>
                                        <p:attrNameLst>
                                          <p:attrName>ppt_h</p:attrName>
                                        </p:attrNameLst>
                                      </p:cBhvr>
                                      <p:tavLst>
                                        <p:tav tm="0">
                                          <p:val>
                                            <p:fltVal val="0"/>
                                          </p:val>
                                        </p:tav>
                                        <p:tav tm="100000">
                                          <p:val>
                                            <p:strVal val="#ppt_h"/>
                                          </p:val>
                                        </p:tav>
                                      </p:tavLst>
                                    </p:anim>
                                    <p:animEffect transition="in" filter="fade">
                                      <p:cBhvr>
                                        <p:cTn id="37" dur="350"/>
                                        <p:tgtEl>
                                          <p:spTgt spid="12"/>
                                        </p:tgtEl>
                                      </p:cBhvr>
                                    </p:animEffect>
                                  </p:childTnLst>
                                </p:cTn>
                              </p:par>
                              <p:par>
                                <p:cTn id="41" presetID="10" presetClass="entr" presetSubtype="0" fill="hold" nodeType="withEffect">
                                  <p:stCondLst>
                                    <p:cond delay="25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350"/>
                                        <p:tgtEl>
                                          <p:spTgt spid="13"/>
                                        </p:tgtEl>
                                      </p:cBhvr>
                                    </p:animEffect>
                                  </p:childTnLst>
                                </p:cTn>
                              </p:par>
                              <p:par>
                                <p:cTn id="43" presetID="0" presetClass="path" presetSubtype="0" fill="hold" nodeType="withEffect">
                                  <p:stCondLst>
                                    <p:cond delay="700"/>
                                  </p:stCondLst>
                                  <p:childTnLst>
                                    <p:animMotion origin="layout" path="M 0 0 L 0.07 0 E" pathEditMode="relative">
                                      <p:cBhvr>
                                        <p:cTn id="42" dur="2500" fill="hold"/>
                                        <p:tgtEl>
                                          <p:spTgt spid="13"/>
                                        </p:tgtEl>
                                        <p:attrNameLst>
                                          <p:attrName>ppt_x</p:attrName>
                                          <p:attrName>ppt_y</p:attrName>
                                        </p:attrNameLst>
                                      </p:cBhvr>
                                      <p:rCtr x="0.035" y="0"/>
                                    </p:animMotion>
                                  </p:childTnLst>
                                </p:cTn>
                              </p:par>
                            </p:childTnLst>
                          </p:cTn>
                        </p:par>
                      </p:childTnLst>
                    </p:cTn>
                  </p:par>
                  <p:par>
                    <p:cTn id="51" fill="hold">
                      <p:stCondLst>
                        <p:cond delay="indefinite"/>
                      </p:stCondLst>
                      <p:childTnLst>
                        <p:par>
                          <p:cTn id="52" fill="hold">
                            <p:stCondLst>
                              <p:cond delay="0"/>
                            </p:stCondLst>
                            <p:childTnLst>
                              <p:par>
                                <p:cTn id="50" presetID="53" presetClass="entr" presetSubtype="16"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450" fill="hold"/>
                                        <p:tgtEl>
                                          <p:spTgt spid="10"/>
                                        </p:tgtEl>
                                        <p:attrNameLst>
                                          <p:attrName>ppt_w</p:attrName>
                                        </p:attrNameLst>
                                      </p:cBhvr>
                                      <p:tavLst>
                                        <p:tav tm="0">
                                          <p:val>
                                            <p:fltVal val="0"/>
                                          </p:val>
                                        </p:tav>
                                        <p:tav tm="100000">
                                          <p:val>
                                            <p:strVal val="#ppt_w"/>
                                          </p:val>
                                        </p:tav>
                                      </p:tavLst>
                                    </p:anim>
                                    <p:anim calcmode="lin" valueType="num">
                                      <p:cBhvr additive="base">
                                        <p:cTn id="48" dur="450" fill="hold"/>
                                        <p:tgtEl>
                                          <p:spTgt spid="10"/>
                                        </p:tgtEl>
                                        <p:attrNameLst>
                                          <p:attrName>ppt_h</p:attrName>
                                        </p:attrNameLst>
                                      </p:cBhvr>
                                      <p:tavLst>
                                        <p:tav tm="0">
                                          <p:val>
                                            <p:fltVal val="0"/>
                                          </p:val>
                                        </p:tav>
                                        <p:tav tm="100000">
                                          <p:val>
                                            <p:strVal val="#ppt_h"/>
                                          </p:val>
                                        </p:tav>
                                      </p:tavLst>
                                    </p:anim>
                                    <p:animEffect transition="in" filter="fade">
                                      <p:cBhvr>
                                        <p:cTn id="49" dur="450"/>
                                        <p:tgtEl>
                                          <p:spTgt spid="10"/>
                                        </p:tgtEl>
                                      </p:cBhvr>
                                    </p:animEffect>
                                  </p:childTnLst>
                                </p:cTn>
                              </p:par>
                            </p:childTnLst>
                          </p:cTn>
                        </p:par>
                      </p:childTnLst>
                    </p:cTn>
                  </p:par>
                  <p:par>
                    <p:cTn id="58" fill="hold">
                      <p:stCondLst>
                        <p:cond delay="indefinite"/>
                      </p:stCondLst>
                      <p:childTnLst>
                        <p:par>
                          <p:cTn id="59" fill="hold">
                            <p:stCondLst>
                              <p:cond delay="0"/>
                            </p:stCondLst>
                            <p:childTnLst>
                              <p:par>
                                <p:cTn id="57" presetID="53" presetClass="entr" presetSubtype="16"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 calcmode="lin" valueType="num">
                                      <p:cBhvr additive="base">
                                        <p:cTn id="54" dur="450" fill="hold"/>
                                        <p:tgtEl>
                                          <p:spTgt spid="11"/>
                                        </p:tgtEl>
                                        <p:attrNameLst>
                                          <p:attrName>ppt_w</p:attrName>
                                        </p:attrNameLst>
                                      </p:cBhvr>
                                      <p:tavLst>
                                        <p:tav tm="0">
                                          <p:val>
                                            <p:fltVal val="0"/>
                                          </p:val>
                                        </p:tav>
                                        <p:tav tm="100000">
                                          <p:val>
                                            <p:strVal val="#ppt_w"/>
                                          </p:val>
                                        </p:tav>
                                      </p:tavLst>
                                    </p:anim>
                                    <p:anim calcmode="lin" valueType="num">
                                      <p:cBhvr additive="base">
                                        <p:cTn id="55" dur="450" fill="hold"/>
                                        <p:tgtEl>
                                          <p:spTgt spid="11"/>
                                        </p:tgtEl>
                                        <p:attrNameLst>
                                          <p:attrName>ppt_h</p:attrName>
                                        </p:attrNameLst>
                                      </p:cBhvr>
                                      <p:tavLst>
                                        <p:tav tm="0">
                                          <p:val>
                                            <p:fltVal val="0"/>
                                          </p:val>
                                        </p:tav>
                                        <p:tav tm="100000">
                                          <p:val>
                                            <p:strVal val="#ppt_h"/>
                                          </p:val>
                                        </p:tav>
                                      </p:tavLst>
                                    </p:anim>
                                    <p:animEffect transition="in" filter="fade">
                                      <p:cBhvr>
                                        <p:cTn id="56" dur="450"/>
                                        <p:tgtEl>
                                          <p:spTgt spid="11"/>
                                        </p:tgtEl>
                                      </p:cBhvr>
                                    </p:animEffect>
                                  </p:childTnLst>
                                </p:cTn>
                              </p:par>
                            </p:childTnLst>
                          </p:cTn>
                        </p:par>
                      </p:childTnLst>
                    </p:cTn>
                  </p:par>
                  <p:par>
                    <p:cTn id="65" fill="hold">
                      <p:stCondLst>
                        <p:cond delay="indefinite"/>
                      </p:stCondLst>
                      <p:childTnLst>
                        <p:par>
                          <p:cTn id="66"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p:tgtEl>
                                          <p:spTgt spid="14"/>
                                        </p:tgtEl>
                                        <p:attrNameLst>
                                          <p:attrName>ppt_w</p:attrName>
                                        </p:attrNameLst>
                                      </p:cBhvr>
                                      <p:tavLst>
                                        <p:tav tm="0">
                                          <p:val>
                                            <p:fltVal val="0"/>
                                          </p:val>
                                        </p:tav>
                                        <p:tav tm="100000">
                                          <p:val>
                                            <p:strVal val="#ppt_w"/>
                                          </p:val>
                                        </p:tav>
                                      </p:tavLst>
                                    </p:anim>
                                    <p:anim calcmode="lin" valueType="num">
                                      <p:cBhvr additive="base">
                                        <p:cTn id="62" dur="500" fill="hold"/>
                                        <p:tgtEl>
                                          <p:spTgt spid="14"/>
                                        </p:tgtEl>
                                        <p:attrNameLst>
                                          <p:attrName>ppt_h</p:attrName>
                                        </p:attrNameLst>
                                      </p:cBhvr>
                                      <p:tavLst>
                                        <p:tav tm="0">
                                          <p:val>
                                            <p:fltVal val="0"/>
                                          </p:val>
                                        </p:tav>
                                        <p:tav tm="100000">
                                          <p:val>
                                            <p:strVal val="#ppt_h"/>
                                          </p:val>
                                        </p:tav>
                                      </p:tavLst>
                                    </p:anim>
                                    <p:animEffect transition="in" filter="fade">
                                      <p:cBhvr>
                                        <p:cTn id="6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2" grpId="0" animBg="1"/>
      <p:bldP spid="10" grpId="0" animBg="1"/>
      <p:bldP spid="11" grpId="0" animBg="1"/>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A08 · Software and Data Integrity: the fix</a:t>
            </a:r>
            <a:endParaRPr lang="en-US" sz="3000" dirty="0"/>
          </a:p>
        </p:txBody>
      </p:sp>
      <p:pic>
        <p:nvPicPr>
          <p:cNvPr id="4" name="Mascot" descr="Mascot cartoon">    </p:cNvPr>
          <p:cNvPicPr>
            <a:picLocks noChangeAspect="1"/>
          </p:cNvPicPr>
          <p:nvPr/>
        </p:nvPicPr>
        <p:blipFill>
          <a:blip r:embed="rId1"/>
          <a:stretch>
            <a:fillRect/>
          </a:stretch>
        </p:blipFill>
        <p:spPr>
          <a:xfrm>
            <a:off x="640080" y="1097280"/>
            <a:ext cx="1737360" cy="1737360"/>
          </a:xfrm>
          <a:prstGeom prst="rect">
            <a:avLst/>
          </a:prstGeom>
        </p:spPr>
      </p:pic>
      <p:sp>
        <p:nvSpPr>
          <p:cNvPr id="5" name="Stop sign"/>
          <p:cNvSpPr txBox="1"/>
          <p:nvPr/>
        </p:nvSpPr>
        <p:spPr>
          <a:xfrm>
            <a:off x="2377440" y="3063240"/>
            <a:ext cx="777240" cy="777240"/>
          </a:xfrm>
          <a:prstGeom prst="octagon">
            <a:avLst/>
          </a:prstGeom>
          <a:solidFill>
            <a:schemeClr val="accent2"/>
          </a:solidFill>
          <a:ln/>
        </p:spPr>
        <p:txBody>
          <a:bodyPr wrap="square" lIns="0" tIns="0" rIns="0" bIns="0" rtlCol="0" anchor="ctr"/>
          <a:lstStyle/>
          <a:p>
            <a:pPr algn="ctr" indent="0" marL="0">
              <a:buNone/>
            </a:pPr>
            <a:r>
              <a:rPr lang="en-US" sz="1300" b="1" dirty="0">
                <a:solidFill>
                  <a:srgbClr val="FFFFFF"/>
                </a:solidFill>
              </a:rPr>
              <a:t>STOP</a:t>
            </a:r>
            <a:endParaRPr lang="en-US" sz="1300" dirty="0"/>
          </a:p>
        </p:txBody>
      </p:sp>
      <p:pic>
        <p:nvPicPr>
          <p:cNvPr id="6" name="Hacker" descr="Hacker cartoon">    </p:cNvPr>
          <p:cNvPicPr>
            <a:picLocks noChangeAspect="1"/>
          </p:cNvPicPr>
          <p:nvPr/>
        </p:nvPicPr>
        <p:blipFill>
          <a:blip r:embed="rId2"/>
          <a:stretch>
            <a:fillRect/>
          </a:stretch>
        </p:blipFill>
        <p:spPr>
          <a:xfrm>
            <a:off x="274320" y="2834640"/>
            <a:ext cx="1188720" cy="1188720"/>
          </a:xfrm>
          <a:prstGeom prst="rect">
            <a:avLst/>
          </a:prstGeom>
        </p:spPr>
      </p:pic>
      <p:sp>
        <p:nvSpPr>
          <p:cNvPr id="7" name="Rule 0"/>
          <p:cNvSpPr txBox="1"/>
          <p:nvPr/>
        </p:nvSpPr>
        <p:spPr>
          <a:xfrm>
            <a:off x="3383280" y="1143000"/>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Sign and verify</a:t>
            </a:r>
            <a:endParaRPr lang="en-US" sz="1400" dirty="0"/>
          </a:p>
          <a:p>
            <a:pPr algn="l" indent="0" marL="0">
              <a:buNone/>
            </a:pPr>
            <a:r>
              <a:rPr lang="en-US" sz="1200" dirty="0">
                <a:solidFill>
                  <a:schemeClr val="tx1"/>
                </a:solidFill>
              </a:rPr>
              <a:t>Check hashes or signatures of updates, packages and build artifacts before use.</a:t>
            </a:r>
            <a:endParaRPr lang="en-US" sz="1400" dirty="0"/>
          </a:p>
        </p:txBody>
      </p:sp>
      <p:sp>
        <p:nvSpPr>
          <p:cNvPr id="8" name="Rule num 0"/>
          <p:cNvSpPr txBox="1"/>
          <p:nvPr/>
        </p:nvSpPr>
        <p:spPr>
          <a:xfrm>
            <a:off x="3493008" y="1271016"/>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Rule 1"/>
          <p:cNvSpPr txBox="1"/>
          <p:nvPr/>
        </p:nvSpPr>
        <p:spPr>
          <a:xfrm>
            <a:off x="3383280" y="1892808"/>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No types from input</a:t>
            </a:r>
            <a:endParaRPr lang="en-US" sz="1400" dirty="0"/>
          </a:p>
          <a:p>
            <a:pPr algn="l" indent="0" marL="0">
              <a:buNone/>
            </a:pPr>
            <a:r>
              <a:rPr lang="en-US" sz="1200" dirty="0">
                <a:solidFill>
                  <a:schemeClr val="tx1"/>
                </a:solidFill>
              </a:rPr>
              <a:t>No BinaryFormatter, no TypeNameHandling.All. Use System.Text.Json with a fixed DTO.</a:t>
            </a:r>
            <a:endParaRPr lang="en-US" sz="1400" dirty="0"/>
          </a:p>
        </p:txBody>
      </p:sp>
      <p:sp>
        <p:nvSpPr>
          <p:cNvPr id="10" name="Rule num 1"/>
          <p:cNvSpPr txBox="1"/>
          <p:nvPr/>
        </p:nvSpPr>
        <p:spPr>
          <a:xfrm>
            <a:off x="3493008" y="2020824"/>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Rule 2"/>
          <p:cNvSpPr txBox="1"/>
          <p:nvPr/>
        </p:nvSpPr>
        <p:spPr>
          <a:xfrm>
            <a:off x="3383280" y="2642616"/>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Protect the pipeline</a:t>
            </a:r>
            <a:endParaRPr lang="en-US" sz="1400" dirty="0"/>
          </a:p>
          <a:p>
            <a:pPr algn="l" indent="0" marL="0">
              <a:buNone/>
            </a:pPr>
            <a:r>
              <a:rPr lang="en-US" sz="1200" dirty="0">
                <a:solidFill>
                  <a:schemeClr val="tx1"/>
                </a:solidFill>
              </a:rPr>
              <a:t>Restrict who can change CI/CD. Review changes. Keep the build logs.</a:t>
            </a:r>
            <a:endParaRPr lang="en-US" sz="1400" dirty="0"/>
          </a:p>
        </p:txBody>
      </p:sp>
      <p:sp>
        <p:nvSpPr>
          <p:cNvPr id="12" name="Rule num 2"/>
          <p:cNvSpPr txBox="1"/>
          <p:nvPr/>
        </p:nvSpPr>
        <p:spPr>
          <a:xfrm>
            <a:off x="3493008" y="2770632"/>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Chip NG"/>
          <p:cNvSpPr txBox="1"/>
          <p:nvPr/>
        </p:nvSpPr>
        <p:spPr>
          <a:xfrm>
            <a:off x="3383280" y="3429000"/>
            <a:ext cx="2606040" cy="804672"/>
          </a:xfrm>
          <a:prstGeom prst="roundRect">
            <a:avLst>
              <a:gd name="adj" fmla="val 11364"/>
            </a:avLst>
          </a:prstGeom>
          <a:solidFill>
            <a:schemeClr val="accent5">
              <a:alpha val="12000"/>
            </a:schemeClr>
          </a:solidFill>
          <a:ln w="12700">
            <a:solidFill>
              <a:schemeClr val="accent5"/>
            </a:solidFill>
          </a:ln>
        </p:spPr>
        <p:txBody>
          <a:bodyPr wrap="square" lIns="127000" tIns="25400" rIns="101600" bIns="25400" rtlCol="0" anchor="ctr"/>
          <a:lstStyle/>
          <a:p>
            <a:pPr algn="l" indent="0" marL="0">
              <a:buNone/>
            </a:pPr>
            <a:r>
              <a:rPr lang="en-US" sz="1100" b="1" spc="200" kern="0" dirty="0">
                <a:solidFill>
                  <a:schemeClr val="accent5"/>
                </a:solidFill>
              </a:rPr>
              <a:t>IN ANGULAR</a:t>
            </a:r>
            <a:endParaRPr lang="en-US" sz="1100" dirty="0"/>
          </a:p>
          <a:p>
            <a:pPr algn="l" indent="0" marL="0">
              <a:buNone/>
            </a:pPr>
            <a:r>
              <a:rPr lang="en-US" sz="1200" dirty="0">
                <a:solidFill>
                  <a:schemeClr val="tx1"/>
                </a:solidFill>
              </a:rPr>
              <a:t>Subresource Integrity, or host libraries on the internal feed.</a:t>
            </a:r>
            <a:endParaRPr lang="en-US" sz="1100" dirty="0"/>
          </a:p>
        </p:txBody>
      </p:sp>
      <p:sp>
        <p:nvSpPr>
          <p:cNvPr id="14" name="Chip NET"/>
          <p:cNvSpPr txBox="1"/>
          <p:nvPr/>
        </p:nvSpPr>
        <p:spPr>
          <a:xfrm>
            <a:off x="6080760" y="3429000"/>
            <a:ext cx="2606040" cy="804672"/>
          </a:xfrm>
          <a:prstGeom prst="roundRect">
            <a:avLst>
              <a:gd name="adj" fmla="val 11364"/>
            </a:avLst>
          </a:prstGeom>
          <a:solidFill>
            <a:schemeClr val="accent6">
              <a:alpha val="12000"/>
            </a:schemeClr>
          </a:solidFill>
          <a:ln w="12700">
            <a:solidFill>
              <a:schemeClr val="accent6"/>
            </a:solidFill>
          </a:ln>
        </p:spPr>
        <p:txBody>
          <a:bodyPr wrap="square" lIns="127000" tIns="25400" rIns="101600" bIns="25400" rtlCol="0" anchor="ctr"/>
          <a:lstStyle/>
          <a:p>
            <a:pPr algn="l" indent="0" marL="0">
              <a:buNone/>
            </a:pPr>
            <a:r>
              <a:rPr lang="en-US" sz="1100" b="1" spc="200" kern="0" dirty="0">
                <a:solidFill>
                  <a:schemeClr val="accent6"/>
                </a:solidFill>
              </a:rPr>
              <a:t>IN .NET CORE</a:t>
            </a:r>
            <a:endParaRPr lang="en-US" sz="1100" dirty="0"/>
          </a:p>
          <a:p>
            <a:pPr algn="l" indent="0" marL="0">
              <a:buNone/>
            </a:pPr>
            <a:r>
              <a:rPr lang="en-US" sz="1200" dirty="0">
                <a:solidFill>
                  <a:schemeClr val="tx1"/>
                </a:solidFill>
              </a:rPr>
              <a:t>JsonSerializer.Deserialize&lt;UpdateManifest&gt;() after verifying.</a:t>
            </a:r>
            <a:endParaRPr lang="en-US" sz="1100" dirty="0"/>
          </a:p>
        </p:txBody>
      </p:sp>
      <p:sp>
        <p:nvSpPr>
          <p:cNvPr id="15" name="Takeaway"/>
          <p:cNvSpPr txBox="1"/>
          <p:nvPr/>
        </p:nvSpPr>
        <p:spPr>
          <a:xfrm>
            <a:off x="457200" y="4279392"/>
            <a:ext cx="4754880" cy="411480"/>
          </a:xfrm>
          <a:prstGeom prst="rect">
            <a:avLst/>
          </a:prstGeom>
          <a:noFill/>
          <a:ln/>
        </p:spPr>
        <p:txBody>
          <a:bodyPr wrap="square" lIns="0" tIns="0" rIns="0" bIns="0" rtlCol="0" anchor="ctr"/>
          <a:lstStyle/>
          <a:p>
            <a:pPr indent="0" marL="0">
              <a:buNone/>
            </a:pPr>
            <a:r>
              <a:rPr lang="en-US" sz="1600" b="1" dirty="0">
                <a:solidFill>
                  <a:schemeClr val="accent1"/>
                </a:solidFill>
              </a:rPr>
              <a:t>Integrity is checked, not assumed.</a:t>
            </a:r>
            <a:endParaRPr lang="en-US" sz="16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cond evt="onBegin" delay="0">
                          <p:tn val="2"/>
                        </p:cond>
                      </p:stCondLst>
                      <p:childTnLst>
                        <p:par>
                          <p:cTn id="19"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5"/>
                                        </p:tgtEl>
                                        <p:attrNameLst>
                                          <p:attrName>style.visibility</p:attrName>
                                        </p:attrNameLst>
                                      </p:cBhvr>
                                      <p:to>
                                        <p:strVal val="visible"/>
                                      </p:to>
                                    </p:set>
                                    <p:anim calcmode="lin" valueType="num">
                                      <p:cBhvr additive="base">
                                        <p:cTn id="4" dur="400" fill="hold"/>
                                        <p:tgtEl>
                                          <p:spTgt spid="5"/>
                                        </p:tgtEl>
                                        <p:attrNameLst>
                                          <p:attrName>ppt_w</p:attrName>
                                        </p:attrNameLst>
                                      </p:cBhvr>
                                      <p:tavLst>
                                        <p:tav tm="0">
                                          <p:val>
                                            <p:fltVal val="0"/>
                                          </p:val>
                                        </p:tav>
                                        <p:tav tm="100000">
                                          <p:val>
                                            <p:strVal val="#ppt_w"/>
                                          </p:val>
                                        </p:tav>
                                      </p:tavLst>
                                    </p:anim>
                                    <p:anim calcmode="lin" valueType="num">
                                      <p:cBhvr additive="base">
                                        <p:cTn id="5" dur="400" fill="hold"/>
                                        <p:tgtEl>
                                          <p:spTgt spid="5"/>
                                        </p:tgtEl>
                                        <p:attrNameLst>
                                          <p:attrName>ppt_h</p:attrName>
                                        </p:attrNameLst>
                                      </p:cBhvr>
                                      <p:tavLst>
                                        <p:tav tm="0">
                                          <p:val>
                                            <p:fltVal val="0"/>
                                          </p:val>
                                        </p:tav>
                                        <p:tav tm="100000">
                                          <p:val>
                                            <p:strVal val="#ppt_h"/>
                                          </p:val>
                                        </p:tav>
                                      </p:tavLst>
                                    </p:anim>
                                    <p:animEffect transition="in" filter="fade">
                                      <p:cBhvr>
                                        <p:cTn id="6" dur="400"/>
                                        <p:tgtEl>
                                          <p:spTgt spid="5"/>
                                        </p:tgtEl>
                                      </p:cBhvr>
                                    </p:animEffect>
                                  </p:childTnLst>
                                </p:cTn>
                              </p:par>
                              <p:par>
                                <p:cTn id="10" presetID="10" presetClass="entr" presetSubtype="0" fill="hold" nodeType="withEffect">
                                  <p:stCondLst>
                                    <p:cond delay="20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300"/>
                                        <p:tgtEl>
                                          <p:spTgt spid="6"/>
                                        </p:tgtEl>
                                      </p:cBhvr>
                                    </p:animEffect>
                                  </p:childTnLst>
                                </p:cTn>
                              </p:par>
                              <p:par>
                                <p:cTn id="12" presetID="0" presetClass="path" presetSubtype="0" fill="hold" nodeType="withEffect">
                                  <p:stCondLst>
                                    <p:cond delay="600"/>
                                  </p:stCondLst>
                                  <p:childTnLst>
                                    <p:animMotion origin="layout" path="M 0 0 L 0.1 0 E" pathEditMode="relative">
                                      <p:cBhvr>
                                        <p:cTn id="11" dur="2400" fill="hold"/>
                                        <p:tgtEl>
                                          <p:spTgt spid="6"/>
                                        </p:tgtEl>
                                        <p:attrNameLst>
                                          <p:attrName>ppt_x</p:attrName>
                                          <p:attrName>ppt_y</p:attrName>
                                        </p:attrNameLst>
                                      </p:cBhvr>
                                      <p:rCtr x="0.05" y="0"/>
                                    </p:animMotion>
                                  </p:childTnLst>
                                </p:cTn>
                              </p:par>
                              <p:par>
                                <p:cTn id="17" presetID="53" presetClass="entr" presetSubtype="16" fill="hold" nodeType="withEffect">
                                  <p:stCondLst>
                                    <p:cond delay="300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ppt_w</p:attrName>
                                        </p:attrNameLst>
                                      </p:cBhvr>
                                      <p:tavLst>
                                        <p:tav tm="0">
                                          <p:val>
                                            <p:fltVal val="0"/>
                                          </p:val>
                                        </p:tav>
                                        <p:tav tm="100000">
                                          <p:val>
                                            <p:strVal val="#ppt_w"/>
                                          </p:val>
                                        </p:tav>
                                      </p:tavLst>
                                    </p:anim>
                                    <p:anim calcmode="lin" valueType="num">
                                      <p:cBhvr additive="base">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23" presetID="2" presetClass="entr" presetSubtype="2"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450" fill="hold"/>
                                        <p:tgtEl>
                                          <p:spTgt spid="7"/>
                                        </p:tgtEl>
                                        <p:attrNameLst>
                                          <p:attrName>ppt_x</p:attrName>
                                        </p:attrNameLst>
                                      </p:cBhvr>
                                      <p:tavLst>
                                        <p:tav tm="0">
                                          <p:val>
                                            <p:strVal val="1+#ppt_w/2"/>
                                          </p:val>
                                        </p:tav>
                                        <p:tav tm="100000">
                                          <p:val>
                                            <p:strVal val="#ppt_x"/>
                                          </p:val>
                                        </p:tav>
                                      </p:tavLst>
                                    </p:anim>
                                    <p:anim calcmode="lin" valueType="num">
                                      <p:cBhvr additive="base">
                                        <p:cTn id="22" dur="450" fill="hold"/>
                                        <p:tgtEl>
                                          <p:spTgt spid="7"/>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450" fill="hold"/>
                                        <p:tgtEl>
                                          <p:spTgt spid="8"/>
                                        </p:tgtEl>
                                        <p:attrNameLst>
                                          <p:attrName>ppt_x</p:attrName>
                                        </p:attrNameLst>
                                      </p:cBhvr>
                                      <p:tavLst>
                                        <p:tav tm="0">
                                          <p:val>
                                            <p:strVal val="1+#ppt_w/2"/>
                                          </p:val>
                                        </p:tav>
                                        <p:tav tm="100000">
                                          <p:val>
                                            <p:strVal val="#ppt_x"/>
                                          </p:val>
                                        </p:tav>
                                      </p:tavLst>
                                    </p:anim>
                                    <p:anim calcmode="lin" valueType="num">
                                      <p:cBhvr additive="base">
                                        <p:cTn id="26" dur="45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33" presetID="2" presetClass="entr" presetSubtype="2"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450" fill="hold"/>
                                        <p:tgtEl>
                                          <p:spTgt spid="9"/>
                                        </p:tgtEl>
                                        <p:attrNameLst>
                                          <p:attrName>ppt_x</p:attrName>
                                        </p:attrNameLst>
                                      </p:cBhvr>
                                      <p:tavLst>
                                        <p:tav tm="0">
                                          <p:val>
                                            <p:strVal val="1+#ppt_w/2"/>
                                          </p:val>
                                        </p:tav>
                                        <p:tav tm="100000">
                                          <p:val>
                                            <p:strVal val="#ppt_x"/>
                                          </p:val>
                                        </p:tav>
                                      </p:tavLst>
                                    </p:anim>
                                    <p:anim calcmode="lin" valueType="num">
                                      <p:cBhvr additive="base">
                                        <p:cTn id="32" dur="450" fill="hold"/>
                                        <p:tgtEl>
                                          <p:spTgt spid="9"/>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450" fill="hold"/>
                                        <p:tgtEl>
                                          <p:spTgt spid="10"/>
                                        </p:tgtEl>
                                        <p:attrNameLst>
                                          <p:attrName>ppt_x</p:attrName>
                                        </p:attrNameLst>
                                      </p:cBhvr>
                                      <p:tavLst>
                                        <p:tav tm="0">
                                          <p:val>
                                            <p:strVal val="1+#ppt_w/2"/>
                                          </p:val>
                                        </p:tav>
                                        <p:tav tm="100000">
                                          <p:val>
                                            <p:strVal val="#ppt_x"/>
                                          </p:val>
                                        </p:tav>
                                      </p:tavLst>
                                    </p:anim>
                                    <p:anim calcmode="lin" valueType="num">
                                      <p:cBhvr additive="base">
                                        <p:cTn id="36" dur="45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3" presetID="2" presetClass="entr" presetSubtype="2"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450" fill="hold"/>
                                        <p:tgtEl>
                                          <p:spTgt spid="11"/>
                                        </p:tgtEl>
                                        <p:attrNameLst>
                                          <p:attrName>ppt_x</p:attrName>
                                        </p:attrNameLst>
                                      </p:cBhvr>
                                      <p:tavLst>
                                        <p:tav tm="0">
                                          <p:val>
                                            <p:strVal val="1+#ppt_w/2"/>
                                          </p:val>
                                        </p:tav>
                                        <p:tav tm="100000">
                                          <p:val>
                                            <p:strVal val="#ppt_x"/>
                                          </p:val>
                                        </p:tav>
                                      </p:tavLst>
                                    </p:anim>
                                    <p:anim calcmode="lin" valueType="num">
                                      <p:cBhvr additive="base">
                                        <p:cTn id="42" dur="450" fill="hold"/>
                                        <p:tgtEl>
                                          <p:spTgt spid="11"/>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450" fill="hold"/>
                                        <p:tgtEl>
                                          <p:spTgt spid="12"/>
                                        </p:tgtEl>
                                        <p:attrNameLst>
                                          <p:attrName>ppt_x</p:attrName>
                                        </p:attrNameLst>
                                      </p:cBhvr>
                                      <p:tavLst>
                                        <p:tav tm="0">
                                          <p:val>
                                            <p:strVal val="1+#ppt_w/2"/>
                                          </p:val>
                                        </p:tav>
                                        <p:tav tm="100000">
                                          <p:val>
                                            <p:strVal val="#ppt_x"/>
                                          </p:val>
                                        </p:tav>
                                      </p:tavLst>
                                    </p:anim>
                                    <p:anim calcmode="lin" valueType="num">
                                      <p:cBhvr additive="base">
                                        <p:cTn id="46" dur="45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53" presetID="2" presetClass="entr" presetSubtype="4"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450" fill="hold"/>
                                        <p:tgtEl>
                                          <p:spTgt spid="13"/>
                                        </p:tgtEl>
                                        <p:attrNameLst>
                                          <p:attrName>ppt_x</p:attrName>
                                        </p:attrNameLst>
                                      </p:cBhvr>
                                      <p:tavLst>
                                        <p:tav tm="0">
                                          <p:val>
                                            <p:strVal val="#ppt_x"/>
                                          </p:val>
                                        </p:tav>
                                        <p:tav tm="100000">
                                          <p:val>
                                            <p:strVal val="#ppt_x"/>
                                          </p:val>
                                        </p:tav>
                                      </p:tavLst>
                                    </p:anim>
                                    <p:anim calcmode="lin" valueType="num">
                                      <p:cBhvr additive="base">
                                        <p:cTn id="52" dur="450" fill="hold"/>
                                        <p:tgtEl>
                                          <p:spTgt spid="13"/>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15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450" fill="hold"/>
                                        <p:tgtEl>
                                          <p:spTgt spid="14"/>
                                        </p:tgtEl>
                                        <p:attrNameLst>
                                          <p:attrName>ppt_x</p:attrName>
                                        </p:attrNameLst>
                                      </p:cBhvr>
                                      <p:tavLst>
                                        <p:tav tm="0">
                                          <p:val>
                                            <p:strVal val="#ppt_x"/>
                                          </p:val>
                                        </p:tav>
                                        <p:tav tm="100000">
                                          <p:val>
                                            <p:strVal val="#ppt_x"/>
                                          </p:val>
                                        </p:tav>
                                      </p:tavLst>
                                    </p:anim>
                                    <p:anim calcmode="lin" valueType="num">
                                      <p:cBhvr additive="base">
                                        <p:cTn id="56"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450" fill="hold"/>
                                        <p:tgtEl>
                                          <p:spTgt spid="15"/>
                                        </p:tgtEl>
                                        <p:attrNameLst>
                                          <p:attrName>ppt_w</p:attrName>
                                        </p:attrNameLst>
                                      </p:cBhvr>
                                      <p:tavLst>
                                        <p:tav tm="0">
                                          <p:val>
                                            <p:fltVal val="0"/>
                                          </p:val>
                                        </p:tav>
                                        <p:tav tm="100000">
                                          <p:val>
                                            <p:strVal val="#ppt_w"/>
                                          </p:val>
                                        </p:tav>
                                      </p:tavLst>
                                    </p:anim>
                                    <p:anim calcmode="lin" valueType="num">
                                      <p:cBhvr additive="base">
                                        <p:cTn id="62" dur="450" fill="hold"/>
                                        <p:tgtEl>
                                          <p:spTgt spid="15"/>
                                        </p:tgtEl>
                                        <p:attrNameLst>
                                          <p:attrName>ppt_h</p:attrName>
                                        </p:attrNameLst>
                                      </p:cBhvr>
                                      <p:tavLst>
                                        <p:tav tm="0">
                                          <p:val>
                                            <p:fltVal val="0"/>
                                          </p:val>
                                        </p:tav>
                                        <p:tav tm="100000">
                                          <p:val>
                                            <p:strVal val="#ppt_h"/>
                                          </p:val>
                                        </p:tav>
                                      </p:tavLst>
                                    </p:anim>
                                    <p:animEffect transition="in" filter="fade">
                                      <p:cBhvr>
                                        <p:cTn id="63"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A09 · Logging and Alerting: the story</a:t>
            </a:r>
            <a:endParaRPr lang="en-US" sz="3000" dirty="0"/>
          </a:p>
        </p:txBody>
      </p:sp>
      <p:sp>
        <p:nvSpPr>
          <p:cNvPr id="4" name="Station 0"/>
          <p:cNvSpPr txBox="1"/>
          <p:nvPr/>
        </p:nvSpPr>
        <p:spPr>
          <a:xfrm>
            <a:off x="2926080" y="2880360"/>
            <a:ext cx="1737360" cy="868680"/>
          </a:xfrm>
          <a:prstGeom prst="roundRect">
            <a:avLst>
              <a:gd name="adj" fmla="val 12632"/>
            </a:avLst>
          </a:prstGeom>
          <a:solidFill>
            <a:schemeClr val="bg2"/>
          </a:solidFill>
          <a:ln w="15875">
            <a:solidFill>
              <a:schemeClr val="accent5"/>
            </a:solidFill>
          </a:ln>
        </p:spPr>
        <p:txBody>
          <a:bodyPr wrap="square" lIns="50800" tIns="50800" rIns="50800" bIns="50800" rtlCol="0" anchor="ctr"/>
          <a:lstStyle/>
          <a:p>
            <a:pPr algn="ctr" indent="0" marL="0">
              <a:buNone/>
            </a:pPr>
            <a:r>
              <a:rPr lang="en-US" sz="1500" b="1" dirty="0">
                <a:solidFill>
                  <a:schemeClr val="accent5"/>
                </a:solidFill>
              </a:rPr>
              <a:t>Angular app</a:t>
            </a:r>
            <a:endParaRPr lang="en-US" sz="1500" dirty="0"/>
          </a:p>
          <a:p>
            <a:pPr algn="ctr" indent="0" marL="0">
              <a:buNone/>
            </a:pPr>
            <a:r>
              <a:rPr lang="en-US" sz="1200" dirty="0">
                <a:solidFill>
                  <a:schemeClr val="tx2"/>
                </a:solidFill>
              </a:rPr>
              <a:t>login screen</a:t>
            </a:r>
            <a:endParaRPr lang="en-US" sz="1500" dirty="0"/>
          </a:p>
        </p:txBody>
      </p:sp>
      <p:sp>
        <p:nvSpPr>
          <p:cNvPr id="5" name="Station 1"/>
          <p:cNvSpPr txBox="1"/>
          <p:nvPr/>
        </p:nvSpPr>
        <p:spPr>
          <a:xfrm>
            <a:off x="4846320" y="2880360"/>
            <a:ext cx="1737360" cy="868680"/>
          </a:xfrm>
          <a:prstGeom prst="roundRect">
            <a:avLst>
              <a:gd name="adj" fmla="val 12632"/>
            </a:avLst>
          </a:prstGeom>
          <a:solidFill>
            <a:schemeClr val="bg2"/>
          </a:solidFill>
          <a:ln w="15875">
            <a:solidFill>
              <a:schemeClr val="accent1"/>
            </a:solidFill>
          </a:ln>
        </p:spPr>
        <p:txBody>
          <a:bodyPr wrap="square" lIns="50800" tIns="50800" rIns="50800" bIns="50800" rtlCol="0" anchor="ctr"/>
          <a:lstStyle/>
          <a:p>
            <a:pPr algn="ctr" indent="0" marL="0">
              <a:buNone/>
            </a:pPr>
            <a:r>
              <a:rPr lang="en-US" sz="1500" b="1" dirty="0">
                <a:solidFill>
                  <a:schemeClr val="accent1"/>
                </a:solidFill>
              </a:rPr>
              <a:t>.NET API</a:t>
            </a:r>
            <a:endParaRPr lang="en-US" sz="1500" dirty="0"/>
          </a:p>
          <a:p>
            <a:pPr algn="ctr" indent="0" marL="0">
              <a:buNone/>
            </a:pPr>
            <a:r>
              <a:rPr lang="en-US" sz="1200" dirty="0">
                <a:solidFill>
                  <a:schemeClr val="tx2"/>
                </a:solidFill>
              </a:rPr>
              <a:t>Serilog</a:t>
            </a:r>
            <a:endParaRPr lang="en-US" sz="1500" dirty="0"/>
          </a:p>
        </p:txBody>
      </p:sp>
      <p:sp>
        <p:nvSpPr>
          <p:cNvPr id="6" name="Station 2"/>
          <p:cNvSpPr txBox="1"/>
          <p:nvPr/>
        </p:nvSpPr>
        <p:spPr>
          <a:xfrm>
            <a:off x="6766560" y="2880360"/>
            <a:ext cx="1737360" cy="868680"/>
          </a:xfrm>
          <a:prstGeom prst="roundRect">
            <a:avLst>
              <a:gd name="adj" fmla="val 12632"/>
            </a:avLst>
          </a:prstGeom>
          <a:solidFill>
            <a:schemeClr val="bg2"/>
          </a:solidFill>
          <a:ln w="15875">
            <a:solidFill>
              <a:schemeClr val="accent4"/>
            </a:solidFill>
          </a:ln>
        </p:spPr>
        <p:txBody>
          <a:bodyPr wrap="square" lIns="50800" tIns="50800" rIns="50800" bIns="50800" rtlCol="0" anchor="ctr"/>
          <a:lstStyle/>
          <a:p>
            <a:pPr algn="ctr" indent="0" marL="0">
              <a:buNone/>
            </a:pPr>
            <a:r>
              <a:rPr lang="en-US" sz="1500" b="1" dirty="0">
                <a:solidFill>
                  <a:schemeClr val="accent4"/>
                </a:solidFill>
              </a:rPr>
              <a:t>Log store</a:t>
            </a:r>
            <a:endParaRPr lang="en-US" sz="1500" dirty="0"/>
          </a:p>
          <a:p>
            <a:pPr algn="ctr" indent="0" marL="0">
              <a:buNone/>
            </a:pPr>
            <a:r>
              <a:rPr lang="en-US" sz="1200" dirty="0">
                <a:solidFill>
                  <a:schemeClr val="tx2"/>
                </a:solidFill>
              </a:rPr>
              <a:t>Oracle table or files</a:t>
            </a:r>
            <a:endParaRPr lang="en-US" sz="1500" dirty="0"/>
          </a:p>
        </p:txBody>
      </p:sp>
      <p:pic>
        <p:nvPicPr>
          <p:cNvPr id="7" name="Hacker" descr="Hacker cartoon">    </p:cNvPr>
          <p:cNvPicPr>
            <a:picLocks noChangeAspect="1"/>
          </p:cNvPicPr>
          <p:nvPr/>
        </p:nvPicPr>
        <p:blipFill>
          <a:blip r:embed="rId1"/>
          <a:stretch>
            <a:fillRect/>
          </a:stretch>
        </p:blipFill>
        <p:spPr>
          <a:xfrm>
            <a:off x="365760" y="2606040"/>
            <a:ext cx="1188720" cy="1188720"/>
          </a:xfrm>
          <a:prstGeom prst="rect">
            <a:avLst/>
          </a:prstGeom>
        </p:spPr>
      </p:pic>
      <p:sp>
        <p:nvSpPr>
          <p:cNvPr id="8" name="Bubble 0"/>
          <p:cNvSpPr txBox="1"/>
          <p:nvPr/>
        </p:nvSpPr>
        <p:spPr>
          <a:xfrm>
            <a:off x="457200" y="1097280"/>
            <a:ext cx="1920240" cy="1097280"/>
          </a:xfrm>
          <a:prstGeom prst="roundRect">
            <a:avLst>
              <a:gd name="adj" fmla="val 11667"/>
            </a:avLst>
          </a:prstGeom>
          <a:solidFill>
            <a:schemeClr val="bg2"/>
          </a:solidFill>
          <a:ln w="19050">
            <a:solidFill>
              <a:schemeClr val="accent6"/>
            </a:solidFill>
          </a:ln>
        </p:spPr>
        <p:txBody>
          <a:bodyPr wrap="square" lIns="114300" tIns="63500" rIns="101600" bIns="50800" rtlCol="0" anchor="t"/>
          <a:lstStyle/>
          <a:p>
            <a:pPr algn="l" indent="0" marL="0">
              <a:buNone/>
            </a:pPr>
            <a:r>
              <a:rPr lang="en-US" sz="1100" b="1" spc="200" kern="0" dirty="0">
                <a:solidFill>
                  <a:schemeClr val="accent6"/>
                </a:solidFill>
              </a:rPr>
              <a:t>HACKER</a:t>
            </a:r>
            <a:endParaRPr lang="en-US" sz="1100" dirty="0"/>
          </a:p>
          <a:p>
            <a:pPr algn="l" indent="0" marL="0">
              <a:buNone/>
            </a:pPr>
            <a:r>
              <a:rPr lang="en-US" sz="1300" dirty="0">
                <a:solidFill>
                  <a:schemeClr val="tx1"/>
                </a:solidFill>
              </a:rPr>
              <a:t>5,000 failed logins tonight. Let's see if anyone notices.</a:t>
            </a:r>
            <a:endParaRPr lang="en-US" sz="1100" dirty="0"/>
          </a:p>
        </p:txBody>
      </p:sp>
      <p:sp>
        <p:nvSpPr>
          <p:cNvPr id="9" name="Bubble 1"/>
          <p:cNvSpPr txBox="1"/>
          <p:nvPr/>
        </p:nvSpPr>
        <p:spPr>
          <a:xfrm>
            <a:off x="2560320" y="1097280"/>
            <a:ext cx="1920240" cy="1097280"/>
          </a:xfrm>
          <a:prstGeom prst="roundRect">
            <a:avLst>
              <a:gd name="adj" fmla="val 11667"/>
            </a:avLst>
          </a:prstGeom>
          <a:solidFill>
            <a:schemeClr val="bg2"/>
          </a:solidFill>
          <a:ln w="19050">
            <a:solidFill>
              <a:schemeClr val="accent1"/>
            </a:solidFill>
          </a:ln>
        </p:spPr>
        <p:txBody>
          <a:bodyPr wrap="square" lIns="114300" tIns="63500" rIns="101600" bIns="50800" rtlCol="0" anchor="t"/>
          <a:lstStyle/>
          <a:p>
            <a:pPr algn="l" indent="0" marL="0">
              <a:buNone/>
            </a:pPr>
            <a:r>
              <a:rPr lang="en-US" sz="1100" b="1" spc="200" kern="0" dirty="0">
                <a:solidFill>
                  <a:schemeClr val="accent1"/>
                </a:solidFill>
              </a:rPr>
              <a:t>API</a:t>
            </a:r>
            <a:endParaRPr lang="en-US" sz="1100" dirty="0"/>
          </a:p>
          <a:p>
            <a:pPr algn="l" indent="0" marL="0">
              <a:buNone/>
            </a:pPr>
            <a:r>
              <a:rPr lang="en-US" sz="1300" dirty="0">
                <a:solidFill>
                  <a:schemeClr val="tx1"/>
                </a:solidFill>
              </a:rPr>
              <a:t>I do not log failed logins. Quiet night!</a:t>
            </a:r>
            <a:endParaRPr lang="en-US" sz="1100" dirty="0"/>
          </a:p>
        </p:txBody>
      </p:sp>
      <p:sp>
        <p:nvSpPr>
          <p:cNvPr id="10" name="Bubble 2"/>
          <p:cNvSpPr txBox="1"/>
          <p:nvPr/>
        </p:nvSpPr>
        <p:spPr>
          <a:xfrm>
            <a:off x="4663440" y="1097280"/>
            <a:ext cx="1920240" cy="1097280"/>
          </a:xfrm>
          <a:prstGeom prst="roundRect">
            <a:avLst>
              <a:gd name="adj" fmla="val 11667"/>
            </a:avLst>
          </a:prstGeom>
          <a:solidFill>
            <a:schemeClr val="bg2"/>
          </a:solidFill>
          <a:ln w="19050">
            <a:solidFill>
              <a:schemeClr val="accent6"/>
            </a:solidFill>
          </a:ln>
        </p:spPr>
        <p:txBody>
          <a:bodyPr wrap="square" lIns="114300" tIns="63500" rIns="101600" bIns="50800" rtlCol="0" anchor="t"/>
          <a:lstStyle/>
          <a:p>
            <a:pPr algn="l" indent="0" marL="0">
              <a:buNone/>
            </a:pPr>
            <a:r>
              <a:rPr lang="en-US" sz="1100" b="1" spc="200" kern="0" dirty="0">
                <a:solidFill>
                  <a:schemeClr val="accent6"/>
                </a:solidFill>
              </a:rPr>
              <a:t>HACKER</a:t>
            </a:r>
            <a:endParaRPr lang="en-US" sz="1100" dirty="0"/>
          </a:p>
          <a:p>
            <a:pPr algn="l" indent="0" marL="0">
              <a:buNone/>
            </a:pPr>
            <a:r>
              <a:rPr lang="en-US" sz="1300" dirty="0">
                <a:solidFill>
                  <a:schemeClr val="tx1"/>
                </a:solidFill>
              </a:rPr>
              <a:t>I got in at 3 a.m. and edited the log so it looks clean.</a:t>
            </a:r>
            <a:endParaRPr lang="en-US" sz="1100" dirty="0"/>
          </a:p>
        </p:txBody>
      </p:sp>
      <p:sp>
        <p:nvSpPr>
          <p:cNvPr id="11" name="Bubble 3"/>
          <p:cNvSpPr txBox="1"/>
          <p:nvPr/>
        </p:nvSpPr>
        <p:spPr>
          <a:xfrm>
            <a:off x="6766560" y="1097280"/>
            <a:ext cx="1920240" cy="1097280"/>
          </a:xfrm>
          <a:prstGeom prst="roundRect">
            <a:avLst>
              <a:gd name="adj" fmla="val 11667"/>
            </a:avLst>
          </a:prstGeom>
          <a:solidFill>
            <a:schemeClr val="bg2"/>
          </a:solidFill>
          <a:ln w="19050">
            <a:solidFill>
              <a:schemeClr val="accent2"/>
            </a:solidFill>
          </a:ln>
        </p:spPr>
        <p:txBody>
          <a:bodyPr wrap="square" lIns="114300" tIns="63500" rIns="101600" bIns="50800" rtlCol="0" anchor="t"/>
          <a:lstStyle/>
          <a:p>
            <a:pPr algn="l" indent="0" marL="0">
              <a:buNone/>
            </a:pPr>
            <a:r>
              <a:rPr lang="en-US" sz="1100" b="1" spc="200" kern="0" dirty="0">
                <a:solidFill>
                  <a:schemeClr val="accent2"/>
                </a:solidFill>
              </a:rPr>
              <a:t>RESULT</a:t>
            </a:r>
            <a:endParaRPr lang="en-US" sz="1100" dirty="0"/>
          </a:p>
          <a:p>
            <a:pPr algn="l" indent="0" marL="0">
              <a:buNone/>
            </a:pPr>
            <a:r>
              <a:rPr lang="en-US" sz="1300" dirty="0">
                <a:solidFill>
                  <a:schemeClr val="tx1"/>
                </a:solidFill>
              </a:rPr>
              <a:t>Nobody noticed for months. No alert and no evidence.</a:t>
            </a:r>
            <a:endParaRPr lang="en-US" sz="1100" dirty="0"/>
          </a:p>
        </p:txBody>
      </p:sp>
      <p:sp>
        <p:nvSpPr>
          <p:cNvPr id="12" name="Damage"/>
          <p:cNvSpPr txBox="1"/>
          <p:nvPr/>
        </p:nvSpPr>
        <p:spPr>
          <a:xfrm>
            <a:off x="6217920" y="2697480"/>
            <a:ext cx="384048" cy="384048"/>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pic>
        <p:nvPicPr>
          <p:cNvPr id="13" name="Bug" descr="Bug cartoon">    </p:cNvPr>
          <p:cNvPicPr>
            <a:picLocks noChangeAspect="1"/>
          </p:cNvPicPr>
          <p:nvPr/>
        </p:nvPicPr>
        <p:blipFill>
          <a:blip r:embed="rId2"/>
          <a:stretch>
            <a:fillRect/>
          </a:stretch>
        </p:blipFill>
        <p:spPr>
          <a:xfrm>
            <a:off x="5029200" y="2103120"/>
            <a:ext cx="822960" cy="822960"/>
          </a:xfrm>
          <a:prstGeom prst="rect">
            <a:avLst/>
          </a:prstGeom>
        </p:spPr>
      </p:pic>
      <p:sp>
        <p:nvSpPr>
          <p:cNvPr id="14" name="Moral"/>
          <p:cNvSpPr txBox="1"/>
          <p:nvPr/>
        </p:nvSpPr>
        <p:spPr>
          <a:xfrm>
            <a:off x="457200" y="3977640"/>
            <a:ext cx="8229600" cy="548640"/>
          </a:xfrm>
          <a:prstGeom prst="rect">
            <a:avLst/>
          </a:prstGeom>
          <a:noFill/>
          <a:ln/>
        </p:spPr>
        <p:txBody>
          <a:bodyPr wrap="square" lIns="0" tIns="0" rIns="0" bIns="0" rtlCol="0" anchor="ctr"/>
          <a:lstStyle/>
          <a:p>
            <a:pPr indent="0" marL="0">
              <a:buNone/>
            </a:pPr>
            <a:r>
              <a:rPr lang="en-US" sz="2200" b="1" i="1" dirty="0">
                <a:solidFill>
                  <a:schemeClr val="accent1"/>
                </a:solidFill>
              </a:rPr>
              <a:t>If you cannot see it, you cannot stop it.</a:t>
            </a:r>
            <a:endParaRPr lang="en-US" sz="22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0" fill="hold">
                      <p:stCondLst>
                        <p:cond delay="indefinite"/>
                        <p:cond evt="onBegin" delay="0">
                          <p:tn val="2"/>
                        </p:cond>
                      </p:stCondLst>
                      <p:childTnLst>
                        <p:par>
                          <p:cTn id="21" fill="hold">
                            <p:stCondLst>
                              <p:cond delay="0"/>
                            </p:stCondLst>
                            <p:childTnLst>
                              <p:par>
                                <p:cTn id="6" presetID="2" presetClass="entr" presetSubtype="4" fill="hold" grpId="0" nodeType="afterEffect">
                                  <p:stCondLst>
                                    <p:cond delay="0"/>
                                  </p:stCondLst>
                                  <p:childTnLst>
                                    <p:set>
                                      <p:cBhvr>
                                        <p:cTn id="3" dur="1" fill="hold">
                                          <p:stCondLst>
                                            <p:cond delay="0"/>
                                          </p:stCondLst>
                                        </p:cTn>
                                        <p:tgtEl>
                                          <p:spTgt spid="4"/>
                                        </p:tgtEl>
                                        <p:attrNameLst>
                                          <p:attrName>style.visibility</p:attrName>
                                        </p:attrNameLst>
                                      </p:cBhvr>
                                      <p:to>
                                        <p:strVal val="visible"/>
                                      </p:to>
                                    </p:set>
                                    <p:anim calcmode="lin" valueType="num">
                                      <p:cBhvr additive="base">
                                        <p:cTn id="4" dur="450" fill="hold"/>
                                        <p:tgtEl>
                                          <p:spTgt spid="4"/>
                                        </p:tgtEl>
                                        <p:attrNameLst>
                                          <p:attrName>ppt_x</p:attrName>
                                        </p:attrNameLst>
                                      </p:cBhvr>
                                      <p:tavLst>
                                        <p:tav tm="0">
                                          <p:val>
                                            <p:strVal val="#ppt_x"/>
                                          </p:val>
                                        </p:tav>
                                        <p:tav tm="100000">
                                          <p:val>
                                            <p:strVal val="#ppt_x"/>
                                          </p:val>
                                        </p:tav>
                                      </p:tavLst>
                                    </p:anim>
                                    <p:anim calcmode="lin" valueType="num">
                                      <p:cBhvr additive="base">
                                        <p:cTn id="5" dur="450" fill="hold"/>
                                        <p:tgtEl>
                                          <p:spTgt spid="4"/>
                                        </p:tgtEl>
                                        <p:attrNameLst>
                                          <p:attrName>ppt_y</p:attrName>
                                        </p:attrNameLst>
                                      </p:cBhvr>
                                      <p:tavLst>
                                        <p:tav tm="0">
                                          <p:val>
                                            <p:strVal val="1+#ppt_h/2"/>
                                          </p:val>
                                        </p:tav>
                                        <p:tav tm="100000">
                                          <p:val>
                                            <p:strVal val="#ppt_y"/>
                                          </p:val>
                                        </p:tav>
                                      </p:tavLst>
                                    </p:anim>
                                  </p:childTnLst>
                                </p:cTn>
                              </p:par>
                              <p:par>
                                <p:cTn id="10" presetID="2" presetClass="entr" presetSubtype="4" fill="hold" grpId="0" nodeType="withEffect">
                                  <p:stCondLst>
                                    <p:cond delay="200"/>
                                  </p:stCondLst>
                                  <p:childTnLst>
                                    <p:set>
                                      <p:cBhvr>
                                        <p:cTn id="7" dur="1" fill="hold">
                                          <p:stCondLst>
                                            <p:cond delay="0"/>
                                          </p:stCondLst>
                                        </p:cTn>
                                        <p:tgtEl>
                                          <p:spTgt spid="5"/>
                                        </p:tgtEl>
                                        <p:attrNameLst>
                                          <p:attrName>style.visibility</p:attrName>
                                        </p:attrNameLst>
                                      </p:cBhvr>
                                      <p:to>
                                        <p:strVal val="visible"/>
                                      </p:to>
                                    </p:set>
                                    <p:anim calcmode="lin" valueType="num">
                                      <p:cBhvr additive="base">
                                        <p:cTn id="8" dur="450" fill="hold"/>
                                        <p:tgtEl>
                                          <p:spTgt spid="5"/>
                                        </p:tgtEl>
                                        <p:attrNameLst>
                                          <p:attrName>ppt_x</p:attrName>
                                        </p:attrNameLst>
                                      </p:cBhvr>
                                      <p:tavLst>
                                        <p:tav tm="0">
                                          <p:val>
                                            <p:strVal val="#ppt_x"/>
                                          </p:val>
                                        </p:tav>
                                        <p:tav tm="100000">
                                          <p:val>
                                            <p:strVal val="#ppt_x"/>
                                          </p:val>
                                        </p:tav>
                                      </p:tavLst>
                                    </p:anim>
                                    <p:anim calcmode="lin" valueType="num">
                                      <p:cBhvr additive="base">
                                        <p:cTn id="9" dur="450" fill="hold"/>
                                        <p:tgtEl>
                                          <p:spTgt spid="5"/>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40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450" fill="hold"/>
                                        <p:tgtEl>
                                          <p:spTgt spid="6"/>
                                        </p:tgtEl>
                                        <p:attrNameLst>
                                          <p:attrName>ppt_x</p:attrName>
                                        </p:attrNameLst>
                                      </p:cBhvr>
                                      <p:tavLst>
                                        <p:tav tm="0">
                                          <p:val>
                                            <p:strVal val="#ppt_x"/>
                                          </p:val>
                                        </p:tav>
                                        <p:tav tm="100000">
                                          <p:val>
                                            <p:strVal val="#ppt_x"/>
                                          </p:val>
                                        </p:tav>
                                      </p:tavLst>
                                    </p:anim>
                                    <p:anim calcmode="lin" valueType="num">
                                      <p:cBhvr additive="base">
                                        <p:cTn id="13" dur="450" fill="hold"/>
                                        <p:tgtEl>
                                          <p:spTgt spid="6"/>
                                        </p:tgtEl>
                                        <p:attrNameLst>
                                          <p:attrName>ppt_y</p:attrName>
                                        </p:attrNameLst>
                                      </p:cBhvr>
                                      <p:tavLst>
                                        <p:tav tm="0">
                                          <p:val>
                                            <p:strVal val="1+#ppt_h/2"/>
                                          </p:val>
                                        </p:tav>
                                        <p:tav tm="100000">
                                          <p:val>
                                            <p:strVal val="#ppt_y"/>
                                          </p:val>
                                        </p:tav>
                                      </p:tavLst>
                                    </p:anim>
                                  </p:childTnLst>
                                </p:cTn>
                              </p:par>
                              <p:par>
                                <p:cTn id="17"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par>
                                <p:cTn id="19" presetID="0" presetClass="path" presetSubtype="0" fill="hold" nodeType="withEffect">
                                  <p:stCondLst>
                                    <p:cond delay="500"/>
                                  </p:stCondLst>
                                  <p:childTnLst>
                                    <p:animMotion origin="layout" path="M 0 0 L 0.12 0 E" pathEditMode="relative">
                                      <p:cBhvr>
                                        <p:cTn id="18" dur="2600" fill="hold"/>
                                        <p:tgtEl>
                                          <p:spTgt spid="7"/>
                                        </p:tgtEl>
                                        <p:attrNameLst>
                                          <p:attrName>ppt_x</p:attrName>
                                          <p:attrName>ppt_y</p:attrName>
                                        </p:attrNameLst>
                                      </p:cBhvr>
                                      <p:rCtr x="0.06" y="0"/>
                                    </p:animMotion>
                                  </p:childTnLst>
                                </p:cTn>
                              </p:par>
                            </p:childTnLst>
                          </p:cTn>
                        </p:par>
                      </p:childTnLst>
                    </p:cTn>
                  </p:par>
                  <p:par>
                    <p:cTn id="27" fill="hold">
                      <p:stCondLst>
                        <p:cond delay="indefinite"/>
                      </p:stCondLst>
                      <p:childTnLst>
                        <p:par>
                          <p:cTn id="28" fill="hold">
                            <p:stCondLst>
                              <p:cond delay="0"/>
                            </p:stCondLst>
                            <p:childTnLst>
                              <p:par>
                                <p:cTn id="26" presetID="53" presetClass="entr" presetSubtype="16"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450" fill="hold"/>
                                        <p:tgtEl>
                                          <p:spTgt spid="8"/>
                                        </p:tgtEl>
                                        <p:attrNameLst>
                                          <p:attrName>ppt_w</p:attrName>
                                        </p:attrNameLst>
                                      </p:cBhvr>
                                      <p:tavLst>
                                        <p:tav tm="0">
                                          <p:val>
                                            <p:fltVal val="0"/>
                                          </p:val>
                                        </p:tav>
                                        <p:tav tm="100000">
                                          <p:val>
                                            <p:strVal val="#ppt_w"/>
                                          </p:val>
                                        </p:tav>
                                      </p:tavLst>
                                    </p:anim>
                                    <p:anim calcmode="lin" valueType="num">
                                      <p:cBhvr additive="base">
                                        <p:cTn id="24" dur="450" fill="hold"/>
                                        <p:tgtEl>
                                          <p:spTgt spid="8"/>
                                        </p:tgtEl>
                                        <p:attrNameLst>
                                          <p:attrName>ppt_h</p:attrName>
                                        </p:attrNameLst>
                                      </p:cBhvr>
                                      <p:tavLst>
                                        <p:tav tm="0">
                                          <p:val>
                                            <p:fltVal val="0"/>
                                          </p:val>
                                        </p:tav>
                                        <p:tav tm="100000">
                                          <p:val>
                                            <p:strVal val="#ppt_h"/>
                                          </p:val>
                                        </p:tav>
                                      </p:tavLst>
                                    </p:anim>
                                    <p:animEffect transition="in" filter="fade">
                                      <p:cBhvr>
                                        <p:cTn id="25" dur="450"/>
                                        <p:tgtEl>
                                          <p:spTgt spid="8"/>
                                        </p:tgtEl>
                                      </p:cBhvr>
                                    </p:animEffect>
                                  </p:childTnLst>
                                </p:cTn>
                              </p:par>
                            </p:childTnLst>
                          </p:cTn>
                        </p:par>
                      </p:childTnLst>
                    </p:cTn>
                  </p:par>
                  <p:par>
                    <p:cTn id="44" fill="hold">
                      <p:stCondLst>
                        <p:cond delay="indefinite"/>
                      </p:stCondLst>
                      <p:childTnLst>
                        <p:par>
                          <p:cTn id="45" fill="hold">
                            <p:stCondLst>
                              <p:cond delay="0"/>
                            </p:stCondLst>
                            <p:childTnLst>
                              <p:par>
                                <p:cTn id="33" presetID="53" presetClass="entr" presetSubtype="16"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450" fill="hold"/>
                                        <p:tgtEl>
                                          <p:spTgt spid="9"/>
                                        </p:tgtEl>
                                        <p:attrNameLst>
                                          <p:attrName>ppt_w</p:attrName>
                                        </p:attrNameLst>
                                      </p:cBhvr>
                                      <p:tavLst>
                                        <p:tav tm="0">
                                          <p:val>
                                            <p:fltVal val="0"/>
                                          </p:val>
                                        </p:tav>
                                        <p:tav tm="100000">
                                          <p:val>
                                            <p:strVal val="#ppt_w"/>
                                          </p:val>
                                        </p:tav>
                                      </p:tavLst>
                                    </p:anim>
                                    <p:anim calcmode="lin" valueType="num">
                                      <p:cBhvr additive="base">
                                        <p:cTn id="31" dur="450" fill="hold"/>
                                        <p:tgtEl>
                                          <p:spTgt spid="9"/>
                                        </p:tgtEl>
                                        <p:attrNameLst>
                                          <p:attrName>ppt_h</p:attrName>
                                        </p:attrNameLst>
                                      </p:cBhvr>
                                      <p:tavLst>
                                        <p:tav tm="0">
                                          <p:val>
                                            <p:fltVal val="0"/>
                                          </p:val>
                                        </p:tav>
                                        <p:tav tm="100000">
                                          <p:val>
                                            <p:strVal val="#ppt_h"/>
                                          </p:val>
                                        </p:tav>
                                      </p:tavLst>
                                    </p:anim>
                                    <p:animEffect transition="in" filter="fade">
                                      <p:cBhvr>
                                        <p:cTn id="32" dur="450"/>
                                        <p:tgtEl>
                                          <p:spTgt spid="9"/>
                                        </p:tgtEl>
                                      </p:cBhvr>
                                    </p:animEffect>
                                  </p:childTnLst>
                                </p:cTn>
                              </p:par>
                              <p:par>
                                <p:cTn id="38" presetID="53" presetClass="entr" presetSubtype="16" fill="hold" grpId="0" nodeType="withEffect">
                                  <p:stCondLst>
                                    <p:cond delay="25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350" fill="hold"/>
                                        <p:tgtEl>
                                          <p:spTgt spid="12"/>
                                        </p:tgtEl>
                                        <p:attrNameLst>
                                          <p:attrName>ppt_w</p:attrName>
                                        </p:attrNameLst>
                                      </p:cBhvr>
                                      <p:tavLst>
                                        <p:tav tm="0">
                                          <p:val>
                                            <p:fltVal val="0"/>
                                          </p:val>
                                        </p:tav>
                                        <p:tav tm="100000">
                                          <p:val>
                                            <p:strVal val="#ppt_w"/>
                                          </p:val>
                                        </p:tav>
                                      </p:tavLst>
                                    </p:anim>
                                    <p:anim calcmode="lin" valueType="num">
                                      <p:cBhvr additive="base">
                                        <p:cTn id="36" dur="350" fill="hold"/>
                                        <p:tgtEl>
                                          <p:spTgt spid="12"/>
                                        </p:tgtEl>
                                        <p:attrNameLst>
                                          <p:attrName>ppt_h</p:attrName>
                                        </p:attrNameLst>
                                      </p:cBhvr>
                                      <p:tavLst>
                                        <p:tav tm="0">
                                          <p:val>
                                            <p:fltVal val="0"/>
                                          </p:val>
                                        </p:tav>
                                        <p:tav tm="100000">
                                          <p:val>
                                            <p:strVal val="#ppt_h"/>
                                          </p:val>
                                        </p:tav>
                                      </p:tavLst>
                                    </p:anim>
                                    <p:animEffect transition="in" filter="fade">
                                      <p:cBhvr>
                                        <p:cTn id="37" dur="350"/>
                                        <p:tgtEl>
                                          <p:spTgt spid="12"/>
                                        </p:tgtEl>
                                      </p:cBhvr>
                                    </p:animEffect>
                                  </p:childTnLst>
                                </p:cTn>
                              </p:par>
                              <p:par>
                                <p:cTn id="41" presetID="10" presetClass="entr" presetSubtype="0" fill="hold" nodeType="withEffect">
                                  <p:stCondLst>
                                    <p:cond delay="25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350"/>
                                        <p:tgtEl>
                                          <p:spTgt spid="13"/>
                                        </p:tgtEl>
                                      </p:cBhvr>
                                    </p:animEffect>
                                  </p:childTnLst>
                                </p:cTn>
                              </p:par>
                              <p:par>
                                <p:cTn id="43" presetID="0" presetClass="path" presetSubtype="0" fill="hold" nodeType="withEffect">
                                  <p:stCondLst>
                                    <p:cond delay="700"/>
                                  </p:stCondLst>
                                  <p:childTnLst>
                                    <p:animMotion origin="layout" path="M 0 0 L 0.07 0 E" pathEditMode="relative">
                                      <p:cBhvr>
                                        <p:cTn id="42" dur="2500" fill="hold"/>
                                        <p:tgtEl>
                                          <p:spTgt spid="13"/>
                                        </p:tgtEl>
                                        <p:attrNameLst>
                                          <p:attrName>ppt_x</p:attrName>
                                          <p:attrName>ppt_y</p:attrName>
                                        </p:attrNameLst>
                                      </p:cBhvr>
                                      <p:rCtr x="0.035" y="0"/>
                                    </p:animMotion>
                                  </p:childTnLst>
                                </p:cTn>
                              </p:par>
                            </p:childTnLst>
                          </p:cTn>
                        </p:par>
                      </p:childTnLst>
                    </p:cTn>
                  </p:par>
                  <p:par>
                    <p:cTn id="51" fill="hold">
                      <p:stCondLst>
                        <p:cond delay="indefinite"/>
                      </p:stCondLst>
                      <p:childTnLst>
                        <p:par>
                          <p:cTn id="52" fill="hold">
                            <p:stCondLst>
                              <p:cond delay="0"/>
                            </p:stCondLst>
                            <p:childTnLst>
                              <p:par>
                                <p:cTn id="50" presetID="53" presetClass="entr" presetSubtype="16"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450" fill="hold"/>
                                        <p:tgtEl>
                                          <p:spTgt spid="10"/>
                                        </p:tgtEl>
                                        <p:attrNameLst>
                                          <p:attrName>ppt_w</p:attrName>
                                        </p:attrNameLst>
                                      </p:cBhvr>
                                      <p:tavLst>
                                        <p:tav tm="0">
                                          <p:val>
                                            <p:fltVal val="0"/>
                                          </p:val>
                                        </p:tav>
                                        <p:tav tm="100000">
                                          <p:val>
                                            <p:strVal val="#ppt_w"/>
                                          </p:val>
                                        </p:tav>
                                      </p:tavLst>
                                    </p:anim>
                                    <p:anim calcmode="lin" valueType="num">
                                      <p:cBhvr additive="base">
                                        <p:cTn id="48" dur="450" fill="hold"/>
                                        <p:tgtEl>
                                          <p:spTgt spid="10"/>
                                        </p:tgtEl>
                                        <p:attrNameLst>
                                          <p:attrName>ppt_h</p:attrName>
                                        </p:attrNameLst>
                                      </p:cBhvr>
                                      <p:tavLst>
                                        <p:tav tm="0">
                                          <p:val>
                                            <p:fltVal val="0"/>
                                          </p:val>
                                        </p:tav>
                                        <p:tav tm="100000">
                                          <p:val>
                                            <p:strVal val="#ppt_h"/>
                                          </p:val>
                                        </p:tav>
                                      </p:tavLst>
                                    </p:anim>
                                    <p:animEffect transition="in" filter="fade">
                                      <p:cBhvr>
                                        <p:cTn id="49" dur="450"/>
                                        <p:tgtEl>
                                          <p:spTgt spid="10"/>
                                        </p:tgtEl>
                                      </p:cBhvr>
                                    </p:animEffect>
                                  </p:childTnLst>
                                </p:cTn>
                              </p:par>
                            </p:childTnLst>
                          </p:cTn>
                        </p:par>
                      </p:childTnLst>
                    </p:cTn>
                  </p:par>
                  <p:par>
                    <p:cTn id="58" fill="hold">
                      <p:stCondLst>
                        <p:cond delay="indefinite"/>
                      </p:stCondLst>
                      <p:childTnLst>
                        <p:par>
                          <p:cTn id="59" fill="hold">
                            <p:stCondLst>
                              <p:cond delay="0"/>
                            </p:stCondLst>
                            <p:childTnLst>
                              <p:par>
                                <p:cTn id="57" presetID="53" presetClass="entr" presetSubtype="16"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 calcmode="lin" valueType="num">
                                      <p:cBhvr additive="base">
                                        <p:cTn id="54" dur="450" fill="hold"/>
                                        <p:tgtEl>
                                          <p:spTgt spid="11"/>
                                        </p:tgtEl>
                                        <p:attrNameLst>
                                          <p:attrName>ppt_w</p:attrName>
                                        </p:attrNameLst>
                                      </p:cBhvr>
                                      <p:tavLst>
                                        <p:tav tm="0">
                                          <p:val>
                                            <p:fltVal val="0"/>
                                          </p:val>
                                        </p:tav>
                                        <p:tav tm="100000">
                                          <p:val>
                                            <p:strVal val="#ppt_w"/>
                                          </p:val>
                                        </p:tav>
                                      </p:tavLst>
                                    </p:anim>
                                    <p:anim calcmode="lin" valueType="num">
                                      <p:cBhvr additive="base">
                                        <p:cTn id="55" dur="450" fill="hold"/>
                                        <p:tgtEl>
                                          <p:spTgt spid="11"/>
                                        </p:tgtEl>
                                        <p:attrNameLst>
                                          <p:attrName>ppt_h</p:attrName>
                                        </p:attrNameLst>
                                      </p:cBhvr>
                                      <p:tavLst>
                                        <p:tav tm="0">
                                          <p:val>
                                            <p:fltVal val="0"/>
                                          </p:val>
                                        </p:tav>
                                        <p:tav tm="100000">
                                          <p:val>
                                            <p:strVal val="#ppt_h"/>
                                          </p:val>
                                        </p:tav>
                                      </p:tavLst>
                                    </p:anim>
                                    <p:animEffect transition="in" filter="fade">
                                      <p:cBhvr>
                                        <p:cTn id="56" dur="450"/>
                                        <p:tgtEl>
                                          <p:spTgt spid="11"/>
                                        </p:tgtEl>
                                      </p:cBhvr>
                                    </p:animEffect>
                                  </p:childTnLst>
                                </p:cTn>
                              </p:par>
                            </p:childTnLst>
                          </p:cTn>
                        </p:par>
                      </p:childTnLst>
                    </p:cTn>
                  </p:par>
                  <p:par>
                    <p:cTn id="65" fill="hold">
                      <p:stCondLst>
                        <p:cond delay="indefinite"/>
                      </p:stCondLst>
                      <p:childTnLst>
                        <p:par>
                          <p:cTn id="66"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p:tgtEl>
                                          <p:spTgt spid="14"/>
                                        </p:tgtEl>
                                        <p:attrNameLst>
                                          <p:attrName>ppt_w</p:attrName>
                                        </p:attrNameLst>
                                      </p:cBhvr>
                                      <p:tavLst>
                                        <p:tav tm="0">
                                          <p:val>
                                            <p:fltVal val="0"/>
                                          </p:val>
                                        </p:tav>
                                        <p:tav tm="100000">
                                          <p:val>
                                            <p:strVal val="#ppt_w"/>
                                          </p:val>
                                        </p:tav>
                                      </p:tavLst>
                                    </p:anim>
                                    <p:anim calcmode="lin" valueType="num">
                                      <p:cBhvr additive="base">
                                        <p:cTn id="62" dur="500" fill="hold"/>
                                        <p:tgtEl>
                                          <p:spTgt spid="14"/>
                                        </p:tgtEl>
                                        <p:attrNameLst>
                                          <p:attrName>ppt_h</p:attrName>
                                        </p:attrNameLst>
                                      </p:cBhvr>
                                      <p:tavLst>
                                        <p:tav tm="0">
                                          <p:val>
                                            <p:fltVal val="0"/>
                                          </p:val>
                                        </p:tav>
                                        <p:tav tm="100000">
                                          <p:val>
                                            <p:strVal val="#ppt_h"/>
                                          </p:val>
                                        </p:tav>
                                      </p:tavLst>
                                    </p:anim>
                                    <p:animEffect transition="in" filter="fade">
                                      <p:cBhvr>
                                        <p:cTn id="6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2" grpId="0" animBg="1"/>
      <p:bldP spid="10" grpId="0" animBg="1"/>
      <p:bldP spid="11" grpId="0" animBg="1"/>
      <p:bldP spid="1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A09 · Logging and Alerting: the fix</a:t>
            </a:r>
            <a:endParaRPr lang="en-US" sz="3000" dirty="0"/>
          </a:p>
        </p:txBody>
      </p:sp>
      <p:pic>
        <p:nvPicPr>
          <p:cNvPr id="4" name="Mascot" descr="Mascot cartoon">    </p:cNvPr>
          <p:cNvPicPr>
            <a:picLocks noChangeAspect="1"/>
          </p:cNvPicPr>
          <p:nvPr/>
        </p:nvPicPr>
        <p:blipFill>
          <a:blip r:embed="rId1"/>
          <a:stretch>
            <a:fillRect/>
          </a:stretch>
        </p:blipFill>
        <p:spPr>
          <a:xfrm>
            <a:off x="640080" y="1097280"/>
            <a:ext cx="1737360" cy="1737360"/>
          </a:xfrm>
          <a:prstGeom prst="rect">
            <a:avLst/>
          </a:prstGeom>
        </p:spPr>
      </p:pic>
      <p:sp>
        <p:nvSpPr>
          <p:cNvPr id="5" name="Stop sign"/>
          <p:cNvSpPr txBox="1"/>
          <p:nvPr/>
        </p:nvSpPr>
        <p:spPr>
          <a:xfrm>
            <a:off x="2377440" y="3063240"/>
            <a:ext cx="777240" cy="777240"/>
          </a:xfrm>
          <a:prstGeom prst="octagon">
            <a:avLst/>
          </a:prstGeom>
          <a:solidFill>
            <a:schemeClr val="accent2"/>
          </a:solidFill>
          <a:ln/>
        </p:spPr>
        <p:txBody>
          <a:bodyPr wrap="square" lIns="0" tIns="0" rIns="0" bIns="0" rtlCol="0" anchor="ctr"/>
          <a:lstStyle/>
          <a:p>
            <a:pPr algn="ctr" indent="0" marL="0">
              <a:buNone/>
            </a:pPr>
            <a:r>
              <a:rPr lang="en-US" sz="1300" b="1" dirty="0">
                <a:solidFill>
                  <a:srgbClr val="FFFFFF"/>
                </a:solidFill>
              </a:rPr>
              <a:t>STOP</a:t>
            </a:r>
            <a:endParaRPr lang="en-US" sz="1300" dirty="0"/>
          </a:p>
        </p:txBody>
      </p:sp>
      <p:pic>
        <p:nvPicPr>
          <p:cNvPr id="6" name="Hacker" descr="Hacker cartoon">    </p:cNvPr>
          <p:cNvPicPr>
            <a:picLocks noChangeAspect="1"/>
          </p:cNvPicPr>
          <p:nvPr/>
        </p:nvPicPr>
        <p:blipFill>
          <a:blip r:embed="rId2"/>
          <a:stretch>
            <a:fillRect/>
          </a:stretch>
        </p:blipFill>
        <p:spPr>
          <a:xfrm>
            <a:off x="274320" y="2834640"/>
            <a:ext cx="1188720" cy="1188720"/>
          </a:xfrm>
          <a:prstGeom prst="rect">
            <a:avLst/>
          </a:prstGeom>
        </p:spPr>
      </p:pic>
      <p:sp>
        <p:nvSpPr>
          <p:cNvPr id="7" name="Rule 0"/>
          <p:cNvSpPr txBox="1"/>
          <p:nvPr/>
        </p:nvSpPr>
        <p:spPr>
          <a:xfrm>
            <a:off x="3383280" y="1143000"/>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Log security events</a:t>
            </a:r>
            <a:endParaRPr lang="en-US" sz="1400" dirty="0"/>
          </a:p>
          <a:p>
            <a:pPr algn="l" indent="0" marL="0">
              <a:buNone/>
            </a:pPr>
            <a:r>
              <a:rPr lang="en-US" sz="1200" dirty="0">
                <a:solidFill>
                  <a:schemeClr val="tx1"/>
                </a:solidFill>
              </a:rPr>
              <a:t>Failed logins, access denied, admin actions: who, what, when, where.</a:t>
            </a:r>
            <a:endParaRPr lang="en-US" sz="1400" dirty="0"/>
          </a:p>
        </p:txBody>
      </p:sp>
      <p:sp>
        <p:nvSpPr>
          <p:cNvPr id="8" name="Rule num 0"/>
          <p:cNvSpPr txBox="1"/>
          <p:nvPr/>
        </p:nvSpPr>
        <p:spPr>
          <a:xfrm>
            <a:off x="3493008" y="1271016"/>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Rule 1"/>
          <p:cNvSpPr txBox="1"/>
          <p:nvPr/>
        </p:nvSpPr>
        <p:spPr>
          <a:xfrm>
            <a:off x="3383280" y="1892808"/>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Never log secrets</a:t>
            </a:r>
            <a:endParaRPr lang="en-US" sz="1400" dirty="0"/>
          </a:p>
          <a:p>
            <a:pPr algn="l" indent="0" marL="0">
              <a:buNone/>
            </a:pPr>
            <a:r>
              <a:rPr lang="en-US" sz="1200" dirty="0">
                <a:solidFill>
                  <a:schemeClr val="tx1"/>
                </a:solidFill>
              </a:rPr>
              <a:t>No passwords, tokens or personal data. Use structured logs to prevent log injection.</a:t>
            </a:r>
            <a:endParaRPr lang="en-US" sz="1400" dirty="0"/>
          </a:p>
        </p:txBody>
      </p:sp>
      <p:sp>
        <p:nvSpPr>
          <p:cNvPr id="10" name="Rule num 1"/>
          <p:cNvSpPr txBox="1"/>
          <p:nvPr/>
        </p:nvSpPr>
        <p:spPr>
          <a:xfrm>
            <a:off x="3493008" y="2020824"/>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Rule 2"/>
          <p:cNvSpPr txBox="1"/>
          <p:nvPr/>
        </p:nvSpPr>
        <p:spPr>
          <a:xfrm>
            <a:off x="3383280" y="2642616"/>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Alert and protect</a:t>
            </a:r>
            <a:endParaRPr lang="en-US" sz="1400" dirty="0"/>
          </a:p>
          <a:p>
            <a:pPr algn="l" indent="0" marL="0">
              <a:buNone/>
            </a:pPr>
            <a:r>
              <a:rPr lang="en-US" sz="1200" dirty="0">
                <a:solidFill>
                  <a:schemeClr val="tx1"/>
                </a:solidFill>
              </a:rPr>
              <a:t>Alerts that people act on. Append-only, tamper-evident log storage.</a:t>
            </a:r>
            <a:endParaRPr lang="en-US" sz="1400" dirty="0"/>
          </a:p>
        </p:txBody>
      </p:sp>
      <p:sp>
        <p:nvSpPr>
          <p:cNvPr id="12" name="Rule num 2"/>
          <p:cNvSpPr txBox="1"/>
          <p:nvPr/>
        </p:nvSpPr>
        <p:spPr>
          <a:xfrm>
            <a:off x="3493008" y="2770632"/>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Chip NG"/>
          <p:cNvSpPr txBox="1"/>
          <p:nvPr/>
        </p:nvSpPr>
        <p:spPr>
          <a:xfrm>
            <a:off x="3383280" y="3429000"/>
            <a:ext cx="2606040" cy="804672"/>
          </a:xfrm>
          <a:prstGeom prst="roundRect">
            <a:avLst>
              <a:gd name="adj" fmla="val 11364"/>
            </a:avLst>
          </a:prstGeom>
          <a:solidFill>
            <a:schemeClr val="accent5">
              <a:alpha val="12000"/>
            </a:schemeClr>
          </a:solidFill>
          <a:ln w="12700">
            <a:solidFill>
              <a:schemeClr val="accent5"/>
            </a:solidFill>
          </a:ln>
        </p:spPr>
        <p:txBody>
          <a:bodyPr wrap="square" lIns="127000" tIns="25400" rIns="101600" bIns="25400" rtlCol="0" anchor="ctr"/>
          <a:lstStyle/>
          <a:p>
            <a:pPr algn="l" indent="0" marL="0">
              <a:buNone/>
            </a:pPr>
            <a:r>
              <a:rPr lang="en-US" sz="1100" b="1" spc="200" kern="0" dirty="0">
                <a:solidFill>
                  <a:schemeClr val="accent5"/>
                </a:solidFill>
              </a:rPr>
              <a:t>IN ANGULAR</a:t>
            </a:r>
            <a:endParaRPr lang="en-US" sz="1100" dirty="0"/>
          </a:p>
          <a:p>
            <a:pPr algn="l" indent="0" marL="0">
              <a:buNone/>
            </a:pPr>
            <a:r>
              <a:rPr lang="en-US" sz="1200" dirty="0">
                <a:solidFill>
                  <a:schemeClr val="tx1"/>
                </a:solidFill>
              </a:rPr>
              <a:t>Send client errors to the API. Do not treat them as evidence.</a:t>
            </a:r>
            <a:endParaRPr lang="en-US" sz="1100" dirty="0"/>
          </a:p>
        </p:txBody>
      </p:sp>
      <p:sp>
        <p:nvSpPr>
          <p:cNvPr id="14" name="Chip NET"/>
          <p:cNvSpPr txBox="1"/>
          <p:nvPr/>
        </p:nvSpPr>
        <p:spPr>
          <a:xfrm>
            <a:off x="6080760" y="3429000"/>
            <a:ext cx="2606040" cy="804672"/>
          </a:xfrm>
          <a:prstGeom prst="roundRect">
            <a:avLst>
              <a:gd name="adj" fmla="val 11364"/>
            </a:avLst>
          </a:prstGeom>
          <a:solidFill>
            <a:schemeClr val="accent6">
              <a:alpha val="12000"/>
            </a:schemeClr>
          </a:solidFill>
          <a:ln w="12700">
            <a:solidFill>
              <a:schemeClr val="accent6"/>
            </a:solidFill>
          </a:ln>
        </p:spPr>
        <p:txBody>
          <a:bodyPr wrap="square" lIns="127000" tIns="25400" rIns="101600" bIns="25400" rtlCol="0" anchor="ctr"/>
          <a:lstStyle/>
          <a:p>
            <a:pPr algn="l" indent="0" marL="0">
              <a:buNone/>
            </a:pPr>
            <a:r>
              <a:rPr lang="en-US" sz="1100" b="1" spc="200" kern="0" dirty="0">
                <a:solidFill>
                  <a:schemeClr val="accent6"/>
                </a:solidFill>
              </a:rPr>
              <a:t>IN .NET CORE</a:t>
            </a:r>
            <a:endParaRPr lang="en-US" sz="1100" dirty="0"/>
          </a:p>
          <a:p>
            <a:pPr algn="l" indent="0" marL="0">
              <a:buNone/>
            </a:pPr>
            <a:r>
              <a:rPr lang="en-US" sz="1200" dirty="0">
                <a:solidFill>
                  <a:schemeClr val="tx1"/>
                </a:solidFill>
              </a:rPr>
              <a:t>_log.LogWarning("Login failed {User}", id) plus alert rules.</a:t>
            </a:r>
            <a:endParaRPr lang="en-US" sz="1100" dirty="0"/>
          </a:p>
        </p:txBody>
      </p:sp>
      <p:sp>
        <p:nvSpPr>
          <p:cNvPr id="15" name="Takeaway"/>
          <p:cNvSpPr txBox="1"/>
          <p:nvPr/>
        </p:nvSpPr>
        <p:spPr>
          <a:xfrm>
            <a:off x="457200" y="4279392"/>
            <a:ext cx="4754880" cy="411480"/>
          </a:xfrm>
          <a:prstGeom prst="rect">
            <a:avLst/>
          </a:prstGeom>
          <a:noFill/>
          <a:ln/>
        </p:spPr>
        <p:txBody>
          <a:bodyPr wrap="square" lIns="0" tIns="0" rIns="0" bIns="0" rtlCol="0" anchor="ctr"/>
          <a:lstStyle/>
          <a:p>
            <a:pPr indent="0" marL="0">
              <a:buNone/>
            </a:pPr>
            <a:r>
              <a:rPr lang="en-US" sz="1600" b="1" dirty="0">
                <a:solidFill>
                  <a:schemeClr val="accent1"/>
                </a:solidFill>
              </a:rPr>
              <a:t>Log it, alert on it, protect it.</a:t>
            </a:r>
            <a:endParaRPr lang="en-US" sz="16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cond evt="onBegin" delay="0">
                          <p:tn val="2"/>
                        </p:cond>
                      </p:stCondLst>
                      <p:childTnLst>
                        <p:par>
                          <p:cTn id="19"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5"/>
                                        </p:tgtEl>
                                        <p:attrNameLst>
                                          <p:attrName>style.visibility</p:attrName>
                                        </p:attrNameLst>
                                      </p:cBhvr>
                                      <p:to>
                                        <p:strVal val="visible"/>
                                      </p:to>
                                    </p:set>
                                    <p:anim calcmode="lin" valueType="num">
                                      <p:cBhvr additive="base">
                                        <p:cTn id="4" dur="400" fill="hold"/>
                                        <p:tgtEl>
                                          <p:spTgt spid="5"/>
                                        </p:tgtEl>
                                        <p:attrNameLst>
                                          <p:attrName>ppt_w</p:attrName>
                                        </p:attrNameLst>
                                      </p:cBhvr>
                                      <p:tavLst>
                                        <p:tav tm="0">
                                          <p:val>
                                            <p:fltVal val="0"/>
                                          </p:val>
                                        </p:tav>
                                        <p:tav tm="100000">
                                          <p:val>
                                            <p:strVal val="#ppt_w"/>
                                          </p:val>
                                        </p:tav>
                                      </p:tavLst>
                                    </p:anim>
                                    <p:anim calcmode="lin" valueType="num">
                                      <p:cBhvr additive="base">
                                        <p:cTn id="5" dur="400" fill="hold"/>
                                        <p:tgtEl>
                                          <p:spTgt spid="5"/>
                                        </p:tgtEl>
                                        <p:attrNameLst>
                                          <p:attrName>ppt_h</p:attrName>
                                        </p:attrNameLst>
                                      </p:cBhvr>
                                      <p:tavLst>
                                        <p:tav tm="0">
                                          <p:val>
                                            <p:fltVal val="0"/>
                                          </p:val>
                                        </p:tav>
                                        <p:tav tm="100000">
                                          <p:val>
                                            <p:strVal val="#ppt_h"/>
                                          </p:val>
                                        </p:tav>
                                      </p:tavLst>
                                    </p:anim>
                                    <p:animEffect transition="in" filter="fade">
                                      <p:cBhvr>
                                        <p:cTn id="6" dur="400"/>
                                        <p:tgtEl>
                                          <p:spTgt spid="5"/>
                                        </p:tgtEl>
                                      </p:cBhvr>
                                    </p:animEffect>
                                  </p:childTnLst>
                                </p:cTn>
                              </p:par>
                              <p:par>
                                <p:cTn id="10" presetID="10" presetClass="entr" presetSubtype="0" fill="hold" nodeType="withEffect">
                                  <p:stCondLst>
                                    <p:cond delay="20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300"/>
                                        <p:tgtEl>
                                          <p:spTgt spid="6"/>
                                        </p:tgtEl>
                                      </p:cBhvr>
                                    </p:animEffect>
                                  </p:childTnLst>
                                </p:cTn>
                              </p:par>
                              <p:par>
                                <p:cTn id="12" presetID="0" presetClass="path" presetSubtype="0" fill="hold" nodeType="withEffect">
                                  <p:stCondLst>
                                    <p:cond delay="600"/>
                                  </p:stCondLst>
                                  <p:childTnLst>
                                    <p:animMotion origin="layout" path="M 0 0 L 0.1 0 E" pathEditMode="relative">
                                      <p:cBhvr>
                                        <p:cTn id="11" dur="2400" fill="hold"/>
                                        <p:tgtEl>
                                          <p:spTgt spid="6"/>
                                        </p:tgtEl>
                                        <p:attrNameLst>
                                          <p:attrName>ppt_x</p:attrName>
                                          <p:attrName>ppt_y</p:attrName>
                                        </p:attrNameLst>
                                      </p:cBhvr>
                                      <p:rCtr x="0.05" y="0"/>
                                    </p:animMotion>
                                  </p:childTnLst>
                                </p:cTn>
                              </p:par>
                              <p:par>
                                <p:cTn id="17" presetID="53" presetClass="entr" presetSubtype="16" fill="hold" nodeType="withEffect">
                                  <p:stCondLst>
                                    <p:cond delay="300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ppt_w</p:attrName>
                                        </p:attrNameLst>
                                      </p:cBhvr>
                                      <p:tavLst>
                                        <p:tav tm="0">
                                          <p:val>
                                            <p:fltVal val="0"/>
                                          </p:val>
                                        </p:tav>
                                        <p:tav tm="100000">
                                          <p:val>
                                            <p:strVal val="#ppt_w"/>
                                          </p:val>
                                        </p:tav>
                                      </p:tavLst>
                                    </p:anim>
                                    <p:anim calcmode="lin" valueType="num">
                                      <p:cBhvr additive="base">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23" presetID="2" presetClass="entr" presetSubtype="2"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450" fill="hold"/>
                                        <p:tgtEl>
                                          <p:spTgt spid="7"/>
                                        </p:tgtEl>
                                        <p:attrNameLst>
                                          <p:attrName>ppt_x</p:attrName>
                                        </p:attrNameLst>
                                      </p:cBhvr>
                                      <p:tavLst>
                                        <p:tav tm="0">
                                          <p:val>
                                            <p:strVal val="1+#ppt_w/2"/>
                                          </p:val>
                                        </p:tav>
                                        <p:tav tm="100000">
                                          <p:val>
                                            <p:strVal val="#ppt_x"/>
                                          </p:val>
                                        </p:tav>
                                      </p:tavLst>
                                    </p:anim>
                                    <p:anim calcmode="lin" valueType="num">
                                      <p:cBhvr additive="base">
                                        <p:cTn id="22" dur="450" fill="hold"/>
                                        <p:tgtEl>
                                          <p:spTgt spid="7"/>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450" fill="hold"/>
                                        <p:tgtEl>
                                          <p:spTgt spid="8"/>
                                        </p:tgtEl>
                                        <p:attrNameLst>
                                          <p:attrName>ppt_x</p:attrName>
                                        </p:attrNameLst>
                                      </p:cBhvr>
                                      <p:tavLst>
                                        <p:tav tm="0">
                                          <p:val>
                                            <p:strVal val="1+#ppt_w/2"/>
                                          </p:val>
                                        </p:tav>
                                        <p:tav tm="100000">
                                          <p:val>
                                            <p:strVal val="#ppt_x"/>
                                          </p:val>
                                        </p:tav>
                                      </p:tavLst>
                                    </p:anim>
                                    <p:anim calcmode="lin" valueType="num">
                                      <p:cBhvr additive="base">
                                        <p:cTn id="26" dur="45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33" presetID="2" presetClass="entr" presetSubtype="2"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450" fill="hold"/>
                                        <p:tgtEl>
                                          <p:spTgt spid="9"/>
                                        </p:tgtEl>
                                        <p:attrNameLst>
                                          <p:attrName>ppt_x</p:attrName>
                                        </p:attrNameLst>
                                      </p:cBhvr>
                                      <p:tavLst>
                                        <p:tav tm="0">
                                          <p:val>
                                            <p:strVal val="1+#ppt_w/2"/>
                                          </p:val>
                                        </p:tav>
                                        <p:tav tm="100000">
                                          <p:val>
                                            <p:strVal val="#ppt_x"/>
                                          </p:val>
                                        </p:tav>
                                      </p:tavLst>
                                    </p:anim>
                                    <p:anim calcmode="lin" valueType="num">
                                      <p:cBhvr additive="base">
                                        <p:cTn id="32" dur="450" fill="hold"/>
                                        <p:tgtEl>
                                          <p:spTgt spid="9"/>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450" fill="hold"/>
                                        <p:tgtEl>
                                          <p:spTgt spid="10"/>
                                        </p:tgtEl>
                                        <p:attrNameLst>
                                          <p:attrName>ppt_x</p:attrName>
                                        </p:attrNameLst>
                                      </p:cBhvr>
                                      <p:tavLst>
                                        <p:tav tm="0">
                                          <p:val>
                                            <p:strVal val="1+#ppt_w/2"/>
                                          </p:val>
                                        </p:tav>
                                        <p:tav tm="100000">
                                          <p:val>
                                            <p:strVal val="#ppt_x"/>
                                          </p:val>
                                        </p:tav>
                                      </p:tavLst>
                                    </p:anim>
                                    <p:anim calcmode="lin" valueType="num">
                                      <p:cBhvr additive="base">
                                        <p:cTn id="36" dur="45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3" presetID="2" presetClass="entr" presetSubtype="2"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450" fill="hold"/>
                                        <p:tgtEl>
                                          <p:spTgt spid="11"/>
                                        </p:tgtEl>
                                        <p:attrNameLst>
                                          <p:attrName>ppt_x</p:attrName>
                                        </p:attrNameLst>
                                      </p:cBhvr>
                                      <p:tavLst>
                                        <p:tav tm="0">
                                          <p:val>
                                            <p:strVal val="1+#ppt_w/2"/>
                                          </p:val>
                                        </p:tav>
                                        <p:tav tm="100000">
                                          <p:val>
                                            <p:strVal val="#ppt_x"/>
                                          </p:val>
                                        </p:tav>
                                      </p:tavLst>
                                    </p:anim>
                                    <p:anim calcmode="lin" valueType="num">
                                      <p:cBhvr additive="base">
                                        <p:cTn id="42" dur="450" fill="hold"/>
                                        <p:tgtEl>
                                          <p:spTgt spid="11"/>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450" fill="hold"/>
                                        <p:tgtEl>
                                          <p:spTgt spid="12"/>
                                        </p:tgtEl>
                                        <p:attrNameLst>
                                          <p:attrName>ppt_x</p:attrName>
                                        </p:attrNameLst>
                                      </p:cBhvr>
                                      <p:tavLst>
                                        <p:tav tm="0">
                                          <p:val>
                                            <p:strVal val="1+#ppt_w/2"/>
                                          </p:val>
                                        </p:tav>
                                        <p:tav tm="100000">
                                          <p:val>
                                            <p:strVal val="#ppt_x"/>
                                          </p:val>
                                        </p:tav>
                                      </p:tavLst>
                                    </p:anim>
                                    <p:anim calcmode="lin" valueType="num">
                                      <p:cBhvr additive="base">
                                        <p:cTn id="46" dur="45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53" presetID="2" presetClass="entr" presetSubtype="4"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450" fill="hold"/>
                                        <p:tgtEl>
                                          <p:spTgt spid="13"/>
                                        </p:tgtEl>
                                        <p:attrNameLst>
                                          <p:attrName>ppt_x</p:attrName>
                                        </p:attrNameLst>
                                      </p:cBhvr>
                                      <p:tavLst>
                                        <p:tav tm="0">
                                          <p:val>
                                            <p:strVal val="#ppt_x"/>
                                          </p:val>
                                        </p:tav>
                                        <p:tav tm="100000">
                                          <p:val>
                                            <p:strVal val="#ppt_x"/>
                                          </p:val>
                                        </p:tav>
                                      </p:tavLst>
                                    </p:anim>
                                    <p:anim calcmode="lin" valueType="num">
                                      <p:cBhvr additive="base">
                                        <p:cTn id="52" dur="450" fill="hold"/>
                                        <p:tgtEl>
                                          <p:spTgt spid="13"/>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15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450" fill="hold"/>
                                        <p:tgtEl>
                                          <p:spTgt spid="14"/>
                                        </p:tgtEl>
                                        <p:attrNameLst>
                                          <p:attrName>ppt_x</p:attrName>
                                        </p:attrNameLst>
                                      </p:cBhvr>
                                      <p:tavLst>
                                        <p:tav tm="0">
                                          <p:val>
                                            <p:strVal val="#ppt_x"/>
                                          </p:val>
                                        </p:tav>
                                        <p:tav tm="100000">
                                          <p:val>
                                            <p:strVal val="#ppt_x"/>
                                          </p:val>
                                        </p:tav>
                                      </p:tavLst>
                                    </p:anim>
                                    <p:anim calcmode="lin" valueType="num">
                                      <p:cBhvr additive="base">
                                        <p:cTn id="56"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450" fill="hold"/>
                                        <p:tgtEl>
                                          <p:spTgt spid="15"/>
                                        </p:tgtEl>
                                        <p:attrNameLst>
                                          <p:attrName>ppt_w</p:attrName>
                                        </p:attrNameLst>
                                      </p:cBhvr>
                                      <p:tavLst>
                                        <p:tav tm="0">
                                          <p:val>
                                            <p:fltVal val="0"/>
                                          </p:val>
                                        </p:tav>
                                        <p:tav tm="100000">
                                          <p:val>
                                            <p:strVal val="#ppt_w"/>
                                          </p:val>
                                        </p:tav>
                                      </p:tavLst>
                                    </p:anim>
                                    <p:anim calcmode="lin" valueType="num">
                                      <p:cBhvr additive="base">
                                        <p:cTn id="62" dur="450" fill="hold"/>
                                        <p:tgtEl>
                                          <p:spTgt spid="15"/>
                                        </p:tgtEl>
                                        <p:attrNameLst>
                                          <p:attrName>ppt_h</p:attrName>
                                        </p:attrNameLst>
                                      </p:cBhvr>
                                      <p:tavLst>
                                        <p:tav tm="0">
                                          <p:val>
                                            <p:fltVal val="0"/>
                                          </p:val>
                                        </p:tav>
                                        <p:tav tm="100000">
                                          <p:val>
                                            <p:strVal val="#ppt_h"/>
                                          </p:val>
                                        </p:tav>
                                      </p:tavLst>
                                    </p:anim>
                                    <p:animEffect transition="in" filter="fade">
                                      <p:cBhvr>
                                        <p:cTn id="63"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A10 · Exceptional Conditions: the story</a:t>
            </a:r>
            <a:endParaRPr lang="en-US" sz="3000" dirty="0"/>
          </a:p>
        </p:txBody>
      </p:sp>
      <p:sp>
        <p:nvSpPr>
          <p:cNvPr id="4" name="Station 0"/>
          <p:cNvSpPr txBox="1"/>
          <p:nvPr/>
        </p:nvSpPr>
        <p:spPr>
          <a:xfrm>
            <a:off x="2926080" y="2880360"/>
            <a:ext cx="1737360" cy="868680"/>
          </a:xfrm>
          <a:prstGeom prst="roundRect">
            <a:avLst>
              <a:gd name="adj" fmla="val 12632"/>
            </a:avLst>
          </a:prstGeom>
          <a:solidFill>
            <a:schemeClr val="bg2"/>
          </a:solidFill>
          <a:ln w="15875">
            <a:solidFill>
              <a:schemeClr val="accent5"/>
            </a:solidFill>
          </a:ln>
        </p:spPr>
        <p:txBody>
          <a:bodyPr wrap="square" lIns="50800" tIns="50800" rIns="50800" bIns="50800" rtlCol="0" anchor="ctr"/>
          <a:lstStyle/>
          <a:p>
            <a:pPr algn="ctr" indent="0" marL="0">
              <a:buNone/>
            </a:pPr>
            <a:r>
              <a:rPr lang="en-US" sz="1500" b="1" dirty="0">
                <a:solidFill>
                  <a:schemeClr val="accent5"/>
                </a:solidFill>
              </a:rPr>
              <a:t>Angular app</a:t>
            </a:r>
            <a:endParaRPr lang="en-US" sz="1500" dirty="0"/>
          </a:p>
          <a:p>
            <a:pPr algn="ctr" indent="0" marL="0">
              <a:buNone/>
            </a:pPr>
            <a:r>
              <a:rPr lang="en-US" sz="1200" dirty="0">
                <a:solidFill>
                  <a:schemeClr val="tx2"/>
                </a:solidFill>
              </a:rPr>
              <a:t>shows e.error</a:t>
            </a:r>
            <a:endParaRPr lang="en-US" sz="1500" dirty="0"/>
          </a:p>
        </p:txBody>
      </p:sp>
      <p:sp>
        <p:nvSpPr>
          <p:cNvPr id="5" name="Station 1"/>
          <p:cNvSpPr txBox="1"/>
          <p:nvPr/>
        </p:nvSpPr>
        <p:spPr>
          <a:xfrm>
            <a:off x="4846320" y="2880360"/>
            <a:ext cx="1737360" cy="868680"/>
          </a:xfrm>
          <a:prstGeom prst="roundRect">
            <a:avLst>
              <a:gd name="adj" fmla="val 12632"/>
            </a:avLst>
          </a:prstGeom>
          <a:solidFill>
            <a:schemeClr val="bg2"/>
          </a:solidFill>
          <a:ln w="15875">
            <a:solidFill>
              <a:schemeClr val="accent1"/>
            </a:solidFill>
          </a:ln>
        </p:spPr>
        <p:txBody>
          <a:bodyPr wrap="square" lIns="50800" tIns="50800" rIns="50800" bIns="50800" rtlCol="0" anchor="ctr"/>
          <a:lstStyle/>
          <a:p>
            <a:pPr algn="ctr" indent="0" marL="0">
              <a:buNone/>
            </a:pPr>
            <a:r>
              <a:rPr lang="en-US" sz="1500" b="1" dirty="0">
                <a:solidFill>
                  <a:schemeClr val="accent1"/>
                </a:solidFill>
              </a:rPr>
              <a:t>.NET API</a:t>
            </a:r>
            <a:endParaRPr lang="en-US" sz="1500" dirty="0"/>
          </a:p>
          <a:p>
            <a:pPr algn="ctr" indent="0" marL="0">
              <a:buNone/>
            </a:pPr>
            <a:r>
              <a:rPr lang="en-US" sz="1200" dirty="0">
                <a:solidFill>
                  <a:schemeClr val="tx2"/>
                </a:solidFill>
              </a:rPr>
              <a:t>try / catch</a:t>
            </a:r>
            <a:endParaRPr lang="en-US" sz="1500" dirty="0"/>
          </a:p>
        </p:txBody>
      </p:sp>
      <p:sp>
        <p:nvSpPr>
          <p:cNvPr id="6" name="Station 2"/>
          <p:cNvSpPr txBox="1"/>
          <p:nvPr/>
        </p:nvSpPr>
        <p:spPr>
          <a:xfrm>
            <a:off x="6766560" y="2880360"/>
            <a:ext cx="1737360" cy="868680"/>
          </a:xfrm>
          <a:prstGeom prst="roundRect">
            <a:avLst>
              <a:gd name="adj" fmla="val 12632"/>
            </a:avLst>
          </a:prstGeom>
          <a:solidFill>
            <a:schemeClr val="bg2"/>
          </a:solidFill>
          <a:ln w="15875">
            <a:solidFill>
              <a:schemeClr val="accent4"/>
            </a:solidFill>
          </a:ln>
        </p:spPr>
        <p:txBody>
          <a:bodyPr wrap="square" lIns="50800" tIns="50800" rIns="50800" bIns="50800" rtlCol="0" anchor="ctr"/>
          <a:lstStyle/>
          <a:p>
            <a:pPr algn="ctr" indent="0" marL="0">
              <a:buNone/>
            </a:pPr>
            <a:r>
              <a:rPr lang="en-US" sz="1500" b="1" dirty="0">
                <a:solidFill>
                  <a:schemeClr val="accent4"/>
                </a:solidFill>
              </a:rPr>
              <a:t>Oracle DB</a:t>
            </a:r>
            <a:endParaRPr lang="en-US" sz="1500" dirty="0"/>
          </a:p>
          <a:p>
            <a:pPr algn="ctr" indent="0" marL="0">
              <a:buNone/>
            </a:pPr>
            <a:r>
              <a:rPr lang="en-US" sz="1200" dirty="0">
                <a:solidFill>
                  <a:schemeClr val="tx2"/>
                </a:solidFill>
              </a:rPr>
              <a:t>connection times out</a:t>
            </a:r>
            <a:endParaRPr lang="en-US" sz="1500" dirty="0"/>
          </a:p>
        </p:txBody>
      </p:sp>
      <p:pic>
        <p:nvPicPr>
          <p:cNvPr id="7" name="Hacker" descr="Hacker cartoon">    </p:cNvPr>
          <p:cNvPicPr>
            <a:picLocks noChangeAspect="1"/>
          </p:cNvPicPr>
          <p:nvPr/>
        </p:nvPicPr>
        <p:blipFill>
          <a:blip r:embed="rId1"/>
          <a:stretch>
            <a:fillRect/>
          </a:stretch>
        </p:blipFill>
        <p:spPr>
          <a:xfrm>
            <a:off x="365760" y="2606040"/>
            <a:ext cx="1188720" cy="1188720"/>
          </a:xfrm>
          <a:prstGeom prst="rect">
            <a:avLst/>
          </a:prstGeom>
        </p:spPr>
      </p:pic>
      <p:sp>
        <p:nvSpPr>
          <p:cNvPr id="8" name="Bubble 0"/>
          <p:cNvSpPr txBox="1"/>
          <p:nvPr/>
        </p:nvSpPr>
        <p:spPr>
          <a:xfrm>
            <a:off x="457200" y="1097280"/>
            <a:ext cx="1920240" cy="1097280"/>
          </a:xfrm>
          <a:prstGeom prst="roundRect">
            <a:avLst>
              <a:gd name="adj" fmla="val 11667"/>
            </a:avLst>
          </a:prstGeom>
          <a:solidFill>
            <a:schemeClr val="bg2"/>
          </a:solidFill>
          <a:ln w="19050">
            <a:solidFill>
              <a:schemeClr val="accent6"/>
            </a:solidFill>
          </a:ln>
        </p:spPr>
        <p:txBody>
          <a:bodyPr wrap="square" lIns="114300" tIns="63500" rIns="101600" bIns="50800" rtlCol="0" anchor="t"/>
          <a:lstStyle/>
          <a:p>
            <a:pPr algn="l" indent="0" marL="0">
              <a:buNone/>
            </a:pPr>
            <a:r>
              <a:rPr lang="en-US" sz="1100" b="1" spc="200" kern="0" dirty="0">
                <a:solidFill>
                  <a:schemeClr val="accent6"/>
                </a:solidFill>
              </a:rPr>
              <a:t>HACKER</a:t>
            </a:r>
            <a:endParaRPr lang="en-US" sz="1100" dirty="0"/>
          </a:p>
          <a:p>
            <a:pPr algn="l" indent="0" marL="0">
              <a:buNone/>
            </a:pPr>
            <a:r>
              <a:rPr lang="en-US" sz="1300" dirty="0">
                <a:solidFill>
                  <a:schemeClr val="tx1"/>
                </a:solidFill>
              </a:rPr>
              <a:t>I send bad input and break the database call.</a:t>
            </a:r>
            <a:endParaRPr lang="en-US" sz="1100" dirty="0"/>
          </a:p>
        </p:txBody>
      </p:sp>
      <p:sp>
        <p:nvSpPr>
          <p:cNvPr id="9" name="Bubble 1"/>
          <p:cNvSpPr txBox="1"/>
          <p:nvPr/>
        </p:nvSpPr>
        <p:spPr>
          <a:xfrm>
            <a:off x="2560320" y="1097280"/>
            <a:ext cx="1920240" cy="1097280"/>
          </a:xfrm>
          <a:prstGeom prst="roundRect">
            <a:avLst>
              <a:gd name="adj" fmla="val 11667"/>
            </a:avLst>
          </a:prstGeom>
          <a:solidFill>
            <a:schemeClr val="bg2"/>
          </a:solidFill>
          <a:ln w="19050">
            <a:solidFill>
              <a:schemeClr val="accent1"/>
            </a:solidFill>
          </a:ln>
        </p:spPr>
        <p:txBody>
          <a:bodyPr wrap="square" lIns="114300" tIns="63500" rIns="101600" bIns="50800" rtlCol="0" anchor="t"/>
          <a:lstStyle/>
          <a:p>
            <a:pPr algn="l" indent="0" marL="0">
              <a:buNone/>
            </a:pPr>
            <a:r>
              <a:rPr lang="en-US" sz="1100" b="1" spc="200" kern="0" dirty="0">
                <a:solidFill>
                  <a:schemeClr val="accent1"/>
                </a:solidFill>
              </a:rPr>
              <a:t>API</a:t>
            </a:r>
            <a:endParaRPr lang="en-US" sz="1100" dirty="0"/>
          </a:p>
          <a:p>
            <a:pPr algn="l" indent="0" marL="0">
              <a:buNone/>
            </a:pPr>
            <a:r>
              <a:rPr lang="en-US" sz="1300" dirty="0">
                <a:solidFill>
                  <a:schemeClr val="tx1"/>
                </a:solidFill>
              </a:rPr>
              <a:t>Exception! I will return ex.ToString() to help debugging.</a:t>
            </a:r>
            <a:endParaRPr lang="en-US" sz="1100" dirty="0"/>
          </a:p>
        </p:txBody>
      </p:sp>
      <p:sp>
        <p:nvSpPr>
          <p:cNvPr id="10" name="Bubble 2"/>
          <p:cNvSpPr txBox="1"/>
          <p:nvPr/>
        </p:nvSpPr>
        <p:spPr>
          <a:xfrm>
            <a:off x="4663440" y="1097280"/>
            <a:ext cx="1920240" cy="1097280"/>
          </a:xfrm>
          <a:prstGeom prst="roundRect">
            <a:avLst>
              <a:gd name="adj" fmla="val 11667"/>
            </a:avLst>
          </a:prstGeom>
          <a:solidFill>
            <a:schemeClr val="bg2"/>
          </a:solidFill>
          <a:ln w="19050">
            <a:solidFill>
              <a:schemeClr val="accent6"/>
            </a:solidFill>
          </a:ln>
        </p:spPr>
        <p:txBody>
          <a:bodyPr wrap="square" lIns="114300" tIns="63500" rIns="101600" bIns="50800" rtlCol="0" anchor="t"/>
          <a:lstStyle/>
          <a:p>
            <a:pPr algn="l" indent="0" marL="0">
              <a:buNone/>
            </a:pPr>
            <a:r>
              <a:rPr lang="en-US" sz="1100" b="1" spc="200" kern="0" dirty="0">
                <a:solidFill>
                  <a:schemeClr val="accent6"/>
                </a:solidFill>
              </a:rPr>
              <a:t>HACKER</a:t>
            </a:r>
            <a:endParaRPr lang="en-US" sz="1100" dirty="0"/>
          </a:p>
          <a:p>
            <a:pPr algn="l" indent="0" marL="0">
              <a:buNone/>
            </a:pPr>
            <a:r>
              <a:rPr lang="en-US" sz="1300" dirty="0">
                <a:solidFill>
                  <a:schemeClr val="tx1"/>
                </a:solidFill>
              </a:rPr>
              <a:t>A stack trace with paths, SQL and versions. Thank you!</a:t>
            </a:r>
            <a:endParaRPr lang="en-US" sz="1100" dirty="0"/>
          </a:p>
        </p:txBody>
      </p:sp>
      <p:sp>
        <p:nvSpPr>
          <p:cNvPr id="11" name="Bubble 3"/>
          <p:cNvSpPr txBox="1"/>
          <p:nvPr/>
        </p:nvSpPr>
        <p:spPr>
          <a:xfrm>
            <a:off x="6766560" y="1097280"/>
            <a:ext cx="1920240" cy="1097280"/>
          </a:xfrm>
          <a:prstGeom prst="roundRect">
            <a:avLst>
              <a:gd name="adj" fmla="val 11667"/>
            </a:avLst>
          </a:prstGeom>
          <a:solidFill>
            <a:schemeClr val="bg2"/>
          </a:solidFill>
          <a:ln w="19050">
            <a:solidFill>
              <a:schemeClr val="accent2"/>
            </a:solidFill>
          </a:ln>
        </p:spPr>
        <p:txBody>
          <a:bodyPr wrap="square" lIns="114300" tIns="63500" rIns="101600" bIns="50800" rtlCol="0" anchor="t"/>
          <a:lstStyle/>
          <a:p>
            <a:pPr algn="l" indent="0" marL="0">
              <a:buNone/>
            </a:pPr>
            <a:r>
              <a:rPr lang="en-US" sz="1100" b="1" spc="200" kern="0" dirty="0">
                <a:solidFill>
                  <a:schemeClr val="accent2"/>
                </a:solidFill>
              </a:rPr>
              <a:t>RESULT</a:t>
            </a:r>
            <a:endParaRPr lang="en-US" sz="1100" dirty="0"/>
          </a:p>
          <a:p>
            <a:pPr algn="l" indent="0" marL="0">
              <a:buNone/>
            </a:pPr>
            <a:r>
              <a:rPr lang="en-US" sz="1300" dirty="0">
                <a:solidFill>
                  <a:schemeClr val="tx1"/>
                </a:solidFill>
              </a:rPr>
              <a:t>And an empty catch that skipped a permission check opened the door.</a:t>
            </a:r>
            <a:endParaRPr lang="en-US" sz="1100" dirty="0"/>
          </a:p>
        </p:txBody>
      </p:sp>
      <p:sp>
        <p:nvSpPr>
          <p:cNvPr id="12" name="Damage"/>
          <p:cNvSpPr txBox="1"/>
          <p:nvPr/>
        </p:nvSpPr>
        <p:spPr>
          <a:xfrm>
            <a:off x="6217920" y="2697480"/>
            <a:ext cx="384048" cy="384048"/>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pic>
        <p:nvPicPr>
          <p:cNvPr id="13" name="Bug" descr="Bug cartoon">    </p:cNvPr>
          <p:cNvPicPr>
            <a:picLocks noChangeAspect="1"/>
          </p:cNvPicPr>
          <p:nvPr/>
        </p:nvPicPr>
        <p:blipFill>
          <a:blip r:embed="rId2"/>
          <a:stretch>
            <a:fillRect/>
          </a:stretch>
        </p:blipFill>
        <p:spPr>
          <a:xfrm>
            <a:off x="5029200" y="2103120"/>
            <a:ext cx="822960" cy="822960"/>
          </a:xfrm>
          <a:prstGeom prst="rect">
            <a:avLst/>
          </a:prstGeom>
        </p:spPr>
      </p:pic>
      <p:sp>
        <p:nvSpPr>
          <p:cNvPr id="14" name="Moral"/>
          <p:cNvSpPr txBox="1"/>
          <p:nvPr/>
        </p:nvSpPr>
        <p:spPr>
          <a:xfrm>
            <a:off x="457200" y="3977640"/>
            <a:ext cx="8229600" cy="548640"/>
          </a:xfrm>
          <a:prstGeom prst="rect">
            <a:avLst/>
          </a:prstGeom>
          <a:noFill/>
          <a:ln/>
        </p:spPr>
        <p:txBody>
          <a:bodyPr wrap="square" lIns="0" tIns="0" rIns="0" bIns="0" rtlCol="0" anchor="ctr"/>
          <a:lstStyle/>
          <a:p>
            <a:pPr indent="0" marL="0">
              <a:buNone/>
            </a:pPr>
            <a:r>
              <a:rPr lang="en-US" sz="2200" b="1" i="1" dirty="0">
                <a:solidFill>
                  <a:schemeClr val="accent1"/>
                </a:solidFill>
              </a:rPr>
              <a:t>When it fails, fail closed and say little.</a:t>
            </a:r>
            <a:endParaRPr lang="en-US" sz="22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0" fill="hold">
                      <p:stCondLst>
                        <p:cond delay="indefinite"/>
                        <p:cond evt="onBegin" delay="0">
                          <p:tn val="2"/>
                        </p:cond>
                      </p:stCondLst>
                      <p:childTnLst>
                        <p:par>
                          <p:cTn id="21" fill="hold">
                            <p:stCondLst>
                              <p:cond delay="0"/>
                            </p:stCondLst>
                            <p:childTnLst>
                              <p:par>
                                <p:cTn id="6" presetID="2" presetClass="entr" presetSubtype="4" fill="hold" grpId="0" nodeType="afterEffect">
                                  <p:stCondLst>
                                    <p:cond delay="0"/>
                                  </p:stCondLst>
                                  <p:childTnLst>
                                    <p:set>
                                      <p:cBhvr>
                                        <p:cTn id="3" dur="1" fill="hold">
                                          <p:stCondLst>
                                            <p:cond delay="0"/>
                                          </p:stCondLst>
                                        </p:cTn>
                                        <p:tgtEl>
                                          <p:spTgt spid="4"/>
                                        </p:tgtEl>
                                        <p:attrNameLst>
                                          <p:attrName>style.visibility</p:attrName>
                                        </p:attrNameLst>
                                      </p:cBhvr>
                                      <p:to>
                                        <p:strVal val="visible"/>
                                      </p:to>
                                    </p:set>
                                    <p:anim calcmode="lin" valueType="num">
                                      <p:cBhvr additive="base">
                                        <p:cTn id="4" dur="450" fill="hold"/>
                                        <p:tgtEl>
                                          <p:spTgt spid="4"/>
                                        </p:tgtEl>
                                        <p:attrNameLst>
                                          <p:attrName>ppt_x</p:attrName>
                                        </p:attrNameLst>
                                      </p:cBhvr>
                                      <p:tavLst>
                                        <p:tav tm="0">
                                          <p:val>
                                            <p:strVal val="#ppt_x"/>
                                          </p:val>
                                        </p:tav>
                                        <p:tav tm="100000">
                                          <p:val>
                                            <p:strVal val="#ppt_x"/>
                                          </p:val>
                                        </p:tav>
                                      </p:tavLst>
                                    </p:anim>
                                    <p:anim calcmode="lin" valueType="num">
                                      <p:cBhvr additive="base">
                                        <p:cTn id="5" dur="450" fill="hold"/>
                                        <p:tgtEl>
                                          <p:spTgt spid="4"/>
                                        </p:tgtEl>
                                        <p:attrNameLst>
                                          <p:attrName>ppt_y</p:attrName>
                                        </p:attrNameLst>
                                      </p:cBhvr>
                                      <p:tavLst>
                                        <p:tav tm="0">
                                          <p:val>
                                            <p:strVal val="1+#ppt_h/2"/>
                                          </p:val>
                                        </p:tav>
                                        <p:tav tm="100000">
                                          <p:val>
                                            <p:strVal val="#ppt_y"/>
                                          </p:val>
                                        </p:tav>
                                      </p:tavLst>
                                    </p:anim>
                                  </p:childTnLst>
                                </p:cTn>
                              </p:par>
                              <p:par>
                                <p:cTn id="10" presetID="2" presetClass="entr" presetSubtype="4" fill="hold" grpId="0" nodeType="withEffect">
                                  <p:stCondLst>
                                    <p:cond delay="200"/>
                                  </p:stCondLst>
                                  <p:childTnLst>
                                    <p:set>
                                      <p:cBhvr>
                                        <p:cTn id="7" dur="1" fill="hold">
                                          <p:stCondLst>
                                            <p:cond delay="0"/>
                                          </p:stCondLst>
                                        </p:cTn>
                                        <p:tgtEl>
                                          <p:spTgt spid="5"/>
                                        </p:tgtEl>
                                        <p:attrNameLst>
                                          <p:attrName>style.visibility</p:attrName>
                                        </p:attrNameLst>
                                      </p:cBhvr>
                                      <p:to>
                                        <p:strVal val="visible"/>
                                      </p:to>
                                    </p:set>
                                    <p:anim calcmode="lin" valueType="num">
                                      <p:cBhvr additive="base">
                                        <p:cTn id="8" dur="450" fill="hold"/>
                                        <p:tgtEl>
                                          <p:spTgt spid="5"/>
                                        </p:tgtEl>
                                        <p:attrNameLst>
                                          <p:attrName>ppt_x</p:attrName>
                                        </p:attrNameLst>
                                      </p:cBhvr>
                                      <p:tavLst>
                                        <p:tav tm="0">
                                          <p:val>
                                            <p:strVal val="#ppt_x"/>
                                          </p:val>
                                        </p:tav>
                                        <p:tav tm="100000">
                                          <p:val>
                                            <p:strVal val="#ppt_x"/>
                                          </p:val>
                                        </p:tav>
                                      </p:tavLst>
                                    </p:anim>
                                    <p:anim calcmode="lin" valueType="num">
                                      <p:cBhvr additive="base">
                                        <p:cTn id="9" dur="450" fill="hold"/>
                                        <p:tgtEl>
                                          <p:spTgt spid="5"/>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40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450" fill="hold"/>
                                        <p:tgtEl>
                                          <p:spTgt spid="6"/>
                                        </p:tgtEl>
                                        <p:attrNameLst>
                                          <p:attrName>ppt_x</p:attrName>
                                        </p:attrNameLst>
                                      </p:cBhvr>
                                      <p:tavLst>
                                        <p:tav tm="0">
                                          <p:val>
                                            <p:strVal val="#ppt_x"/>
                                          </p:val>
                                        </p:tav>
                                        <p:tav tm="100000">
                                          <p:val>
                                            <p:strVal val="#ppt_x"/>
                                          </p:val>
                                        </p:tav>
                                      </p:tavLst>
                                    </p:anim>
                                    <p:anim calcmode="lin" valueType="num">
                                      <p:cBhvr additive="base">
                                        <p:cTn id="13" dur="450" fill="hold"/>
                                        <p:tgtEl>
                                          <p:spTgt spid="6"/>
                                        </p:tgtEl>
                                        <p:attrNameLst>
                                          <p:attrName>ppt_y</p:attrName>
                                        </p:attrNameLst>
                                      </p:cBhvr>
                                      <p:tavLst>
                                        <p:tav tm="0">
                                          <p:val>
                                            <p:strVal val="1+#ppt_h/2"/>
                                          </p:val>
                                        </p:tav>
                                        <p:tav tm="100000">
                                          <p:val>
                                            <p:strVal val="#ppt_y"/>
                                          </p:val>
                                        </p:tav>
                                      </p:tavLst>
                                    </p:anim>
                                  </p:childTnLst>
                                </p:cTn>
                              </p:par>
                              <p:par>
                                <p:cTn id="17"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par>
                                <p:cTn id="19" presetID="0" presetClass="path" presetSubtype="0" fill="hold" nodeType="withEffect">
                                  <p:stCondLst>
                                    <p:cond delay="500"/>
                                  </p:stCondLst>
                                  <p:childTnLst>
                                    <p:animMotion origin="layout" path="M 0 0 L 0.12 0 E" pathEditMode="relative">
                                      <p:cBhvr>
                                        <p:cTn id="18" dur="2600" fill="hold"/>
                                        <p:tgtEl>
                                          <p:spTgt spid="7"/>
                                        </p:tgtEl>
                                        <p:attrNameLst>
                                          <p:attrName>ppt_x</p:attrName>
                                          <p:attrName>ppt_y</p:attrName>
                                        </p:attrNameLst>
                                      </p:cBhvr>
                                      <p:rCtr x="0.06" y="0"/>
                                    </p:animMotion>
                                  </p:childTnLst>
                                </p:cTn>
                              </p:par>
                            </p:childTnLst>
                          </p:cTn>
                        </p:par>
                      </p:childTnLst>
                    </p:cTn>
                  </p:par>
                  <p:par>
                    <p:cTn id="27" fill="hold">
                      <p:stCondLst>
                        <p:cond delay="indefinite"/>
                      </p:stCondLst>
                      <p:childTnLst>
                        <p:par>
                          <p:cTn id="28" fill="hold">
                            <p:stCondLst>
                              <p:cond delay="0"/>
                            </p:stCondLst>
                            <p:childTnLst>
                              <p:par>
                                <p:cTn id="26" presetID="53" presetClass="entr" presetSubtype="16"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450" fill="hold"/>
                                        <p:tgtEl>
                                          <p:spTgt spid="8"/>
                                        </p:tgtEl>
                                        <p:attrNameLst>
                                          <p:attrName>ppt_w</p:attrName>
                                        </p:attrNameLst>
                                      </p:cBhvr>
                                      <p:tavLst>
                                        <p:tav tm="0">
                                          <p:val>
                                            <p:fltVal val="0"/>
                                          </p:val>
                                        </p:tav>
                                        <p:tav tm="100000">
                                          <p:val>
                                            <p:strVal val="#ppt_w"/>
                                          </p:val>
                                        </p:tav>
                                      </p:tavLst>
                                    </p:anim>
                                    <p:anim calcmode="lin" valueType="num">
                                      <p:cBhvr additive="base">
                                        <p:cTn id="24" dur="450" fill="hold"/>
                                        <p:tgtEl>
                                          <p:spTgt spid="8"/>
                                        </p:tgtEl>
                                        <p:attrNameLst>
                                          <p:attrName>ppt_h</p:attrName>
                                        </p:attrNameLst>
                                      </p:cBhvr>
                                      <p:tavLst>
                                        <p:tav tm="0">
                                          <p:val>
                                            <p:fltVal val="0"/>
                                          </p:val>
                                        </p:tav>
                                        <p:tav tm="100000">
                                          <p:val>
                                            <p:strVal val="#ppt_h"/>
                                          </p:val>
                                        </p:tav>
                                      </p:tavLst>
                                    </p:anim>
                                    <p:animEffect transition="in" filter="fade">
                                      <p:cBhvr>
                                        <p:cTn id="25" dur="450"/>
                                        <p:tgtEl>
                                          <p:spTgt spid="8"/>
                                        </p:tgtEl>
                                      </p:cBhvr>
                                    </p:animEffect>
                                  </p:childTnLst>
                                </p:cTn>
                              </p:par>
                            </p:childTnLst>
                          </p:cTn>
                        </p:par>
                      </p:childTnLst>
                    </p:cTn>
                  </p:par>
                  <p:par>
                    <p:cTn id="44" fill="hold">
                      <p:stCondLst>
                        <p:cond delay="indefinite"/>
                      </p:stCondLst>
                      <p:childTnLst>
                        <p:par>
                          <p:cTn id="45" fill="hold">
                            <p:stCondLst>
                              <p:cond delay="0"/>
                            </p:stCondLst>
                            <p:childTnLst>
                              <p:par>
                                <p:cTn id="33" presetID="53" presetClass="entr" presetSubtype="16"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450" fill="hold"/>
                                        <p:tgtEl>
                                          <p:spTgt spid="9"/>
                                        </p:tgtEl>
                                        <p:attrNameLst>
                                          <p:attrName>ppt_w</p:attrName>
                                        </p:attrNameLst>
                                      </p:cBhvr>
                                      <p:tavLst>
                                        <p:tav tm="0">
                                          <p:val>
                                            <p:fltVal val="0"/>
                                          </p:val>
                                        </p:tav>
                                        <p:tav tm="100000">
                                          <p:val>
                                            <p:strVal val="#ppt_w"/>
                                          </p:val>
                                        </p:tav>
                                      </p:tavLst>
                                    </p:anim>
                                    <p:anim calcmode="lin" valueType="num">
                                      <p:cBhvr additive="base">
                                        <p:cTn id="31" dur="450" fill="hold"/>
                                        <p:tgtEl>
                                          <p:spTgt spid="9"/>
                                        </p:tgtEl>
                                        <p:attrNameLst>
                                          <p:attrName>ppt_h</p:attrName>
                                        </p:attrNameLst>
                                      </p:cBhvr>
                                      <p:tavLst>
                                        <p:tav tm="0">
                                          <p:val>
                                            <p:fltVal val="0"/>
                                          </p:val>
                                        </p:tav>
                                        <p:tav tm="100000">
                                          <p:val>
                                            <p:strVal val="#ppt_h"/>
                                          </p:val>
                                        </p:tav>
                                      </p:tavLst>
                                    </p:anim>
                                    <p:animEffect transition="in" filter="fade">
                                      <p:cBhvr>
                                        <p:cTn id="32" dur="450"/>
                                        <p:tgtEl>
                                          <p:spTgt spid="9"/>
                                        </p:tgtEl>
                                      </p:cBhvr>
                                    </p:animEffect>
                                  </p:childTnLst>
                                </p:cTn>
                              </p:par>
                              <p:par>
                                <p:cTn id="38" presetID="53" presetClass="entr" presetSubtype="16" fill="hold" grpId="0" nodeType="withEffect">
                                  <p:stCondLst>
                                    <p:cond delay="25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350" fill="hold"/>
                                        <p:tgtEl>
                                          <p:spTgt spid="12"/>
                                        </p:tgtEl>
                                        <p:attrNameLst>
                                          <p:attrName>ppt_w</p:attrName>
                                        </p:attrNameLst>
                                      </p:cBhvr>
                                      <p:tavLst>
                                        <p:tav tm="0">
                                          <p:val>
                                            <p:fltVal val="0"/>
                                          </p:val>
                                        </p:tav>
                                        <p:tav tm="100000">
                                          <p:val>
                                            <p:strVal val="#ppt_w"/>
                                          </p:val>
                                        </p:tav>
                                      </p:tavLst>
                                    </p:anim>
                                    <p:anim calcmode="lin" valueType="num">
                                      <p:cBhvr additive="base">
                                        <p:cTn id="36" dur="350" fill="hold"/>
                                        <p:tgtEl>
                                          <p:spTgt spid="12"/>
                                        </p:tgtEl>
                                        <p:attrNameLst>
                                          <p:attrName>ppt_h</p:attrName>
                                        </p:attrNameLst>
                                      </p:cBhvr>
                                      <p:tavLst>
                                        <p:tav tm="0">
                                          <p:val>
                                            <p:fltVal val="0"/>
                                          </p:val>
                                        </p:tav>
                                        <p:tav tm="100000">
                                          <p:val>
                                            <p:strVal val="#ppt_h"/>
                                          </p:val>
                                        </p:tav>
                                      </p:tavLst>
                                    </p:anim>
                                    <p:animEffect transition="in" filter="fade">
                                      <p:cBhvr>
                                        <p:cTn id="37" dur="350"/>
                                        <p:tgtEl>
                                          <p:spTgt spid="12"/>
                                        </p:tgtEl>
                                      </p:cBhvr>
                                    </p:animEffect>
                                  </p:childTnLst>
                                </p:cTn>
                              </p:par>
                              <p:par>
                                <p:cTn id="41" presetID="10" presetClass="entr" presetSubtype="0" fill="hold" nodeType="withEffect">
                                  <p:stCondLst>
                                    <p:cond delay="25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350"/>
                                        <p:tgtEl>
                                          <p:spTgt spid="13"/>
                                        </p:tgtEl>
                                      </p:cBhvr>
                                    </p:animEffect>
                                  </p:childTnLst>
                                </p:cTn>
                              </p:par>
                              <p:par>
                                <p:cTn id="43" presetID="0" presetClass="path" presetSubtype="0" fill="hold" nodeType="withEffect">
                                  <p:stCondLst>
                                    <p:cond delay="700"/>
                                  </p:stCondLst>
                                  <p:childTnLst>
                                    <p:animMotion origin="layout" path="M 0 0 L 0.07 0 E" pathEditMode="relative">
                                      <p:cBhvr>
                                        <p:cTn id="42" dur="2500" fill="hold"/>
                                        <p:tgtEl>
                                          <p:spTgt spid="13"/>
                                        </p:tgtEl>
                                        <p:attrNameLst>
                                          <p:attrName>ppt_x</p:attrName>
                                          <p:attrName>ppt_y</p:attrName>
                                        </p:attrNameLst>
                                      </p:cBhvr>
                                      <p:rCtr x="0.035" y="0"/>
                                    </p:animMotion>
                                  </p:childTnLst>
                                </p:cTn>
                              </p:par>
                            </p:childTnLst>
                          </p:cTn>
                        </p:par>
                      </p:childTnLst>
                    </p:cTn>
                  </p:par>
                  <p:par>
                    <p:cTn id="51" fill="hold">
                      <p:stCondLst>
                        <p:cond delay="indefinite"/>
                      </p:stCondLst>
                      <p:childTnLst>
                        <p:par>
                          <p:cTn id="52" fill="hold">
                            <p:stCondLst>
                              <p:cond delay="0"/>
                            </p:stCondLst>
                            <p:childTnLst>
                              <p:par>
                                <p:cTn id="50" presetID="53" presetClass="entr" presetSubtype="16"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450" fill="hold"/>
                                        <p:tgtEl>
                                          <p:spTgt spid="10"/>
                                        </p:tgtEl>
                                        <p:attrNameLst>
                                          <p:attrName>ppt_w</p:attrName>
                                        </p:attrNameLst>
                                      </p:cBhvr>
                                      <p:tavLst>
                                        <p:tav tm="0">
                                          <p:val>
                                            <p:fltVal val="0"/>
                                          </p:val>
                                        </p:tav>
                                        <p:tav tm="100000">
                                          <p:val>
                                            <p:strVal val="#ppt_w"/>
                                          </p:val>
                                        </p:tav>
                                      </p:tavLst>
                                    </p:anim>
                                    <p:anim calcmode="lin" valueType="num">
                                      <p:cBhvr additive="base">
                                        <p:cTn id="48" dur="450" fill="hold"/>
                                        <p:tgtEl>
                                          <p:spTgt spid="10"/>
                                        </p:tgtEl>
                                        <p:attrNameLst>
                                          <p:attrName>ppt_h</p:attrName>
                                        </p:attrNameLst>
                                      </p:cBhvr>
                                      <p:tavLst>
                                        <p:tav tm="0">
                                          <p:val>
                                            <p:fltVal val="0"/>
                                          </p:val>
                                        </p:tav>
                                        <p:tav tm="100000">
                                          <p:val>
                                            <p:strVal val="#ppt_h"/>
                                          </p:val>
                                        </p:tav>
                                      </p:tavLst>
                                    </p:anim>
                                    <p:animEffect transition="in" filter="fade">
                                      <p:cBhvr>
                                        <p:cTn id="49" dur="450"/>
                                        <p:tgtEl>
                                          <p:spTgt spid="10"/>
                                        </p:tgtEl>
                                      </p:cBhvr>
                                    </p:animEffect>
                                  </p:childTnLst>
                                </p:cTn>
                              </p:par>
                            </p:childTnLst>
                          </p:cTn>
                        </p:par>
                      </p:childTnLst>
                    </p:cTn>
                  </p:par>
                  <p:par>
                    <p:cTn id="58" fill="hold">
                      <p:stCondLst>
                        <p:cond delay="indefinite"/>
                      </p:stCondLst>
                      <p:childTnLst>
                        <p:par>
                          <p:cTn id="59" fill="hold">
                            <p:stCondLst>
                              <p:cond delay="0"/>
                            </p:stCondLst>
                            <p:childTnLst>
                              <p:par>
                                <p:cTn id="57" presetID="53" presetClass="entr" presetSubtype="16"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 calcmode="lin" valueType="num">
                                      <p:cBhvr additive="base">
                                        <p:cTn id="54" dur="450" fill="hold"/>
                                        <p:tgtEl>
                                          <p:spTgt spid="11"/>
                                        </p:tgtEl>
                                        <p:attrNameLst>
                                          <p:attrName>ppt_w</p:attrName>
                                        </p:attrNameLst>
                                      </p:cBhvr>
                                      <p:tavLst>
                                        <p:tav tm="0">
                                          <p:val>
                                            <p:fltVal val="0"/>
                                          </p:val>
                                        </p:tav>
                                        <p:tav tm="100000">
                                          <p:val>
                                            <p:strVal val="#ppt_w"/>
                                          </p:val>
                                        </p:tav>
                                      </p:tavLst>
                                    </p:anim>
                                    <p:anim calcmode="lin" valueType="num">
                                      <p:cBhvr additive="base">
                                        <p:cTn id="55" dur="450" fill="hold"/>
                                        <p:tgtEl>
                                          <p:spTgt spid="11"/>
                                        </p:tgtEl>
                                        <p:attrNameLst>
                                          <p:attrName>ppt_h</p:attrName>
                                        </p:attrNameLst>
                                      </p:cBhvr>
                                      <p:tavLst>
                                        <p:tav tm="0">
                                          <p:val>
                                            <p:fltVal val="0"/>
                                          </p:val>
                                        </p:tav>
                                        <p:tav tm="100000">
                                          <p:val>
                                            <p:strVal val="#ppt_h"/>
                                          </p:val>
                                        </p:tav>
                                      </p:tavLst>
                                    </p:anim>
                                    <p:animEffect transition="in" filter="fade">
                                      <p:cBhvr>
                                        <p:cTn id="56" dur="450"/>
                                        <p:tgtEl>
                                          <p:spTgt spid="11"/>
                                        </p:tgtEl>
                                      </p:cBhvr>
                                    </p:animEffect>
                                  </p:childTnLst>
                                </p:cTn>
                              </p:par>
                            </p:childTnLst>
                          </p:cTn>
                        </p:par>
                      </p:childTnLst>
                    </p:cTn>
                  </p:par>
                  <p:par>
                    <p:cTn id="65" fill="hold">
                      <p:stCondLst>
                        <p:cond delay="indefinite"/>
                      </p:stCondLst>
                      <p:childTnLst>
                        <p:par>
                          <p:cTn id="66"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p:tgtEl>
                                          <p:spTgt spid="14"/>
                                        </p:tgtEl>
                                        <p:attrNameLst>
                                          <p:attrName>ppt_w</p:attrName>
                                        </p:attrNameLst>
                                      </p:cBhvr>
                                      <p:tavLst>
                                        <p:tav tm="0">
                                          <p:val>
                                            <p:fltVal val="0"/>
                                          </p:val>
                                        </p:tav>
                                        <p:tav tm="100000">
                                          <p:val>
                                            <p:strVal val="#ppt_w"/>
                                          </p:val>
                                        </p:tav>
                                      </p:tavLst>
                                    </p:anim>
                                    <p:anim calcmode="lin" valueType="num">
                                      <p:cBhvr additive="base">
                                        <p:cTn id="62" dur="500" fill="hold"/>
                                        <p:tgtEl>
                                          <p:spTgt spid="14"/>
                                        </p:tgtEl>
                                        <p:attrNameLst>
                                          <p:attrName>ppt_h</p:attrName>
                                        </p:attrNameLst>
                                      </p:cBhvr>
                                      <p:tavLst>
                                        <p:tav tm="0">
                                          <p:val>
                                            <p:fltVal val="0"/>
                                          </p:val>
                                        </p:tav>
                                        <p:tav tm="100000">
                                          <p:val>
                                            <p:strVal val="#ppt_h"/>
                                          </p:val>
                                        </p:tav>
                                      </p:tavLst>
                                    </p:anim>
                                    <p:animEffect transition="in" filter="fade">
                                      <p:cBhvr>
                                        <p:cTn id="6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2" grpId="0" animBg="1"/>
      <p:bldP spid="10" grpId="0" animBg="1"/>
      <p:bldP spid="11" grpId="0" animBg="1"/>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A10 · Exceptional Conditions: the fix</a:t>
            </a:r>
            <a:endParaRPr lang="en-US" sz="3000" dirty="0"/>
          </a:p>
        </p:txBody>
      </p:sp>
      <p:pic>
        <p:nvPicPr>
          <p:cNvPr id="4" name="Mascot" descr="Mascot cartoon">    </p:cNvPr>
          <p:cNvPicPr>
            <a:picLocks noChangeAspect="1"/>
          </p:cNvPicPr>
          <p:nvPr/>
        </p:nvPicPr>
        <p:blipFill>
          <a:blip r:embed="rId1"/>
          <a:stretch>
            <a:fillRect/>
          </a:stretch>
        </p:blipFill>
        <p:spPr>
          <a:xfrm>
            <a:off x="640080" y="1097280"/>
            <a:ext cx="1737360" cy="1737360"/>
          </a:xfrm>
          <a:prstGeom prst="rect">
            <a:avLst/>
          </a:prstGeom>
        </p:spPr>
      </p:pic>
      <p:sp>
        <p:nvSpPr>
          <p:cNvPr id="5" name="Stop sign"/>
          <p:cNvSpPr txBox="1"/>
          <p:nvPr/>
        </p:nvSpPr>
        <p:spPr>
          <a:xfrm>
            <a:off x="2377440" y="3063240"/>
            <a:ext cx="777240" cy="777240"/>
          </a:xfrm>
          <a:prstGeom prst="octagon">
            <a:avLst/>
          </a:prstGeom>
          <a:solidFill>
            <a:schemeClr val="accent2"/>
          </a:solidFill>
          <a:ln/>
        </p:spPr>
        <p:txBody>
          <a:bodyPr wrap="square" lIns="0" tIns="0" rIns="0" bIns="0" rtlCol="0" anchor="ctr"/>
          <a:lstStyle/>
          <a:p>
            <a:pPr algn="ctr" indent="0" marL="0">
              <a:buNone/>
            </a:pPr>
            <a:r>
              <a:rPr lang="en-US" sz="1300" b="1" dirty="0">
                <a:solidFill>
                  <a:srgbClr val="FFFFFF"/>
                </a:solidFill>
              </a:rPr>
              <a:t>STOP</a:t>
            </a:r>
            <a:endParaRPr lang="en-US" sz="1300" dirty="0"/>
          </a:p>
        </p:txBody>
      </p:sp>
      <p:pic>
        <p:nvPicPr>
          <p:cNvPr id="6" name="Hacker" descr="Hacker cartoon">    </p:cNvPr>
          <p:cNvPicPr>
            <a:picLocks noChangeAspect="1"/>
          </p:cNvPicPr>
          <p:nvPr/>
        </p:nvPicPr>
        <p:blipFill>
          <a:blip r:embed="rId2"/>
          <a:stretch>
            <a:fillRect/>
          </a:stretch>
        </p:blipFill>
        <p:spPr>
          <a:xfrm>
            <a:off x="274320" y="2834640"/>
            <a:ext cx="1188720" cy="1188720"/>
          </a:xfrm>
          <a:prstGeom prst="rect">
            <a:avLst/>
          </a:prstGeom>
        </p:spPr>
      </p:pic>
      <p:sp>
        <p:nvSpPr>
          <p:cNvPr id="7" name="Rule 0"/>
          <p:cNvSpPr txBox="1"/>
          <p:nvPr/>
        </p:nvSpPr>
        <p:spPr>
          <a:xfrm>
            <a:off x="3383280" y="1143000"/>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Fail closed</a:t>
            </a:r>
            <a:endParaRPr lang="en-US" sz="1400" dirty="0"/>
          </a:p>
          <a:p>
            <a:pPr algn="l" indent="0" marL="0">
              <a:buNone/>
            </a:pPr>
            <a:r>
              <a:rPr lang="en-US" sz="1200" dirty="0">
                <a:solidFill>
                  <a:schemeClr val="tx1"/>
                </a:solidFill>
              </a:rPr>
              <a:t>On error, deny access. Never 'catch and continue' inside a security check.</a:t>
            </a:r>
            <a:endParaRPr lang="en-US" sz="1400" dirty="0"/>
          </a:p>
        </p:txBody>
      </p:sp>
      <p:sp>
        <p:nvSpPr>
          <p:cNvPr id="8" name="Rule num 0"/>
          <p:cNvSpPr txBox="1"/>
          <p:nvPr/>
        </p:nvSpPr>
        <p:spPr>
          <a:xfrm>
            <a:off x="3493008" y="1271016"/>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Rule 1"/>
          <p:cNvSpPr txBox="1"/>
          <p:nvPr/>
        </p:nvSpPr>
        <p:spPr>
          <a:xfrm>
            <a:off x="3383280" y="1892808"/>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One global handler</a:t>
            </a:r>
            <a:endParaRPr lang="en-US" sz="1400" dirty="0"/>
          </a:p>
          <a:p>
            <a:pPr algn="l" indent="0" marL="0">
              <a:buNone/>
            </a:pPr>
            <a:r>
              <a:rPr lang="en-US" sz="1200" dirty="0">
                <a:solidFill>
                  <a:schemeClr val="tx1"/>
                </a:solidFill>
              </a:rPr>
              <a:t>UseExceptionHandler returns ProblemDetails with a trace ID. Log the details.</a:t>
            </a:r>
            <a:endParaRPr lang="en-US" sz="1400" dirty="0"/>
          </a:p>
        </p:txBody>
      </p:sp>
      <p:sp>
        <p:nvSpPr>
          <p:cNvPr id="10" name="Rule num 1"/>
          <p:cNvSpPr txBox="1"/>
          <p:nvPr/>
        </p:nvSpPr>
        <p:spPr>
          <a:xfrm>
            <a:off x="3493008" y="2020824"/>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Rule 2"/>
          <p:cNvSpPr txBox="1"/>
          <p:nvPr/>
        </p:nvSpPr>
        <p:spPr>
          <a:xfrm>
            <a:off x="3383280" y="2642616"/>
            <a:ext cx="5303520" cy="676656"/>
          </a:xfrm>
          <a:prstGeom prst="roundRect">
            <a:avLst>
              <a:gd name="adj" fmla="val 13514"/>
            </a:avLst>
          </a:prstGeom>
          <a:solidFill>
            <a:schemeClr val="bg2"/>
          </a:solidFill>
          <a:ln/>
        </p:spPr>
        <p:txBody>
          <a:bodyPr wrap="square" lIns="660400" tIns="25400" rIns="101600" bIns="25400" rtlCol="0" anchor="ctr"/>
          <a:lstStyle/>
          <a:p>
            <a:pPr algn="l" indent="0" marL="0">
              <a:buNone/>
            </a:pPr>
            <a:r>
              <a:rPr lang="en-US" sz="1400" b="1" dirty="0">
                <a:solidFill>
                  <a:schemeClr val="accent1"/>
                </a:solidFill>
              </a:rPr>
              <a:t>Test the bad paths</a:t>
            </a:r>
            <a:endParaRPr lang="en-US" sz="1400" dirty="0"/>
          </a:p>
          <a:p>
            <a:pPr algn="l" indent="0" marL="0">
              <a:buNone/>
            </a:pPr>
            <a:r>
              <a:rPr lang="en-US" sz="1200" dirty="0">
                <a:solidFill>
                  <a:schemeClr val="tx1"/>
                </a:solidFill>
              </a:rPr>
              <a:t>Timeouts, database down, bad input, exhausted resources. Set limits and timeouts.</a:t>
            </a:r>
            <a:endParaRPr lang="en-US" sz="1400" dirty="0"/>
          </a:p>
        </p:txBody>
      </p:sp>
      <p:sp>
        <p:nvSpPr>
          <p:cNvPr id="12" name="Rule num 2"/>
          <p:cNvSpPr txBox="1"/>
          <p:nvPr/>
        </p:nvSpPr>
        <p:spPr>
          <a:xfrm>
            <a:off x="3493008" y="2770632"/>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Chip NG"/>
          <p:cNvSpPr txBox="1"/>
          <p:nvPr/>
        </p:nvSpPr>
        <p:spPr>
          <a:xfrm>
            <a:off x="3383280" y="3429000"/>
            <a:ext cx="2606040" cy="804672"/>
          </a:xfrm>
          <a:prstGeom prst="roundRect">
            <a:avLst>
              <a:gd name="adj" fmla="val 11364"/>
            </a:avLst>
          </a:prstGeom>
          <a:solidFill>
            <a:schemeClr val="accent5">
              <a:alpha val="12000"/>
            </a:schemeClr>
          </a:solidFill>
          <a:ln w="12700">
            <a:solidFill>
              <a:schemeClr val="accent5"/>
            </a:solidFill>
          </a:ln>
        </p:spPr>
        <p:txBody>
          <a:bodyPr wrap="square" lIns="127000" tIns="25400" rIns="101600" bIns="25400" rtlCol="0" anchor="ctr"/>
          <a:lstStyle/>
          <a:p>
            <a:pPr algn="l" indent="0" marL="0">
              <a:buNone/>
            </a:pPr>
            <a:r>
              <a:rPr lang="en-US" sz="1100" b="1" spc="200" kern="0" dirty="0">
                <a:solidFill>
                  <a:schemeClr val="accent5"/>
                </a:solidFill>
              </a:rPr>
              <a:t>IN ANGULAR</a:t>
            </a:r>
            <a:endParaRPr lang="en-US" sz="1100" dirty="0"/>
          </a:p>
          <a:p>
            <a:pPr algn="l" indent="0" marL="0">
              <a:buNone/>
            </a:pPr>
            <a:r>
              <a:rPr lang="en-US" sz="1200" dirty="0">
                <a:solidFill>
                  <a:schemeClr val="tx1"/>
                </a:solidFill>
              </a:rPr>
              <a:t>HttpInterceptor shows a generic message with a reference ID.</a:t>
            </a:r>
            <a:endParaRPr lang="en-US" sz="1100" dirty="0"/>
          </a:p>
        </p:txBody>
      </p:sp>
      <p:sp>
        <p:nvSpPr>
          <p:cNvPr id="14" name="Chip NET"/>
          <p:cNvSpPr txBox="1"/>
          <p:nvPr/>
        </p:nvSpPr>
        <p:spPr>
          <a:xfrm>
            <a:off x="6080760" y="3429000"/>
            <a:ext cx="2606040" cy="804672"/>
          </a:xfrm>
          <a:prstGeom prst="roundRect">
            <a:avLst>
              <a:gd name="adj" fmla="val 11364"/>
            </a:avLst>
          </a:prstGeom>
          <a:solidFill>
            <a:schemeClr val="accent6">
              <a:alpha val="12000"/>
            </a:schemeClr>
          </a:solidFill>
          <a:ln w="12700">
            <a:solidFill>
              <a:schemeClr val="accent6"/>
            </a:solidFill>
          </a:ln>
        </p:spPr>
        <p:txBody>
          <a:bodyPr wrap="square" lIns="127000" tIns="25400" rIns="101600" bIns="25400" rtlCol="0" anchor="ctr"/>
          <a:lstStyle/>
          <a:p>
            <a:pPr algn="l" indent="0" marL="0">
              <a:buNone/>
            </a:pPr>
            <a:r>
              <a:rPr lang="en-US" sz="1100" b="1" spc="200" kern="0" dirty="0">
                <a:solidFill>
                  <a:schemeClr val="accent6"/>
                </a:solidFill>
              </a:rPr>
              <a:t>IN .NET CORE</a:t>
            </a:r>
            <a:endParaRPr lang="en-US" sz="1100" dirty="0"/>
          </a:p>
          <a:p>
            <a:pPr algn="l" indent="0" marL="0">
              <a:buNone/>
            </a:pPr>
            <a:r>
              <a:rPr lang="en-US" sz="1200" dirty="0">
                <a:solidFill>
                  <a:schemeClr val="tx1"/>
                </a:solidFill>
              </a:rPr>
              <a:t>IExceptionHandler and ProblemDetails. IIS: custom errors.</a:t>
            </a:r>
            <a:endParaRPr lang="en-US" sz="1100" dirty="0"/>
          </a:p>
        </p:txBody>
      </p:sp>
      <p:sp>
        <p:nvSpPr>
          <p:cNvPr id="15" name="Takeaway"/>
          <p:cNvSpPr txBox="1"/>
          <p:nvPr/>
        </p:nvSpPr>
        <p:spPr>
          <a:xfrm>
            <a:off x="457200" y="4279392"/>
            <a:ext cx="4754880" cy="411480"/>
          </a:xfrm>
          <a:prstGeom prst="rect">
            <a:avLst/>
          </a:prstGeom>
          <a:noFill/>
          <a:ln/>
        </p:spPr>
        <p:txBody>
          <a:bodyPr wrap="square" lIns="0" tIns="0" rIns="0" bIns="0" rtlCol="0" anchor="ctr"/>
          <a:lstStyle/>
          <a:p>
            <a:pPr indent="0" marL="0">
              <a:buNone/>
            </a:pPr>
            <a:r>
              <a:rPr lang="en-US" sz="1600" b="1" dirty="0">
                <a:solidFill>
                  <a:schemeClr val="accent1"/>
                </a:solidFill>
              </a:rPr>
              <a:t>Errors are part of the design.</a:t>
            </a:r>
            <a:endParaRPr lang="en-US" sz="16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cond evt="onBegin" delay="0">
                          <p:tn val="2"/>
                        </p:cond>
                      </p:stCondLst>
                      <p:childTnLst>
                        <p:par>
                          <p:cTn id="19"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5"/>
                                        </p:tgtEl>
                                        <p:attrNameLst>
                                          <p:attrName>style.visibility</p:attrName>
                                        </p:attrNameLst>
                                      </p:cBhvr>
                                      <p:to>
                                        <p:strVal val="visible"/>
                                      </p:to>
                                    </p:set>
                                    <p:anim calcmode="lin" valueType="num">
                                      <p:cBhvr additive="base">
                                        <p:cTn id="4" dur="400" fill="hold"/>
                                        <p:tgtEl>
                                          <p:spTgt spid="5"/>
                                        </p:tgtEl>
                                        <p:attrNameLst>
                                          <p:attrName>ppt_w</p:attrName>
                                        </p:attrNameLst>
                                      </p:cBhvr>
                                      <p:tavLst>
                                        <p:tav tm="0">
                                          <p:val>
                                            <p:fltVal val="0"/>
                                          </p:val>
                                        </p:tav>
                                        <p:tav tm="100000">
                                          <p:val>
                                            <p:strVal val="#ppt_w"/>
                                          </p:val>
                                        </p:tav>
                                      </p:tavLst>
                                    </p:anim>
                                    <p:anim calcmode="lin" valueType="num">
                                      <p:cBhvr additive="base">
                                        <p:cTn id="5" dur="400" fill="hold"/>
                                        <p:tgtEl>
                                          <p:spTgt spid="5"/>
                                        </p:tgtEl>
                                        <p:attrNameLst>
                                          <p:attrName>ppt_h</p:attrName>
                                        </p:attrNameLst>
                                      </p:cBhvr>
                                      <p:tavLst>
                                        <p:tav tm="0">
                                          <p:val>
                                            <p:fltVal val="0"/>
                                          </p:val>
                                        </p:tav>
                                        <p:tav tm="100000">
                                          <p:val>
                                            <p:strVal val="#ppt_h"/>
                                          </p:val>
                                        </p:tav>
                                      </p:tavLst>
                                    </p:anim>
                                    <p:animEffect transition="in" filter="fade">
                                      <p:cBhvr>
                                        <p:cTn id="6" dur="400"/>
                                        <p:tgtEl>
                                          <p:spTgt spid="5"/>
                                        </p:tgtEl>
                                      </p:cBhvr>
                                    </p:animEffect>
                                  </p:childTnLst>
                                </p:cTn>
                              </p:par>
                              <p:par>
                                <p:cTn id="10" presetID="10" presetClass="entr" presetSubtype="0" fill="hold" nodeType="withEffect">
                                  <p:stCondLst>
                                    <p:cond delay="20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300"/>
                                        <p:tgtEl>
                                          <p:spTgt spid="6"/>
                                        </p:tgtEl>
                                      </p:cBhvr>
                                    </p:animEffect>
                                  </p:childTnLst>
                                </p:cTn>
                              </p:par>
                              <p:par>
                                <p:cTn id="12" presetID="0" presetClass="path" presetSubtype="0" fill="hold" nodeType="withEffect">
                                  <p:stCondLst>
                                    <p:cond delay="600"/>
                                  </p:stCondLst>
                                  <p:childTnLst>
                                    <p:animMotion origin="layout" path="M 0 0 L 0.1 0 E" pathEditMode="relative">
                                      <p:cBhvr>
                                        <p:cTn id="11" dur="2400" fill="hold"/>
                                        <p:tgtEl>
                                          <p:spTgt spid="6"/>
                                        </p:tgtEl>
                                        <p:attrNameLst>
                                          <p:attrName>ppt_x</p:attrName>
                                          <p:attrName>ppt_y</p:attrName>
                                        </p:attrNameLst>
                                      </p:cBhvr>
                                      <p:rCtr x="0.05" y="0"/>
                                    </p:animMotion>
                                  </p:childTnLst>
                                </p:cTn>
                              </p:par>
                              <p:par>
                                <p:cTn id="17" presetID="53" presetClass="entr" presetSubtype="16" fill="hold" nodeType="withEffect">
                                  <p:stCondLst>
                                    <p:cond delay="300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ppt_w</p:attrName>
                                        </p:attrNameLst>
                                      </p:cBhvr>
                                      <p:tavLst>
                                        <p:tav tm="0">
                                          <p:val>
                                            <p:fltVal val="0"/>
                                          </p:val>
                                        </p:tav>
                                        <p:tav tm="100000">
                                          <p:val>
                                            <p:strVal val="#ppt_w"/>
                                          </p:val>
                                        </p:tav>
                                      </p:tavLst>
                                    </p:anim>
                                    <p:anim calcmode="lin" valueType="num">
                                      <p:cBhvr additive="base">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23" presetID="2" presetClass="entr" presetSubtype="2"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450" fill="hold"/>
                                        <p:tgtEl>
                                          <p:spTgt spid="7"/>
                                        </p:tgtEl>
                                        <p:attrNameLst>
                                          <p:attrName>ppt_x</p:attrName>
                                        </p:attrNameLst>
                                      </p:cBhvr>
                                      <p:tavLst>
                                        <p:tav tm="0">
                                          <p:val>
                                            <p:strVal val="1+#ppt_w/2"/>
                                          </p:val>
                                        </p:tav>
                                        <p:tav tm="100000">
                                          <p:val>
                                            <p:strVal val="#ppt_x"/>
                                          </p:val>
                                        </p:tav>
                                      </p:tavLst>
                                    </p:anim>
                                    <p:anim calcmode="lin" valueType="num">
                                      <p:cBhvr additive="base">
                                        <p:cTn id="22" dur="450" fill="hold"/>
                                        <p:tgtEl>
                                          <p:spTgt spid="7"/>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450" fill="hold"/>
                                        <p:tgtEl>
                                          <p:spTgt spid="8"/>
                                        </p:tgtEl>
                                        <p:attrNameLst>
                                          <p:attrName>ppt_x</p:attrName>
                                        </p:attrNameLst>
                                      </p:cBhvr>
                                      <p:tavLst>
                                        <p:tav tm="0">
                                          <p:val>
                                            <p:strVal val="1+#ppt_w/2"/>
                                          </p:val>
                                        </p:tav>
                                        <p:tav tm="100000">
                                          <p:val>
                                            <p:strVal val="#ppt_x"/>
                                          </p:val>
                                        </p:tav>
                                      </p:tavLst>
                                    </p:anim>
                                    <p:anim calcmode="lin" valueType="num">
                                      <p:cBhvr additive="base">
                                        <p:cTn id="26" dur="45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33" presetID="2" presetClass="entr" presetSubtype="2"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450" fill="hold"/>
                                        <p:tgtEl>
                                          <p:spTgt spid="9"/>
                                        </p:tgtEl>
                                        <p:attrNameLst>
                                          <p:attrName>ppt_x</p:attrName>
                                        </p:attrNameLst>
                                      </p:cBhvr>
                                      <p:tavLst>
                                        <p:tav tm="0">
                                          <p:val>
                                            <p:strVal val="1+#ppt_w/2"/>
                                          </p:val>
                                        </p:tav>
                                        <p:tav tm="100000">
                                          <p:val>
                                            <p:strVal val="#ppt_x"/>
                                          </p:val>
                                        </p:tav>
                                      </p:tavLst>
                                    </p:anim>
                                    <p:anim calcmode="lin" valueType="num">
                                      <p:cBhvr additive="base">
                                        <p:cTn id="32" dur="450" fill="hold"/>
                                        <p:tgtEl>
                                          <p:spTgt spid="9"/>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450" fill="hold"/>
                                        <p:tgtEl>
                                          <p:spTgt spid="10"/>
                                        </p:tgtEl>
                                        <p:attrNameLst>
                                          <p:attrName>ppt_x</p:attrName>
                                        </p:attrNameLst>
                                      </p:cBhvr>
                                      <p:tavLst>
                                        <p:tav tm="0">
                                          <p:val>
                                            <p:strVal val="1+#ppt_w/2"/>
                                          </p:val>
                                        </p:tav>
                                        <p:tav tm="100000">
                                          <p:val>
                                            <p:strVal val="#ppt_x"/>
                                          </p:val>
                                        </p:tav>
                                      </p:tavLst>
                                    </p:anim>
                                    <p:anim calcmode="lin" valueType="num">
                                      <p:cBhvr additive="base">
                                        <p:cTn id="36" dur="45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3" presetID="2" presetClass="entr" presetSubtype="2"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450" fill="hold"/>
                                        <p:tgtEl>
                                          <p:spTgt spid="11"/>
                                        </p:tgtEl>
                                        <p:attrNameLst>
                                          <p:attrName>ppt_x</p:attrName>
                                        </p:attrNameLst>
                                      </p:cBhvr>
                                      <p:tavLst>
                                        <p:tav tm="0">
                                          <p:val>
                                            <p:strVal val="1+#ppt_w/2"/>
                                          </p:val>
                                        </p:tav>
                                        <p:tav tm="100000">
                                          <p:val>
                                            <p:strVal val="#ppt_x"/>
                                          </p:val>
                                        </p:tav>
                                      </p:tavLst>
                                    </p:anim>
                                    <p:anim calcmode="lin" valueType="num">
                                      <p:cBhvr additive="base">
                                        <p:cTn id="42" dur="450" fill="hold"/>
                                        <p:tgtEl>
                                          <p:spTgt spid="11"/>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450" fill="hold"/>
                                        <p:tgtEl>
                                          <p:spTgt spid="12"/>
                                        </p:tgtEl>
                                        <p:attrNameLst>
                                          <p:attrName>ppt_x</p:attrName>
                                        </p:attrNameLst>
                                      </p:cBhvr>
                                      <p:tavLst>
                                        <p:tav tm="0">
                                          <p:val>
                                            <p:strVal val="1+#ppt_w/2"/>
                                          </p:val>
                                        </p:tav>
                                        <p:tav tm="100000">
                                          <p:val>
                                            <p:strVal val="#ppt_x"/>
                                          </p:val>
                                        </p:tav>
                                      </p:tavLst>
                                    </p:anim>
                                    <p:anim calcmode="lin" valueType="num">
                                      <p:cBhvr additive="base">
                                        <p:cTn id="46" dur="45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53" presetID="2" presetClass="entr" presetSubtype="4"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450" fill="hold"/>
                                        <p:tgtEl>
                                          <p:spTgt spid="13"/>
                                        </p:tgtEl>
                                        <p:attrNameLst>
                                          <p:attrName>ppt_x</p:attrName>
                                        </p:attrNameLst>
                                      </p:cBhvr>
                                      <p:tavLst>
                                        <p:tav tm="0">
                                          <p:val>
                                            <p:strVal val="#ppt_x"/>
                                          </p:val>
                                        </p:tav>
                                        <p:tav tm="100000">
                                          <p:val>
                                            <p:strVal val="#ppt_x"/>
                                          </p:val>
                                        </p:tav>
                                      </p:tavLst>
                                    </p:anim>
                                    <p:anim calcmode="lin" valueType="num">
                                      <p:cBhvr additive="base">
                                        <p:cTn id="52" dur="450" fill="hold"/>
                                        <p:tgtEl>
                                          <p:spTgt spid="13"/>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15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450" fill="hold"/>
                                        <p:tgtEl>
                                          <p:spTgt spid="14"/>
                                        </p:tgtEl>
                                        <p:attrNameLst>
                                          <p:attrName>ppt_x</p:attrName>
                                        </p:attrNameLst>
                                      </p:cBhvr>
                                      <p:tavLst>
                                        <p:tav tm="0">
                                          <p:val>
                                            <p:strVal val="#ppt_x"/>
                                          </p:val>
                                        </p:tav>
                                        <p:tav tm="100000">
                                          <p:val>
                                            <p:strVal val="#ppt_x"/>
                                          </p:val>
                                        </p:tav>
                                      </p:tavLst>
                                    </p:anim>
                                    <p:anim calcmode="lin" valueType="num">
                                      <p:cBhvr additive="base">
                                        <p:cTn id="56"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450" fill="hold"/>
                                        <p:tgtEl>
                                          <p:spTgt spid="15"/>
                                        </p:tgtEl>
                                        <p:attrNameLst>
                                          <p:attrName>ppt_w</p:attrName>
                                        </p:attrNameLst>
                                      </p:cBhvr>
                                      <p:tavLst>
                                        <p:tav tm="0">
                                          <p:val>
                                            <p:fltVal val="0"/>
                                          </p:val>
                                        </p:tav>
                                        <p:tav tm="100000">
                                          <p:val>
                                            <p:strVal val="#ppt_w"/>
                                          </p:val>
                                        </p:tav>
                                      </p:tavLst>
                                    </p:anim>
                                    <p:anim calcmode="lin" valueType="num">
                                      <p:cBhvr additive="base">
                                        <p:cTn id="62" dur="450" fill="hold"/>
                                        <p:tgtEl>
                                          <p:spTgt spid="15"/>
                                        </p:tgtEl>
                                        <p:attrNameLst>
                                          <p:attrName>ppt_h</p:attrName>
                                        </p:attrNameLst>
                                      </p:cBhvr>
                                      <p:tavLst>
                                        <p:tav tm="0">
                                          <p:val>
                                            <p:fltVal val="0"/>
                                          </p:val>
                                        </p:tav>
                                        <p:tav tm="100000">
                                          <p:val>
                                            <p:strVal val="#ppt_h"/>
                                          </p:val>
                                        </p:tav>
                                      </p:tavLst>
                                    </p:anim>
                                    <p:animEffect transition="in" filter="fade">
                                      <p:cBhvr>
                                        <p:cTn id="63"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Our environment changes the risks</a:t>
            </a:r>
            <a:endParaRPr lang="en-US" sz="3000" dirty="0"/>
          </a:p>
        </p:txBody>
      </p:sp>
      <p:sp>
        <p:nvSpPr>
          <p:cNvPr id="4" name="Wall"/>
          <p:cNvSpPr/>
          <p:nvPr/>
        </p:nvSpPr>
        <p:spPr>
          <a:xfrm>
            <a:off x="1965960" y="2286000"/>
            <a:ext cx="146304" cy="1828800"/>
          </a:xfrm>
          <a:prstGeom prst="rect">
            <a:avLst/>
          </a:prstGeom>
          <a:solidFill>
            <a:schemeClr val="accent2"/>
          </a:solidFill>
          <a:ln/>
        </p:spPr>
      </p:sp>
      <p:sp>
        <p:nvSpPr>
          <p:cNvPr id="5" name="Wall label"/>
          <p:cNvSpPr txBox="1"/>
          <p:nvPr/>
        </p:nvSpPr>
        <p:spPr>
          <a:xfrm>
            <a:off x="1325880" y="4160520"/>
            <a:ext cx="1417320" cy="274320"/>
          </a:xfrm>
          <a:prstGeom prst="rect">
            <a:avLst/>
          </a:prstGeom>
          <a:noFill/>
          <a:ln/>
        </p:spPr>
        <p:txBody>
          <a:bodyPr wrap="square" lIns="0" tIns="0" rIns="0" bIns="0" rtlCol="0" anchor="ctr"/>
          <a:lstStyle/>
          <a:p>
            <a:pPr algn="ctr" indent="0" marL="0">
              <a:buNone/>
            </a:pPr>
            <a:r>
              <a:rPr lang="en-US" sz="1200" b="1" spc="200" kern="0" dirty="0">
                <a:solidFill>
                  <a:schemeClr val="accent2"/>
                </a:solidFill>
              </a:rPr>
              <a:t>AIR GAP</a:t>
            </a:r>
            <a:endParaRPr lang="en-US" sz="1200" dirty="0"/>
          </a:p>
        </p:txBody>
      </p:sp>
      <p:pic>
        <p:nvPicPr>
          <p:cNvPr id="6" name="Hacker" descr="Hacker cartoon">    </p:cNvPr>
          <p:cNvPicPr>
            <a:picLocks noChangeAspect="1"/>
          </p:cNvPicPr>
          <p:nvPr/>
        </p:nvPicPr>
        <p:blipFill>
          <a:blip r:embed="rId1"/>
          <a:stretch>
            <a:fillRect/>
          </a:stretch>
        </p:blipFill>
        <p:spPr>
          <a:xfrm>
            <a:off x="274320" y="3017520"/>
            <a:ext cx="1188720" cy="1188720"/>
          </a:xfrm>
          <a:prstGeom prst="rect">
            <a:avLst/>
          </a:prstGeom>
        </p:spPr>
      </p:pic>
      <p:sp>
        <p:nvSpPr>
          <p:cNvPr id="7" name="USB"/>
          <p:cNvSpPr txBox="1"/>
          <p:nvPr/>
        </p:nvSpPr>
        <p:spPr>
          <a:xfrm>
            <a:off x="457200" y="1417320"/>
            <a:ext cx="822960" cy="384048"/>
          </a:xfrm>
          <a:prstGeom prst="roundRect">
            <a:avLst>
              <a:gd name="adj" fmla="val 19048"/>
            </a:avLst>
          </a:prstGeom>
          <a:solidFill>
            <a:schemeClr val="accent4"/>
          </a:solidFill>
          <a:ln/>
        </p:spPr>
        <p:txBody>
          <a:bodyPr wrap="square" lIns="0" tIns="0" rIns="0" bIns="0" rtlCol="0" anchor="ctr"/>
          <a:lstStyle/>
          <a:p>
            <a:pPr algn="ctr" indent="0" marL="0">
              <a:buNone/>
            </a:pPr>
            <a:r>
              <a:rPr lang="en-US" sz="1400" b="1" dirty="0">
                <a:solidFill>
                  <a:schemeClr val="bg1"/>
                </a:solidFill>
              </a:rPr>
              <a:t>USB</a:t>
            </a:r>
            <a:endParaRPr lang="en-US" sz="1400" dirty="0"/>
          </a:p>
        </p:txBody>
      </p:sp>
      <p:sp>
        <p:nvSpPr>
          <p:cNvPr id="8" name="USB label"/>
          <p:cNvSpPr txBox="1"/>
          <p:nvPr/>
        </p:nvSpPr>
        <p:spPr>
          <a:xfrm>
            <a:off x="365760" y="1874520"/>
            <a:ext cx="2651760" cy="274320"/>
          </a:xfrm>
          <a:prstGeom prst="rect">
            <a:avLst/>
          </a:prstGeom>
          <a:noFill/>
          <a:ln/>
        </p:spPr>
        <p:txBody>
          <a:bodyPr wrap="square" lIns="0" tIns="0" rIns="0" bIns="0" rtlCol="0" anchor="ctr"/>
          <a:lstStyle/>
          <a:p>
            <a:pPr indent="0" marL="0">
              <a:buNone/>
            </a:pPr>
            <a:r>
              <a:rPr lang="en-US" sz="1200" dirty="0">
                <a:solidFill>
                  <a:schemeClr val="tx2"/>
                </a:solidFill>
              </a:rPr>
              <a:t>Updates still cross by media</a:t>
            </a:r>
            <a:endParaRPr lang="en-US" sz="1200" dirty="0"/>
          </a:p>
        </p:txBody>
      </p:sp>
      <p:sp>
        <p:nvSpPr>
          <p:cNvPr id="9" name="Fact 0"/>
          <p:cNvSpPr txBox="1"/>
          <p:nvPr/>
        </p:nvSpPr>
        <p:spPr>
          <a:xfrm>
            <a:off x="3200400" y="1188720"/>
            <a:ext cx="2697480" cy="1280160"/>
          </a:xfrm>
          <a:prstGeom prst="roundRect">
            <a:avLst>
              <a:gd name="adj" fmla="val 8571"/>
            </a:avLst>
          </a:prstGeom>
          <a:solidFill>
            <a:schemeClr val="bg2"/>
          </a:solidFill>
          <a:ln w="15875">
            <a:solidFill>
              <a:schemeClr val="accent1"/>
            </a:solidFill>
          </a:ln>
        </p:spPr>
        <p:txBody>
          <a:bodyPr wrap="square" lIns="127000" tIns="101600" rIns="127000" bIns="76200" rtlCol="0" anchor="t"/>
          <a:lstStyle/>
          <a:p>
            <a:pPr algn="l" indent="0" marL="0">
              <a:spcAft>
                <a:spcPts val="400"/>
              </a:spcAft>
              <a:buNone/>
            </a:pPr>
            <a:r>
              <a:rPr lang="en-US" sz="1500" b="1" dirty="0">
                <a:solidFill>
                  <a:schemeClr val="accent1"/>
                </a:solidFill>
              </a:rPr>
              <a:t>Air-gapped</a:t>
            </a:r>
            <a:endParaRPr lang="en-US" sz="1500" dirty="0"/>
          </a:p>
          <a:p>
            <a:pPr algn="l" indent="0" marL="0">
              <a:buNone/>
            </a:pPr>
            <a:r>
              <a:rPr lang="en-US" sz="1300" dirty="0">
                <a:solidFill>
                  <a:schemeClr val="tx1"/>
                </a:solidFill>
              </a:rPr>
              <a:t>No internet attacks, but packages, updates and data still arrive by media.</a:t>
            </a:r>
            <a:endParaRPr lang="en-US" sz="1500" dirty="0"/>
          </a:p>
        </p:txBody>
      </p:sp>
      <p:sp>
        <p:nvSpPr>
          <p:cNvPr id="10" name="Fact 1"/>
          <p:cNvSpPr txBox="1"/>
          <p:nvPr/>
        </p:nvSpPr>
        <p:spPr>
          <a:xfrm>
            <a:off x="5989320" y="1188720"/>
            <a:ext cx="2697480" cy="1280160"/>
          </a:xfrm>
          <a:prstGeom prst="roundRect">
            <a:avLst>
              <a:gd name="adj" fmla="val 8571"/>
            </a:avLst>
          </a:prstGeom>
          <a:solidFill>
            <a:schemeClr val="bg2"/>
          </a:solidFill>
          <a:ln w="15875">
            <a:solidFill>
              <a:schemeClr val="accent4"/>
            </a:solidFill>
          </a:ln>
        </p:spPr>
        <p:txBody>
          <a:bodyPr wrap="square" lIns="127000" tIns="101600" rIns="127000" bIns="76200" rtlCol="0" anchor="t"/>
          <a:lstStyle/>
          <a:p>
            <a:pPr algn="l" indent="0" marL="0">
              <a:spcAft>
                <a:spcPts val="400"/>
              </a:spcAft>
              <a:buNone/>
            </a:pPr>
            <a:r>
              <a:rPr lang="en-US" sz="1500" b="1" dirty="0">
                <a:solidFill>
                  <a:schemeClr val="accent4"/>
                </a:solidFill>
              </a:rPr>
              <a:t>Internal is not trusted</a:t>
            </a:r>
            <a:endParaRPr lang="en-US" sz="1500" dirty="0"/>
          </a:p>
          <a:p>
            <a:pPr algn="l" indent="0" marL="0">
              <a:buNone/>
            </a:pPr>
            <a:r>
              <a:rPr lang="en-US" sz="1300" dirty="0">
                <a:solidFill>
                  <a:schemeClr val="tx1"/>
                </a:solidFill>
              </a:rPr>
              <a:t>Many users and roles. A curious or careless insider is a real threat.</a:t>
            </a:r>
            <a:endParaRPr lang="en-US" sz="1500" dirty="0"/>
          </a:p>
        </p:txBody>
      </p:sp>
      <p:sp>
        <p:nvSpPr>
          <p:cNvPr id="11" name="Fact 2"/>
          <p:cNvSpPr txBox="1"/>
          <p:nvPr/>
        </p:nvSpPr>
        <p:spPr>
          <a:xfrm>
            <a:off x="3200400" y="2606040"/>
            <a:ext cx="2697480" cy="1280160"/>
          </a:xfrm>
          <a:prstGeom prst="roundRect">
            <a:avLst>
              <a:gd name="adj" fmla="val 8571"/>
            </a:avLst>
          </a:prstGeom>
          <a:solidFill>
            <a:schemeClr val="bg2"/>
          </a:solidFill>
          <a:ln w="15875">
            <a:solidFill>
              <a:schemeClr val="accent5"/>
            </a:solidFill>
          </a:ln>
        </p:spPr>
        <p:txBody>
          <a:bodyPr wrap="square" lIns="127000" tIns="101600" rIns="127000" bIns="76200" rtlCol="0" anchor="t"/>
          <a:lstStyle/>
          <a:p>
            <a:pPr algn="l" indent="0" marL="0">
              <a:spcAft>
                <a:spcPts val="400"/>
              </a:spcAft>
              <a:buNone/>
            </a:pPr>
            <a:r>
              <a:rPr lang="en-US" sz="1500" b="1" dirty="0">
                <a:solidFill>
                  <a:schemeClr val="accent5"/>
                </a:solidFill>
              </a:rPr>
              <a:t>Our own servers</a:t>
            </a:r>
            <a:endParaRPr lang="en-US" sz="1500" dirty="0"/>
          </a:p>
          <a:p>
            <a:pPr algn="l" indent="0" marL="0">
              <a:buNone/>
            </a:pPr>
            <a:r>
              <a:rPr lang="en-US" sz="1300" dirty="0">
                <a:solidFill>
                  <a:schemeClr val="tx1"/>
                </a:solidFill>
              </a:rPr>
              <a:t>IIS, Oracle, SQL Server. Nobody else hardens them for us.</a:t>
            </a:r>
            <a:endParaRPr lang="en-US" sz="1500" dirty="0"/>
          </a:p>
        </p:txBody>
      </p:sp>
      <p:sp>
        <p:nvSpPr>
          <p:cNvPr id="12" name="Fact 3"/>
          <p:cNvSpPr txBox="1"/>
          <p:nvPr/>
        </p:nvSpPr>
        <p:spPr>
          <a:xfrm>
            <a:off x="5989320" y="2606040"/>
            <a:ext cx="2697480" cy="1280160"/>
          </a:xfrm>
          <a:prstGeom prst="roundRect">
            <a:avLst>
              <a:gd name="adj" fmla="val 8571"/>
            </a:avLst>
          </a:prstGeom>
          <a:solidFill>
            <a:schemeClr val="bg2"/>
          </a:solidFill>
          <a:ln w="15875">
            <a:solidFill>
              <a:schemeClr val="accent6"/>
            </a:solidFill>
          </a:ln>
        </p:spPr>
        <p:txBody>
          <a:bodyPr wrap="square" lIns="127000" tIns="101600" rIns="127000" bIns="76200" rtlCol="0" anchor="t"/>
          <a:lstStyle/>
          <a:p>
            <a:pPr algn="l" indent="0" marL="0">
              <a:spcAft>
                <a:spcPts val="400"/>
              </a:spcAft>
              <a:buNone/>
            </a:pPr>
            <a:r>
              <a:rPr lang="en-US" sz="1500" b="1" dirty="0">
                <a:solidFill>
                  <a:schemeClr val="accent6"/>
                </a:solidFill>
              </a:rPr>
              <a:t>Slow patching, no cloud SIEM</a:t>
            </a:r>
            <a:endParaRPr lang="en-US" sz="1500" dirty="0"/>
          </a:p>
          <a:p>
            <a:pPr algn="l" indent="0" marL="0">
              <a:buNone/>
            </a:pPr>
            <a:r>
              <a:rPr lang="en-US" sz="1300" dirty="0">
                <a:solidFill>
                  <a:schemeClr val="tx1"/>
                </a:solidFill>
              </a:rPr>
              <a:t>Fixes arrive late. Our own logs and alerts are all we have.</a:t>
            </a:r>
            <a:endParaRPr lang="en-US" sz="1500" dirty="0"/>
          </a:p>
        </p:txBody>
      </p:sp>
      <p:sp>
        <p:nvSpPr>
          <p:cNvPr id="13" name="Why line"/>
          <p:cNvSpPr txBox="1"/>
          <p:nvPr/>
        </p:nvSpPr>
        <p:spPr>
          <a:xfrm>
            <a:off x="3200400" y="4114800"/>
            <a:ext cx="5486400" cy="457200"/>
          </a:xfrm>
          <a:prstGeom prst="rect">
            <a:avLst/>
          </a:prstGeom>
          <a:noFill/>
          <a:ln/>
        </p:spPr>
        <p:txBody>
          <a:bodyPr wrap="square" lIns="0" tIns="0" rIns="0" bIns="0" rtlCol="0" anchor="ctr"/>
          <a:lstStyle/>
          <a:p>
            <a:pPr indent="0" marL="0">
              <a:buNone/>
            </a:pPr>
            <a:r>
              <a:rPr lang="en-US" sz="1800" b="1" dirty="0">
                <a:solidFill>
                  <a:schemeClr val="accent1"/>
                </a:solidFill>
              </a:rPr>
              <a:t>That is why some risks weigh more here.</a:t>
            </a:r>
            <a:endParaRPr lang="en-US" sz="18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2" fill="hold">
                      <p:stCondLst>
                        <p:cond delay="indefinite"/>
                        <p:cond evt="onBegin" delay="0">
                          <p:tn val="2"/>
                        </p:cond>
                      </p:stCondLst>
                      <p:childTnLst>
                        <p:par>
                          <p:cTn id="23"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400"/>
                                        <p:tgtEl>
                                          <p:spTgt spid="4"/>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11"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00"/>
                                        <p:tgtEl>
                                          <p:spTgt spid="6"/>
                                        </p:tgtEl>
                                      </p:cBhvr>
                                    </p:animEffect>
                                  </p:childTnLst>
                                </p:cTn>
                              </p:par>
                              <p:par>
                                <p:cTn id="13" presetID="0" presetClass="path" presetSubtype="0" fill="hold" nodeType="withEffect">
                                  <p:stCondLst>
                                    <p:cond delay="400"/>
                                  </p:stCondLst>
                                  <p:childTnLst>
                                    <p:animMotion origin="layout" path="M 0 0 L 0.05 0 E" pathEditMode="relative">
                                      <p:cBhvr>
                                        <p:cTn id="12" dur="2200" fill="hold"/>
                                        <p:tgtEl>
                                          <p:spTgt spid="6"/>
                                        </p:tgtEl>
                                        <p:attrNameLst>
                                          <p:attrName>ppt_x</p:attrName>
                                          <p:attrName>ppt_y</p:attrName>
                                        </p:attrNameLst>
                                      </p:cBhvr>
                                      <p:rCtr x="0.025" y="0"/>
                                    </p:animMotion>
                                  </p:childTnLst>
                                </p:cTn>
                              </p:par>
                              <p:par>
                                <p:cTn id="16" presetID="10" presetClass="entr" presetSubtype="0" fill="hold" grpId="0" nodeType="withEffect">
                                  <p:stCondLst>
                                    <p:cond delay="8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par>
                                <p:cTn id="19" presetID="10" presetClass="entr" presetSubtype="0" fill="hold" grpId="0" nodeType="withEffect">
                                  <p:stCondLst>
                                    <p:cond delay="80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21" presetID="0" presetClass="path" presetSubtype="0" fill="hold" grpId="0" nodeType="withEffect">
                                  <p:stCondLst>
                                    <p:cond delay="1300"/>
                                  </p:stCondLst>
                                  <p:childTnLst>
                                    <p:animMotion origin="layout" path="M 0 0 L 0.18 0 E" pathEditMode="relative">
                                      <p:cBhvr>
                                        <p:cTn id="20" dur="3000" fill="hold"/>
                                        <p:tgtEl>
                                          <p:spTgt spid="7"/>
                                        </p:tgtEl>
                                        <p:attrNameLst>
                                          <p:attrName>ppt_x</p:attrName>
                                          <p:attrName>ppt_y</p:attrName>
                                        </p:attrNameLst>
                                      </p:cBhvr>
                                      <p:rCtr x="0.09" y="0"/>
                                    </p:animMotion>
                                  </p:childTnLst>
                                </p:cTn>
                              </p:par>
                            </p:childTnLst>
                          </p:cTn>
                        </p:par>
                      </p:childTnLst>
                    </p:cTn>
                  </p:par>
                  <p:par>
                    <p:cTn id="28" fill="hold">
                      <p:stCondLst>
                        <p:cond delay="indefinite"/>
                      </p:stCondLst>
                      <p:childTnLst>
                        <p:par>
                          <p:cTn id="29" fill="hold">
                            <p:stCondLst>
                              <p:cond delay="0"/>
                            </p:stCondLst>
                            <p:childTnLst>
                              <p:par>
                                <p:cTn id="27"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450" fill="hold"/>
                                        <p:tgtEl>
                                          <p:spTgt spid="9"/>
                                        </p:tgtEl>
                                        <p:attrNameLst>
                                          <p:attrName>ppt_x</p:attrName>
                                        </p:attrNameLst>
                                      </p:cBhvr>
                                      <p:tavLst>
                                        <p:tav tm="0">
                                          <p:val>
                                            <p:strVal val="#ppt_x"/>
                                          </p:val>
                                        </p:tav>
                                        <p:tav tm="100000">
                                          <p:val>
                                            <p:strVal val="#ppt_x"/>
                                          </p:val>
                                        </p:tav>
                                      </p:tavLst>
                                    </p:anim>
                                    <p:anim calcmode="lin" valueType="num">
                                      <p:cBhvr additive="base">
                                        <p:cTn id="26" dur="45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3"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450" fill="hold"/>
                                        <p:tgtEl>
                                          <p:spTgt spid="10"/>
                                        </p:tgtEl>
                                        <p:attrNameLst>
                                          <p:attrName>ppt_x</p:attrName>
                                        </p:attrNameLst>
                                      </p:cBhvr>
                                      <p:tavLst>
                                        <p:tav tm="0">
                                          <p:val>
                                            <p:strVal val="#ppt_x"/>
                                          </p:val>
                                        </p:tav>
                                        <p:tav tm="100000">
                                          <p:val>
                                            <p:strVal val="#ppt_x"/>
                                          </p:val>
                                        </p:tav>
                                      </p:tavLst>
                                    </p:anim>
                                    <p:anim calcmode="lin" valueType="num">
                                      <p:cBhvr additive="base">
                                        <p:cTn id="32" dur="45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39" presetID="2" presetClass="entr" presetSubtype="4"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450" fill="hold"/>
                                        <p:tgtEl>
                                          <p:spTgt spid="11"/>
                                        </p:tgtEl>
                                        <p:attrNameLst>
                                          <p:attrName>ppt_x</p:attrName>
                                        </p:attrNameLst>
                                      </p:cBhvr>
                                      <p:tavLst>
                                        <p:tav tm="0">
                                          <p:val>
                                            <p:strVal val="#ppt_x"/>
                                          </p:val>
                                        </p:tav>
                                        <p:tav tm="100000">
                                          <p:val>
                                            <p:strVal val="#ppt_x"/>
                                          </p:val>
                                        </p:tav>
                                      </p:tavLst>
                                    </p:anim>
                                    <p:anim calcmode="lin" valueType="num">
                                      <p:cBhvr additive="base">
                                        <p:cTn id="38" dur="45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5" presetID="2" presetClass="entr" presetSubtype="4"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450" fill="hold"/>
                                        <p:tgtEl>
                                          <p:spTgt spid="12"/>
                                        </p:tgtEl>
                                        <p:attrNameLst>
                                          <p:attrName>ppt_x</p:attrName>
                                        </p:attrNameLst>
                                      </p:cBhvr>
                                      <p:tavLst>
                                        <p:tav tm="0">
                                          <p:val>
                                            <p:strVal val="#ppt_x"/>
                                          </p:val>
                                        </p:tav>
                                        <p:tav tm="100000">
                                          <p:val>
                                            <p:strVal val="#ppt_x"/>
                                          </p:val>
                                        </p:tav>
                                      </p:tavLst>
                                    </p:anim>
                                    <p:anim calcmode="lin" valueType="num">
                                      <p:cBhvr additive="base">
                                        <p:cTn id="44" dur="45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2" presetID="53" presetClass="entr" presetSubtype="16"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450" fill="hold"/>
                                        <p:tgtEl>
                                          <p:spTgt spid="13"/>
                                        </p:tgtEl>
                                        <p:attrNameLst>
                                          <p:attrName>ppt_w</p:attrName>
                                        </p:attrNameLst>
                                      </p:cBhvr>
                                      <p:tavLst>
                                        <p:tav tm="0">
                                          <p:val>
                                            <p:fltVal val="0"/>
                                          </p:val>
                                        </p:tav>
                                        <p:tav tm="100000">
                                          <p:val>
                                            <p:strVal val="#ppt_w"/>
                                          </p:val>
                                        </p:tav>
                                      </p:tavLst>
                                    </p:anim>
                                    <p:anim calcmode="lin" valueType="num">
                                      <p:cBhvr additive="base">
                                        <p:cTn id="50" dur="450" fill="hold"/>
                                        <p:tgtEl>
                                          <p:spTgt spid="13"/>
                                        </p:tgtEl>
                                        <p:attrNameLst>
                                          <p:attrName>ppt_h</p:attrName>
                                        </p:attrNameLst>
                                      </p:cBhvr>
                                      <p:tavLst>
                                        <p:tav tm="0">
                                          <p:val>
                                            <p:fltVal val="0"/>
                                          </p:val>
                                        </p:tav>
                                        <p:tav tm="100000">
                                          <p:val>
                                            <p:strVal val="#ppt_h"/>
                                          </p:val>
                                        </p:tav>
                                      </p:tavLst>
                                    </p:anim>
                                    <p:animEffect transition="in" filter="fade">
                                      <p:cBhvr>
                                        <p:cTn id="51"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So we go deeper on these five</a:t>
            </a:r>
            <a:endParaRPr lang="en-US" sz="3000" dirty="0"/>
          </a:p>
        </p:txBody>
      </p:sp>
      <p:sp>
        <p:nvSpPr>
          <p:cNvPr id="4" name="Topic 0"/>
          <p:cNvSpPr txBox="1"/>
          <p:nvPr/>
        </p:nvSpPr>
        <p:spPr>
          <a:xfrm>
            <a:off x="457200" y="1097280"/>
            <a:ext cx="2926080" cy="566928"/>
          </a:xfrm>
          <a:prstGeom prst="roundRect">
            <a:avLst>
              <a:gd name="adj" fmla="val 16129"/>
            </a:avLst>
          </a:prstGeom>
          <a:solidFill>
            <a:schemeClr val="accent1">
              <a:alpha val="15000"/>
            </a:schemeClr>
          </a:solidFill>
          <a:ln w="15875">
            <a:solidFill>
              <a:schemeClr val="accent1"/>
            </a:solidFill>
          </a:ln>
        </p:spPr>
        <p:txBody>
          <a:bodyPr wrap="square" lIns="152400" tIns="25400" rIns="76200" bIns="25400" rtlCol="0" anchor="ctr"/>
          <a:lstStyle/>
          <a:p>
            <a:pPr algn="l" indent="0" marL="0">
              <a:buNone/>
            </a:pPr>
            <a:r>
              <a:rPr lang="en-US" sz="1800" b="1" dirty="0">
                <a:solidFill>
                  <a:schemeClr val="accent1"/>
                </a:solidFill>
              </a:rPr>
              <a:t>A01  </a:t>
            </a:r>
            <a:pPr algn="l" indent="0" marL="0">
              <a:buNone/>
            </a:pPr>
            <a:r>
              <a:rPr lang="en-US" sz="1400" b="1" dirty="0">
                <a:solidFill>
                  <a:schemeClr val="tx1"/>
                </a:solidFill>
              </a:rPr>
              <a:t>Broken Access Control</a:t>
            </a:r>
            <a:endParaRPr lang="en-US" sz="1800" dirty="0"/>
          </a:p>
        </p:txBody>
      </p:sp>
      <p:sp>
        <p:nvSpPr>
          <p:cNvPr id="5" name="Reason 0"/>
          <p:cNvSpPr txBox="1"/>
          <p:nvPr/>
        </p:nvSpPr>
        <p:spPr>
          <a:xfrm>
            <a:off x="3520440" y="1097280"/>
            <a:ext cx="5166360" cy="566928"/>
          </a:xfrm>
          <a:prstGeom prst="roundRect">
            <a:avLst>
              <a:gd name="adj" fmla="val 16129"/>
            </a:avLst>
          </a:prstGeom>
          <a:solidFill>
            <a:schemeClr val="bg2"/>
          </a:solidFill>
          <a:ln/>
        </p:spPr>
        <p:txBody>
          <a:bodyPr wrap="square" lIns="152400" tIns="25400" rIns="101600" bIns="25400" rtlCol="0" anchor="ctr"/>
          <a:lstStyle/>
          <a:p>
            <a:pPr algn="l" indent="0" marL="0">
              <a:buNone/>
            </a:pPr>
            <a:r>
              <a:rPr lang="en-US" sz="1300" dirty="0">
                <a:solidFill>
                  <a:schemeClr val="tx1"/>
                </a:solidFill>
              </a:rPr>
              <a:t>Many internal users and roles. The API is the only gate, and it is number one on the list.</a:t>
            </a:r>
            <a:endParaRPr lang="en-US" sz="1300" dirty="0"/>
          </a:p>
        </p:txBody>
      </p:sp>
      <p:sp>
        <p:nvSpPr>
          <p:cNvPr id="6" name="Topic 1"/>
          <p:cNvSpPr txBox="1"/>
          <p:nvPr/>
        </p:nvSpPr>
        <p:spPr>
          <a:xfrm>
            <a:off x="457200" y="1737360"/>
            <a:ext cx="2926080" cy="566928"/>
          </a:xfrm>
          <a:prstGeom prst="roundRect">
            <a:avLst>
              <a:gd name="adj" fmla="val 16129"/>
            </a:avLst>
          </a:prstGeom>
          <a:solidFill>
            <a:schemeClr val="accent2">
              <a:alpha val="15000"/>
            </a:schemeClr>
          </a:solidFill>
          <a:ln w="15875">
            <a:solidFill>
              <a:schemeClr val="accent2"/>
            </a:solidFill>
          </a:ln>
        </p:spPr>
        <p:txBody>
          <a:bodyPr wrap="square" lIns="152400" tIns="25400" rIns="76200" bIns="25400" rtlCol="0" anchor="ctr"/>
          <a:lstStyle/>
          <a:p>
            <a:pPr algn="l" indent="0" marL="0">
              <a:buNone/>
            </a:pPr>
            <a:r>
              <a:rPr lang="en-US" sz="1800" b="1" dirty="0">
                <a:solidFill>
                  <a:schemeClr val="accent2"/>
                </a:solidFill>
              </a:rPr>
              <a:t>A05  </a:t>
            </a:r>
            <a:pPr algn="l" indent="0" marL="0">
              <a:buNone/>
            </a:pPr>
            <a:r>
              <a:rPr lang="en-US" sz="1400" b="1" dirty="0">
                <a:solidFill>
                  <a:schemeClr val="tx1"/>
                </a:solidFill>
              </a:rPr>
              <a:t>Injection</a:t>
            </a:r>
            <a:endParaRPr lang="en-US" sz="1800" dirty="0"/>
          </a:p>
        </p:txBody>
      </p:sp>
      <p:sp>
        <p:nvSpPr>
          <p:cNvPr id="7" name="Reason 1"/>
          <p:cNvSpPr txBox="1"/>
          <p:nvPr/>
        </p:nvSpPr>
        <p:spPr>
          <a:xfrm>
            <a:off x="3520440" y="1737360"/>
            <a:ext cx="5166360" cy="566928"/>
          </a:xfrm>
          <a:prstGeom prst="roundRect">
            <a:avLst>
              <a:gd name="adj" fmla="val 16129"/>
            </a:avLst>
          </a:prstGeom>
          <a:solidFill>
            <a:schemeClr val="bg2"/>
          </a:solidFill>
          <a:ln/>
        </p:spPr>
        <p:txBody>
          <a:bodyPr wrap="square" lIns="152400" tIns="25400" rIns="101600" bIns="25400" rtlCol="0" anchor="ctr"/>
          <a:lstStyle/>
          <a:p>
            <a:pPr algn="l" indent="0" marL="0">
              <a:buNone/>
            </a:pPr>
            <a:r>
              <a:rPr lang="en-US" sz="1300" dirty="0">
                <a:solidFill>
                  <a:schemeClr val="tx1"/>
                </a:solidFill>
              </a:rPr>
              <a:t>Oracle and SQL Server sit right behind our API. One concatenated query can expose every table.</a:t>
            </a:r>
            <a:endParaRPr lang="en-US" sz="1300" dirty="0"/>
          </a:p>
        </p:txBody>
      </p:sp>
      <p:sp>
        <p:nvSpPr>
          <p:cNvPr id="8" name="Topic 2"/>
          <p:cNvSpPr txBox="1"/>
          <p:nvPr/>
        </p:nvSpPr>
        <p:spPr>
          <a:xfrm>
            <a:off x="457200" y="2377440"/>
            <a:ext cx="2926080" cy="566928"/>
          </a:xfrm>
          <a:prstGeom prst="roundRect">
            <a:avLst>
              <a:gd name="adj" fmla="val 16129"/>
            </a:avLst>
          </a:prstGeom>
          <a:solidFill>
            <a:schemeClr val="accent5">
              <a:alpha val="15000"/>
            </a:schemeClr>
          </a:solidFill>
          <a:ln w="15875">
            <a:solidFill>
              <a:schemeClr val="accent5"/>
            </a:solidFill>
          </a:ln>
        </p:spPr>
        <p:txBody>
          <a:bodyPr wrap="square" lIns="152400" tIns="25400" rIns="76200" bIns="25400" rtlCol="0" anchor="ctr"/>
          <a:lstStyle/>
          <a:p>
            <a:pPr algn="l" indent="0" marL="0">
              <a:buNone/>
            </a:pPr>
            <a:r>
              <a:rPr lang="en-US" sz="1800" b="1" dirty="0">
                <a:solidFill>
                  <a:schemeClr val="accent5"/>
                </a:solidFill>
              </a:rPr>
              <a:t>A02  </a:t>
            </a:r>
            <a:pPr algn="l" indent="0" marL="0">
              <a:buNone/>
            </a:pPr>
            <a:r>
              <a:rPr lang="en-US" sz="1400" b="1" dirty="0">
                <a:solidFill>
                  <a:schemeClr val="tx1"/>
                </a:solidFill>
              </a:rPr>
              <a:t>Misconfiguration</a:t>
            </a:r>
            <a:endParaRPr lang="en-US" sz="1800" dirty="0"/>
          </a:p>
        </p:txBody>
      </p:sp>
      <p:sp>
        <p:nvSpPr>
          <p:cNvPr id="9" name="Reason 2"/>
          <p:cNvSpPr txBox="1"/>
          <p:nvPr/>
        </p:nvSpPr>
        <p:spPr>
          <a:xfrm>
            <a:off x="3520440" y="2377440"/>
            <a:ext cx="5166360" cy="566928"/>
          </a:xfrm>
          <a:prstGeom prst="roundRect">
            <a:avLst>
              <a:gd name="adj" fmla="val 16129"/>
            </a:avLst>
          </a:prstGeom>
          <a:solidFill>
            <a:schemeClr val="bg2"/>
          </a:solidFill>
          <a:ln/>
        </p:spPr>
        <p:txBody>
          <a:bodyPr wrap="square" lIns="152400" tIns="25400" rIns="101600" bIns="25400" rtlCol="0" anchor="ctr"/>
          <a:lstStyle/>
          <a:p>
            <a:pPr algn="l" indent="0" marL="0">
              <a:buNone/>
            </a:pPr>
            <a:r>
              <a:rPr lang="en-US" sz="1300" dirty="0">
                <a:solidFill>
                  <a:schemeClr val="tx1"/>
                </a:solidFill>
              </a:rPr>
              <a:t>We run our own IIS and servers. A development setting in production is caught by nobody else.</a:t>
            </a:r>
            <a:endParaRPr lang="en-US" sz="1300" dirty="0"/>
          </a:p>
        </p:txBody>
      </p:sp>
      <p:sp>
        <p:nvSpPr>
          <p:cNvPr id="10" name="Topic 3"/>
          <p:cNvSpPr txBox="1"/>
          <p:nvPr/>
        </p:nvSpPr>
        <p:spPr>
          <a:xfrm>
            <a:off x="457200" y="3017520"/>
            <a:ext cx="2926080" cy="566928"/>
          </a:xfrm>
          <a:prstGeom prst="roundRect">
            <a:avLst>
              <a:gd name="adj" fmla="val 16129"/>
            </a:avLst>
          </a:prstGeom>
          <a:solidFill>
            <a:schemeClr val="accent4">
              <a:alpha val="15000"/>
            </a:schemeClr>
          </a:solidFill>
          <a:ln w="15875">
            <a:solidFill>
              <a:schemeClr val="accent4"/>
            </a:solidFill>
          </a:ln>
        </p:spPr>
        <p:txBody>
          <a:bodyPr wrap="square" lIns="152400" tIns="25400" rIns="76200" bIns="25400" rtlCol="0" anchor="ctr"/>
          <a:lstStyle/>
          <a:p>
            <a:pPr algn="l" indent="0" marL="0">
              <a:buNone/>
            </a:pPr>
            <a:r>
              <a:rPr lang="en-US" sz="1800" b="1" dirty="0">
                <a:solidFill>
                  <a:schemeClr val="accent4"/>
                </a:solidFill>
              </a:rPr>
              <a:t>A03  </a:t>
            </a:r>
            <a:pPr algn="l" indent="0" marL="0">
              <a:buNone/>
            </a:pPr>
            <a:r>
              <a:rPr lang="en-US" sz="1400" b="1" dirty="0">
                <a:solidFill>
                  <a:schemeClr val="tx1"/>
                </a:solidFill>
              </a:rPr>
              <a:t>Supply Chain</a:t>
            </a:r>
            <a:endParaRPr lang="en-US" sz="1800" dirty="0"/>
          </a:p>
        </p:txBody>
      </p:sp>
      <p:sp>
        <p:nvSpPr>
          <p:cNvPr id="11" name="Reason 3"/>
          <p:cNvSpPr txBox="1"/>
          <p:nvPr/>
        </p:nvSpPr>
        <p:spPr>
          <a:xfrm>
            <a:off x="3520440" y="3017520"/>
            <a:ext cx="5166360" cy="566928"/>
          </a:xfrm>
          <a:prstGeom prst="roundRect">
            <a:avLst>
              <a:gd name="adj" fmla="val 16129"/>
            </a:avLst>
          </a:prstGeom>
          <a:solidFill>
            <a:schemeClr val="bg2"/>
          </a:solidFill>
          <a:ln/>
        </p:spPr>
        <p:txBody>
          <a:bodyPr wrap="square" lIns="152400" tIns="25400" rIns="101600" bIns="25400" rtlCol="0" anchor="ctr"/>
          <a:lstStyle/>
          <a:p>
            <a:pPr algn="l" indent="0" marL="0">
              <a:buNone/>
            </a:pPr>
            <a:r>
              <a:rPr lang="en-US" sz="1300" dirty="0">
                <a:solidFill>
                  <a:schemeClr val="tx1"/>
                </a:solidFill>
              </a:rPr>
              <a:t>No internet: every package enters by hand through the internal feed. That entry is the weak spot.</a:t>
            </a:r>
            <a:endParaRPr lang="en-US" sz="1300" dirty="0"/>
          </a:p>
        </p:txBody>
      </p:sp>
      <p:sp>
        <p:nvSpPr>
          <p:cNvPr id="12" name="Topic 4"/>
          <p:cNvSpPr txBox="1"/>
          <p:nvPr/>
        </p:nvSpPr>
        <p:spPr>
          <a:xfrm>
            <a:off x="457200" y="3657600"/>
            <a:ext cx="2926080" cy="566928"/>
          </a:xfrm>
          <a:prstGeom prst="roundRect">
            <a:avLst>
              <a:gd name="adj" fmla="val 16129"/>
            </a:avLst>
          </a:prstGeom>
          <a:solidFill>
            <a:schemeClr val="accent6">
              <a:alpha val="15000"/>
            </a:schemeClr>
          </a:solidFill>
          <a:ln w="15875">
            <a:solidFill>
              <a:schemeClr val="accent6"/>
            </a:solidFill>
          </a:ln>
        </p:spPr>
        <p:txBody>
          <a:bodyPr wrap="square" lIns="152400" tIns="25400" rIns="76200" bIns="25400" rtlCol="0" anchor="ctr"/>
          <a:lstStyle/>
          <a:p>
            <a:pPr algn="l" indent="0" marL="0">
              <a:buNone/>
            </a:pPr>
            <a:r>
              <a:rPr lang="en-US" sz="1800" b="1" dirty="0">
                <a:solidFill>
                  <a:schemeClr val="accent6"/>
                </a:solidFill>
              </a:rPr>
              <a:t>A08  </a:t>
            </a:r>
            <a:pPr algn="l" indent="0" marL="0">
              <a:buNone/>
            </a:pPr>
            <a:r>
              <a:rPr lang="en-US" sz="1400" b="1" dirty="0">
                <a:solidFill>
                  <a:schemeClr val="tx1"/>
                </a:solidFill>
              </a:rPr>
              <a:t>Data Integrity</a:t>
            </a:r>
            <a:endParaRPr lang="en-US" sz="1800" dirty="0"/>
          </a:p>
        </p:txBody>
      </p:sp>
      <p:sp>
        <p:nvSpPr>
          <p:cNvPr id="13" name="Reason 4"/>
          <p:cNvSpPr txBox="1"/>
          <p:nvPr/>
        </p:nvSpPr>
        <p:spPr>
          <a:xfrm>
            <a:off x="3520440" y="3657600"/>
            <a:ext cx="5166360" cy="566928"/>
          </a:xfrm>
          <a:prstGeom prst="roundRect">
            <a:avLst>
              <a:gd name="adj" fmla="val 16129"/>
            </a:avLst>
          </a:prstGeom>
          <a:solidFill>
            <a:schemeClr val="bg2"/>
          </a:solidFill>
          <a:ln/>
        </p:spPr>
        <p:txBody>
          <a:bodyPr wrap="square" lIns="152400" tIns="25400" rIns="101600" bIns="25400" rtlCol="0" anchor="ctr"/>
          <a:lstStyle/>
          <a:p>
            <a:pPr algn="l" indent="0" marL="0">
              <a:buNone/>
            </a:pPr>
            <a:r>
              <a:rPr lang="en-US" sz="1300" dirty="0">
                <a:solidFill>
                  <a:schemeClr val="tx1"/>
                </a:solidFill>
              </a:rPr>
              <a:t>Updates cross the air gap on media. A hash or signature is the only proof of where they came from.</a:t>
            </a:r>
            <a:endParaRPr lang="en-US" sz="1300" dirty="0"/>
          </a:p>
        </p:txBody>
      </p:sp>
      <p:sp>
        <p:nvSpPr>
          <p:cNvPr id="14" name="Footer"/>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300" i="1" dirty="0">
                <a:solidFill>
                  <a:schemeClr val="tx2"/>
                </a:solidFill>
              </a:rPr>
              <a:t>The other five are explained in Part 2, in the checklist and in the Quiz Arena.</a:t>
            </a:r>
            <a:endParaRPr lang="en-US" sz="13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6" presetID="2" presetClass="entr" presetSubtype="2" fill="hold" grpId="0" nodeType="clickEffect">
                                  <p:stCondLst>
                                    <p:cond delay="0"/>
                                  </p:stCondLst>
                                  <p:childTnLst>
                                    <p:set>
                                      <p:cBhvr>
                                        <p:cTn id="3" dur="1" fill="hold">
                                          <p:stCondLst>
                                            <p:cond delay="0"/>
                                          </p:stCondLst>
                                        </p:cTn>
                                        <p:tgtEl>
                                          <p:spTgt spid="4"/>
                                        </p:tgtEl>
                                        <p:attrNameLst>
                                          <p:attrName>style.visibility</p:attrName>
                                        </p:attrNameLst>
                                      </p:cBhvr>
                                      <p:to>
                                        <p:strVal val="visible"/>
                                      </p:to>
                                    </p:set>
                                    <p:anim calcmode="lin" valueType="num">
                                      <p:cBhvr additive="base">
                                        <p:cTn id="4" dur="450" fill="hold"/>
                                        <p:tgtEl>
                                          <p:spTgt spid="4"/>
                                        </p:tgtEl>
                                        <p:attrNameLst>
                                          <p:attrName>ppt_x</p:attrName>
                                        </p:attrNameLst>
                                      </p:cBhvr>
                                      <p:tavLst>
                                        <p:tav tm="0">
                                          <p:val>
                                            <p:strVal val="1+#ppt_w/2"/>
                                          </p:val>
                                        </p:tav>
                                        <p:tav tm="100000">
                                          <p:val>
                                            <p:strVal val="#ppt_x"/>
                                          </p:val>
                                        </p:tav>
                                      </p:tavLst>
                                    </p:anim>
                                    <p:anim calcmode="lin" valueType="num">
                                      <p:cBhvr additive="base">
                                        <p:cTn id="5" dur="450" fill="hold"/>
                                        <p:tgtEl>
                                          <p:spTgt spid="4"/>
                                        </p:tgtEl>
                                        <p:attrNameLst>
                                          <p:attrName>ppt_y</p:attrName>
                                        </p:attrNameLst>
                                      </p:cBhvr>
                                      <p:tavLst>
                                        <p:tav tm="0">
                                          <p:val>
                                            <p:strVal val="#ppt_y"/>
                                          </p:val>
                                        </p:tav>
                                        <p:tav tm="100000">
                                          <p:val>
                                            <p:strVal val="#ppt_y"/>
                                          </p:val>
                                        </p:tav>
                                      </p:tavLst>
                                    </p:anim>
                                  </p:childTnLst>
                                </p:cTn>
                              </p:par>
                              <p:par>
                                <p:cTn id="10" presetID="2" presetClass="entr" presetSubtype="2"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 calcmode="lin" valueType="num">
                                      <p:cBhvr additive="base">
                                        <p:cTn id="8" dur="450" fill="hold"/>
                                        <p:tgtEl>
                                          <p:spTgt spid="5"/>
                                        </p:tgtEl>
                                        <p:attrNameLst>
                                          <p:attrName>ppt_x</p:attrName>
                                        </p:attrNameLst>
                                      </p:cBhvr>
                                      <p:tavLst>
                                        <p:tav tm="0">
                                          <p:val>
                                            <p:strVal val="1+#ppt_w/2"/>
                                          </p:val>
                                        </p:tav>
                                        <p:tav tm="100000">
                                          <p:val>
                                            <p:strVal val="#ppt_x"/>
                                          </p:val>
                                        </p:tav>
                                      </p:tavLst>
                                    </p:anim>
                                    <p:anim calcmode="lin" valueType="num">
                                      <p:cBhvr additive="base">
                                        <p:cTn id="9" dur="45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16" presetID="2" presetClass="entr" presetSubtype="2"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450" fill="hold"/>
                                        <p:tgtEl>
                                          <p:spTgt spid="6"/>
                                        </p:tgtEl>
                                        <p:attrNameLst>
                                          <p:attrName>ppt_x</p:attrName>
                                        </p:attrNameLst>
                                      </p:cBhvr>
                                      <p:tavLst>
                                        <p:tav tm="0">
                                          <p:val>
                                            <p:strVal val="1+#ppt_w/2"/>
                                          </p:val>
                                        </p:tav>
                                        <p:tav tm="100000">
                                          <p:val>
                                            <p:strVal val="#ppt_x"/>
                                          </p:val>
                                        </p:tav>
                                      </p:tavLst>
                                    </p:anim>
                                    <p:anim calcmode="lin" valueType="num">
                                      <p:cBhvr additive="base">
                                        <p:cTn id="15" dur="450" fill="hold"/>
                                        <p:tgtEl>
                                          <p:spTgt spid="6"/>
                                        </p:tgtEl>
                                        <p:attrNameLst>
                                          <p:attrName>ppt_y</p:attrName>
                                        </p:attrNameLst>
                                      </p:cBhvr>
                                      <p:tavLst>
                                        <p:tav tm="0">
                                          <p:val>
                                            <p:strVal val="#ppt_y"/>
                                          </p:val>
                                        </p:tav>
                                        <p:tav tm="100000">
                                          <p:val>
                                            <p:strVal val="#ppt_y"/>
                                          </p:val>
                                        </p:tav>
                                      </p:tavLst>
                                    </p:anim>
                                  </p:childTnLst>
                                </p:cTn>
                              </p:par>
                              <p:par>
                                <p:cTn id="20" presetID="2" presetClass="entr" presetSubtype="2"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450" fill="hold"/>
                                        <p:tgtEl>
                                          <p:spTgt spid="7"/>
                                        </p:tgtEl>
                                        <p:attrNameLst>
                                          <p:attrName>ppt_x</p:attrName>
                                        </p:attrNameLst>
                                      </p:cBhvr>
                                      <p:tavLst>
                                        <p:tav tm="0">
                                          <p:val>
                                            <p:strVal val="1+#ppt_w/2"/>
                                          </p:val>
                                        </p:tav>
                                        <p:tav tm="100000">
                                          <p:val>
                                            <p:strVal val="#ppt_x"/>
                                          </p:val>
                                        </p:tav>
                                      </p:tavLst>
                                    </p:anim>
                                    <p:anim calcmode="lin" valueType="num">
                                      <p:cBhvr additive="base">
                                        <p:cTn id="19" dur="45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26" presetID="2" presetClass="entr" presetSubtype="2"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450" fill="hold"/>
                                        <p:tgtEl>
                                          <p:spTgt spid="8"/>
                                        </p:tgtEl>
                                        <p:attrNameLst>
                                          <p:attrName>ppt_x</p:attrName>
                                        </p:attrNameLst>
                                      </p:cBhvr>
                                      <p:tavLst>
                                        <p:tav tm="0">
                                          <p:val>
                                            <p:strVal val="1+#ppt_w/2"/>
                                          </p:val>
                                        </p:tav>
                                        <p:tav tm="100000">
                                          <p:val>
                                            <p:strVal val="#ppt_x"/>
                                          </p:val>
                                        </p:tav>
                                      </p:tavLst>
                                    </p:anim>
                                    <p:anim calcmode="lin" valueType="num">
                                      <p:cBhvr additive="base">
                                        <p:cTn id="25" dur="450" fill="hold"/>
                                        <p:tgtEl>
                                          <p:spTgt spid="8"/>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additive="base">
                                        <p:cTn id="28" dur="450" fill="hold"/>
                                        <p:tgtEl>
                                          <p:spTgt spid="9"/>
                                        </p:tgtEl>
                                        <p:attrNameLst>
                                          <p:attrName>ppt_x</p:attrName>
                                        </p:attrNameLst>
                                      </p:cBhvr>
                                      <p:tavLst>
                                        <p:tav tm="0">
                                          <p:val>
                                            <p:strVal val="1+#ppt_w/2"/>
                                          </p:val>
                                        </p:tav>
                                        <p:tav tm="100000">
                                          <p:val>
                                            <p:strVal val="#ppt_x"/>
                                          </p:val>
                                        </p:tav>
                                      </p:tavLst>
                                    </p:anim>
                                    <p:anim calcmode="lin" valueType="num">
                                      <p:cBhvr additive="base">
                                        <p:cTn id="29" dur="45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36" presetID="2" presetClass="entr" presetSubtype="2"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450" fill="hold"/>
                                        <p:tgtEl>
                                          <p:spTgt spid="10"/>
                                        </p:tgtEl>
                                        <p:attrNameLst>
                                          <p:attrName>ppt_x</p:attrName>
                                        </p:attrNameLst>
                                      </p:cBhvr>
                                      <p:tavLst>
                                        <p:tav tm="0">
                                          <p:val>
                                            <p:strVal val="1+#ppt_w/2"/>
                                          </p:val>
                                        </p:tav>
                                        <p:tav tm="100000">
                                          <p:val>
                                            <p:strVal val="#ppt_x"/>
                                          </p:val>
                                        </p:tav>
                                      </p:tavLst>
                                    </p:anim>
                                    <p:anim calcmode="lin" valueType="num">
                                      <p:cBhvr additive="base">
                                        <p:cTn id="35" dur="450" fill="hold"/>
                                        <p:tgtEl>
                                          <p:spTgt spid="10"/>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450" fill="hold"/>
                                        <p:tgtEl>
                                          <p:spTgt spid="11"/>
                                        </p:tgtEl>
                                        <p:attrNameLst>
                                          <p:attrName>ppt_x</p:attrName>
                                        </p:attrNameLst>
                                      </p:cBhvr>
                                      <p:tavLst>
                                        <p:tav tm="0">
                                          <p:val>
                                            <p:strVal val="1+#ppt_w/2"/>
                                          </p:val>
                                        </p:tav>
                                        <p:tav tm="100000">
                                          <p:val>
                                            <p:strVal val="#ppt_x"/>
                                          </p:val>
                                        </p:tav>
                                      </p:tavLst>
                                    </p:anim>
                                    <p:anim calcmode="lin" valueType="num">
                                      <p:cBhvr additive="base">
                                        <p:cTn id="39" dur="45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46" presetID="2" presetClass="entr" presetSubtype="2"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450" fill="hold"/>
                                        <p:tgtEl>
                                          <p:spTgt spid="12"/>
                                        </p:tgtEl>
                                        <p:attrNameLst>
                                          <p:attrName>ppt_x</p:attrName>
                                        </p:attrNameLst>
                                      </p:cBhvr>
                                      <p:tavLst>
                                        <p:tav tm="0">
                                          <p:val>
                                            <p:strVal val="1+#ppt_w/2"/>
                                          </p:val>
                                        </p:tav>
                                        <p:tav tm="100000">
                                          <p:val>
                                            <p:strVal val="#ppt_x"/>
                                          </p:val>
                                        </p:tav>
                                      </p:tavLst>
                                    </p:anim>
                                    <p:anim calcmode="lin" valueType="num">
                                      <p:cBhvr additive="base">
                                        <p:cTn id="45" dur="450" fill="hold"/>
                                        <p:tgtEl>
                                          <p:spTgt spid="12"/>
                                        </p:tgtEl>
                                        <p:attrNameLst>
                                          <p:attrName>ppt_y</p:attrName>
                                        </p:attrNameLst>
                                      </p:cBhvr>
                                      <p:tavLst>
                                        <p:tav tm="0">
                                          <p:val>
                                            <p:strVal val="#ppt_y"/>
                                          </p:val>
                                        </p:tav>
                                        <p:tav tm="100000">
                                          <p:val>
                                            <p:strVal val="#ppt_y"/>
                                          </p:val>
                                        </p:tav>
                                      </p:tavLst>
                                    </p:anim>
                                  </p:childTnLst>
                                </p:cTn>
                              </p:par>
                              <p:par>
                                <p:cTn id="50" presetID="2" presetClass="entr" presetSubtype="2"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 calcmode="lin" valueType="num">
                                      <p:cBhvr additive="base">
                                        <p:cTn id="48" dur="450" fill="hold"/>
                                        <p:tgtEl>
                                          <p:spTgt spid="13"/>
                                        </p:tgtEl>
                                        <p:attrNameLst>
                                          <p:attrName>ppt_x</p:attrName>
                                        </p:attrNameLst>
                                      </p:cBhvr>
                                      <p:tavLst>
                                        <p:tav tm="0">
                                          <p:val>
                                            <p:strVal val="1+#ppt_w/2"/>
                                          </p:val>
                                        </p:tav>
                                        <p:tav tm="100000">
                                          <p:val>
                                            <p:strVal val="#ppt_x"/>
                                          </p:val>
                                        </p:tav>
                                      </p:tavLst>
                                    </p:anim>
                                    <p:anim calcmode="lin" valueType="num">
                                      <p:cBhvr additive="base">
                                        <p:cTn id="49" dur="45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5" presetID="10" presetClass="entr" presetSubtype="0" fill="hold" grpId="0" nodeType="click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A01 · Access Control: Angular + .NET</a:t>
            </a:r>
            <a:endParaRPr lang="en-US" sz="3000" dirty="0"/>
          </a:p>
        </p:txBody>
      </p:sp>
      <p:sp>
        <p:nvSpPr>
          <p:cNvPr id="4" name="Col Angular"/>
          <p:cNvSpPr txBox="1"/>
          <p:nvPr/>
        </p:nvSpPr>
        <p:spPr>
          <a:xfrm>
            <a:off x="457200" y="1097280"/>
            <a:ext cx="4023360" cy="274320"/>
          </a:xfrm>
          <a:prstGeom prst="rect">
            <a:avLst/>
          </a:prstGeom>
          <a:noFill/>
          <a:ln/>
        </p:spPr>
        <p:txBody>
          <a:bodyPr wrap="square" lIns="0" tIns="0" rIns="0" bIns="0" rtlCol="0" anchor="ctr"/>
          <a:lstStyle/>
          <a:p>
            <a:pPr indent="0" marL="0">
              <a:buNone/>
            </a:pPr>
            <a:r>
              <a:rPr lang="en-US" sz="1300" b="1" dirty="0">
                <a:solidFill>
                  <a:schemeClr val="accent5"/>
                </a:solidFill>
              </a:rPr>
              <a:t>ANGULAR · TypeScript</a:t>
            </a:r>
            <a:endParaRPr lang="en-US" sz="1300" dirty="0"/>
          </a:p>
        </p:txBody>
      </p:sp>
      <p:sp>
        <p:nvSpPr>
          <p:cNvPr id="5" name="Col NET"/>
          <p:cNvSpPr txBox="1"/>
          <p:nvPr/>
        </p:nvSpPr>
        <p:spPr>
          <a:xfrm>
            <a:off x="4663440" y="1097280"/>
            <a:ext cx="4023360" cy="274320"/>
          </a:xfrm>
          <a:prstGeom prst="rect">
            <a:avLst/>
          </a:prstGeom>
          <a:noFill/>
          <a:ln/>
        </p:spPr>
        <p:txBody>
          <a:bodyPr wrap="square" lIns="0" tIns="0" rIns="0" bIns="0" rtlCol="0" anchor="ctr"/>
          <a:lstStyle/>
          <a:p>
            <a:pPr indent="0" marL="0">
              <a:buNone/>
            </a:pPr>
            <a:r>
              <a:rPr lang="en-US" sz="1300" b="1" dirty="0">
                <a:solidFill>
                  <a:schemeClr val="accent6"/>
                </a:solidFill>
              </a:rPr>
              <a:t>ASP.NET CORE · C#</a:t>
            </a:r>
            <a:endParaRPr lang="en-US" sz="1300" dirty="0"/>
          </a:p>
        </p:txBody>
      </p:sp>
      <p:sp>
        <p:nvSpPr>
          <p:cNvPr id="6" name="NG vuln"/>
          <p:cNvSpPr/>
          <p:nvPr/>
        </p:nvSpPr>
        <p:spPr>
          <a:xfrm>
            <a:off x="457200" y="1417320"/>
            <a:ext cx="4023360" cy="1325880"/>
          </a:xfrm>
          <a:prstGeom prst="roundRect">
            <a:avLst>
              <a:gd name="adj" fmla="val 8276"/>
            </a:avLst>
          </a:prstGeom>
          <a:solidFill>
            <a:schemeClr val="accent2">
              <a:alpha val="12000"/>
            </a:schemeClr>
          </a:solidFill>
          <a:ln w="12700">
            <a:solidFill>
              <a:schemeClr val="accent2"/>
            </a:solidFill>
            <a:prstDash val="solid"/>
          </a:ln>
        </p:spPr>
      </p:sp>
      <p:sp>
        <p:nvSpPr>
          <p:cNvPr id="7" name="NG vuln label"/>
          <p:cNvSpPr txBox="1"/>
          <p:nvPr/>
        </p:nvSpPr>
        <p:spPr>
          <a:xfrm>
            <a:off x="640080" y="1490472"/>
            <a:ext cx="3657600" cy="256032"/>
          </a:xfrm>
          <a:prstGeom prst="rect">
            <a:avLst/>
          </a:prstGeom>
          <a:noFill/>
          <a:ln/>
        </p:spPr>
        <p:txBody>
          <a:bodyPr wrap="square" lIns="0" tIns="0" rIns="0" bIns="0" rtlCol="0" anchor="ctr"/>
          <a:lstStyle/>
          <a:p>
            <a:pPr indent="0" marL="0">
              <a:buNone/>
            </a:pPr>
            <a:r>
              <a:rPr lang="en-US" sz="1100" b="1" spc="200" kern="0" dirty="0">
                <a:solidFill>
                  <a:schemeClr val="accent2"/>
                </a:solidFill>
              </a:rPr>
              <a:t>VULNERABLE</a:t>
            </a:r>
            <a:endParaRPr lang="en-US" sz="1100" dirty="0"/>
          </a:p>
        </p:txBody>
      </p:sp>
      <p:sp>
        <p:nvSpPr>
          <p:cNvPr id="8" name="NG vuln code"/>
          <p:cNvSpPr txBox="1"/>
          <p:nvPr/>
        </p:nvSpPr>
        <p:spPr>
          <a:xfrm>
            <a:off x="640080" y="1783080"/>
            <a:ext cx="3657600" cy="88696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 path: 'admin',</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canActivate: [authGuard],</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component: AdminPage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the API never checks</a:t>
            </a:r>
            <a:endParaRPr lang="en-US" sz="1200" dirty="0"/>
          </a:p>
        </p:txBody>
      </p:sp>
      <p:sp>
        <p:nvSpPr>
          <p:cNvPr id="9" name="NET vuln"/>
          <p:cNvSpPr/>
          <p:nvPr/>
        </p:nvSpPr>
        <p:spPr>
          <a:xfrm>
            <a:off x="4663440" y="1417320"/>
            <a:ext cx="4023360" cy="1325880"/>
          </a:xfrm>
          <a:prstGeom prst="roundRect">
            <a:avLst>
              <a:gd name="adj" fmla="val 8276"/>
            </a:avLst>
          </a:prstGeom>
          <a:solidFill>
            <a:schemeClr val="accent2">
              <a:alpha val="12000"/>
            </a:schemeClr>
          </a:solidFill>
          <a:ln w="12700">
            <a:solidFill>
              <a:schemeClr val="accent2"/>
            </a:solidFill>
            <a:prstDash val="solid"/>
          </a:ln>
        </p:spPr>
      </p:sp>
      <p:sp>
        <p:nvSpPr>
          <p:cNvPr id="10" name="NET vuln label"/>
          <p:cNvSpPr txBox="1"/>
          <p:nvPr/>
        </p:nvSpPr>
        <p:spPr>
          <a:xfrm>
            <a:off x="4846320" y="1490472"/>
            <a:ext cx="3657600" cy="256032"/>
          </a:xfrm>
          <a:prstGeom prst="rect">
            <a:avLst/>
          </a:prstGeom>
          <a:noFill/>
          <a:ln/>
        </p:spPr>
        <p:txBody>
          <a:bodyPr wrap="square" lIns="0" tIns="0" rIns="0" bIns="0" rtlCol="0" anchor="ctr"/>
          <a:lstStyle/>
          <a:p>
            <a:pPr indent="0" marL="0">
              <a:buNone/>
            </a:pPr>
            <a:r>
              <a:rPr lang="en-US" sz="1100" b="1" spc="200" kern="0" dirty="0">
                <a:solidFill>
                  <a:schemeClr val="accent2"/>
                </a:solidFill>
              </a:rPr>
              <a:t>VULNERABLE</a:t>
            </a:r>
            <a:endParaRPr lang="en-US" sz="1100" dirty="0"/>
          </a:p>
        </p:txBody>
      </p:sp>
      <p:sp>
        <p:nvSpPr>
          <p:cNvPr id="11" name="NET vuln code"/>
          <p:cNvSpPr txBox="1"/>
          <p:nvPr/>
        </p:nvSpPr>
        <p:spPr>
          <a:xfrm>
            <a:off x="4846320" y="1783080"/>
            <a:ext cx="3657600" cy="88696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app.MapGet("/rec/{id}",</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(int id, Db db) =&gt;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db.Records.Find(id));</a:t>
            </a:r>
            <a:endParaRPr lang="en-US" sz="1200" dirty="0"/>
          </a:p>
        </p:txBody>
      </p:sp>
      <p:sp>
        <p:nvSpPr>
          <p:cNvPr id="12" name="NG fixed"/>
          <p:cNvSpPr/>
          <p:nvPr/>
        </p:nvSpPr>
        <p:spPr>
          <a:xfrm>
            <a:off x="457200" y="2807208"/>
            <a:ext cx="4023360" cy="1325880"/>
          </a:xfrm>
          <a:prstGeom prst="roundRect">
            <a:avLst>
              <a:gd name="adj" fmla="val 8276"/>
            </a:avLst>
          </a:prstGeom>
          <a:solidFill>
            <a:schemeClr val="accent3">
              <a:alpha val="12000"/>
            </a:schemeClr>
          </a:solidFill>
          <a:ln w="12700">
            <a:solidFill>
              <a:schemeClr val="accent3"/>
            </a:solidFill>
            <a:prstDash val="solid"/>
          </a:ln>
        </p:spPr>
      </p:sp>
      <p:sp>
        <p:nvSpPr>
          <p:cNvPr id="13" name="NG fixed label"/>
          <p:cNvSpPr txBox="1"/>
          <p:nvPr/>
        </p:nvSpPr>
        <p:spPr>
          <a:xfrm>
            <a:off x="640080" y="2880360"/>
            <a:ext cx="3657600" cy="256032"/>
          </a:xfrm>
          <a:prstGeom prst="rect">
            <a:avLst/>
          </a:prstGeom>
          <a:noFill/>
          <a:ln/>
        </p:spPr>
        <p:txBody>
          <a:bodyPr wrap="square" lIns="0" tIns="0" rIns="0" bIns="0" rtlCol="0" anchor="ctr"/>
          <a:lstStyle/>
          <a:p>
            <a:pPr indent="0" marL="0">
              <a:buNone/>
            </a:pPr>
            <a:r>
              <a:rPr lang="en-US" sz="1100" b="1" spc="200" kern="0" dirty="0">
                <a:solidFill>
                  <a:schemeClr val="accent3"/>
                </a:solidFill>
              </a:rPr>
              <a:t>FIXED</a:t>
            </a:r>
            <a:endParaRPr lang="en-US" sz="1100" dirty="0"/>
          </a:p>
        </p:txBody>
      </p:sp>
      <p:sp>
        <p:nvSpPr>
          <p:cNvPr id="14" name="NG fixed code"/>
          <p:cNvSpPr txBox="1"/>
          <p:nvPr/>
        </p:nvSpPr>
        <p:spPr>
          <a:xfrm>
            <a:off x="640080" y="3172968"/>
            <a:ext cx="3657600" cy="88696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 guard = UX only, API decides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this.http.get(`/api/rec/${id}`)</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.subscribe({ error: e =&gt;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this.denied(e.status) });</a:t>
            </a:r>
            <a:endParaRPr lang="en-US" sz="1200" dirty="0"/>
          </a:p>
        </p:txBody>
      </p:sp>
      <p:sp>
        <p:nvSpPr>
          <p:cNvPr id="15" name="NET fixed"/>
          <p:cNvSpPr/>
          <p:nvPr/>
        </p:nvSpPr>
        <p:spPr>
          <a:xfrm>
            <a:off x="4663440" y="2807208"/>
            <a:ext cx="4023360" cy="1325880"/>
          </a:xfrm>
          <a:prstGeom prst="roundRect">
            <a:avLst>
              <a:gd name="adj" fmla="val 8276"/>
            </a:avLst>
          </a:prstGeom>
          <a:solidFill>
            <a:schemeClr val="accent3">
              <a:alpha val="12000"/>
            </a:schemeClr>
          </a:solidFill>
          <a:ln w="12700">
            <a:solidFill>
              <a:schemeClr val="accent3"/>
            </a:solidFill>
            <a:prstDash val="solid"/>
          </a:ln>
        </p:spPr>
      </p:sp>
      <p:sp>
        <p:nvSpPr>
          <p:cNvPr id="16" name="NET fixed label"/>
          <p:cNvSpPr txBox="1"/>
          <p:nvPr/>
        </p:nvSpPr>
        <p:spPr>
          <a:xfrm>
            <a:off x="4846320" y="2880360"/>
            <a:ext cx="3657600" cy="256032"/>
          </a:xfrm>
          <a:prstGeom prst="rect">
            <a:avLst/>
          </a:prstGeom>
          <a:noFill/>
          <a:ln/>
        </p:spPr>
        <p:txBody>
          <a:bodyPr wrap="square" lIns="0" tIns="0" rIns="0" bIns="0" rtlCol="0" anchor="ctr"/>
          <a:lstStyle/>
          <a:p>
            <a:pPr indent="0" marL="0">
              <a:buNone/>
            </a:pPr>
            <a:r>
              <a:rPr lang="en-US" sz="1100" b="1" spc="200" kern="0" dirty="0">
                <a:solidFill>
                  <a:schemeClr val="accent3"/>
                </a:solidFill>
              </a:rPr>
              <a:t>FIXED</a:t>
            </a:r>
            <a:endParaRPr lang="en-US" sz="1100" dirty="0"/>
          </a:p>
        </p:txBody>
      </p:sp>
      <p:sp>
        <p:nvSpPr>
          <p:cNvPr id="17" name="NET fixed code"/>
          <p:cNvSpPr txBox="1"/>
          <p:nvPr/>
        </p:nvSpPr>
        <p:spPr>
          <a:xfrm>
            <a:off x="4846320" y="3172968"/>
            <a:ext cx="3657600" cy="88696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app.MapGet("/rec/{id}", Get)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.RequireAuthorization();</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Get(): rec.OwnerId == user.Id</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else Results.NotFound()</a:t>
            </a:r>
            <a:endParaRPr lang="en-US" sz="1200" dirty="0"/>
          </a:p>
        </p:txBody>
      </p:sp>
      <p:sp>
        <p:nvSpPr>
          <p:cNvPr id="18" name="Takeaway"/>
          <p:cNvSpPr txBox="1"/>
          <p:nvPr/>
        </p:nvSpPr>
        <p:spPr>
          <a:xfrm>
            <a:off x="457200" y="4279392"/>
            <a:ext cx="4754880" cy="411480"/>
          </a:xfrm>
          <a:prstGeom prst="rect">
            <a:avLst/>
          </a:prstGeom>
          <a:noFill/>
          <a:ln/>
        </p:spPr>
        <p:txBody>
          <a:bodyPr wrap="square" lIns="0" tIns="0" rIns="0" bIns="0" rtlCol="0" anchor="ctr"/>
          <a:lstStyle/>
          <a:p>
            <a:pPr indent="0" marL="0">
              <a:buNone/>
            </a:pPr>
            <a:r>
              <a:rPr lang="en-US" sz="1600" b="1" dirty="0">
                <a:solidFill>
                  <a:schemeClr val="accent1"/>
                </a:solidFill>
              </a:rPr>
              <a:t>Angular guards are UX. The API decides.</a:t>
            </a:r>
            <a:endParaRPr lang="en-US" sz="1600" dirty="0"/>
          </a:p>
        </p:txBody>
      </p:sp>
      <p:sp>
        <p:nvSpPr>
          <p:cNvPr id="19" name="Demo marker"/>
          <p:cNvSpPr txBox="1"/>
          <p:nvPr/>
        </p:nvSpPr>
        <p:spPr>
          <a:xfrm>
            <a:off x="5303520" y="4297680"/>
            <a:ext cx="1600200" cy="365760"/>
          </a:xfrm>
          <a:prstGeom prst="roundRect">
            <a:avLst>
              <a:gd name="adj" fmla="val 25000"/>
            </a:avLst>
          </a:prstGeom>
          <a:solidFill>
            <a:schemeClr val="accent4">
              <a:alpha val="15000"/>
            </a:schemeClr>
          </a:solidFill>
          <a:ln w="12700">
            <a:solidFill>
              <a:schemeClr val="accent4"/>
            </a:solidFill>
          </a:ln>
        </p:spPr>
        <p:txBody>
          <a:bodyPr wrap="square" lIns="0" tIns="0" rIns="0" bIns="0" rtlCol="0" anchor="ctr"/>
          <a:lstStyle/>
          <a:p>
            <a:pPr algn="ctr" indent="0" marL="0">
              <a:buNone/>
            </a:pPr>
            <a:r>
              <a:rPr lang="en-US" sz="1200" b="1" dirty="0">
                <a:solidFill>
                  <a:schemeClr val="accent4"/>
                </a:solidFill>
              </a:rPr>
              <a:t>DEMO 1 · 40 s</a:t>
            </a:r>
            <a:endParaRPr lang="en-US" sz="1200" dirty="0"/>
          </a:p>
        </p:txBody>
      </p:sp>
      <p:pic>
        <p:nvPicPr>
          <p:cNvPr id="20" name="Hacker" descr="Hacker cartoon">    </p:cNvPr>
          <p:cNvPicPr>
            <a:picLocks noChangeAspect="1"/>
          </p:cNvPicPr>
          <p:nvPr/>
        </p:nvPicPr>
        <p:blipFill>
          <a:blip r:embed="rId1"/>
          <a:stretch>
            <a:fillRect/>
          </a:stretch>
        </p:blipFill>
        <p:spPr>
          <a:xfrm>
            <a:off x="7040880" y="4160520"/>
            <a:ext cx="777240" cy="777240"/>
          </a:xfrm>
          <a:prstGeom prst="rect">
            <a:avLst/>
          </a:prstGeom>
        </p:spPr>
      </p:pic>
      <p:pic>
        <p:nvPicPr>
          <p:cNvPr id="21" name="Mascot" descr="Mascot cartoon">    </p:cNvPr>
          <p:cNvPicPr>
            <a:picLocks noChangeAspect="1"/>
          </p:cNvPicPr>
          <p:nvPr/>
        </p:nvPicPr>
        <p:blipFill>
          <a:blip r:embed="rId2"/>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stCondLst>
                      <p:childTnLst>
                        <p:par>
                          <p:cTn id="32" fill="hold">
                            <p:stCondLst>
                              <p:cond delay="0"/>
                            </p:stCondLst>
                            <p:childTnLst>
                              <p:par>
                                <p:cTn id="6" presetID="2" presetClass="entr" presetSubtype="8" fill="hold" grpId="0" nodeType="clickEffect">
                                  <p:stCondLst>
                                    <p:cond delay="0"/>
                                  </p:stCondLst>
                                  <p:childTnLst>
                                    <p:set>
                                      <p:cBhvr>
                                        <p:cTn id="3" dur="1" fill="hold">
                                          <p:stCondLst>
                                            <p:cond delay="0"/>
                                          </p:stCondLst>
                                        </p:cTn>
                                        <p:tgtEl>
                                          <p:spTgt spid="6"/>
                                        </p:tgtEl>
                                        <p:attrNameLst>
                                          <p:attrName>style.visibility</p:attrName>
                                        </p:attrNameLst>
                                      </p:cBhvr>
                                      <p:to>
                                        <p:strVal val="visible"/>
                                      </p:to>
                                    </p:set>
                                    <p:anim calcmode="lin" valueType="num">
                                      <p:cBhvr additive="base">
                                        <p:cTn id="4" dur="600" fill="hold"/>
                                        <p:tgtEl>
                                          <p:spTgt spid="6"/>
                                        </p:tgtEl>
                                        <p:attrNameLst>
                                          <p:attrName>ppt_x</p:attrName>
                                        </p:attrNameLst>
                                      </p:cBhvr>
                                      <p:tavLst>
                                        <p:tav tm="0">
                                          <p:val>
                                            <p:strVal val="0-#ppt_w/2"/>
                                          </p:val>
                                        </p:tav>
                                        <p:tav tm="100000">
                                          <p:val>
                                            <p:strVal val="#ppt_x"/>
                                          </p:val>
                                        </p:tav>
                                      </p:tavLst>
                                    </p:anim>
                                    <p:anim calcmode="lin" valueType="num">
                                      <p:cBhvr additive="base">
                                        <p:cTn id="5" dur="600" fill="hold"/>
                                        <p:tgtEl>
                                          <p:spTgt spid="6"/>
                                        </p:tgtEl>
                                        <p:attrNameLst>
                                          <p:attrName>ppt_y</p:attrName>
                                        </p:attrNameLst>
                                      </p:cBhvr>
                                      <p:tavLst>
                                        <p:tav tm="0">
                                          <p:val>
                                            <p:strVal val="#ppt_y"/>
                                          </p:val>
                                        </p:tav>
                                        <p:tav tm="100000">
                                          <p:val>
                                            <p:strVal val="#ppt_y"/>
                                          </p:val>
                                        </p:tav>
                                      </p:tavLst>
                                    </p:anim>
                                  </p:childTnLst>
                                </p:cTn>
                              </p:par>
                              <p:par>
                                <p:cTn id="10" presetID="2" presetClass="entr" presetSubtype="8"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 calcmode="lin" valueType="num">
                                      <p:cBhvr additive="base">
                                        <p:cTn id="8" dur="600" fill="hold"/>
                                        <p:tgtEl>
                                          <p:spTgt spid="7"/>
                                        </p:tgtEl>
                                        <p:attrNameLst>
                                          <p:attrName>ppt_x</p:attrName>
                                        </p:attrNameLst>
                                      </p:cBhvr>
                                      <p:tavLst>
                                        <p:tav tm="0">
                                          <p:val>
                                            <p:strVal val="0-#ppt_w/2"/>
                                          </p:val>
                                        </p:tav>
                                        <p:tav tm="100000">
                                          <p:val>
                                            <p:strVal val="#ppt_x"/>
                                          </p:val>
                                        </p:tav>
                                      </p:tavLst>
                                    </p:anim>
                                    <p:anim calcmode="lin" valueType="num">
                                      <p:cBhvr additive="base">
                                        <p:cTn id="9" dur="600" fill="hold"/>
                                        <p:tgtEl>
                                          <p:spTgt spid="7"/>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600" fill="hold"/>
                                        <p:tgtEl>
                                          <p:spTgt spid="8"/>
                                        </p:tgtEl>
                                        <p:attrNameLst>
                                          <p:attrName>ppt_x</p:attrName>
                                        </p:attrNameLst>
                                      </p:cBhvr>
                                      <p:tavLst>
                                        <p:tav tm="0">
                                          <p:val>
                                            <p:strVal val="0-#ppt_w/2"/>
                                          </p:val>
                                        </p:tav>
                                        <p:tav tm="100000">
                                          <p:val>
                                            <p:strVal val="#ppt_x"/>
                                          </p:val>
                                        </p:tav>
                                      </p:tavLst>
                                    </p:anim>
                                    <p:anim calcmode="lin" valueType="num">
                                      <p:cBhvr additive="base">
                                        <p:cTn id="13" dur="600" fill="hold"/>
                                        <p:tgtEl>
                                          <p:spTgt spid="8"/>
                                        </p:tgtEl>
                                        <p:attrNameLst>
                                          <p:attrName>ppt_y</p:attrName>
                                        </p:attrNameLst>
                                      </p:cBhvr>
                                      <p:tavLst>
                                        <p:tav tm="0">
                                          <p:val>
                                            <p:strVal val="#ppt_y"/>
                                          </p:val>
                                        </p:tav>
                                        <p:tav tm="100000">
                                          <p:val>
                                            <p:strVal val="#ppt_y"/>
                                          </p:val>
                                        </p:tav>
                                      </p:tavLst>
                                    </p:anim>
                                  </p:childTnLst>
                                </p:cTn>
                              </p:par>
                              <p:par>
                                <p:cTn id="18" presetID="2" presetClass="entr" presetSubtype="8"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600" fill="hold"/>
                                        <p:tgtEl>
                                          <p:spTgt spid="9"/>
                                        </p:tgtEl>
                                        <p:attrNameLst>
                                          <p:attrName>ppt_x</p:attrName>
                                        </p:attrNameLst>
                                      </p:cBhvr>
                                      <p:tavLst>
                                        <p:tav tm="0">
                                          <p:val>
                                            <p:strVal val="0-#ppt_w/2"/>
                                          </p:val>
                                        </p:tav>
                                        <p:tav tm="100000">
                                          <p:val>
                                            <p:strVal val="#ppt_x"/>
                                          </p:val>
                                        </p:tav>
                                      </p:tavLst>
                                    </p:anim>
                                    <p:anim calcmode="lin" valueType="num">
                                      <p:cBhvr additive="base">
                                        <p:cTn id="17" dur="600" fill="hold"/>
                                        <p:tgtEl>
                                          <p:spTgt spid="9"/>
                                        </p:tgtEl>
                                        <p:attrNameLst>
                                          <p:attrName>ppt_y</p:attrName>
                                        </p:attrNameLst>
                                      </p:cBhvr>
                                      <p:tavLst>
                                        <p:tav tm="0">
                                          <p:val>
                                            <p:strVal val="#ppt_y"/>
                                          </p:val>
                                        </p:tav>
                                        <p:tav tm="100000">
                                          <p:val>
                                            <p:strVal val="#ppt_y"/>
                                          </p:val>
                                        </p:tav>
                                      </p:tavLst>
                                    </p:anim>
                                  </p:childTnLst>
                                </p:cTn>
                              </p:par>
                              <p:par>
                                <p:cTn id="22" presetID="2" presetClass="entr" presetSubtype="8"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additive="base">
                                        <p:cTn id="20" dur="600" fill="hold"/>
                                        <p:tgtEl>
                                          <p:spTgt spid="10"/>
                                        </p:tgtEl>
                                        <p:attrNameLst>
                                          <p:attrName>ppt_x</p:attrName>
                                        </p:attrNameLst>
                                      </p:cBhvr>
                                      <p:tavLst>
                                        <p:tav tm="0">
                                          <p:val>
                                            <p:strVal val="0-#ppt_w/2"/>
                                          </p:val>
                                        </p:tav>
                                        <p:tav tm="100000">
                                          <p:val>
                                            <p:strVal val="#ppt_x"/>
                                          </p:val>
                                        </p:tav>
                                      </p:tavLst>
                                    </p:anim>
                                    <p:anim calcmode="lin" valueType="num">
                                      <p:cBhvr additive="base">
                                        <p:cTn id="21" dur="600" fill="hold"/>
                                        <p:tgtEl>
                                          <p:spTgt spid="10"/>
                                        </p:tgtEl>
                                        <p:attrNameLst>
                                          <p:attrName>ppt_y</p:attrName>
                                        </p:attrNameLst>
                                      </p:cBhvr>
                                      <p:tavLst>
                                        <p:tav tm="0">
                                          <p:val>
                                            <p:strVal val="#ppt_y"/>
                                          </p:val>
                                        </p:tav>
                                        <p:tav tm="100000">
                                          <p:val>
                                            <p:strVal val="#ppt_y"/>
                                          </p:val>
                                        </p:tav>
                                      </p:tavLst>
                                    </p:anim>
                                  </p:childTnLst>
                                </p:cTn>
                              </p:par>
                              <p:par>
                                <p:cTn id="26" presetID="2" presetClass="entr" presetSubtype="8"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600" fill="hold"/>
                                        <p:tgtEl>
                                          <p:spTgt spid="11"/>
                                        </p:tgtEl>
                                        <p:attrNameLst>
                                          <p:attrName>ppt_x</p:attrName>
                                        </p:attrNameLst>
                                      </p:cBhvr>
                                      <p:tavLst>
                                        <p:tav tm="0">
                                          <p:val>
                                            <p:strVal val="0-#ppt_w/2"/>
                                          </p:val>
                                        </p:tav>
                                        <p:tav tm="100000">
                                          <p:val>
                                            <p:strVal val="#ppt_x"/>
                                          </p:val>
                                        </p:tav>
                                      </p:tavLst>
                                    </p:anim>
                                    <p:anim calcmode="lin" valueType="num">
                                      <p:cBhvr additive="base">
                                        <p:cTn id="25" dur="600" fill="hold"/>
                                        <p:tgtEl>
                                          <p:spTgt spid="11"/>
                                        </p:tgtEl>
                                        <p:attrNameLst>
                                          <p:attrName>ppt_y</p:attrName>
                                        </p:attrNameLst>
                                      </p:cBhvr>
                                      <p:tavLst>
                                        <p:tav tm="0">
                                          <p:val>
                                            <p:strVal val="#ppt_y"/>
                                          </p:val>
                                        </p:tav>
                                        <p:tav tm="100000">
                                          <p:val>
                                            <p:strVal val="#ppt_y"/>
                                          </p:val>
                                        </p:tav>
                                      </p:tavLst>
                                    </p:anim>
                                  </p:childTnLst>
                                </p:cTn>
                              </p:par>
                              <p:par>
                                <p:cTn id="30" presetID="2" presetClass="entr" presetSubtype="8"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 calcmode="lin" valueType="num">
                                      <p:cBhvr additive="base">
                                        <p:cTn id="28" dur="600" fill="hold"/>
                                        <p:tgtEl>
                                          <p:spTgt spid="20"/>
                                        </p:tgtEl>
                                        <p:attrNameLst>
                                          <p:attrName>ppt_x</p:attrName>
                                        </p:attrNameLst>
                                      </p:cBhvr>
                                      <p:tavLst>
                                        <p:tav tm="0">
                                          <p:val>
                                            <p:strVal val="0-#ppt_w/2"/>
                                          </p:val>
                                        </p:tav>
                                        <p:tav tm="100000">
                                          <p:val>
                                            <p:strVal val="#ppt_x"/>
                                          </p:val>
                                        </p:tav>
                                      </p:tavLst>
                                    </p:anim>
                                    <p:anim calcmode="lin" valueType="num">
                                      <p:cBhvr additive="base">
                                        <p:cTn id="29" dur="6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37" presetID="53" presetClass="entr" presetSubtype="16"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600" fill="hold"/>
                                        <p:tgtEl>
                                          <p:spTgt spid="12"/>
                                        </p:tgtEl>
                                        <p:attrNameLst>
                                          <p:attrName>ppt_w</p:attrName>
                                        </p:attrNameLst>
                                      </p:cBhvr>
                                      <p:tavLst>
                                        <p:tav tm="0">
                                          <p:val>
                                            <p:fltVal val="0"/>
                                          </p:val>
                                        </p:tav>
                                        <p:tav tm="100000">
                                          <p:val>
                                            <p:strVal val="#ppt_w"/>
                                          </p:val>
                                        </p:tav>
                                      </p:tavLst>
                                    </p:anim>
                                    <p:anim calcmode="lin" valueType="num">
                                      <p:cBhvr additive="base">
                                        <p:cTn id="35" dur="600" fill="hold"/>
                                        <p:tgtEl>
                                          <p:spTgt spid="12"/>
                                        </p:tgtEl>
                                        <p:attrNameLst>
                                          <p:attrName>ppt_h</p:attrName>
                                        </p:attrNameLst>
                                      </p:cBhvr>
                                      <p:tavLst>
                                        <p:tav tm="0">
                                          <p:val>
                                            <p:fltVal val="0"/>
                                          </p:val>
                                        </p:tav>
                                        <p:tav tm="100000">
                                          <p:val>
                                            <p:strVal val="#ppt_h"/>
                                          </p:val>
                                        </p:tav>
                                      </p:tavLst>
                                    </p:anim>
                                    <p:animEffect transition="in" filter="fade">
                                      <p:cBhvr>
                                        <p:cTn id="36" dur="600"/>
                                        <p:tgtEl>
                                          <p:spTgt spid="12"/>
                                        </p:tgtEl>
                                      </p:cBhvr>
                                    </p:animEffect>
                                  </p:childTnLst>
                                </p:cTn>
                              </p:par>
                              <p:par>
                                <p:cTn id="42" presetID="53" presetClass="entr" presetSubtype="16"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600" fill="hold"/>
                                        <p:tgtEl>
                                          <p:spTgt spid="13"/>
                                        </p:tgtEl>
                                        <p:attrNameLst>
                                          <p:attrName>ppt_w</p:attrName>
                                        </p:attrNameLst>
                                      </p:cBhvr>
                                      <p:tavLst>
                                        <p:tav tm="0">
                                          <p:val>
                                            <p:fltVal val="0"/>
                                          </p:val>
                                        </p:tav>
                                        <p:tav tm="100000">
                                          <p:val>
                                            <p:strVal val="#ppt_w"/>
                                          </p:val>
                                        </p:tav>
                                      </p:tavLst>
                                    </p:anim>
                                    <p:anim calcmode="lin" valueType="num">
                                      <p:cBhvr additive="base">
                                        <p:cTn id="40" dur="600" fill="hold"/>
                                        <p:tgtEl>
                                          <p:spTgt spid="13"/>
                                        </p:tgtEl>
                                        <p:attrNameLst>
                                          <p:attrName>ppt_h</p:attrName>
                                        </p:attrNameLst>
                                      </p:cBhvr>
                                      <p:tavLst>
                                        <p:tav tm="0">
                                          <p:val>
                                            <p:fltVal val="0"/>
                                          </p:val>
                                        </p:tav>
                                        <p:tav tm="100000">
                                          <p:val>
                                            <p:strVal val="#ppt_h"/>
                                          </p:val>
                                        </p:tav>
                                      </p:tavLst>
                                    </p:anim>
                                    <p:animEffect transition="in" filter="fade">
                                      <p:cBhvr>
                                        <p:cTn id="41" dur="600"/>
                                        <p:tgtEl>
                                          <p:spTgt spid="13"/>
                                        </p:tgtEl>
                                      </p:cBhvr>
                                    </p:animEffect>
                                  </p:childTnLst>
                                </p:cTn>
                              </p:par>
                              <p:par>
                                <p:cTn id="47" presetID="53" presetClass="entr" presetSubtype="16"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600" fill="hold"/>
                                        <p:tgtEl>
                                          <p:spTgt spid="14"/>
                                        </p:tgtEl>
                                        <p:attrNameLst>
                                          <p:attrName>ppt_w</p:attrName>
                                        </p:attrNameLst>
                                      </p:cBhvr>
                                      <p:tavLst>
                                        <p:tav tm="0">
                                          <p:val>
                                            <p:fltVal val="0"/>
                                          </p:val>
                                        </p:tav>
                                        <p:tav tm="100000">
                                          <p:val>
                                            <p:strVal val="#ppt_w"/>
                                          </p:val>
                                        </p:tav>
                                      </p:tavLst>
                                    </p:anim>
                                    <p:anim calcmode="lin" valueType="num">
                                      <p:cBhvr additive="base">
                                        <p:cTn id="45" dur="600" fill="hold"/>
                                        <p:tgtEl>
                                          <p:spTgt spid="14"/>
                                        </p:tgtEl>
                                        <p:attrNameLst>
                                          <p:attrName>ppt_h</p:attrName>
                                        </p:attrNameLst>
                                      </p:cBhvr>
                                      <p:tavLst>
                                        <p:tav tm="0">
                                          <p:val>
                                            <p:fltVal val="0"/>
                                          </p:val>
                                        </p:tav>
                                        <p:tav tm="100000">
                                          <p:val>
                                            <p:strVal val="#ppt_h"/>
                                          </p:val>
                                        </p:tav>
                                      </p:tavLst>
                                    </p:anim>
                                    <p:animEffect transition="in" filter="fade">
                                      <p:cBhvr>
                                        <p:cTn id="46" dur="600"/>
                                        <p:tgtEl>
                                          <p:spTgt spid="14"/>
                                        </p:tgtEl>
                                      </p:cBhvr>
                                    </p:animEffect>
                                  </p:childTnLst>
                                </p:cTn>
                              </p:par>
                              <p:par>
                                <p:cTn id="52" presetID="53" presetClass="entr" presetSubtype="16"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600" fill="hold"/>
                                        <p:tgtEl>
                                          <p:spTgt spid="15"/>
                                        </p:tgtEl>
                                        <p:attrNameLst>
                                          <p:attrName>ppt_w</p:attrName>
                                        </p:attrNameLst>
                                      </p:cBhvr>
                                      <p:tavLst>
                                        <p:tav tm="0">
                                          <p:val>
                                            <p:fltVal val="0"/>
                                          </p:val>
                                        </p:tav>
                                        <p:tav tm="100000">
                                          <p:val>
                                            <p:strVal val="#ppt_w"/>
                                          </p:val>
                                        </p:tav>
                                      </p:tavLst>
                                    </p:anim>
                                    <p:anim calcmode="lin" valueType="num">
                                      <p:cBhvr additive="base">
                                        <p:cTn id="50" dur="600" fill="hold"/>
                                        <p:tgtEl>
                                          <p:spTgt spid="15"/>
                                        </p:tgtEl>
                                        <p:attrNameLst>
                                          <p:attrName>ppt_h</p:attrName>
                                        </p:attrNameLst>
                                      </p:cBhvr>
                                      <p:tavLst>
                                        <p:tav tm="0">
                                          <p:val>
                                            <p:fltVal val="0"/>
                                          </p:val>
                                        </p:tav>
                                        <p:tav tm="100000">
                                          <p:val>
                                            <p:strVal val="#ppt_h"/>
                                          </p:val>
                                        </p:tav>
                                      </p:tavLst>
                                    </p:anim>
                                    <p:animEffect transition="in" filter="fade">
                                      <p:cBhvr>
                                        <p:cTn id="51" dur="600"/>
                                        <p:tgtEl>
                                          <p:spTgt spid="15"/>
                                        </p:tgtEl>
                                      </p:cBhvr>
                                    </p:animEffect>
                                  </p:childTnLst>
                                </p:cTn>
                              </p:par>
                              <p:par>
                                <p:cTn id="57" presetID="53" presetClass="entr" presetSubtype="16"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600" fill="hold"/>
                                        <p:tgtEl>
                                          <p:spTgt spid="16"/>
                                        </p:tgtEl>
                                        <p:attrNameLst>
                                          <p:attrName>ppt_w</p:attrName>
                                        </p:attrNameLst>
                                      </p:cBhvr>
                                      <p:tavLst>
                                        <p:tav tm="0">
                                          <p:val>
                                            <p:fltVal val="0"/>
                                          </p:val>
                                        </p:tav>
                                        <p:tav tm="100000">
                                          <p:val>
                                            <p:strVal val="#ppt_w"/>
                                          </p:val>
                                        </p:tav>
                                      </p:tavLst>
                                    </p:anim>
                                    <p:anim calcmode="lin" valueType="num">
                                      <p:cBhvr additive="base">
                                        <p:cTn id="55" dur="600" fill="hold"/>
                                        <p:tgtEl>
                                          <p:spTgt spid="16"/>
                                        </p:tgtEl>
                                        <p:attrNameLst>
                                          <p:attrName>ppt_h</p:attrName>
                                        </p:attrNameLst>
                                      </p:cBhvr>
                                      <p:tavLst>
                                        <p:tav tm="0">
                                          <p:val>
                                            <p:fltVal val="0"/>
                                          </p:val>
                                        </p:tav>
                                        <p:tav tm="100000">
                                          <p:val>
                                            <p:strVal val="#ppt_h"/>
                                          </p:val>
                                        </p:tav>
                                      </p:tavLst>
                                    </p:anim>
                                    <p:animEffect transition="in" filter="fade">
                                      <p:cBhvr>
                                        <p:cTn id="56" dur="600"/>
                                        <p:tgtEl>
                                          <p:spTgt spid="16"/>
                                        </p:tgtEl>
                                      </p:cBhvr>
                                    </p:animEffect>
                                  </p:childTnLst>
                                </p:cTn>
                              </p:par>
                              <p:par>
                                <p:cTn id="62" presetID="53" presetClass="entr" presetSubtype="16"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600" fill="hold"/>
                                        <p:tgtEl>
                                          <p:spTgt spid="17"/>
                                        </p:tgtEl>
                                        <p:attrNameLst>
                                          <p:attrName>ppt_w</p:attrName>
                                        </p:attrNameLst>
                                      </p:cBhvr>
                                      <p:tavLst>
                                        <p:tav tm="0">
                                          <p:val>
                                            <p:fltVal val="0"/>
                                          </p:val>
                                        </p:tav>
                                        <p:tav tm="100000">
                                          <p:val>
                                            <p:strVal val="#ppt_w"/>
                                          </p:val>
                                        </p:tav>
                                      </p:tavLst>
                                    </p:anim>
                                    <p:anim calcmode="lin" valueType="num">
                                      <p:cBhvr additive="base">
                                        <p:cTn id="60" dur="600" fill="hold"/>
                                        <p:tgtEl>
                                          <p:spTgt spid="17"/>
                                        </p:tgtEl>
                                        <p:attrNameLst>
                                          <p:attrName>ppt_h</p:attrName>
                                        </p:attrNameLst>
                                      </p:cBhvr>
                                      <p:tavLst>
                                        <p:tav tm="0">
                                          <p:val>
                                            <p:fltVal val="0"/>
                                          </p:val>
                                        </p:tav>
                                        <p:tav tm="100000">
                                          <p:val>
                                            <p:strVal val="#ppt_h"/>
                                          </p:val>
                                        </p:tav>
                                      </p:tavLst>
                                    </p:anim>
                                    <p:animEffect transition="in" filter="fade">
                                      <p:cBhvr>
                                        <p:cTn id="61" dur="600"/>
                                        <p:tgtEl>
                                          <p:spTgt spid="17"/>
                                        </p:tgtEl>
                                      </p:cBhvr>
                                    </p:animEffect>
                                  </p:childTnLst>
                                </p:cTn>
                              </p:par>
                              <p:par>
                                <p:cTn id="67" presetID="53" presetClass="entr" presetSubtype="16" fill="hold" nodeType="withEffect">
                                  <p:stCondLst>
                                    <p:cond delay="0"/>
                                  </p:stCondLst>
                                  <p:childTnLst>
                                    <p:set>
                                      <p:cBhvr>
                                        <p:cTn id="63" dur="1" fill="hold">
                                          <p:stCondLst>
                                            <p:cond delay="0"/>
                                          </p:stCondLst>
                                        </p:cTn>
                                        <p:tgtEl>
                                          <p:spTgt spid="21"/>
                                        </p:tgtEl>
                                        <p:attrNameLst>
                                          <p:attrName>style.visibility</p:attrName>
                                        </p:attrNameLst>
                                      </p:cBhvr>
                                      <p:to>
                                        <p:strVal val="visible"/>
                                      </p:to>
                                    </p:set>
                                    <p:anim calcmode="lin" valueType="num">
                                      <p:cBhvr additive="base">
                                        <p:cTn id="64" dur="600" fill="hold"/>
                                        <p:tgtEl>
                                          <p:spTgt spid="21"/>
                                        </p:tgtEl>
                                        <p:attrNameLst>
                                          <p:attrName>ppt_w</p:attrName>
                                        </p:attrNameLst>
                                      </p:cBhvr>
                                      <p:tavLst>
                                        <p:tav tm="0">
                                          <p:val>
                                            <p:fltVal val="0"/>
                                          </p:val>
                                        </p:tav>
                                        <p:tav tm="100000">
                                          <p:val>
                                            <p:strVal val="#ppt_w"/>
                                          </p:val>
                                        </p:tav>
                                      </p:tavLst>
                                    </p:anim>
                                    <p:anim calcmode="lin" valueType="num">
                                      <p:cBhvr additive="base">
                                        <p:cTn id="65" dur="600" fill="hold"/>
                                        <p:tgtEl>
                                          <p:spTgt spid="21"/>
                                        </p:tgtEl>
                                        <p:attrNameLst>
                                          <p:attrName>ppt_h</p:attrName>
                                        </p:attrNameLst>
                                      </p:cBhvr>
                                      <p:tavLst>
                                        <p:tav tm="0">
                                          <p:val>
                                            <p:fltVal val="0"/>
                                          </p:val>
                                        </p:tav>
                                        <p:tav tm="100000">
                                          <p:val>
                                            <p:strVal val="#ppt_h"/>
                                          </p:val>
                                        </p:tav>
                                      </p:tavLst>
                                    </p:anim>
                                    <p:animEffect transition="in" filter="fade">
                                      <p:cBhvr>
                                        <p:cTn id="66"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A01 · Access Control: the database</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ORACLE · SQL</a:t>
            </a:r>
            <a:endParaRPr lang="en-US" sz="1300" dirty="0"/>
          </a:p>
        </p:txBody>
      </p:sp>
      <p:sp>
        <p:nvSpPr>
          <p:cNvPr id="5" name="Ex vuln"/>
          <p:cNvSpPr/>
          <p:nvPr/>
        </p:nvSpPr>
        <p:spPr>
          <a:xfrm>
            <a:off x="457200" y="1371600"/>
            <a:ext cx="4023360" cy="2834640"/>
          </a:xfrm>
          <a:prstGeom prst="roundRect">
            <a:avLst>
              <a:gd name="adj" fmla="val 3871"/>
            </a:avLst>
          </a:prstGeom>
          <a:solidFill>
            <a:schemeClr val="accent2">
              <a:alpha val="12000"/>
            </a:schemeClr>
          </a:solidFill>
          <a:ln w="12700">
            <a:solidFill>
              <a:schemeClr val="accent2"/>
            </a:solidFill>
            <a:prstDash val="solid"/>
          </a:ln>
        </p:spPr>
      </p:sp>
      <p:sp>
        <p:nvSpPr>
          <p:cNvPr id="6" name="Ex vuln label"/>
          <p:cNvSpPr txBox="1"/>
          <p:nvPr/>
        </p:nvSpPr>
        <p:spPr>
          <a:xfrm>
            <a:off x="640080" y="1508760"/>
            <a:ext cx="365760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VULNERABLE</a:t>
            </a:r>
            <a:endParaRPr lang="en-US" sz="1200" dirty="0"/>
          </a:p>
        </p:txBody>
      </p:sp>
      <p:sp>
        <p:nvSpPr>
          <p:cNvPr id="7" name="Ex vuln code"/>
          <p:cNvSpPr txBox="1"/>
          <p:nvPr/>
        </p:nvSpPr>
        <p:spPr>
          <a:xfrm>
            <a:off x="640080" y="1920240"/>
            <a:ext cx="3657600" cy="2103120"/>
          </a:xfrm>
          <a:prstGeom prst="rect">
            <a:avLst/>
          </a:prstGeom>
          <a:noFill/>
          <a:ln/>
        </p:spPr>
        <p:txBody>
          <a:bodyPr wrap="square" lIns="0" tIns="0" rIns="0" bIns="0" rtlCol="0" anchor="t"/>
          <a:lstStyle/>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any logged-in user, any id</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SELECT * FROM records</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WHERE id = :id</a:t>
            </a:r>
            <a:endParaRPr lang="en-US" sz="1200" dirty="0"/>
          </a:p>
        </p:txBody>
      </p:sp>
      <p:sp>
        <p:nvSpPr>
          <p:cNvPr id="8" name="Ex fixed"/>
          <p:cNvSpPr/>
          <p:nvPr/>
        </p:nvSpPr>
        <p:spPr>
          <a:xfrm>
            <a:off x="4663440" y="1371600"/>
            <a:ext cx="4023360" cy="2834640"/>
          </a:xfrm>
          <a:prstGeom prst="roundRect">
            <a:avLst>
              <a:gd name="adj" fmla="val 3871"/>
            </a:avLst>
          </a:prstGeom>
          <a:solidFill>
            <a:schemeClr val="accent3">
              <a:alpha val="12000"/>
            </a:schemeClr>
          </a:solidFill>
          <a:ln w="12700">
            <a:solidFill>
              <a:schemeClr val="accent3"/>
            </a:solidFill>
            <a:prstDash val="solid"/>
          </a:ln>
        </p:spPr>
      </p:sp>
      <p:sp>
        <p:nvSpPr>
          <p:cNvPr id="9" name="Ex fixed label"/>
          <p:cNvSpPr txBox="1"/>
          <p:nvPr/>
        </p:nvSpPr>
        <p:spPr>
          <a:xfrm>
            <a:off x="4846320" y="1508760"/>
            <a:ext cx="3657600" cy="256032"/>
          </a:xfrm>
          <a:prstGeom prst="rect">
            <a:avLst/>
          </a:prstGeom>
          <a:noFill/>
          <a:ln/>
        </p:spPr>
        <p:txBody>
          <a:bodyPr wrap="square" lIns="0" tIns="0" rIns="0" bIns="0" rtlCol="0" anchor="ctr"/>
          <a:lstStyle/>
          <a:p>
            <a:pPr indent="0" marL="0">
              <a:buNone/>
            </a:pPr>
            <a:r>
              <a:rPr lang="en-US" sz="1200" b="1" spc="200" kern="0" dirty="0">
                <a:solidFill>
                  <a:schemeClr val="accent3"/>
                </a:solidFill>
              </a:rPr>
              <a:t>FIXED</a:t>
            </a:r>
            <a:endParaRPr lang="en-US" sz="1200" dirty="0"/>
          </a:p>
        </p:txBody>
      </p:sp>
      <p:sp>
        <p:nvSpPr>
          <p:cNvPr id="10" name="Ex fixed code"/>
          <p:cNvSpPr txBox="1"/>
          <p:nvPr/>
        </p:nvSpPr>
        <p:spPr>
          <a:xfrm>
            <a:off x="4846320" y="1920240"/>
            <a:ext cx="3657600" cy="2103120"/>
          </a:xfrm>
          <a:prstGeom prst="rect">
            <a:avLst/>
          </a:prstGeom>
          <a:noFill/>
          <a:ln/>
        </p:spPr>
        <p:txBody>
          <a:bodyPr wrap="square" lIns="0" tIns="0" rIns="0" bIns="0" rtlCol="0" anchor="t"/>
          <a:lstStyle/>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the owner is part of the query</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SELECT * FROM records</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WHERE id = :id</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AND owner_id = :user_id</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-- 0 rows: API returns 404</a:t>
            </a:r>
            <a:endParaRPr lang="en-US" sz="1200" dirty="0"/>
          </a:p>
        </p:txBody>
      </p:sp>
      <p:sp>
        <p:nvSpPr>
          <p:cNvPr id="11" name="Takeaway"/>
          <p:cNvSpPr txBox="1"/>
          <p:nvPr/>
        </p:nvSpPr>
        <p:spPr>
          <a:xfrm>
            <a:off x="457200" y="4279392"/>
            <a:ext cx="4754880" cy="411480"/>
          </a:xfrm>
          <a:prstGeom prst="rect">
            <a:avLst/>
          </a:prstGeom>
          <a:noFill/>
          <a:ln/>
        </p:spPr>
        <p:txBody>
          <a:bodyPr wrap="square" lIns="0" tIns="0" rIns="0" bIns="0" rtlCol="0" anchor="ctr"/>
          <a:lstStyle/>
          <a:p>
            <a:pPr indent="0" marL="0">
              <a:buNone/>
            </a:pPr>
            <a:r>
              <a:rPr lang="en-US" sz="1600" b="1" dirty="0">
                <a:solidFill>
                  <a:schemeClr val="accent1"/>
                </a:solidFill>
              </a:rPr>
              <a:t>The owner belongs in the query, not only in the UI.</a:t>
            </a:r>
            <a:endParaRPr lang="en-US" sz="1600" dirty="0"/>
          </a:p>
        </p:txBody>
      </p:sp>
      <p:pic>
        <p:nvPicPr>
          <p:cNvPr id="12" name="Hacker" descr="Hacker cartoon">    </p:cNvPr>
          <p:cNvPicPr>
            <a:picLocks noChangeAspect="1"/>
          </p:cNvPicPr>
          <p:nvPr/>
        </p:nvPicPr>
        <p:blipFill>
          <a:blip r:embed="rId1"/>
          <a:stretch>
            <a:fillRect/>
          </a:stretch>
        </p:blipFill>
        <p:spPr>
          <a:xfrm>
            <a:off x="7040880" y="4160520"/>
            <a:ext cx="777240" cy="777240"/>
          </a:xfrm>
          <a:prstGeom prst="rect">
            <a:avLst/>
          </a:prstGeom>
        </p:spPr>
      </p:pic>
      <p:pic>
        <p:nvPicPr>
          <p:cNvPr id="13" name="Mascot" descr="Mascot cartoon">    </p:cNvPr>
          <p:cNvPicPr>
            <a:picLocks noChangeAspect="1"/>
          </p:cNvPicPr>
          <p:nvPr/>
        </p:nvPicPr>
        <p:blipFill>
          <a:blip r:embed="rId2"/>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9" fill="hold">
                      <p:stCondLst>
                        <p:cond delay="indefinite"/>
                      </p:stCondLst>
                      <p:childTnLst>
                        <p:par>
                          <p:cTn id="20" fill="hold">
                            <p:stCondLst>
                              <p:cond delay="0"/>
                            </p:stCondLst>
                            <p:childTnLst>
                              <p:par>
                                <p:cTn id="6" presetID="2" presetClass="entr" presetSubtype="8"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 calcmode="lin" valueType="num">
                                      <p:cBhvr additive="base">
                                        <p:cTn id="4" dur="600" fill="hold"/>
                                        <p:tgtEl>
                                          <p:spTgt spid="5"/>
                                        </p:tgtEl>
                                        <p:attrNameLst>
                                          <p:attrName>ppt_x</p:attrName>
                                        </p:attrNameLst>
                                      </p:cBhvr>
                                      <p:tavLst>
                                        <p:tav tm="0">
                                          <p:val>
                                            <p:strVal val="0-#ppt_w/2"/>
                                          </p:val>
                                        </p:tav>
                                        <p:tav tm="100000">
                                          <p:val>
                                            <p:strVal val="#ppt_x"/>
                                          </p:val>
                                        </p:tav>
                                      </p:tavLst>
                                    </p:anim>
                                    <p:anim calcmode="lin" valueType="num">
                                      <p:cBhvr additive="base">
                                        <p:cTn id="5" dur="600" fill="hold"/>
                                        <p:tgtEl>
                                          <p:spTgt spid="5"/>
                                        </p:tgtEl>
                                        <p:attrNameLst>
                                          <p:attrName>ppt_y</p:attrName>
                                        </p:attrNameLst>
                                      </p:cBhvr>
                                      <p:tavLst>
                                        <p:tav tm="0">
                                          <p:val>
                                            <p:strVal val="#ppt_y"/>
                                          </p:val>
                                        </p:tav>
                                        <p:tav tm="100000">
                                          <p:val>
                                            <p:strVal val="#ppt_y"/>
                                          </p:val>
                                        </p:tav>
                                      </p:tavLst>
                                    </p:anim>
                                  </p:childTnLst>
                                </p:cTn>
                              </p:par>
                              <p:par>
                                <p:cTn id="10" presetID="2" presetClass="entr" presetSubtype="8"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 calcmode="lin" valueType="num">
                                      <p:cBhvr additive="base">
                                        <p:cTn id="8" dur="600" fill="hold"/>
                                        <p:tgtEl>
                                          <p:spTgt spid="6"/>
                                        </p:tgtEl>
                                        <p:attrNameLst>
                                          <p:attrName>ppt_x</p:attrName>
                                        </p:attrNameLst>
                                      </p:cBhvr>
                                      <p:tavLst>
                                        <p:tav tm="0">
                                          <p:val>
                                            <p:strVal val="0-#ppt_w/2"/>
                                          </p:val>
                                        </p:tav>
                                        <p:tav tm="100000">
                                          <p:val>
                                            <p:strVal val="#ppt_x"/>
                                          </p:val>
                                        </p:tav>
                                      </p:tavLst>
                                    </p:anim>
                                    <p:anim calcmode="lin" valueType="num">
                                      <p:cBhvr additive="base">
                                        <p:cTn id="9" dur="600" fill="hold"/>
                                        <p:tgtEl>
                                          <p:spTgt spid="6"/>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600" fill="hold"/>
                                        <p:tgtEl>
                                          <p:spTgt spid="7"/>
                                        </p:tgtEl>
                                        <p:attrNameLst>
                                          <p:attrName>ppt_x</p:attrName>
                                        </p:attrNameLst>
                                      </p:cBhvr>
                                      <p:tavLst>
                                        <p:tav tm="0">
                                          <p:val>
                                            <p:strVal val="0-#ppt_w/2"/>
                                          </p:val>
                                        </p:tav>
                                        <p:tav tm="100000">
                                          <p:val>
                                            <p:strVal val="#ppt_x"/>
                                          </p:val>
                                        </p:tav>
                                      </p:tavLst>
                                    </p:anim>
                                    <p:anim calcmode="lin" valueType="num">
                                      <p:cBhvr additive="base">
                                        <p:cTn id="13" dur="600" fill="hold"/>
                                        <p:tgtEl>
                                          <p:spTgt spid="7"/>
                                        </p:tgtEl>
                                        <p:attrNameLst>
                                          <p:attrName>ppt_y</p:attrName>
                                        </p:attrNameLst>
                                      </p:cBhvr>
                                      <p:tavLst>
                                        <p:tav tm="0">
                                          <p:val>
                                            <p:strVal val="#ppt_y"/>
                                          </p:val>
                                        </p:tav>
                                        <p:tav tm="100000">
                                          <p:val>
                                            <p:strVal val="#ppt_y"/>
                                          </p:val>
                                        </p:tav>
                                      </p:tavLst>
                                    </p:anim>
                                  </p:childTnLst>
                                </p:cTn>
                              </p:par>
                              <p:par>
                                <p:cTn id="18" presetID="2" presetClass="entr" presetSubtype="8"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600" fill="hold"/>
                                        <p:tgtEl>
                                          <p:spTgt spid="12"/>
                                        </p:tgtEl>
                                        <p:attrNameLst>
                                          <p:attrName>ppt_x</p:attrName>
                                        </p:attrNameLst>
                                      </p:cBhvr>
                                      <p:tavLst>
                                        <p:tav tm="0">
                                          <p:val>
                                            <p:strVal val="0-#ppt_w/2"/>
                                          </p:val>
                                        </p:tav>
                                        <p:tav tm="100000">
                                          <p:val>
                                            <p:strVal val="#ppt_x"/>
                                          </p:val>
                                        </p:tav>
                                      </p:tavLst>
                                    </p:anim>
                                    <p:anim calcmode="lin" valueType="num">
                                      <p:cBhvr additive="base">
                                        <p:cTn id="17" dur="6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25" presetID="53" presetClass="entr" presetSubtype="16"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600" fill="hold"/>
                                        <p:tgtEl>
                                          <p:spTgt spid="8"/>
                                        </p:tgtEl>
                                        <p:attrNameLst>
                                          <p:attrName>ppt_w</p:attrName>
                                        </p:attrNameLst>
                                      </p:cBhvr>
                                      <p:tavLst>
                                        <p:tav tm="0">
                                          <p:val>
                                            <p:fltVal val="0"/>
                                          </p:val>
                                        </p:tav>
                                        <p:tav tm="100000">
                                          <p:val>
                                            <p:strVal val="#ppt_w"/>
                                          </p:val>
                                        </p:tav>
                                      </p:tavLst>
                                    </p:anim>
                                    <p:anim calcmode="lin" valueType="num">
                                      <p:cBhvr additive="base">
                                        <p:cTn id="23" dur="600" fill="hold"/>
                                        <p:tgtEl>
                                          <p:spTgt spid="8"/>
                                        </p:tgtEl>
                                        <p:attrNameLst>
                                          <p:attrName>ppt_h</p:attrName>
                                        </p:attrNameLst>
                                      </p:cBhvr>
                                      <p:tavLst>
                                        <p:tav tm="0">
                                          <p:val>
                                            <p:fltVal val="0"/>
                                          </p:val>
                                        </p:tav>
                                        <p:tav tm="100000">
                                          <p:val>
                                            <p:strVal val="#ppt_h"/>
                                          </p:val>
                                        </p:tav>
                                      </p:tavLst>
                                    </p:anim>
                                    <p:animEffect transition="in" filter="fade">
                                      <p:cBhvr>
                                        <p:cTn id="24" dur="600"/>
                                        <p:tgtEl>
                                          <p:spTgt spid="8"/>
                                        </p:tgtEl>
                                      </p:cBhvr>
                                    </p:animEffect>
                                  </p:childTnLst>
                                </p:cTn>
                              </p:par>
                              <p:par>
                                <p:cTn id="30" presetID="53"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600" fill="hold"/>
                                        <p:tgtEl>
                                          <p:spTgt spid="9"/>
                                        </p:tgtEl>
                                        <p:attrNameLst>
                                          <p:attrName>ppt_w</p:attrName>
                                        </p:attrNameLst>
                                      </p:cBhvr>
                                      <p:tavLst>
                                        <p:tav tm="0">
                                          <p:val>
                                            <p:fltVal val="0"/>
                                          </p:val>
                                        </p:tav>
                                        <p:tav tm="100000">
                                          <p:val>
                                            <p:strVal val="#ppt_w"/>
                                          </p:val>
                                        </p:tav>
                                      </p:tavLst>
                                    </p:anim>
                                    <p:anim calcmode="lin" valueType="num">
                                      <p:cBhvr additive="base">
                                        <p:cTn id="28" dur="600" fill="hold"/>
                                        <p:tgtEl>
                                          <p:spTgt spid="9"/>
                                        </p:tgtEl>
                                        <p:attrNameLst>
                                          <p:attrName>ppt_h</p:attrName>
                                        </p:attrNameLst>
                                      </p:cBhvr>
                                      <p:tavLst>
                                        <p:tav tm="0">
                                          <p:val>
                                            <p:fltVal val="0"/>
                                          </p:val>
                                        </p:tav>
                                        <p:tav tm="100000">
                                          <p:val>
                                            <p:strVal val="#ppt_h"/>
                                          </p:val>
                                        </p:tav>
                                      </p:tavLst>
                                    </p:anim>
                                    <p:animEffect transition="in" filter="fade">
                                      <p:cBhvr>
                                        <p:cTn id="29" dur="600"/>
                                        <p:tgtEl>
                                          <p:spTgt spid="9"/>
                                        </p:tgtEl>
                                      </p:cBhvr>
                                    </p:animEffect>
                                  </p:childTnLst>
                                </p:cTn>
                              </p:par>
                              <p:par>
                                <p:cTn id="35" presetID="53" presetClass="entr" presetSubtype="16"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600" fill="hold"/>
                                        <p:tgtEl>
                                          <p:spTgt spid="10"/>
                                        </p:tgtEl>
                                        <p:attrNameLst>
                                          <p:attrName>ppt_w</p:attrName>
                                        </p:attrNameLst>
                                      </p:cBhvr>
                                      <p:tavLst>
                                        <p:tav tm="0">
                                          <p:val>
                                            <p:fltVal val="0"/>
                                          </p:val>
                                        </p:tav>
                                        <p:tav tm="100000">
                                          <p:val>
                                            <p:strVal val="#ppt_w"/>
                                          </p:val>
                                        </p:tav>
                                      </p:tavLst>
                                    </p:anim>
                                    <p:anim calcmode="lin" valueType="num">
                                      <p:cBhvr additive="base">
                                        <p:cTn id="33" dur="600" fill="hold"/>
                                        <p:tgtEl>
                                          <p:spTgt spid="10"/>
                                        </p:tgtEl>
                                        <p:attrNameLst>
                                          <p:attrName>ppt_h</p:attrName>
                                        </p:attrNameLst>
                                      </p:cBhvr>
                                      <p:tavLst>
                                        <p:tav tm="0">
                                          <p:val>
                                            <p:fltVal val="0"/>
                                          </p:val>
                                        </p:tav>
                                        <p:tav tm="100000">
                                          <p:val>
                                            <p:strVal val="#ppt_h"/>
                                          </p:val>
                                        </p:tav>
                                      </p:tavLst>
                                    </p:anim>
                                    <p:animEffect transition="in" filter="fade">
                                      <p:cBhvr>
                                        <p:cTn id="34" dur="600"/>
                                        <p:tgtEl>
                                          <p:spTgt spid="10"/>
                                        </p:tgtEl>
                                      </p:cBhvr>
                                    </p:animEffect>
                                  </p:childTnLst>
                                </p:cTn>
                              </p:par>
                              <p:par>
                                <p:cTn id="40" presetID="53" presetClass="entr" presetSubtype="16"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600" fill="hold"/>
                                        <p:tgtEl>
                                          <p:spTgt spid="13"/>
                                        </p:tgtEl>
                                        <p:attrNameLst>
                                          <p:attrName>ppt_w</p:attrName>
                                        </p:attrNameLst>
                                      </p:cBhvr>
                                      <p:tavLst>
                                        <p:tav tm="0">
                                          <p:val>
                                            <p:fltVal val="0"/>
                                          </p:val>
                                        </p:tav>
                                        <p:tav tm="100000">
                                          <p:val>
                                            <p:strVal val="#ppt_w"/>
                                          </p:val>
                                        </p:tav>
                                      </p:tavLst>
                                    </p:anim>
                                    <p:anim calcmode="lin" valueType="num">
                                      <p:cBhvr additive="base">
                                        <p:cTn id="38" dur="600" fill="hold"/>
                                        <p:tgtEl>
                                          <p:spTgt spid="13"/>
                                        </p:tgtEl>
                                        <p:attrNameLst>
                                          <p:attrName>ppt_h</p:attrName>
                                        </p:attrNameLst>
                                      </p:cBhvr>
                                      <p:tavLst>
                                        <p:tav tm="0">
                                          <p:val>
                                            <p:fltVal val="0"/>
                                          </p:val>
                                        </p:tav>
                                        <p:tav tm="100000">
                                          <p:val>
                                            <p:strVal val="#ppt_h"/>
                                          </p:val>
                                        </p:tav>
                                      </p:tavLst>
                                    </p:anim>
                                    <p:animEffect transition="in" filter="fade">
                                      <p:cBhvr>
                                        <p:cTn id="39"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A05 · Injection: Angular + .NET</a:t>
            </a:r>
            <a:endParaRPr lang="en-US" sz="3000" dirty="0"/>
          </a:p>
        </p:txBody>
      </p:sp>
      <p:sp>
        <p:nvSpPr>
          <p:cNvPr id="4" name="Col Angular"/>
          <p:cNvSpPr txBox="1"/>
          <p:nvPr/>
        </p:nvSpPr>
        <p:spPr>
          <a:xfrm>
            <a:off x="457200" y="1097280"/>
            <a:ext cx="4023360" cy="274320"/>
          </a:xfrm>
          <a:prstGeom prst="rect">
            <a:avLst/>
          </a:prstGeom>
          <a:noFill/>
          <a:ln/>
        </p:spPr>
        <p:txBody>
          <a:bodyPr wrap="square" lIns="0" tIns="0" rIns="0" bIns="0" rtlCol="0" anchor="ctr"/>
          <a:lstStyle/>
          <a:p>
            <a:pPr indent="0" marL="0">
              <a:buNone/>
            </a:pPr>
            <a:r>
              <a:rPr lang="en-US" sz="1300" b="1" dirty="0">
                <a:solidFill>
                  <a:schemeClr val="accent5"/>
                </a:solidFill>
              </a:rPr>
              <a:t>ANGULAR · TypeScript</a:t>
            </a:r>
            <a:endParaRPr lang="en-US" sz="1300" dirty="0"/>
          </a:p>
        </p:txBody>
      </p:sp>
      <p:sp>
        <p:nvSpPr>
          <p:cNvPr id="5" name="Col NET"/>
          <p:cNvSpPr txBox="1"/>
          <p:nvPr/>
        </p:nvSpPr>
        <p:spPr>
          <a:xfrm>
            <a:off x="4663440" y="1097280"/>
            <a:ext cx="4023360" cy="274320"/>
          </a:xfrm>
          <a:prstGeom prst="rect">
            <a:avLst/>
          </a:prstGeom>
          <a:noFill/>
          <a:ln/>
        </p:spPr>
        <p:txBody>
          <a:bodyPr wrap="square" lIns="0" tIns="0" rIns="0" bIns="0" rtlCol="0" anchor="ctr"/>
          <a:lstStyle/>
          <a:p>
            <a:pPr indent="0" marL="0">
              <a:buNone/>
            </a:pPr>
            <a:r>
              <a:rPr lang="en-US" sz="1300" b="1" dirty="0">
                <a:solidFill>
                  <a:schemeClr val="accent6"/>
                </a:solidFill>
              </a:rPr>
              <a:t>ASP.NET CORE · C#</a:t>
            </a:r>
            <a:endParaRPr lang="en-US" sz="1300" dirty="0"/>
          </a:p>
        </p:txBody>
      </p:sp>
      <p:sp>
        <p:nvSpPr>
          <p:cNvPr id="6" name="NG vuln"/>
          <p:cNvSpPr/>
          <p:nvPr/>
        </p:nvSpPr>
        <p:spPr>
          <a:xfrm>
            <a:off x="457200" y="1417320"/>
            <a:ext cx="4023360" cy="1325880"/>
          </a:xfrm>
          <a:prstGeom prst="roundRect">
            <a:avLst>
              <a:gd name="adj" fmla="val 8276"/>
            </a:avLst>
          </a:prstGeom>
          <a:solidFill>
            <a:schemeClr val="accent2">
              <a:alpha val="12000"/>
            </a:schemeClr>
          </a:solidFill>
          <a:ln w="12700">
            <a:solidFill>
              <a:schemeClr val="accent2"/>
            </a:solidFill>
            <a:prstDash val="solid"/>
          </a:ln>
        </p:spPr>
      </p:sp>
      <p:sp>
        <p:nvSpPr>
          <p:cNvPr id="7" name="NG vuln label"/>
          <p:cNvSpPr txBox="1"/>
          <p:nvPr/>
        </p:nvSpPr>
        <p:spPr>
          <a:xfrm>
            <a:off x="640080" y="1490472"/>
            <a:ext cx="3657600" cy="256032"/>
          </a:xfrm>
          <a:prstGeom prst="rect">
            <a:avLst/>
          </a:prstGeom>
          <a:noFill/>
          <a:ln/>
        </p:spPr>
        <p:txBody>
          <a:bodyPr wrap="square" lIns="0" tIns="0" rIns="0" bIns="0" rtlCol="0" anchor="ctr"/>
          <a:lstStyle/>
          <a:p>
            <a:pPr indent="0" marL="0">
              <a:buNone/>
            </a:pPr>
            <a:r>
              <a:rPr lang="en-US" sz="1100" b="1" spc="200" kern="0" dirty="0">
                <a:solidFill>
                  <a:schemeClr val="accent2"/>
                </a:solidFill>
              </a:rPr>
              <a:t>VULNERABLE</a:t>
            </a:r>
            <a:endParaRPr lang="en-US" sz="1100" dirty="0"/>
          </a:p>
        </p:txBody>
      </p:sp>
      <p:sp>
        <p:nvSpPr>
          <p:cNvPr id="8" name="NG vuln code"/>
          <p:cNvSpPr txBox="1"/>
          <p:nvPr/>
        </p:nvSpPr>
        <p:spPr>
          <a:xfrm>
            <a:off x="640080" y="1783080"/>
            <a:ext cx="3657600" cy="88696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this.html = this.sanitizer</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.bypassSecurityTrustHtml(comment);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&lt;div [innerHTML]="html"&gt;</a:t>
            </a:r>
            <a:endParaRPr lang="en-US" sz="1200" dirty="0"/>
          </a:p>
        </p:txBody>
      </p:sp>
      <p:sp>
        <p:nvSpPr>
          <p:cNvPr id="9" name="NET vuln"/>
          <p:cNvSpPr/>
          <p:nvPr/>
        </p:nvSpPr>
        <p:spPr>
          <a:xfrm>
            <a:off x="4663440" y="1417320"/>
            <a:ext cx="4023360" cy="1325880"/>
          </a:xfrm>
          <a:prstGeom prst="roundRect">
            <a:avLst>
              <a:gd name="adj" fmla="val 8276"/>
            </a:avLst>
          </a:prstGeom>
          <a:solidFill>
            <a:schemeClr val="accent2">
              <a:alpha val="12000"/>
            </a:schemeClr>
          </a:solidFill>
          <a:ln w="12700">
            <a:solidFill>
              <a:schemeClr val="accent2"/>
            </a:solidFill>
            <a:prstDash val="solid"/>
          </a:ln>
        </p:spPr>
      </p:sp>
      <p:sp>
        <p:nvSpPr>
          <p:cNvPr id="10" name="NET vuln label"/>
          <p:cNvSpPr txBox="1"/>
          <p:nvPr/>
        </p:nvSpPr>
        <p:spPr>
          <a:xfrm>
            <a:off x="4846320" y="1490472"/>
            <a:ext cx="3657600" cy="256032"/>
          </a:xfrm>
          <a:prstGeom prst="rect">
            <a:avLst/>
          </a:prstGeom>
          <a:noFill/>
          <a:ln/>
        </p:spPr>
        <p:txBody>
          <a:bodyPr wrap="square" lIns="0" tIns="0" rIns="0" bIns="0" rtlCol="0" anchor="ctr"/>
          <a:lstStyle/>
          <a:p>
            <a:pPr indent="0" marL="0">
              <a:buNone/>
            </a:pPr>
            <a:r>
              <a:rPr lang="en-US" sz="1100" b="1" spc="200" kern="0" dirty="0">
                <a:solidFill>
                  <a:schemeClr val="accent2"/>
                </a:solidFill>
              </a:rPr>
              <a:t>VULNERABLE</a:t>
            </a:r>
            <a:endParaRPr lang="en-US" sz="1100" dirty="0"/>
          </a:p>
        </p:txBody>
      </p:sp>
      <p:sp>
        <p:nvSpPr>
          <p:cNvPr id="11" name="NET vuln code"/>
          <p:cNvSpPr txBox="1"/>
          <p:nvPr/>
        </p:nvSpPr>
        <p:spPr>
          <a:xfrm>
            <a:off x="4846320" y="1783080"/>
            <a:ext cx="3657600" cy="88696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var sql = "SELECT * FROM users "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"WHERE name='" + name +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cmd.CommandText = sql;</a:t>
            </a:r>
            <a:endParaRPr lang="en-US" sz="1200" dirty="0"/>
          </a:p>
        </p:txBody>
      </p:sp>
      <p:sp>
        <p:nvSpPr>
          <p:cNvPr id="12" name="NG fixed"/>
          <p:cNvSpPr/>
          <p:nvPr/>
        </p:nvSpPr>
        <p:spPr>
          <a:xfrm>
            <a:off x="457200" y="2807208"/>
            <a:ext cx="4023360" cy="1325880"/>
          </a:xfrm>
          <a:prstGeom prst="roundRect">
            <a:avLst>
              <a:gd name="adj" fmla="val 8276"/>
            </a:avLst>
          </a:prstGeom>
          <a:solidFill>
            <a:schemeClr val="accent3">
              <a:alpha val="12000"/>
            </a:schemeClr>
          </a:solidFill>
          <a:ln w="12700">
            <a:solidFill>
              <a:schemeClr val="accent3"/>
            </a:solidFill>
            <a:prstDash val="solid"/>
          </a:ln>
        </p:spPr>
      </p:sp>
      <p:sp>
        <p:nvSpPr>
          <p:cNvPr id="13" name="NG fixed label"/>
          <p:cNvSpPr txBox="1"/>
          <p:nvPr/>
        </p:nvSpPr>
        <p:spPr>
          <a:xfrm>
            <a:off x="640080" y="2880360"/>
            <a:ext cx="3657600" cy="256032"/>
          </a:xfrm>
          <a:prstGeom prst="rect">
            <a:avLst/>
          </a:prstGeom>
          <a:noFill/>
          <a:ln/>
        </p:spPr>
        <p:txBody>
          <a:bodyPr wrap="square" lIns="0" tIns="0" rIns="0" bIns="0" rtlCol="0" anchor="ctr"/>
          <a:lstStyle/>
          <a:p>
            <a:pPr indent="0" marL="0">
              <a:buNone/>
            </a:pPr>
            <a:r>
              <a:rPr lang="en-US" sz="1100" b="1" spc="200" kern="0" dirty="0">
                <a:solidFill>
                  <a:schemeClr val="accent3"/>
                </a:solidFill>
              </a:rPr>
              <a:t>FIXED</a:t>
            </a:r>
            <a:endParaRPr lang="en-US" sz="1100" dirty="0"/>
          </a:p>
        </p:txBody>
      </p:sp>
      <p:sp>
        <p:nvSpPr>
          <p:cNvPr id="14" name="NG fixed code"/>
          <p:cNvSpPr txBox="1"/>
          <p:nvPr/>
        </p:nvSpPr>
        <p:spPr>
          <a:xfrm>
            <a:off x="640080" y="3172968"/>
            <a:ext cx="3657600" cy="88696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 Angular escapes by default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&lt;p&gt;{{ comment }}&lt;/p&gt;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[innerHTML] is sanitized too</a:t>
            </a:r>
            <a:endParaRPr lang="en-US" sz="1200" dirty="0"/>
          </a:p>
        </p:txBody>
      </p:sp>
      <p:sp>
        <p:nvSpPr>
          <p:cNvPr id="15" name="NET fixed"/>
          <p:cNvSpPr/>
          <p:nvPr/>
        </p:nvSpPr>
        <p:spPr>
          <a:xfrm>
            <a:off x="4663440" y="2807208"/>
            <a:ext cx="4023360" cy="1325880"/>
          </a:xfrm>
          <a:prstGeom prst="roundRect">
            <a:avLst>
              <a:gd name="adj" fmla="val 8276"/>
            </a:avLst>
          </a:prstGeom>
          <a:solidFill>
            <a:schemeClr val="accent3">
              <a:alpha val="12000"/>
            </a:schemeClr>
          </a:solidFill>
          <a:ln w="12700">
            <a:solidFill>
              <a:schemeClr val="accent3"/>
            </a:solidFill>
            <a:prstDash val="solid"/>
          </a:ln>
        </p:spPr>
      </p:sp>
      <p:sp>
        <p:nvSpPr>
          <p:cNvPr id="16" name="NET fixed label"/>
          <p:cNvSpPr txBox="1"/>
          <p:nvPr/>
        </p:nvSpPr>
        <p:spPr>
          <a:xfrm>
            <a:off x="4846320" y="2880360"/>
            <a:ext cx="3657600" cy="256032"/>
          </a:xfrm>
          <a:prstGeom prst="rect">
            <a:avLst/>
          </a:prstGeom>
          <a:noFill/>
          <a:ln/>
        </p:spPr>
        <p:txBody>
          <a:bodyPr wrap="square" lIns="0" tIns="0" rIns="0" bIns="0" rtlCol="0" anchor="ctr"/>
          <a:lstStyle/>
          <a:p>
            <a:pPr indent="0" marL="0">
              <a:buNone/>
            </a:pPr>
            <a:r>
              <a:rPr lang="en-US" sz="1100" b="1" spc="200" kern="0" dirty="0">
                <a:solidFill>
                  <a:schemeClr val="accent3"/>
                </a:solidFill>
              </a:rPr>
              <a:t>FIXED</a:t>
            </a:r>
            <a:endParaRPr lang="en-US" sz="1100" dirty="0"/>
          </a:p>
        </p:txBody>
      </p:sp>
      <p:sp>
        <p:nvSpPr>
          <p:cNvPr id="17" name="NET fixed code"/>
          <p:cNvSpPr txBox="1"/>
          <p:nvPr/>
        </p:nvSpPr>
        <p:spPr>
          <a:xfrm>
            <a:off x="4846320" y="3172968"/>
            <a:ext cx="3657600" cy="88696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cmd.CommandText = "SELECT * "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"FROM users WHERE name = :n";</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cmd.Parameters.Add(":n", name);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SQL Server, SQLite: @n</a:t>
            </a:r>
            <a:endParaRPr lang="en-US" sz="1200" dirty="0"/>
          </a:p>
        </p:txBody>
      </p:sp>
      <p:sp>
        <p:nvSpPr>
          <p:cNvPr id="18" name="Takeaway"/>
          <p:cNvSpPr txBox="1"/>
          <p:nvPr/>
        </p:nvSpPr>
        <p:spPr>
          <a:xfrm>
            <a:off x="457200" y="4279392"/>
            <a:ext cx="4754880" cy="411480"/>
          </a:xfrm>
          <a:prstGeom prst="rect">
            <a:avLst/>
          </a:prstGeom>
          <a:noFill/>
          <a:ln/>
        </p:spPr>
        <p:txBody>
          <a:bodyPr wrap="square" lIns="0" tIns="0" rIns="0" bIns="0" rtlCol="0" anchor="ctr"/>
          <a:lstStyle/>
          <a:p>
            <a:pPr indent="0" marL="0">
              <a:buNone/>
            </a:pPr>
            <a:r>
              <a:rPr lang="en-US" sz="1600" b="1" dirty="0">
                <a:solidFill>
                  <a:schemeClr val="accent1"/>
                </a:solidFill>
              </a:rPr>
              <a:t>Bind variables. Let Angular escape.</a:t>
            </a:r>
            <a:endParaRPr lang="en-US" sz="1600" dirty="0"/>
          </a:p>
        </p:txBody>
      </p:sp>
      <p:sp>
        <p:nvSpPr>
          <p:cNvPr id="19" name="Demo marker"/>
          <p:cNvSpPr txBox="1"/>
          <p:nvPr/>
        </p:nvSpPr>
        <p:spPr>
          <a:xfrm>
            <a:off x="5303520" y="4297680"/>
            <a:ext cx="1600200" cy="365760"/>
          </a:xfrm>
          <a:prstGeom prst="roundRect">
            <a:avLst>
              <a:gd name="adj" fmla="val 25000"/>
            </a:avLst>
          </a:prstGeom>
          <a:solidFill>
            <a:schemeClr val="accent4">
              <a:alpha val="15000"/>
            </a:schemeClr>
          </a:solidFill>
          <a:ln w="12700">
            <a:solidFill>
              <a:schemeClr val="accent4"/>
            </a:solidFill>
          </a:ln>
        </p:spPr>
        <p:txBody>
          <a:bodyPr wrap="square" lIns="0" tIns="0" rIns="0" bIns="0" rtlCol="0" anchor="ctr"/>
          <a:lstStyle/>
          <a:p>
            <a:pPr algn="ctr" indent="0" marL="0">
              <a:buNone/>
            </a:pPr>
            <a:r>
              <a:rPr lang="en-US" sz="1200" b="1" dirty="0">
                <a:solidFill>
                  <a:schemeClr val="accent4"/>
                </a:solidFill>
              </a:rPr>
              <a:t>DEMO 2 · 40 s</a:t>
            </a:r>
            <a:endParaRPr lang="en-US" sz="1200" dirty="0"/>
          </a:p>
        </p:txBody>
      </p:sp>
      <p:pic>
        <p:nvPicPr>
          <p:cNvPr id="20" name="Hacker" descr="Hacker cartoon">    </p:cNvPr>
          <p:cNvPicPr>
            <a:picLocks noChangeAspect="1"/>
          </p:cNvPicPr>
          <p:nvPr/>
        </p:nvPicPr>
        <p:blipFill>
          <a:blip r:embed="rId1"/>
          <a:stretch>
            <a:fillRect/>
          </a:stretch>
        </p:blipFill>
        <p:spPr>
          <a:xfrm>
            <a:off x="7040880" y="4160520"/>
            <a:ext cx="777240" cy="777240"/>
          </a:xfrm>
          <a:prstGeom prst="rect">
            <a:avLst/>
          </a:prstGeom>
        </p:spPr>
      </p:pic>
      <p:pic>
        <p:nvPicPr>
          <p:cNvPr id="21" name="Mascot" descr="Mascot cartoon">    </p:cNvPr>
          <p:cNvPicPr>
            <a:picLocks noChangeAspect="1"/>
          </p:cNvPicPr>
          <p:nvPr/>
        </p:nvPicPr>
        <p:blipFill>
          <a:blip r:embed="rId2"/>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stCondLst>
                      <p:childTnLst>
                        <p:par>
                          <p:cTn id="32" fill="hold">
                            <p:stCondLst>
                              <p:cond delay="0"/>
                            </p:stCondLst>
                            <p:childTnLst>
                              <p:par>
                                <p:cTn id="6" presetID="2" presetClass="entr" presetSubtype="8" fill="hold" grpId="0" nodeType="clickEffect">
                                  <p:stCondLst>
                                    <p:cond delay="0"/>
                                  </p:stCondLst>
                                  <p:childTnLst>
                                    <p:set>
                                      <p:cBhvr>
                                        <p:cTn id="3" dur="1" fill="hold">
                                          <p:stCondLst>
                                            <p:cond delay="0"/>
                                          </p:stCondLst>
                                        </p:cTn>
                                        <p:tgtEl>
                                          <p:spTgt spid="6"/>
                                        </p:tgtEl>
                                        <p:attrNameLst>
                                          <p:attrName>style.visibility</p:attrName>
                                        </p:attrNameLst>
                                      </p:cBhvr>
                                      <p:to>
                                        <p:strVal val="visible"/>
                                      </p:to>
                                    </p:set>
                                    <p:anim calcmode="lin" valueType="num">
                                      <p:cBhvr additive="base">
                                        <p:cTn id="4" dur="600" fill="hold"/>
                                        <p:tgtEl>
                                          <p:spTgt spid="6"/>
                                        </p:tgtEl>
                                        <p:attrNameLst>
                                          <p:attrName>ppt_x</p:attrName>
                                        </p:attrNameLst>
                                      </p:cBhvr>
                                      <p:tavLst>
                                        <p:tav tm="0">
                                          <p:val>
                                            <p:strVal val="0-#ppt_w/2"/>
                                          </p:val>
                                        </p:tav>
                                        <p:tav tm="100000">
                                          <p:val>
                                            <p:strVal val="#ppt_x"/>
                                          </p:val>
                                        </p:tav>
                                      </p:tavLst>
                                    </p:anim>
                                    <p:anim calcmode="lin" valueType="num">
                                      <p:cBhvr additive="base">
                                        <p:cTn id="5" dur="600" fill="hold"/>
                                        <p:tgtEl>
                                          <p:spTgt spid="6"/>
                                        </p:tgtEl>
                                        <p:attrNameLst>
                                          <p:attrName>ppt_y</p:attrName>
                                        </p:attrNameLst>
                                      </p:cBhvr>
                                      <p:tavLst>
                                        <p:tav tm="0">
                                          <p:val>
                                            <p:strVal val="#ppt_y"/>
                                          </p:val>
                                        </p:tav>
                                        <p:tav tm="100000">
                                          <p:val>
                                            <p:strVal val="#ppt_y"/>
                                          </p:val>
                                        </p:tav>
                                      </p:tavLst>
                                    </p:anim>
                                  </p:childTnLst>
                                </p:cTn>
                              </p:par>
                              <p:par>
                                <p:cTn id="10" presetID="2" presetClass="entr" presetSubtype="8"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 calcmode="lin" valueType="num">
                                      <p:cBhvr additive="base">
                                        <p:cTn id="8" dur="600" fill="hold"/>
                                        <p:tgtEl>
                                          <p:spTgt spid="7"/>
                                        </p:tgtEl>
                                        <p:attrNameLst>
                                          <p:attrName>ppt_x</p:attrName>
                                        </p:attrNameLst>
                                      </p:cBhvr>
                                      <p:tavLst>
                                        <p:tav tm="0">
                                          <p:val>
                                            <p:strVal val="0-#ppt_w/2"/>
                                          </p:val>
                                        </p:tav>
                                        <p:tav tm="100000">
                                          <p:val>
                                            <p:strVal val="#ppt_x"/>
                                          </p:val>
                                        </p:tav>
                                      </p:tavLst>
                                    </p:anim>
                                    <p:anim calcmode="lin" valueType="num">
                                      <p:cBhvr additive="base">
                                        <p:cTn id="9" dur="600" fill="hold"/>
                                        <p:tgtEl>
                                          <p:spTgt spid="7"/>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600" fill="hold"/>
                                        <p:tgtEl>
                                          <p:spTgt spid="8"/>
                                        </p:tgtEl>
                                        <p:attrNameLst>
                                          <p:attrName>ppt_x</p:attrName>
                                        </p:attrNameLst>
                                      </p:cBhvr>
                                      <p:tavLst>
                                        <p:tav tm="0">
                                          <p:val>
                                            <p:strVal val="0-#ppt_w/2"/>
                                          </p:val>
                                        </p:tav>
                                        <p:tav tm="100000">
                                          <p:val>
                                            <p:strVal val="#ppt_x"/>
                                          </p:val>
                                        </p:tav>
                                      </p:tavLst>
                                    </p:anim>
                                    <p:anim calcmode="lin" valueType="num">
                                      <p:cBhvr additive="base">
                                        <p:cTn id="13" dur="600" fill="hold"/>
                                        <p:tgtEl>
                                          <p:spTgt spid="8"/>
                                        </p:tgtEl>
                                        <p:attrNameLst>
                                          <p:attrName>ppt_y</p:attrName>
                                        </p:attrNameLst>
                                      </p:cBhvr>
                                      <p:tavLst>
                                        <p:tav tm="0">
                                          <p:val>
                                            <p:strVal val="#ppt_y"/>
                                          </p:val>
                                        </p:tav>
                                        <p:tav tm="100000">
                                          <p:val>
                                            <p:strVal val="#ppt_y"/>
                                          </p:val>
                                        </p:tav>
                                      </p:tavLst>
                                    </p:anim>
                                  </p:childTnLst>
                                </p:cTn>
                              </p:par>
                              <p:par>
                                <p:cTn id="18" presetID="2" presetClass="entr" presetSubtype="8"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600" fill="hold"/>
                                        <p:tgtEl>
                                          <p:spTgt spid="9"/>
                                        </p:tgtEl>
                                        <p:attrNameLst>
                                          <p:attrName>ppt_x</p:attrName>
                                        </p:attrNameLst>
                                      </p:cBhvr>
                                      <p:tavLst>
                                        <p:tav tm="0">
                                          <p:val>
                                            <p:strVal val="0-#ppt_w/2"/>
                                          </p:val>
                                        </p:tav>
                                        <p:tav tm="100000">
                                          <p:val>
                                            <p:strVal val="#ppt_x"/>
                                          </p:val>
                                        </p:tav>
                                      </p:tavLst>
                                    </p:anim>
                                    <p:anim calcmode="lin" valueType="num">
                                      <p:cBhvr additive="base">
                                        <p:cTn id="17" dur="600" fill="hold"/>
                                        <p:tgtEl>
                                          <p:spTgt spid="9"/>
                                        </p:tgtEl>
                                        <p:attrNameLst>
                                          <p:attrName>ppt_y</p:attrName>
                                        </p:attrNameLst>
                                      </p:cBhvr>
                                      <p:tavLst>
                                        <p:tav tm="0">
                                          <p:val>
                                            <p:strVal val="#ppt_y"/>
                                          </p:val>
                                        </p:tav>
                                        <p:tav tm="100000">
                                          <p:val>
                                            <p:strVal val="#ppt_y"/>
                                          </p:val>
                                        </p:tav>
                                      </p:tavLst>
                                    </p:anim>
                                  </p:childTnLst>
                                </p:cTn>
                              </p:par>
                              <p:par>
                                <p:cTn id="22" presetID="2" presetClass="entr" presetSubtype="8"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additive="base">
                                        <p:cTn id="20" dur="600" fill="hold"/>
                                        <p:tgtEl>
                                          <p:spTgt spid="10"/>
                                        </p:tgtEl>
                                        <p:attrNameLst>
                                          <p:attrName>ppt_x</p:attrName>
                                        </p:attrNameLst>
                                      </p:cBhvr>
                                      <p:tavLst>
                                        <p:tav tm="0">
                                          <p:val>
                                            <p:strVal val="0-#ppt_w/2"/>
                                          </p:val>
                                        </p:tav>
                                        <p:tav tm="100000">
                                          <p:val>
                                            <p:strVal val="#ppt_x"/>
                                          </p:val>
                                        </p:tav>
                                      </p:tavLst>
                                    </p:anim>
                                    <p:anim calcmode="lin" valueType="num">
                                      <p:cBhvr additive="base">
                                        <p:cTn id="21" dur="600" fill="hold"/>
                                        <p:tgtEl>
                                          <p:spTgt spid="10"/>
                                        </p:tgtEl>
                                        <p:attrNameLst>
                                          <p:attrName>ppt_y</p:attrName>
                                        </p:attrNameLst>
                                      </p:cBhvr>
                                      <p:tavLst>
                                        <p:tav tm="0">
                                          <p:val>
                                            <p:strVal val="#ppt_y"/>
                                          </p:val>
                                        </p:tav>
                                        <p:tav tm="100000">
                                          <p:val>
                                            <p:strVal val="#ppt_y"/>
                                          </p:val>
                                        </p:tav>
                                      </p:tavLst>
                                    </p:anim>
                                  </p:childTnLst>
                                </p:cTn>
                              </p:par>
                              <p:par>
                                <p:cTn id="26" presetID="2" presetClass="entr" presetSubtype="8"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600" fill="hold"/>
                                        <p:tgtEl>
                                          <p:spTgt spid="11"/>
                                        </p:tgtEl>
                                        <p:attrNameLst>
                                          <p:attrName>ppt_x</p:attrName>
                                        </p:attrNameLst>
                                      </p:cBhvr>
                                      <p:tavLst>
                                        <p:tav tm="0">
                                          <p:val>
                                            <p:strVal val="0-#ppt_w/2"/>
                                          </p:val>
                                        </p:tav>
                                        <p:tav tm="100000">
                                          <p:val>
                                            <p:strVal val="#ppt_x"/>
                                          </p:val>
                                        </p:tav>
                                      </p:tavLst>
                                    </p:anim>
                                    <p:anim calcmode="lin" valueType="num">
                                      <p:cBhvr additive="base">
                                        <p:cTn id="25" dur="600" fill="hold"/>
                                        <p:tgtEl>
                                          <p:spTgt spid="11"/>
                                        </p:tgtEl>
                                        <p:attrNameLst>
                                          <p:attrName>ppt_y</p:attrName>
                                        </p:attrNameLst>
                                      </p:cBhvr>
                                      <p:tavLst>
                                        <p:tav tm="0">
                                          <p:val>
                                            <p:strVal val="#ppt_y"/>
                                          </p:val>
                                        </p:tav>
                                        <p:tav tm="100000">
                                          <p:val>
                                            <p:strVal val="#ppt_y"/>
                                          </p:val>
                                        </p:tav>
                                      </p:tavLst>
                                    </p:anim>
                                  </p:childTnLst>
                                </p:cTn>
                              </p:par>
                              <p:par>
                                <p:cTn id="30" presetID="2" presetClass="entr" presetSubtype="8"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 calcmode="lin" valueType="num">
                                      <p:cBhvr additive="base">
                                        <p:cTn id="28" dur="600" fill="hold"/>
                                        <p:tgtEl>
                                          <p:spTgt spid="20"/>
                                        </p:tgtEl>
                                        <p:attrNameLst>
                                          <p:attrName>ppt_x</p:attrName>
                                        </p:attrNameLst>
                                      </p:cBhvr>
                                      <p:tavLst>
                                        <p:tav tm="0">
                                          <p:val>
                                            <p:strVal val="0-#ppt_w/2"/>
                                          </p:val>
                                        </p:tav>
                                        <p:tav tm="100000">
                                          <p:val>
                                            <p:strVal val="#ppt_x"/>
                                          </p:val>
                                        </p:tav>
                                      </p:tavLst>
                                    </p:anim>
                                    <p:anim calcmode="lin" valueType="num">
                                      <p:cBhvr additive="base">
                                        <p:cTn id="29" dur="6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37" presetID="53" presetClass="entr" presetSubtype="16"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600" fill="hold"/>
                                        <p:tgtEl>
                                          <p:spTgt spid="12"/>
                                        </p:tgtEl>
                                        <p:attrNameLst>
                                          <p:attrName>ppt_w</p:attrName>
                                        </p:attrNameLst>
                                      </p:cBhvr>
                                      <p:tavLst>
                                        <p:tav tm="0">
                                          <p:val>
                                            <p:fltVal val="0"/>
                                          </p:val>
                                        </p:tav>
                                        <p:tav tm="100000">
                                          <p:val>
                                            <p:strVal val="#ppt_w"/>
                                          </p:val>
                                        </p:tav>
                                      </p:tavLst>
                                    </p:anim>
                                    <p:anim calcmode="lin" valueType="num">
                                      <p:cBhvr additive="base">
                                        <p:cTn id="35" dur="600" fill="hold"/>
                                        <p:tgtEl>
                                          <p:spTgt spid="12"/>
                                        </p:tgtEl>
                                        <p:attrNameLst>
                                          <p:attrName>ppt_h</p:attrName>
                                        </p:attrNameLst>
                                      </p:cBhvr>
                                      <p:tavLst>
                                        <p:tav tm="0">
                                          <p:val>
                                            <p:fltVal val="0"/>
                                          </p:val>
                                        </p:tav>
                                        <p:tav tm="100000">
                                          <p:val>
                                            <p:strVal val="#ppt_h"/>
                                          </p:val>
                                        </p:tav>
                                      </p:tavLst>
                                    </p:anim>
                                    <p:animEffect transition="in" filter="fade">
                                      <p:cBhvr>
                                        <p:cTn id="36" dur="600"/>
                                        <p:tgtEl>
                                          <p:spTgt spid="12"/>
                                        </p:tgtEl>
                                      </p:cBhvr>
                                    </p:animEffect>
                                  </p:childTnLst>
                                </p:cTn>
                              </p:par>
                              <p:par>
                                <p:cTn id="42" presetID="53" presetClass="entr" presetSubtype="16"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600" fill="hold"/>
                                        <p:tgtEl>
                                          <p:spTgt spid="13"/>
                                        </p:tgtEl>
                                        <p:attrNameLst>
                                          <p:attrName>ppt_w</p:attrName>
                                        </p:attrNameLst>
                                      </p:cBhvr>
                                      <p:tavLst>
                                        <p:tav tm="0">
                                          <p:val>
                                            <p:fltVal val="0"/>
                                          </p:val>
                                        </p:tav>
                                        <p:tav tm="100000">
                                          <p:val>
                                            <p:strVal val="#ppt_w"/>
                                          </p:val>
                                        </p:tav>
                                      </p:tavLst>
                                    </p:anim>
                                    <p:anim calcmode="lin" valueType="num">
                                      <p:cBhvr additive="base">
                                        <p:cTn id="40" dur="600" fill="hold"/>
                                        <p:tgtEl>
                                          <p:spTgt spid="13"/>
                                        </p:tgtEl>
                                        <p:attrNameLst>
                                          <p:attrName>ppt_h</p:attrName>
                                        </p:attrNameLst>
                                      </p:cBhvr>
                                      <p:tavLst>
                                        <p:tav tm="0">
                                          <p:val>
                                            <p:fltVal val="0"/>
                                          </p:val>
                                        </p:tav>
                                        <p:tav tm="100000">
                                          <p:val>
                                            <p:strVal val="#ppt_h"/>
                                          </p:val>
                                        </p:tav>
                                      </p:tavLst>
                                    </p:anim>
                                    <p:animEffect transition="in" filter="fade">
                                      <p:cBhvr>
                                        <p:cTn id="41" dur="600"/>
                                        <p:tgtEl>
                                          <p:spTgt spid="13"/>
                                        </p:tgtEl>
                                      </p:cBhvr>
                                    </p:animEffect>
                                  </p:childTnLst>
                                </p:cTn>
                              </p:par>
                              <p:par>
                                <p:cTn id="47" presetID="53" presetClass="entr" presetSubtype="16"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600" fill="hold"/>
                                        <p:tgtEl>
                                          <p:spTgt spid="14"/>
                                        </p:tgtEl>
                                        <p:attrNameLst>
                                          <p:attrName>ppt_w</p:attrName>
                                        </p:attrNameLst>
                                      </p:cBhvr>
                                      <p:tavLst>
                                        <p:tav tm="0">
                                          <p:val>
                                            <p:fltVal val="0"/>
                                          </p:val>
                                        </p:tav>
                                        <p:tav tm="100000">
                                          <p:val>
                                            <p:strVal val="#ppt_w"/>
                                          </p:val>
                                        </p:tav>
                                      </p:tavLst>
                                    </p:anim>
                                    <p:anim calcmode="lin" valueType="num">
                                      <p:cBhvr additive="base">
                                        <p:cTn id="45" dur="600" fill="hold"/>
                                        <p:tgtEl>
                                          <p:spTgt spid="14"/>
                                        </p:tgtEl>
                                        <p:attrNameLst>
                                          <p:attrName>ppt_h</p:attrName>
                                        </p:attrNameLst>
                                      </p:cBhvr>
                                      <p:tavLst>
                                        <p:tav tm="0">
                                          <p:val>
                                            <p:fltVal val="0"/>
                                          </p:val>
                                        </p:tav>
                                        <p:tav tm="100000">
                                          <p:val>
                                            <p:strVal val="#ppt_h"/>
                                          </p:val>
                                        </p:tav>
                                      </p:tavLst>
                                    </p:anim>
                                    <p:animEffect transition="in" filter="fade">
                                      <p:cBhvr>
                                        <p:cTn id="46" dur="600"/>
                                        <p:tgtEl>
                                          <p:spTgt spid="14"/>
                                        </p:tgtEl>
                                      </p:cBhvr>
                                    </p:animEffect>
                                  </p:childTnLst>
                                </p:cTn>
                              </p:par>
                              <p:par>
                                <p:cTn id="52" presetID="53" presetClass="entr" presetSubtype="16"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600" fill="hold"/>
                                        <p:tgtEl>
                                          <p:spTgt spid="15"/>
                                        </p:tgtEl>
                                        <p:attrNameLst>
                                          <p:attrName>ppt_w</p:attrName>
                                        </p:attrNameLst>
                                      </p:cBhvr>
                                      <p:tavLst>
                                        <p:tav tm="0">
                                          <p:val>
                                            <p:fltVal val="0"/>
                                          </p:val>
                                        </p:tav>
                                        <p:tav tm="100000">
                                          <p:val>
                                            <p:strVal val="#ppt_w"/>
                                          </p:val>
                                        </p:tav>
                                      </p:tavLst>
                                    </p:anim>
                                    <p:anim calcmode="lin" valueType="num">
                                      <p:cBhvr additive="base">
                                        <p:cTn id="50" dur="600" fill="hold"/>
                                        <p:tgtEl>
                                          <p:spTgt spid="15"/>
                                        </p:tgtEl>
                                        <p:attrNameLst>
                                          <p:attrName>ppt_h</p:attrName>
                                        </p:attrNameLst>
                                      </p:cBhvr>
                                      <p:tavLst>
                                        <p:tav tm="0">
                                          <p:val>
                                            <p:fltVal val="0"/>
                                          </p:val>
                                        </p:tav>
                                        <p:tav tm="100000">
                                          <p:val>
                                            <p:strVal val="#ppt_h"/>
                                          </p:val>
                                        </p:tav>
                                      </p:tavLst>
                                    </p:anim>
                                    <p:animEffect transition="in" filter="fade">
                                      <p:cBhvr>
                                        <p:cTn id="51" dur="600"/>
                                        <p:tgtEl>
                                          <p:spTgt spid="15"/>
                                        </p:tgtEl>
                                      </p:cBhvr>
                                    </p:animEffect>
                                  </p:childTnLst>
                                </p:cTn>
                              </p:par>
                              <p:par>
                                <p:cTn id="57" presetID="53" presetClass="entr" presetSubtype="16"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600" fill="hold"/>
                                        <p:tgtEl>
                                          <p:spTgt spid="16"/>
                                        </p:tgtEl>
                                        <p:attrNameLst>
                                          <p:attrName>ppt_w</p:attrName>
                                        </p:attrNameLst>
                                      </p:cBhvr>
                                      <p:tavLst>
                                        <p:tav tm="0">
                                          <p:val>
                                            <p:fltVal val="0"/>
                                          </p:val>
                                        </p:tav>
                                        <p:tav tm="100000">
                                          <p:val>
                                            <p:strVal val="#ppt_w"/>
                                          </p:val>
                                        </p:tav>
                                      </p:tavLst>
                                    </p:anim>
                                    <p:anim calcmode="lin" valueType="num">
                                      <p:cBhvr additive="base">
                                        <p:cTn id="55" dur="600" fill="hold"/>
                                        <p:tgtEl>
                                          <p:spTgt spid="16"/>
                                        </p:tgtEl>
                                        <p:attrNameLst>
                                          <p:attrName>ppt_h</p:attrName>
                                        </p:attrNameLst>
                                      </p:cBhvr>
                                      <p:tavLst>
                                        <p:tav tm="0">
                                          <p:val>
                                            <p:fltVal val="0"/>
                                          </p:val>
                                        </p:tav>
                                        <p:tav tm="100000">
                                          <p:val>
                                            <p:strVal val="#ppt_h"/>
                                          </p:val>
                                        </p:tav>
                                      </p:tavLst>
                                    </p:anim>
                                    <p:animEffect transition="in" filter="fade">
                                      <p:cBhvr>
                                        <p:cTn id="56" dur="600"/>
                                        <p:tgtEl>
                                          <p:spTgt spid="16"/>
                                        </p:tgtEl>
                                      </p:cBhvr>
                                    </p:animEffect>
                                  </p:childTnLst>
                                </p:cTn>
                              </p:par>
                              <p:par>
                                <p:cTn id="62" presetID="53" presetClass="entr" presetSubtype="16"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600" fill="hold"/>
                                        <p:tgtEl>
                                          <p:spTgt spid="17"/>
                                        </p:tgtEl>
                                        <p:attrNameLst>
                                          <p:attrName>ppt_w</p:attrName>
                                        </p:attrNameLst>
                                      </p:cBhvr>
                                      <p:tavLst>
                                        <p:tav tm="0">
                                          <p:val>
                                            <p:fltVal val="0"/>
                                          </p:val>
                                        </p:tav>
                                        <p:tav tm="100000">
                                          <p:val>
                                            <p:strVal val="#ppt_w"/>
                                          </p:val>
                                        </p:tav>
                                      </p:tavLst>
                                    </p:anim>
                                    <p:anim calcmode="lin" valueType="num">
                                      <p:cBhvr additive="base">
                                        <p:cTn id="60" dur="600" fill="hold"/>
                                        <p:tgtEl>
                                          <p:spTgt spid="17"/>
                                        </p:tgtEl>
                                        <p:attrNameLst>
                                          <p:attrName>ppt_h</p:attrName>
                                        </p:attrNameLst>
                                      </p:cBhvr>
                                      <p:tavLst>
                                        <p:tav tm="0">
                                          <p:val>
                                            <p:fltVal val="0"/>
                                          </p:val>
                                        </p:tav>
                                        <p:tav tm="100000">
                                          <p:val>
                                            <p:strVal val="#ppt_h"/>
                                          </p:val>
                                        </p:tav>
                                      </p:tavLst>
                                    </p:anim>
                                    <p:animEffect transition="in" filter="fade">
                                      <p:cBhvr>
                                        <p:cTn id="61" dur="600"/>
                                        <p:tgtEl>
                                          <p:spTgt spid="17"/>
                                        </p:tgtEl>
                                      </p:cBhvr>
                                    </p:animEffect>
                                  </p:childTnLst>
                                </p:cTn>
                              </p:par>
                              <p:par>
                                <p:cTn id="67" presetID="53" presetClass="entr" presetSubtype="16" fill="hold" nodeType="withEffect">
                                  <p:stCondLst>
                                    <p:cond delay="0"/>
                                  </p:stCondLst>
                                  <p:childTnLst>
                                    <p:set>
                                      <p:cBhvr>
                                        <p:cTn id="63" dur="1" fill="hold">
                                          <p:stCondLst>
                                            <p:cond delay="0"/>
                                          </p:stCondLst>
                                        </p:cTn>
                                        <p:tgtEl>
                                          <p:spTgt spid="21"/>
                                        </p:tgtEl>
                                        <p:attrNameLst>
                                          <p:attrName>style.visibility</p:attrName>
                                        </p:attrNameLst>
                                      </p:cBhvr>
                                      <p:to>
                                        <p:strVal val="visible"/>
                                      </p:to>
                                    </p:set>
                                    <p:anim calcmode="lin" valueType="num">
                                      <p:cBhvr additive="base">
                                        <p:cTn id="64" dur="600" fill="hold"/>
                                        <p:tgtEl>
                                          <p:spTgt spid="21"/>
                                        </p:tgtEl>
                                        <p:attrNameLst>
                                          <p:attrName>ppt_w</p:attrName>
                                        </p:attrNameLst>
                                      </p:cBhvr>
                                      <p:tavLst>
                                        <p:tav tm="0">
                                          <p:val>
                                            <p:fltVal val="0"/>
                                          </p:val>
                                        </p:tav>
                                        <p:tav tm="100000">
                                          <p:val>
                                            <p:strVal val="#ppt_w"/>
                                          </p:val>
                                        </p:tav>
                                      </p:tavLst>
                                    </p:anim>
                                    <p:anim calcmode="lin" valueType="num">
                                      <p:cBhvr additive="base">
                                        <p:cTn id="65" dur="600" fill="hold"/>
                                        <p:tgtEl>
                                          <p:spTgt spid="21"/>
                                        </p:tgtEl>
                                        <p:attrNameLst>
                                          <p:attrName>ppt_h</p:attrName>
                                        </p:attrNameLst>
                                      </p:cBhvr>
                                      <p:tavLst>
                                        <p:tav tm="0">
                                          <p:val>
                                            <p:fltVal val="0"/>
                                          </p:val>
                                        </p:tav>
                                        <p:tav tm="100000">
                                          <p:val>
                                            <p:strVal val="#ppt_h"/>
                                          </p:val>
                                        </p:tav>
                                      </p:tavLst>
                                    </p:anim>
                                    <p:animEffect transition="in" filter="fade">
                                      <p:cBhvr>
                                        <p:cTn id="66"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A05 · Injection: Oracle PL/SQL</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ORACLE · PL/SQL, dynamic SQL</a:t>
            </a:r>
            <a:endParaRPr lang="en-US" sz="1300" dirty="0"/>
          </a:p>
        </p:txBody>
      </p:sp>
      <p:sp>
        <p:nvSpPr>
          <p:cNvPr id="5" name="Ex vuln"/>
          <p:cNvSpPr/>
          <p:nvPr/>
        </p:nvSpPr>
        <p:spPr>
          <a:xfrm>
            <a:off x="457200" y="1371600"/>
            <a:ext cx="4023360" cy="2834640"/>
          </a:xfrm>
          <a:prstGeom prst="roundRect">
            <a:avLst>
              <a:gd name="adj" fmla="val 3871"/>
            </a:avLst>
          </a:prstGeom>
          <a:solidFill>
            <a:schemeClr val="accent2">
              <a:alpha val="12000"/>
            </a:schemeClr>
          </a:solidFill>
          <a:ln w="12700">
            <a:solidFill>
              <a:schemeClr val="accent2"/>
            </a:solidFill>
            <a:prstDash val="solid"/>
          </a:ln>
        </p:spPr>
      </p:sp>
      <p:sp>
        <p:nvSpPr>
          <p:cNvPr id="6" name="Ex vuln label"/>
          <p:cNvSpPr txBox="1"/>
          <p:nvPr/>
        </p:nvSpPr>
        <p:spPr>
          <a:xfrm>
            <a:off x="640080" y="1508760"/>
            <a:ext cx="365760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VULNERABLE</a:t>
            </a:r>
            <a:endParaRPr lang="en-US" sz="1200" dirty="0"/>
          </a:p>
        </p:txBody>
      </p:sp>
      <p:sp>
        <p:nvSpPr>
          <p:cNvPr id="7" name="Ex vuln code"/>
          <p:cNvSpPr txBox="1"/>
          <p:nvPr/>
        </p:nvSpPr>
        <p:spPr>
          <a:xfrm>
            <a:off x="640080" y="1920240"/>
            <a:ext cx="3657600" cy="2103120"/>
          </a:xfrm>
          <a:prstGeom prst="rect">
            <a:avLst/>
          </a:prstGeom>
          <a:noFill/>
          <a:ln/>
        </p:spPr>
        <p:txBody>
          <a:bodyPr wrap="square" lIns="0" tIns="0" rIns="0" bIns="0" rtlCol="0" anchor="t"/>
          <a:lstStyle/>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EXECUTE IMMEDIATE</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'SELECT * FROM ' || p_table ||</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 WHERE name=''' || p_name || ''''</a:t>
            </a:r>
            <a:endParaRPr lang="en-US" sz="1200" dirty="0"/>
          </a:p>
        </p:txBody>
      </p:sp>
      <p:sp>
        <p:nvSpPr>
          <p:cNvPr id="8" name="Ex fixed"/>
          <p:cNvSpPr/>
          <p:nvPr/>
        </p:nvSpPr>
        <p:spPr>
          <a:xfrm>
            <a:off x="4663440" y="1371600"/>
            <a:ext cx="4023360" cy="2834640"/>
          </a:xfrm>
          <a:prstGeom prst="roundRect">
            <a:avLst>
              <a:gd name="adj" fmla="val 3871"/>
            </a:avLst>
          </a:prstGeom>
          <a:solidFill>
            <a:schemeClr val="accent3">
              <a:alpha val="12000"/>
            </a:schemeClr>
          </a:solidFill>
          <a:ln w="12700">
            <a:solidFill>
              <a:schemeClr val="accent3"/>
            </a:solidFill>
            <a:prstDash val="solid"/>
          </a:ln>
        </p:spPr>
      </p:sp>
      <p:sp>
        <p:nvSpPr>
          <p:cNvPr id="9" name="Ex fixed label"/>
          <p:cNvSpPr txBox="1"/>
          <p:nvPr/>
        </p:nvSpPr>
        <p:spPr>
          <a:xfrm>
            <a:off x="4846320" y="1508760"/>
            <a:ext cx="3657600" cy="256032"/>
          </a:xfrm>
          <a:prstGeom prst="rect">
            <a:avLst/>
          </a:prstGeom>
          <a:noFill/>
          <a:ln/>
        </p:spPr>
        <p:txBody>
          <a:bodyPr wrap="square" lIns="0" tIns="0" rIns="0" bIns="0" rtlCol="0" anchor="ctr"/>
          <a:lstStyle/>
          <a:p>
            <a:pPr indent="0" marL="0">
              <a:buNone/>
            </a:pPr>
            <a:r>
              <a:rPr lang="en-US" sz="1200" b="1" spc="200" kern="0" dirty="0">
                <a:solidFill>
                  <a:schemeClr val="accent3"/>
                </a:solidFill>
              </a:rPr>
              <a:t>FIXED</a:t>
            </a:r>
            <a:endParaRPr lang="en-US" sz="1200" dirty="0"/>
          </a:p>
        </p:txBody>
      </p:sp>
      <p:sp>
        <p:nvSpPr>
          <p:cNvPr id="10" name="Ex fixed code"/>
          <p:cNvSpPr txBox="1"/>
          <p:nvPr/>
        </p:nvSpPr>
        <p:spPr>
          <a:xfrm>
            <a:off x="4846320" y="1920240"/>
            <a:ext cx="3657600" cy="2103120"/>
          </a:xfrm>
          <a:prstGeom prst="rect">
            <a:avLst/>
          </a:prstGeom>
          <a:noFill/>
          <a:ln/>
        </p:spPr>
        <p:txBody>
          <a:bodyPr wrap="square" lIns="0" tIns="0" rIns="0" bIns="0" rtlCol="0" anchor="t"/>
          <a:lstStyle/>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table name: validated, not bound</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v_t := DBMS_ASSERT.SQL_OBJECT_NAME(</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p_table);</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EXECUTE IMMEDIATE</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'SELECT * FROM ' || v_t ||</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 WHERE name = :1' USING p_name;</a:t>
            </a:r>
            <a:endParaRPr lang="en-US" sz="1200" dirty="0"/>
          </a:p>
        </p:txBody>
      </p:sp>
      <p:sp>
        <p:nvSpPr>
          <p:cNvPr id="11" name="Takeaway"/>
          <p:cNvSpPr txBox="1"/>
          <p:nvPr/>
        </p:nvSpPr>
        <p:spPr>
          <a:xfrm>
            <a:off x="457200" y="4279392"/>
            <a:ext cx="4754880" cy="411480"/>
          </a:xfrm>
          <a:prstGeom prst="rect">
            <a:avLst/>
          </a:prstGeom>
          <a:noFill/>
          <a:ln/>
        </p:spPr>
        <p:txBody>
          <a:bodyPr wrap="square" lIns="0" tIns="0" rIns="0" bIns="0" rtlCol="0" anchor="ctr"/>
          <a:lstStyle/>
          <a:p>
            <a:pPr indent="0" marL="0">
              <a:buNone/>
            </a:pPr>
            <a:r>
              <a:rPr lang="en-US" sz="1600" b="1" dirty="0">
                <a:solidFill>
                  <a:schemeClr val="accent1"/>
                </a:solidFill>
              </a:rPr>
              <a:t>Bind the value. Validate the name.</a:t>
            </a:r>
            <a:endParaRPr lang="en-US" sz="1600" dirty="0"/>
          </a:p>
        </p:txBody>
      </p:sp>
      <p:pic>
        <p:nvPicPr>
          <p:cNvPr id="12" name="Hacker" descr="Hacker cartoon">    </p:cNvPr>
          <p:cNvPicPr>
            <a:picLocks noChangeAspect="1"/>
          </p:cNvPicPr>
          <p:nvPr/>
        </p:nvPicPr>
        <p:blipFill>
          <a:blip r:embed="rId1"/>
          <a:stretch>
            <a:fillRect/>
          </a:stretch>
        </p:blipFill>
        <p:spPr>
          <a:xfrm>
            <a:off x="7040880" y="4160520"/>
            <a:ext cx="777240" cy="777240"/>
          </a:xfrm>
          <a:prstGeom prst="rect">
            <a:avLst/>
          </a:prstGeom>
        </p:spPr>
      </p:pic>
      <p:pic>
        <p:nvPicPr>
          <p:cNvPr id="13" name="Mascot" descr="Mascot cartoon">    </p:cNvPr>
          <p:cNvPicPr>
            <a:picLocks noChangeAspect="1"/>
          </p:cNvPicPr>
          <p:nvPr/>
        </p:nvPicPr>
        <p:blipFill>
          <a:blip r:embed="rId2"/>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9" fill="hold">
                      <p:stCondLst>
                        <p:cond delay="indefinite"/>
                      </p:stCondLst>
                      <p:childTnLst>
                        <p:par>
                          <p:cTn id="20" fill="hold">
                            <p:stCondLst>
                              <p:cond delay="0"/>
                            </p:stCondLst>
                            <p:childTnLst>
                              <p:par>
                                <p:cTn id="6" presetID="2" presetClass="entr" presetSubtype="8"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 calcmode="lin" valueType="num">
                                      <p:cBhvr additive="base">
                                        <p:cTn id="4" dur="600" fill="hold"/>
                                        <p:tgtEl>
                                          <p:spTgt spid="5"/>
                                        </p:tgtEl>
                                        <p:attrNameLst>
                                          <p:attrName>ppt_x</p:attrName>
                                        </p:attrNameLst>
                                      </p:cBhvr>
                                      <p:tavLst>
                                        <p:tav tm="0">
                                          <p:val>
                                            <p:strVal val="0-#ppt_w/2"/>
                                          </p:val>
                                        </p:tav>
                                        <p:tav tm="100000">
                                          <p:val>
                                            <p:strVal val="#ppt_x"/>
                                          </p:val>
                                        </p:tav>
                                      </p:tavLst>
                                    </p:anim>
                                    <p:anim calcmode="lin" valueType="num">
                                      <p:cBhvr additive="base">
                                        <p:cTn id="5" dur="600" fill="hold"/>
                                        <p:tgtEl>
                                          <p:spTgt spid="5"/>
                                        </p:tgtEl>
                                        <p:attrNameLst>
                                          <p:attrName>ppt_y</p:attrName>
                                        </p:attrNameLst>
                                      </p:cBhvr>
                                      <p:tavLst>
                                        <p:tav tm="0">
                                          <p:val>
                                            <p:strVal val="#ppt_y"/>
                                          </p:val>
                                        </p:tav>
                                        <p:tav tm="100000">
                                          <p:val>
                                            <p:strVal val="#ppt_y"/>
                                          </p:val>
                                        </p:tav>
                                      </p:tavLst>
                                    </p:anim>
                                  </p:childTnLst>
                                </p:cTn>
                              </p:par>
                              <p:par>
                                <p:cTn id="10" presetID="2" presetClass="entr" presetSubtype="8"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 calcmode="lin" valueType="num">
                                      <p:cBhvr additive="base">
                                        <p:cTn id="8" dur="600" fill="hold"/>
                                        <p:tgtEl>
                                          <p:spTgt spid="6"/>
                                        </p:tgtEl>
                                        <p:attrNameLst>
                                          <p:attrName>ppt_x</p:attrName>
                                        </p:attrNameLst>
                                      </p:cBhvr>
                                      <p:tavLst>
                                        <p:tav tm="0">
                                          <p:val>
                                            <p:strVal val="0-#ppt_w/2"/>
                                          </p:val>
                                        </p:tav>
                                        <p:tav tm="100000">
                                          <p:val>
                                            <p:strVal val="#ppt_x"/>
                                          </p:val>
                                        </p:tav>
                                      </p:tavLst>
                                    </p:anim>
                                    <p:anim calcmode="lin" valueType="num">
                                      <p:cBhvr additive="base">
                                        <p:cTn id="9" dur="600" fill="hold"/>
                                        <p:tgtEl>
                                          <p:spTgt spid="6"/>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600" fill="hold"/>
                                        <p:tgtEl>
                                          <p:spTgt spid="7"/>
                                        </p:tgtEl>
                                        <p:attrNameLst>
                                          <p:attrName>ppt_x</p:attrName>
                                        </p:attrNameLst>
                                      </p:cBhvr>
                                      <p:tavLst>
                                        <p:tav tm="0">
                                          <p:val>
                                            <p:strVal val="0-#ppt_w/2"/>
                                          </p:val>
                                        </p:tav>
                                        <p:tav tm="100000">
                                          <p:val>
                                            <p:strVal val="#ppt_x"/>
                                          </p:val>
                                        </p:tav>
                                      </p:tavLst>
                                    </p:anim>
                                    <p:anim calcmode="lin" valueType="num">
                                      <p:cBhvr additive="base">
                                        <p:cTn id="13" dur="600" fill="hold"/>
                                        <p:tgtEl>
                                          <p:spTgt spid="7"/>
                                        </p:tgtEl>
                                        <p:attrNameLst>
                                          <p:attrName>ppt_y</p:attrName>
                                        </p:attrNameLst>
                                      </p:cBhvr>
                                      <p:tavLst>
                                        <p:tav tm="0">
                                          <p:val>
                                            <p:strVal val="#ppt_y"/>
                                          </p:val>
                                        </p:tav>
                                        <p:tav tm="100000">
                                          <p:val>
                                            <p:strVal val="#ppt_y"/>
                                          </p:val>
                                        </p:tav>
                                      </p:tavLst>
                                    </p:anim>
                                  </p:childTnLst>
                                </p:cTn>
                              </p:par>
                              <p:par>
                                <p:cTn id="18" presetID="2" presetClass="entr" presetSubtype="8"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600" fill="hold"/>
                                        <p:tgtEl>
                                          <p:spTgt spid="12"/>
                                        </p:tgtEl>
                                        <p:attrNameLst>
                                          <p:attrName>ppt_x</p:attrName>
                                        </p:attrNameLst>
                                      </p:cBhvr>
                                      <p:tavLst>
                                        <p:tav tm="0">
                                          <p:val>
                                            <p:strVal val="0-#ppt_w/2"/>
                                          </p:val>
                                        </p:tav>
                                        <p:tav tm="100000">
                                          <p:val>
                                            <p:strVal val="#ppt_x"/>
                                          </p:val>
                                        </p:tav>
                                      </p:tavLst>
                                    </p:anim>
                                    <p:anim calcmode="lin" valueType="num">
                                      <p:cBhvr additive="base">
                                        <p:cTn id="17" dur="6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25" presetID="53" presetClass="entr" presetSubtype="16"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600" fill="hold"/>
                                        <p:tgtEl>
                                          <p:spTgt spid="8"/>
                                        </p:tgtEl>
                                        <p:attrNameLst>
                                          <p:attrName>ppt_w</p:attrName>
                                        </p:attrNameLst>
                                      </p:cBhvr>
                                      <p:tavLst>
                                        <p:tav tm="0">
                                          <p:val>
                                            <p:fltVal val="0"/>
                                          </p:val>
                                        </p:tav>
                                        <p:tav tm="100000">
                                          <p:val>
                                            <p:strVal val="#ppt_w"/>
                                          </p:val>
                                        </p:tav>
                                      </p:tavLst>
                                    </p:anim>
                                    <p:anim calcmode="lin" valueType="num">
                                      <p:cBhvr additive="base">
                                        <p:cTn id="23" dur="600" fill="hold"/>
                                        <p:tgtEl>
                                          <p:spTgt spid="8"/>
                                        </p:tgtEl>
                                        <p:attrNameLst>
                                          <p:attrName>ppt_h</p:attrName>
                                        </p:attrNameLst>
                                      </p:cBhvr>
                                      <p:tavLst>
                                        <p:tav tm="0">
                                          <p:val>
                                            <p:fltVal val="0"/>
                                          </p:val>
                                        </p:tav>
                                        <p:tav tm="100000">
                                          <p:val>
                                            <p:strVal val="#ppt_h"/>
                                          </p:val>
                                        </p:tav>
                                      </p:tavLst>
                                    </p:anim>
                                    <p:animEffect transition="in" filter="fade">
                                      <p:cBhvr>
                                        <p:cTn id="24" dur="600"/>
                                        <p:tgtEl>
                                          <p:spTgt spid="8"/>
                                        </p:tgtEl>
                                      </p:cBhvr>
                                    </p:animEffect>
                                  </p:childTnLst>
                                </p:cTn>
                              </p:par>
                              <p:par>
                                <p:cTn id="30" presetID="53"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600" fill="hold"/>
                                        <p:tgtEl>
                                          <p:spTgt spid="9"/>
                                        </p:tgtEl>
                                        <p:attrNameLst>
                                          <p:attrName>ppt_w</p:attrName>
                                        </p:attrNameLst>
                                      </p:cBhvr>
                                      <p:tavLst>
                                        <p:tav tm="0">
                                          <p:val>
                                            <p:fltVal val="0"/>
                                          </p:val>
                                        </p:tav>
                                        <p:tav tm="100000">
                                          <p:val>
                                            <p:strVal val="#ppt_w"/>
                                          </p:val>
                                        </p:tav>
                                      </p:tavLst>
                                    </p:anim>
                                    <p:anim calcmode="lin" valueType="num">
                                      <p:cBhvr additive="base">
                                        <p:cTn id="28" dur="600" fill="hold"/>
                                        <p:tgtEl>
                                          <p:spTgt spid="9"/>
                                        </p:tgtEl>
                                        <p:attrNameLst>
                                          <p:attrName>ppt_h</p:attrName>
                                        </p:attrNameLst>
                                      </p:cBhvr>
                                      <p:tavLst>
                                        <p:tav tm="0">
                                          <p:val>
                                            <p:fltVal val="0"/>
                                          </p:val>
                                        </p:tav>
                                        <p:tav tm="100000">
                                          <p:val>
                                            <p:strVal val="#ppt_h"/>
                                          </p:val>
                                        </p:tav>
                                      </p:tavLst>
                                    </p:anim>
                                    <p:animEffect transition="in" filter="fade">
                                      <p:cBhvr>
                                        <p:cTn id="29" dur="600"/>
                                        <p:tgtEl>
                                          <p:spTgt spid="9"/>
                                        </p:tgtEl>
                                      </p:cBhvr>
                                    </p:animEffect>
                                  </p:childTnLst>
                                </p:cTn>
                              </p:par>
                              <p:par>
                                <p:cTn id="35" presetID="53" presetClass="entr" presetSubtype="16"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600" fill="hold"/>
                                        <p:tgtEl>
                                          <p:spTgt spid="10"/>
                                        </p:tgtEl>
                                        <p:attrNameLst>
                                          <p:attrName>ppt_w</p:attrName>
                                        </p:attrNameLst>
                                      </p:cBhvr>
                                      <p:tavLst>
                                        <p:tav tm="0">
                                          <p:val>
                                            <p:fltVal val="0"/>
                                          </p:val>
                                        </p:tav>
                                        <p:tav tm="100000">
                                          <p:val>
                                            <p:strVal val="#ppt_w"/>
                                          </p:val>
                                        </p:tav>
                                      </p:tavLst>
                                    </p:anim>
                                    <p:anim calcmode="lin" valueType="num">
                                      <p:cBhvr additive="base">
                                        <p:cTn id="33" dur="600" fill="hold"/>
                                        <p:tgtEl>
                                          <p:spTgt spid="10"/>
                                        </p:tgtEl>
                                        <p:attrNameLst>
                                          <p:attrName>ppt_h</p:attrName>
                                        </p:attrNameLst>
                                      </p:cBhvr>
                                      <p:tavLst>
                                        <p:tav tm="0">
                                          <p:val>
                                            <p:fltVal val="0"/>
                                          </p:val>
                                        </p:tav>
                                        <p:tav tm="100000">
                                          <p:val>
                                            <p:strVal val="#ppt_h"/>
                                          </p:val>
                                        </p:tav>
                                      </p:tavLst>
                                    </p:anim>
                                    <p:animEffect transition="in" filter="fade">
                                      <p:cBhvr>
                                        <p:cTn id="34" dur="600"/>
                                        <p:tgtEl>
                                          <p:spTgt spid="10"/>
                                        </p:tgtEl>
                                      </p:cBhvr>
                                    </p:animEffect>
                                  </p:childTnLst>
                                </p:cTn>
                              </p:par>
                              <p:par>
                                <p:cTn id="40" presetID="53" presetClass="entr" presetSubtype="16"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600" fill="hold"/>
                                        <p:tgtEl>
                                          <p:spTgt spid="13"/>
                                        </p:tgtEl>
                                        <p:attrNameLst>
                                          <p:attrName>ppt_w</p:attrName>
                                        </p:attrNameLst>
                                      </p:cBhvr>
                                      <p:tavLst>
                                        <p:tav tm="0">
                                          <p:val>
                                            <p:fltVal val="0"/>
                                          </p:val>
                                        </p:tav>
                                        <p:tav tm="100000">
                                          <p:val>
                                            <p:strVal val="#ppt_w"/>
                                          </p:val>
                                        </p:tav>
                                      </p:tavLst>
                                    </p:anim>
                                    <p:anim calcmode="lin" valueType="num">
                                      <p:cBhvr additive="base">
                                        <p:cTn id="38" dur="600" fill="hold"/>
                                        <p:tgtEl>
                                          <p:spTgt spid="13"/>
                                        </p:tgtEl>
                                        <p:attrNameLst>
                                          <p:attrName>ppt_h</p:attrName>
                                        </p:attrNameLst>
                                      </p:cBhvr>
                                      <p:tavLst>
                                        <p:tav tm="0">
                                          <p:val>
                                            <p:fltVal val="0"/>
                                          </p:val>
                                        </p:tav>
                                        <p:tav tm="100000">
                                          <p:val>
                                            <p:strVal val="#ppt_h"/>
                                          </p:val>
                                        </p:tav>
                                      </p:tavLst>
                                    </p:anim>
                                    <p:animEffect transition="in" filter="fade">
                                      <p:cBhvr>
                                        <p:cTn id="39"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A02 · Misconfiguration: Angular + .NET</a:t>
            </a:r>
            <a:endParaRPr lang="en-US" sz="3000" dirty="0"/>
          </a:p>
        </p:txBody>
      </p:sp>
      <p:sp>
        <p:nvSpPr>
          <p:cNvPr id="4" name="Col Angular"/>
          <p:cNvSpPr txBox="1"/>
          <p:nvPr/>
        </p:nvSpPr>
        <p:spPr>
          <a:xfrm>
            <a:off x="457200" y="1097280"/>
            <a:ext cx="4023360" cy="274320"/>
          </a:xfrm>
          <a:prstGeom prst="rect">
            <a:avLst/>
          </a:prstGeom>
          <a:noFill/>
          <a:ln/>
        </p:spPr>
        <p:txBody>
          <a:bodyPr wrap="square" lIns="0" tIns="0" rIns="0" bIns="0" rtlCol="0" anchor="ctr"/>
          <a:lstStyle/>
          <a:p>
            <a:pPr indent="0" marL="0">
              <a:buNone/>
            </a:pPr>
            <a:r>
              <a:rPr lang="en-US" sz="1300" b="1" dirty="0">
                <a:solidFill>
                  <a:schemeClr val="accent5"/>
                </a:solidFill>
              </a:rPr>
              <a:t>ANGULAR · TypeScript</a:t>
            </a:r>
            <a:endParaRPr lang="en-US" sz="1300" dirty="0"/>
          </a:p>
        </p:txBody>
      </p:sp>
      <p:sp>
        <p:nvSpPr>
          <p:cNvPr id="5" name="Col NET"/>
          <p:cNvSpPr txBox="1"/>
          <p:nvPr/>
        </p:nvSpPr>
        <p:spPr>
          <a:xfrm>
            <a:off x="4663440" y="1097280"/>
            <a:ext cx="4023360" cy="274320"/>
          </a:xfrm>
          <a:prstGeom prst="rect">
            <a:avLst/>
          </a:prstGeom>
          <a:noFill/>
          <a:ln/>
        </p:spPr>
        <p:txBody>
          <a:bodyPr wrap="square" lIns="0" tIns="0" rIns="0" bIns="0" rtlCol="0" anchor="ctr"/>
          <a:lstStyle/>
          <a:p>
            <a:pPr indent="0" marL="0">
              <a:buNone/>
            </a:pPr>
            <a:r>
              <a:rPr lang="en-US" sz="1300" b="1" dirty="0">
                <a:solidFill>
                  <a:schemeClr val="accent6"/>
                </a:solidFill>
              </a:rPr>
              <a:t>ASP.NET CORE · C#</a:t>
            </a:r>
            <a:endParaRPr lang="en-US" sz="1300" dirty="0"/>
          </a:p>
        </p:txBody>
      </p:sp>
      <p:sp>
        <p:nvSpPr>
          <p:cNvPr id="6" name="NG vuln"/>
          <p:cNvSpPr/>
          <p:nvPr/>
        </p:nvSpPr>
        <p:spPr>
          <a:xfrm>
            <a:off x="457200" y="1417320"/>
            <a:ext cx="4023360" cy="1325880"/>
          </a:xfrm>
          <a:prstGeom prst="roundRect">
            <a:avLst>
              <a:gd name="adj" fmla="val 8276"/>
            </a:avLst>
          </a:prstGeom>
          <a:solidFill>
            <a:schemeClr val="accent2">
              <a:alpha val="12000"/>
            </a:schemeClr>
          </a:solidFill>
          <a:ln w="12700">
            <a:solidFill>
              <a:schemeClr val="accent2"/>
            </a:solidFill>
            <a:prstDash val="solid"/>
          </a:ln>
        </p:spPr>
      </p:sp>
      <p:sp>
        <p:nvSpPr>
          <p:cNvPr id="7" name="NG vuln label"/>
          <p:cNvSpPr txBox="1"/>
          <p:nvPr/>
        </p:nvSpPr>
        <p:spPr>
          <a:xfrm>
            <a:off x="640080" y="1490472"/>
            <a:ext cx="3657600" cy="256032"/>
          </a:xfrm>
          <a:prstGeom prst="rect">
            <a:avLst/>
          </a:prstGeom>
          <a:noFill/>
          <a:ln/>
        </p:spPr>
        <p:txBody>
          <a:bodyPr wrap="square" lIns="0" tIns="0" rIns="0" bIns="0" rtlCol="0" anchor="ctr"/>
          <a:lstStyle/>
          <a:p>
            <a:pPr indent="0" marL="0">
              <a:buNone/>
            </a:pPr>
            <a:r>
              <a:rPr lang="en-US" sz="1100" b="1" spc="200" kern="0" dirty="0">
                <a:solidFill>
                  <a:schemeClr val="accent2"/>
                </a:solidFill>
              </a:rPr>
              <a:t>VULNERABLE</a:t>
            </a:r>
            <a:endParaRPr lang="en-US" sz="1100" dirty="0"/>
          </a:p>
        </p:txBody>
      </p:sp>
      <p:sp>
        <p:nvSpPr>
          <p:cNvPr id="8" name="NG vuln code"/>
          <p:cNvSpPr txBox="1"/>
          <p:nvPr/>
        </p:nvSpPr>
        <p:spPr>
          <a:xfrm>
            <a:off x="640080" y="1783080"/>
            <a:ext cx="3657600" cy="88696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 environment.prod.ts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export const environment =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apiKey: 'sk-92af', debug: true };</a:t>
            </a:r>
            <a:endParaRPr lang="en-US" sz="1200" dirty="0"/>
          </a:p>
        </p:txBody>
      </p:sp>
      <p:sp>
        <p:nvSpPr>
          <p:cNvPr id="9" name="NET vuln"/>
          <p:cNvSpPr/>
          <p:nvPr/>
        </p:nvSpPr>
        <p:spPr>
          <a:xfrm>
            <a:off x="4663440" y="1417320"/>
            <a:ext cx="4023360" cy="1325880"/>
          </a:xfrm>
          <a:prstGeom prst="roundRect">
            <a:avLst>
              <a:gd name="adj" fmla="val 8276"/>
            </a:avLst>
          </a:prstGeom>
          <a:solidFill>
            <a:schemeClr val="accent2">
              <a:alpha val="12000"/>
            </a:schemeClr>
          </a:solidFill>
          <a:ln w="12700">
            <a:solidFill>
              <a:schemeClr val="accent2"/>
            </a:solidFill>
            <a:prstDash val="solid"/>
          </a:ln>
        </p:spPr>
      </p:sp>
      <p:sp>
        <p:nvSpPr>
          <p:cNvPr id="10" name="NET vuln label"/>
          <p:cNvSpPr txBox="1"/>
          <p:nvPr/>
        </p:nvSpPr>
        <p:spPr>
          <a:xfrm>
            <a:off x="4846320" y="1490472"/>
            <a:ext cx="3657600" cy="256032"/>
          </a:xfrm>
          <a:prstGeom prst="rect">
            <a:avLst/>
          </a:prstGeom>
          <a:noFill/>
          <a:ln/>
        </p:spPr>
        <p:txBody>
          <a:bodyPr wrap="square" lIns="0" tIns="0" rIns="0" bIns="0" rtlCol="0" anchor="ctr"/>
          <a:lstStyle/>
          <a:p>
            <a:pPr indent="0" marL="0">
              <a:buNone/>
            </a:pPr>
            <a:r>
              <a:rPr lang="en-US" sz="1100" b="1" spc="200" kern="0" dirty="0">
                <a:solidFill>
                  <a:schemeClr val="accent2"/>
                </a:solidFill>
              </a:rPr>
              <a:t>VULNERABLE</a:t>
            </a:r>
            <a:endParaRPr lang="en-US" sz="1100" dirty="0"/>
          </a:p>
        </p:txBody>
      </p:sp>
      <p:sp>
        <p:nvSpPr>
          <p:cNvPr id="11" name="NET vuln code"/>
          <p:cNvSpPr txBox="1"/>
          <p:nvPr/>
        </p:nvSpPr>
        <p:spPr>
          <a:xfrm>
            <a:off x="4846320" y="1783080"/>
            <a:ext cx="3657600" cy="88696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app.UseSwagger();  // in prod</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app.UseDeveloperExceptionPage();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policy.AllowAnyOrigin();</a:t>
            </a:r>
            <a:endParaRPr lang="en-US" sz="1200" dirty="0"/>
          </a:p>
        </p:txBody>
      </p:sp>
      <p:sp>
        <p:nvSpPr>
          <p:cNvPr id="12" name="NG fixed"/>
          <p:cNvSpPr/>
          <p:nvPr/>
        </p:nvSpPr>
        <p:spPr>
          <a:xfrm>
            <a:off x="457200" y="2807208"/>
            <a:ext cx="4023360" cy="1325880"/>
          </a:xfrm>
          <a:prstGeom prst="roundRect">
            <a:avLst>
              <a:gd name="adj" fmla="val 8276"/>
            </a:avLst>
          </a:prstGeom>
          <a:solidFill>
            <a:schemeClr val="accent3">
              <a:alpha val="12000"/>
            </a:schemeClr>
          </a:solidFill>
          <a:ln w="12700">
            <a:solidFill>
              <a:schemeClr val="accent3"/>
            </a:solidFill>
            <a:prstDash val="solid"/>
          </a:ln>
        </p:spPr>
      </p:sp>
      <p:sp>
        <p:nvSpPr>
          <p:cNvPr id="13" name="NG fixed label"/>
          <p:cNvSpPr txBox="1"/>
          <p:nvPr/>
        </p:nvSpPr>
        <p:spPr>
          <a:xfrm>
            <a:off x="640080" y="2880360"/>
            <a:ext cx="3657600" cy="256032"/>
          </a:xfrm>
          <a:prstGeom prst="rect">
            <a:avLst/>
          </a:prstGeom>
          <a:noFill/>
          <a:ln/>
        </p:spPr>
        <p:txBody>
          <a:bodyPr wrap="square" lIns="0" tIns="0" rIns="0" bIns="0" rtlCol="0" anchor="ctr"/>
          <a:lstStyle/>
          <a:p>
            <a:pPr indent="0" marL="0">
              <a:buNone/>
            </a:pPr>
            <a:r>
              <a:rPr lang="en-US" sz="1100" b="1" spc="200" kern="0" dirty="0">
                <a:solidFill>
                  <a:schemeClr val="accent3"/>
                </a:solidFill>
              </a:rPr>
              <a:t>FIXED</a:t>
            </a:r>
            <a:endParaRPr lang="en-US" sz="1100" dirty="0"/>
          </a:p>
        </p:txBody>
      </p:sp>
      <p:sp>
        <p:nvSpPr>
          <p:cNvPr id="14" name="NG fixed code"/>
          <p:cNvSpPr txBox="1"/>
          <p:nvPr/>
        </p:nvSpPr>
        <p:spPr>
          <a:xfrm>
            <a:off x="640080" y="3172968"/>
            <a:ext cx="3657600" cy="88696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 no secrets in the bundle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export const environment =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production: true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ng build --source-map=false</a:t>
            </a:r>
            <a:endParaRPr lang="en-US" sz="1200" dirty="0"/>
          </a:p>
        </p:txBody>
      </p:sp>
      <p:sp>
        <p:nvSpPr>
          <p:cNvPr id="15" name="NET fixed"/>
          <p:cNvSpPr/>
          <p:nvPr/>
        </p:nvSpPr>
        <p:spPr>
          <a:xfrm>
            <a:off x="4663440" y="2807208"/>
            <a:ext cx="4023360" cy="1325880"/>
          </a:xfrm>
          <a:prstGeom prst="roundRect">
            <a:avLst>
              <a:gd name="adj" fmla="val 8276"/>
            </a:avLst>
          </a:prstGeom>
          <a:solidFill>
            <a:schemeClr val="accent3">
              <a:alpha val="12000"/>
            </a:schemeClr>
          </a:solidFill>
          <a:ln w="12700">
            <a:solidFill>
              <a:schemeClr val="accent3"/>
            </a:solidFill>
            <a:prstDash val="solid"/>
          </a:ln>
        </p:spPr>
      </p:sp>
      <p:sp>
        <p:nvSpPr>
          <p:cNvPr id="16" name="NET fixed label"/>
          <p:cNvSpPr txBox="1"/>
          <p:nvPr/>
        </p:nvSpPr>
        <p:spPr>
          <a:xfrm>
            <a:off x="4846320" y="2880360"/>
            <a:ext cx="3657600" cy="256032"/>
          </a:xfrm>
          <a:prstGeom prst="rect">
            <a:avLst/>
          </a:prstGeom>
          <a:noFill/>
          <a:ln/>
        </p:spPr>
        <p:txBody>
          <a:bodyPr wrap="square" lIns="0" tIns="0" rIns="0" bIns="0" rtlCol="0" anchor="ctr"/>
          <a:lstStyle/>
          <a:p>
            <a:pPr indent="0" marL="0">
              <a:buNone/>
            </a:pPr>
            <a:r>
              <a:rPr lang="en-US" sz="1100" b="1" spc="200" kern="0" dirty="0">
                <a:solidFill>
                  <a:schemeClr val="accent3"/>
                </a:solidFill>
              </a:rPr>
              <a:t>FIXED</a:t>
            </a:r>
            <a:endParaRPr lang="en-US" sz="1100" dirty="0"/>
          </a:p>
        </p:txBody>
      </p:sp>
      <p:sp>
        <p:nvSpPr>
          <p:cNvPr id="17" name="NET fixed code"/>
          <p:cNvSpPr txBox="1"/>
          <p:nvPr/>
        </p:nvSpPr>
        <p:spPr>
          <a:xfrm>
            <a:off x="4846320" y="3172968"/>
            <a:ext cx="3657600" cy="88696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if (env.IsDevelopment())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app.UseSwagger();</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app.UseExceptionHandler("/error");</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policy.WithOrigins(allowed);</a:t>
            </a:r>
            <a:endParaRPr lang="en-US" sz="1200" dirty="0"/>
          </a:p>
        </p:txBody>
      </p:sp>
      <p:sp>
        <p:nvSpPr>
          <p:cNvPr id="18" name="Takeaway"/>
          <p:cNvSpPr txBox="1"/>
          <p:nvPr/>
        </p:nvSpPr>
        <p:spPr>
          <a:xfrm>
            <a:off x="457200" y="4279392"/>
            <a:ext cx="4754880" cy="411480"/>
          </a:xfrm>
          <a:prstGeom prst="rect">
            <a:avLst/>
          </a:prstGeom>
          <a:noFill/>
          <a:ln/>
        </p:spPr>
        <p:txBody>
          <a:bodyPr wrap="square" lIns="0" tIns="0" rIns="0" bIns="0" rtlCol="0" anchor="ctr"/>
          <a:lstStyle/>
          <a:p>
            <a:pPr indent="0" marL="0">
              <a:buNone/>
            </a:pPr>
            <a:r>
              <a:rPr lang="en-US" sz="1600" b="1" dirty="0">
                <a:solidFill>
                  <a:schemeClr val="accent1"/>
                </a:solidFill>
              </a:rPr>
              <a:t>Production is not your dev machine.</a:t>
            </a:r>
            <a:endParaRPr lang="en-US" sz="1600" dirty="0"/>
          </a:p>
        </p:txBody>
      </p:sp>
      <p:sp>
        <p:nvSpPr>
          <p:cNvPr id="19" name="Demo marker"/>
          <p:cNvSpPr txBox="1"/>
          <p:nvPr/>
        </p:nvSpPr>
        <p:spPr>
          <a:xfrm>
            <a:off x="5303520" y="4297680"/>
            <a:ext cx="1600200" cy="365760"/>
          </a:xfrm>
          <a:prstGeom prst="roundRect">
            <a:avLst>
              <a:gd name="adj" fmla="val 25000"/>
            </a:avLst>
          </a:prstGeom>
          <a:solidFill>
            <a:schemeClr val="accent4">
              <a:alpha val="15000"/>
            </a:schemeClr>
          </a:solidFill>
          <a:ln w="12700">
            <a:solidFill>
              <a:schemeClr val="accent4"/>
            </a:solidFill>
          </a:ln>
        </p:spPr>
        <p:txBody>
          <a:bodyPr wrap="square" lIns="0" tIns="0" rIns="0" bIns="0" rtlCol="0" anchor="ctr"/>
          <a:lstStyle/>
          <a:p>
            <a:pPr algn="ctr" indent="0" marL="0">
              <a:buNone/>
            </a:pPr>
            <a:r>
              <a:rPr lang="en-US" sz="1200" b="1" dirty="0">
                <a:solidFill>
                  <a:schemeClr val="accent4"/>
                </a:solidFill>
              </a:rPr>
              <a:t>DEMO 3 · 40 s</a:t>
            </a:r>
            <a:endParaRPr lang="en-US" sz="1200" dirty="0"/>
          </a:p>
        </p:txBody>
      </p:sp>
      <p:pic>
        <p:nvPicPr>
          <p:cNvPr id="20" name="Hacker" descr="Hacker cartoon">    </p:cNvPr>
          <p:cNvPicPr>
            <a:picLocks noChangeAspect="1"/>
          </p:cNvPicPr>
          <p:nvPr/>
        </p:nvPicPr>
        <p:blipFill>
          <a:blip r:embed="rId1"/>
          <a:stretch>
            <a:fillRect/>
          </a:stretch>
        </p:blipFill>
        <p:spPr>
          <a:xfrm>
            <a:off x="7040880" y="4160520"/>
            <a:ext cx="777240" cy="777240"/>
          </a:xfrm>
          <a:prstGeom prst="rect">
            <a:avLst/>
          </a:prstGeom>
        </p:spPr>
      </p:pic>
      <p:pic>
        <p:nvPicPr>
          <p:cNvPr id="21" name="Mascot" descr="Mascot cartoon">    </p:cNvPr>
          <p:cNvPicPr>
            <a:picLocks noChangeAspect="1"/>
          </p:cNvPicPr>
          <p:nvPr/>
        </p:nvPicPr>
        <p:blipFill>
          <a:blip r:embed="rId2"/>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stCondLst>
                      <p:childTnLst>
                        <p:par>
                          <p:cTn id="32" fill="hold">
                            <p:stCondLst>
                              <p:cond delay="0"/>
                            </p:stCondLst>
                            <p:childTnLst>
                              <p:par>
                                <p:cTn id="6" presetID="2" presetClass="entr" presetSubtype="8" fill="hold" grpId="0" nodeType="clickEffect">
                                  <p:stCondLst>
                                    <p:cond delay="0"/>
                                  </p:stCondLst>
                                  <p:childTnLst>
                                    <p:set>
                                      <p:cBhvr>
                                        <p:cTn id="3" dur="1" fill="hold">
                                          <p:stCondLst>
                                            <p:cond delay="0"/>
                                          </p:stCondLst>
                                        </p:cTn>
                                        <p:tgtEl>
                                          <p:spTgt spid="6"/>
                                        </p:tgtEl>
                                        <p:attrNameLst>
                                          <p:attrName>style.visibility</p:attrName>
                                        </p:attrNameLst>
                                      </p:cBhvr>
                                      <p:to>
                                        <p:strVal val="visible"/>
                                      </p:to>
                                    </p:set>
                                    <p:anim calcmode="lin" valueType="num">
                                      <p:cBhvr additive="base">
                                        <p:cTn id="4" dur="600" fill="hold"/>
                                        <p:tgtEl>
                                          <p:spTgt spid="6"/>
                                        </p:tgtEl>
                                        <p:attrNameLst>
                                          <p:attrName>ppt_x</p:attrName>
                                        </p:attrNameLst>
                                      </p:cBhvr>
                                      <p:tavLst>
                                        <p:tav tm="0">
                                          <p:val>
                                            <p:strVal val="0-#ppt_w/2"/>
                                          </p:val>
                                        </p:tav>
                                        <p:tav tm="100000">
                                          <p:val>
                                            <p:strVal val="#ppt_x"/>
                                          </p:val>
                                        </p:tav>
                                      </p:tavLst>
                                    </p:anim>
                                    <p:anim calcmode="lin" valueType="num">
                                      <p:cBhvr additive="base">
                                        <p:cTn id="5" dur="600" fill="hold"/>
                                        <p:tgtEl>
                                          <p:spTgt spid="6"/>
                                        </p:tgtEl>
                                        <p:attrNameLst>
                                          <p:attrName>ppt_y</p:attrName>
                                        </p:attrNameLst>
                                      </p:cBhvr>
                                      <p:tavLst>
                                        <p:tav tm="0">
                                          <p:val>
                                            <p:strVal val="#ppt_y"/>
                                          </p:val>
                                        </p:tav>
                                        <p:tav tm="100000">
                                          <p:val>
                                            <p:strVal val="#ppt_y"/>
                                          </p:val>
                                        </p:tav>
                                      </p:tavLst>
                                    </p:anim>
                                  </p:childTnLst>
                                </p:cTn>
                              </p:par>
                              <p:par>
                                <p:cTn id="10" presetID="2" presetClass="entr" presetSubtype="8"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 calcmode="lin" valueType="num">
                                      <p:cBhvr additive="base">
                                        <p:cTn id="8" dur="600" fill="hold"/>
                                        <p:tgtEl>
                                          <p:spTgt spid="7"/>
                                        </p:tgtEl>
                                        <p:attrNameLst>
                                          <p:attrName>ppt_x</p:attrName>
                                        </p:attrNameLst>
                                      </p:cBhvr>
                                      <p:tavLst>
                                        <p:tav tm="0">
                                          <p:val>
                                            <p:strVal val="0-#ppt_w/2"/>
                                          </p:val>
                                        </p:tav>
                                        <p:tav tm="100000">
                                          <p:val>
                                            <p:strVal val="#ppt_x"/>
                                          </p:val>
                                        </p:tav>
                                      </p:tavLst>
                                    </p:anim>
                                    <p:anim calcmode="lin" valueType="num">
                                      <p:cBhvr additive="base">
                                        <p:cTn id="9" dur="600" fill="hold"/>
                                        <p:tgtEl>
                                          <p:spTgt spid="7"/>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600" fill="hold"/>
                                        <p:tgtEl>
                                          <p:spTgt spid="8"/>
                                        </p:tgtEl>
                                        <p:attrNameLst>
                                          <p:attrName>ppt_x</p:attrName>
                                        </p:attrNameLst>
                                      </p:cBhvr>
                                      <p:tavLst>
                                        <p:tav tm="0">
                                          <p:val>
                                            <p:strVal val="0-#ppt_w/2"/>
                                          </p:val>
                                        </p:tav>
                                        <p:tav tm="100000">
                                          <p:val>
                                            <p:strVal val="#ppt_x"/>
                                          </p:val>
                                        </p:tav>
                                      </p:tavLst>
                                    </p:anim>
                                    <p:anim calcmode="lin" valueType="num">
                                      <p:cBhvr additive="base">
                                        <p:cTn id="13" dur="600" fill="hold"/>
                                        <p:tgtEl>
                                          <p:spTgt spid="8"/>
                                        </p:tgtEl>
                                        <p:attrNameLst>
                                          <p:attrName>ppt_y</p:attrName>
                                        </p:attrNameLst>
                                      </p:cBhvr>
                                      <p:tavLst>
                                        <p:tav tm="0">
                                          <p:val>
                                            <p:strVal val="#ppt_y"/>
                                          </p:val>
                                        </p:tav>
                                        <p:tav tm="100000">
                                          <p:val>
                                            <p:strVal val="#ppt_y"/>
                                          </p:val>
                                        </p:tav>
                                      </p:tavLst>
                                    </p:anim>
                                  </p:childTnLst>
                                </p:cTn>
                              </p:par>
                              <p:par>
                                <p:cTn id="18" presetID="2" presetClass="entr" presetSubtype="8"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600" fill="hold"/>
                                        <p:tgtEl>
                                          <p:spTgt spid="9"/>
                                        </p:tgtEl>
                                        <p:attrNameLst>
                                          <p:attrName>ppt_x</p:attrName>
                                        </p:attrNameLst>
                                      </p:cBhvr>
                                      <p:tavLst>
                                        <p:tav tm="0">
                                          <p:val>
                                            <p:strVal val="0-#ppt_w/2"/>
                                          </p:val>
                                        </p:tav>
                                        <p:tav tm="100000">
                                          <p:val>
                                            <p:strVal val="#ppt_x"/>
                                          </p:val>
                                        </p:tav>
                                      </p:tavLst>
                                    </p:anim>
                                    <p:anim calcmode="lin" valueType="num">
                                      <p:cBhvr additive="base">
                                        <p:cTn id="17" dur="600" fill="hold"/>
                                        <p:tgtEl>
                                          <p:spTgt spid="9"/>
                                        </p:tgtEl>
                                        <p:attrNameLst>
                                          <p:attrName>ppt_y</p:attrName>
                                        </p:attrNameLst>
                                      </p:cBhvr>
                                      <p:tavLst>
                                        <p:tav tm="0">
                                          <p:val>
                                            <p:strVal val="#ppt_y"/>
                                          </p:val>
                                        </p:tav>
                                        <p:tav tm="100000">
                                          <p:val>
                                            <p:strVal val="#ppt_y"/>
                                          </p:val>
                                        </p:tav>
                                      </p:tavLst>
                                    </p:anim>
                                  </p:childTnLst>
                                </p:cTn>
                              </p:par>
                              <p:par>
                                <p:cTn id="22" presetID="2" presetClass="entr" presetSubtype="8"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additive="base">
                                        <p:cTn id="20" dur="600" fill="hold"/>
                                        <p:tgtEl>
                                          <p:spTgt spid="10"/>
                                        </p:tgtEl>
                                        <p:attrNameLst>
                                          <p:attrName>ppt_x</p:attrName>
                                        </p:attrNameLst>
                                      </p:cBhvr>
                                      <p:tavLst>
                                        <p:tav tm="0">
                                          <p:val>
                                            <p:strVal val="0-#ppt_w/2"/>
                                          </p:val>
                                        </p:tav>
                                        <p:tav tm="100000">
                                          <p:val>
                                            <p:strVal val="#ppt_x"/>
                                          </p:val>
                                        </p:tav>
                                      </p:tavLst>
                                    </p:anim>
                                    <p:anim calcmode="lin" valueType="num">
                                      <p:cBhvr additive="base">
                                        <p:cTn id="21" dur="600" fill="hold"/>
                                        <p:tgtEl>
                                          <p:spTgt spid="10"/>
                                        </p:tgtEl>
                                        <p:attrNameLst>
                                          <p:attrName>ppt_y</p:attrName>
                                        </p:attrNameLst>
                                      </p:cBhvr>
                                      <p:tavLst>
                                        <p:tav tm="0">
                                          <p:val>
                                            <p:strVal val="#ppt_y"/>
                                          </p:val>
                                        </p:tav>
                                        <p:tav tm="100000">
                                          <p:val>
                                            <p:strVal val="#ppt_y"/>
                                          </p:val>
                                        </p:tav>
                                      </p:tavLst>
                                    </p:anim>
                                  </p:childTnLst>
                                </p:cTn>
                              </p:par>
                              <p:par>
                                <p:cTn id="26" presetID="2" presetClass="entr" presetSubtype="8"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600" fill="hold"/>
                                        <p:tgtEl>
                                          <p:spTgt spid="11"/>
                                        </p:tgtEl>
                                        <p:attrNameLst>
                                          <p:attrName>ppt_x</p:attrName>
                                        </p:attrNameLst>
                                      </p:cBhvr>
                                      <p:tavLst>
                                        <p:tav tm="0">
                                          <p:val>
                                            <p:strVal val="0-#ppt_w/2"/>
                                          </p:val>
                                        </p:tav>
                                        <p:tav tm="100000">
                                          <p:val>
                                            <p:strVal val="#ppt_x"/>
                                          </p:val>
                                        </p:tav>
                                      </p:tavLst>
                                    </p:anim>
                                    <p:anim calcmode="lin" valueType="num">
                                      <p:cBhvr additive="base">
                                        <p:cTn id="25" dur="600" fill="hold"/>
                                        <p:tgtEl>
                                          <p:spTgt spid="11"/>
                                        </p:tgtEl>
                                        <p:attrNameLst>
                                          <p:attrName>ppt_y</p:attrName>
                                        </p:attrNameLst>
                                      </p:cBhvr>
                                      <p:tavLst>
                                        <p:tav tm="0">
                                          <p:val>
                                            <p:strVal val="#ppt_y"/>
                                          </p:val>
                                        </p:tav>
                                        <p:tav tm="100000">
                                          <p:val>
                                            <p:strVal val="#ppt_y"/>
                                          </p:val>
                                        </p:tav>
                                      </p:tavLst>
                                    </p:anim>
                                  </p:childTnLst>
                                </p:cTn>
                              </p:par>
                              <p:par>
                                <p:cTn id="30" presetID="2" presetClass="entr" presetSubtype="8"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 calcmode="lin" valueType="num">
                                      <p:cBhvr additive="base">
                                        <p:cTn id="28" dur="600" fill="hold"/>
                                        <p:tgtEl>
                                          <p:spTgt spid="20"/>
                                        </p:tgtEl>
                                        <p:attrNameLst>
                                          <p:attrName>ppt_x</p:attrName>
                                        </p:attrNameLst>
                                      </p:cBhvr>
                                      <p:tavLst>
                                        <p:tav tm="0">
                                          <p:val>
                                            <p:strVal val="0-#ppt_w/2"/>
                                          </p:val>
                                        </p:tav>
                                        <p:tav tm="100000">
                                          <p:val>
                                            <p:strVal val="#ppt_x"/>
                                          </p:val>
                                        </p:tav>
                                      </p:tavLst>
                                    </p:anim>
                                    <p:anim calcmode="lin" valueType="num">
                                      <p:cBhvr additive="base">
                                        <p:cTn id="29" dur="6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37" presetID="53" presetClass="entr" presetSubtype="16"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600" fill="hold"/>
                                        <p:tgtEl>
                                          <p:spTgt spid="12"/>
                                        </p:tgtEl>
                                        <p:attrNameLst>
                                          <p:attrName>ppt_w</p:attrName>
                                        </p:attrNameLst>
                                      </p:cBhvr>
                                      <p:tavLst>
                                        <p:tav tm="0">
                                          <p:val>
                                            <p:fltVal val="0"/>
                                          </p:val>
                                        </p:tav>
                                        <p:tav tm="100000">
                                          <p:val>
                                            <p:strVal val="#ppt_w"/>
                                          </p:val>
                                        </p:tav>
                                      </p:tavLst>
                                    </p:anim>
                                    <p:anim calcmode="lin" valueType="num">
                                      <p:cBhvr additive="base">
                                        <p:cTn id="35" dur="600" fill="hold"/>
                                        <p:tgtEl>
                                          <p:spTgt spid="12"/>
                                        </p:tgtEl>
                                        <p:attrNameLst>
                                          <p:attrName>ppt_h</p:attrName>
                                        </p:attrNameLst>
                                      </p:cBhvr>
                                      <p:tavLst>
                                        <p:tav tm="0">
                                          <p:val>
                                            <p:fltVal val="0"/>
                                          </p:val>
                                        </p:tav>
                                        <p:tav tm="100000">
                                          <p:val>
                                            <p:strVal val="#ppt_h"/>
                                          </p:val>
                                        </p:tav>
                                      </p:tavLst>
                                    </p:anim>
                                    <p:animEffect transition="in" filter="fade">
                                      <p:cBhvr>
                                        <p:cTn id="36" dur="600"/>
                                        <p:tgtEl>
                                          <p:spTgt spid="12"/>
                                        </p:tgtEl>
                                      </p:cBhvr>
                                    </p:animEffect>
                                  </p:childTnLst>
                                </p:cTn>
                              </p:par>
                              <p:par>
                                <p:cTn id="42" presetID="53" presetClass="entr" presetSubtype="16"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600" fill="hold"/>
                                        <p:tgtEl>
                                          <p:spTgt spid="13"/>
                                        </p:tgtEl>
                                        <p:attrNameLst>
                                          <p:attrName>ppt_w</p:attrName>
                                        </p:attrNameLst>
                                      </p:cBhvr>
                                      <p:tavLst>
                                        <p:tav tm="0">
                                          <p:val>
                                            <p:fltVal val="0"/>
                                          </p:val>
                                        </p:tav>
                                        <p:tav tm="100000">
                                          <p:val>
                                            <p:strVal val="#ppt_w"/>
                                          </p:val>
                                        </p:tav>
                                      </p:tavLst>
                                    </p:anim>
                                    <p:anim calcmode="lin" valueType="num">
                                      <p:cBhvr additive="base">
                                        <p:cTn id="40" dur="600" fill="hold"/>
                                        <p:tgtEl>
                                          <p:spTgt spid="13"/>
                                        </p:tgtEl>
                                        <p:attrNameLst>
                                          <p:attrName>ppt_h</p:attrName>
                                        </p:attrNameLst>
                                      </p:cBhvr>
                                      <p:tavLst>
                                        <p:tav tm="0">
                                          <p:val>
                                            <p:fltVal val="0"/>
                                          </p:val>
                                        </p:tav>
                                        <p:tav tm="100000">
                                          <p:val>
                                            <p:strVal val="#ppt_h"/>
                                          </p:val>
                                        </p:tav>
                                      </p:tavLst>
                                    </p:anim>
                                    <p:animEffect transition="in" filter="fade">
                                      <p:cBhvr>
                                        <p:cTn id="41" dur="600"/>
                                        <p:tgtEl>
                                          <p:spTgt spid="13"/>
                                        </p:tgtEl>
                                      </p:cBhvr>
                                    </p:animEffect>
                                  </p:childTnLst>
                                </p:cTn>
                              </p:par>
                              <p:par>
                                <p:cTn id="47" presetID="53" presetClass="entr" presetSubtype="16"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600" fill="hold"/>
                                        <p:tgtEl>
                                          <p:spTgt spid="14"/>
                                        </p:tgtEl>
                                        <p:attrNameLst>
                                          <p:attrName>ppt_w</p:attrName>
                                        </p:attrNameLst>
                                      </p:cBhvr>
                                      <p:tavLst>
                                        <p:tav tm="0">
                                          <p:val>
                                            <p:fltVal val="0"/>
                                          </p:val>
                                        </p:tav>
                                        <p:tav tm="100000">
                                          <p:val>
                                            <p:strVal val="#ppt_w"/>
                                          </p:val>
                                        </p:tav>
                                      </p:tavLst>
                                    </p:anim>
                                    <p:anim calcmode="lin" valueType="num">
                                      <p:cBhvr additive="base">
                                        <p:cTn id="45" dur="600" fill="hold"/>
                                        <p:tgtEl>
                                          <p:spTgt spid="14"/>
                                        </p:tgtEl>
                                        <p:attrNameLst>
                                          <p:attrName>ppt_h</p:attrName>
                                        </p:attrNameLst>
                                      </p:cBhvr>
                                      <p:tavLst>
                                        <p:tav tm="0">
                                          <p:val>
                                            <p:fltVal val="0"/>
                                          </p:val>
                                        </p:tav>
                                        <p:tav tm="100000">
                                          <p:val>
                                            <p:strVal val="#ppt_h"/>
                                          </p:val>
                                        </p:tav>
                                      </p:tavLst>
                                    </p:anim>
                                    <p:animEffect transition="in" filter="fade">
                                      <p:cBhvr>
                                        <p:cTn id="46" dur="600"/>
                                        <p:tgtEl>
                                          <p:spTgt spid="14"/>
                                        </p:tgtEl>
                                      </p:cBhvr>
                                    </p:animEffect>
                                  </p:childTnLst>
                                </p:cTn>
                              </p:par>
                              <p:par>
                                <p:cTn id="52" presetID="53" presetClass="entr" presetSubtype="16"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600" fill="hold"/>
                                        <p:tgtEl>
                                          <p:spTgt spid="15"/>
                                        </p:tgtEl>
                                        <p:attrNameLst>
                                          <p:attrName>ppt_w</p:attrName>
                                        </p:attrNameLst>
                                      </p:cBhvr>
                                      <p:tavLst>
                                        <p:tav tm="0">
                                          <p:val>
                                            <p:fltVal val="0"/>
                                          </p:val>
                                        </p:tav>
                                        <p:tav tm="100000">
                                          <p:val>
                                            <p:strVal val="#ppt_w"/>
                                          </p:val>
                                        </p:tav>
                                      </p:tavLst>
                                    </p:anim>
                                    <p:anim calcmode="lin" valueType="num">
                                      <p:cBhvr additive="base">
                                        <p:cTn id="50" dur="600" fill="hold"/>
                                        <p:tgtEl>
                                          <p:spTgt spid="15"/>
                                        </p:tgtEl>
                                        <p:attrNameLst>
                                          <p:attrName>ppt_h</p:attrName>
                                        </p:attrNameLst>
                                      </p:cBhvr>
                                      <p:tavLst>
                                        <p:tav tm="0">
                                          <p:val>
                                            <p:fltVal val="0"/>
                                          </p:val>
                                        </p:tav>
                                        <p:tav tm="100000">
                                          <p:val>
                                            <p:strVal val="#ppt_h"/>
                                          </p:val>
                                        </p:tav>
                                      </p:tavLst>
                                    </p:anim>
                                    <p:animEffect transition="in" filter="fade">
                                      <p:cBhvr>
                                        <p:cTn id="51" dur="600"/>
                                        <p:tgtEl>
                                          <p:spTgt spid="15"/>
                                        </p:tgtEl>
                                      </p:cBhvr>
                                    </p:animEffect>
                                  </p:childTnLst>
                                </p:cTn>
                              </p:par>
                              <p:par>
                                <p:cTn id="57" presetID="53" presetClass="entr" presetSubtype="16"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600" fill="hold"/>
                                        <p:tgtEl>
                                          <p:spTgt spid="16"/>
                                        </p:tgtEl>
                                        <p:attrNameLst>
                                          <p:attrName>ppt_w</p:attrName>
                                        </p:attrNameLst>
                                      </p:cBhvr>
                                      <p:tavLst>
                                        <p:tav tm="0">
                                          <p:val>
                                            <p:fltVal val="0"/>
                                          </p:val>
                                        </p:tav>
                                        <p:tav tm="100000">
                                          <p:val>
                                            <p:strVal val="#ppt_w"/>
                                          </p:val>
                                        </p:tav>
                                      </p:tavLst>
                                    </p:anim>
                                    <p:anim calcmode="lin" valueType="num">
                                      <p:cBhvr additive="base">
                                        <p:cTn id="55" dur="600" fill="hold"/>
                                        <p:tgtEl>
                                          <p:spTgt spid="16"/>
                                        </p:tgtEl>
                                        <p:attrNameLst>
                                          <p:attrName>ppt_h</p:attrName>
                                        </p:attrNameLst>
                                      </p:cBhvr>
                                      <p:tavLst>
                                        <p:tav tm="0">
                                          <p:val>
                                            <p:fltVal val="0"/>
                                          </p:val>
                                        </p:tav>
                                        <p:tav tm="100000">
                                          <p:val>
                                            <p:strVal val="#ppt_h"/>
                                          </p:val>
                                        </p:tav>
                                      </p:tavLst>
                                    </p:anim>
                                    <p:animEffect transition="in" filter="fade">
                                      <p:cBhvr>
                                        <p:cTn id="56" dur="600"/>
                                        <p:tgtEl>
                                          <p:spTgt spid="16"/>
                                        </p:tgtEl>
                                      </p:cBhvr>
                                    </p:animEffect>
                                  </p:childTnLst>
                                </p:cTn>
                              </p:par>
                              <p:par>
                                <p:cTn id="62" presetID="53" presetClass="entr" presetSubtype="16"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600" fill="hold"/>
                                        <p:tgtEl>
                                          <p:spTgt spid="17"/>
                                        </p:tgtEl>
                                        <p:attrNameLst>
                                          <p:attrName>ppt_w</p:attrName>
                                        </p:attrNameLst>
                                      </p:cBhvr>
                                      <p:tavLst>
                                        <p:tav tm="0">
                                          <p:val>
                                            <p:fltVal val="0"/>
                                          </p:val>
                                        </p:tav>
                                        <p:tav tm="100000">
                                          <p:val>
                                            <p:strVal val="#ppt_w"/>
                                          </p:val>
                                        </p:tav>
                                      </p:tavLst>
                                    </p:anim>
                                    <p:anim calcmode="lin" valueType="num">
                                      <p:cBhvr additive="base">
                                        <p:cTn id="60" dur="600" fill="hold"/>
                                        <p:tgtEl>
                                          <p:spTgt spid="17"/>
                                        </p:tgtEl>
                                        <p:attrNameLst>
                                          <p:attrName>ppt_h</p:attrName>
                                        </p:attrNameLst>
                                      </p:cBhvr>
                                      <p:tavLst>
                                        <p:tav tm="0">
                                          <p:val>
                                            <p:fltVal val="0"/>
                                          </p:val>
                                        </p:tav>
                                        <p:tav tm="100000">
                                          <p:val>
                                            <p:strVal val="#ppt_h"/>
                                          </p:val>
                                        </p:tav>
                                      </p:tavLst>
                                    </p:anim>
                                    <p:animEffect transition="in" filter="fade">
                                      <p:cBhvr>
                                        <p:cTn id="61" dur="600"/>
                                        <p:tgtEl>
                                          <p:spTgt spid="17"/>
                                        </p:tgtEl>
                                      </p:cBhvr>
                                    </p:animEffect>
                                  </p:childTnLst>
                                </p:cTn>
                              </p:par>
                              <p:par>
                                <p:cTn id="67" presetID="53" presetClass="entr" presetSubtype="16" fill="hold" nodeType="withEffect">
                                  <p:stCondLst>
                                    <p:cond delay="0"/>
                                  </p:stCondLst>
                                  <p:childTnLst>
                                    <p:set>
                                      <p:cBhvr>
                                        <p:cTn id="63" dur="1" fill="hold">
                                          <p:stCondLst>
                                            <p:cond delay="0"/>
                                          </p:stCondLst>
                                        </p:cTn>
                                        <p:tgtEl>
                                          <p:spTgt spid="21"/>
                                        </p:tgtEl>
                                        <p:attrNameLst>
                                          <p:attrName>style.visibility</p:attrName>
                                        </p:attrNameLst>
                                      </p:cBhvr>
                                      <p:to>
                                        <p:strVal val="visible"/>
                                      </p:to>
                                    </p:set>
                                    <p:anim calcmode="lin" valueType="num">
                                      <p:cBhvr additive="base">
                                        <p:cTn id="64" dur="600" fill="hold"/>
                                        <p:tgtEl>
                                          <p:spTgt spid="21"/>
                                        </p:tgtEl>
                                        <p:attrNameLst>
                                          <p:attrName>ppt_w</p:attrName>
                                        </p:attrNameLst>
                                      </p:cBhvr>
                                      <p:tavLst>
                                        <p:tav tm="0">
                                          <p:val>
                                            <p:fltVal val="0"/>
                                          </p:val>
                                        </p:tav>
                                        <p:tav tm="100000">
                                          <p:val>
                                            <p:strVal val="#ppt_w"/>
                                          </p:val>
                                        </p:tav>
                                      </p:tavLst>
                                    </p:anim>
                                    <p:anim calcmode="lin" valueType="num">
                                      <p:cBhvr additive="base">
                                        <p:cTn id="65" dur="600" fill="hold"/>
                                        <p:tgtEl>
                                          <p:spTgt spid="21"/>
                                        </p:tgtEl>
                                        <p:attrNameLst>
                                          <p:attrName>ppt_h</p:attrName>
                                        </p:attrNameLst>
                                      </p:cBhvr>
                                      <p:tavLst>
                                        <p:tav tm="0">
                                          <p:val>
                                            <p:fltVal val="0"/>
                                          </p:val>
                                        </p:tav>
                                        <p:tav tm="100000">
                                          <p:val>
                                            <p:strVal val="#ppt_h"/>
                                          </p:val>
                                        </p:tav>
                                      </p:tavLst>
                                    </p:anim>
                                    <p:animEffect transition="in" filter="fade">
                                      <p:cBhvr>
                                        <p:cTn id="66"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A02 · Misconfiguration: IIS</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IIS · web.config</a:t>
            </a:r>
            <a:endParaRPr lang="en-US" sz="1300" dirty="0"/>
          </a:p>
        </p:txBody>
      </p:sp>
      <p:sp>
        <p:nvSpPr>
          <p:cNvPr id="5" name="Ex vuln"/>
          <p:cNvSpPr/>
          <p:nvPr/>
        </p:nvSpPr>
        <p:spPr>
          <a:xfrm>
            <a:off x="457200" y="1371600"/>
            <a:ext cx="4023360" cy="2834640"/>
          </a:xfrm>
          <a:prstGeom prst="roundRect">
            <a:avLst>
              <a:gd name="adj" fmla="val 3871"/>
            </a:avLst>
          </a:prstGeom>
          <a:solidFill>
            <a:schemeClr val="accent2">
              <a:alpha val="12000"/>
            </a:schemeClr>
          </a:solidFill>
          <a:ln w="12700">
            <a:solidFill>
              <a:schemeClr val="accent2"/>
            </a:solidFill>
            <a:prstDash val="solid"/>
          </a:ln>
        </p:spPr>
      </p:sp>
      <p:sp>
        <p:nvSpPr>
          <p:cNvPr id="6" name="Ex vuln label"/>
          <p:cNvSpPr txBox="1"/>
          <p:nvPr/>
        </p:nvSpPr>
        <p:spPr>
          <a:xfrm>
            <a:off x="640080" y="1508760"/>
            <a:ext cx="365760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VULNERABLE</a:t>
            </a:r>
            <a:endParaRPr lang="en-US" sz="1200" dirty="0"/>
          </a:p>
        </p:txBody>
      </p:sp>
      <p:sp>
        <p:nvSpPr>
          <p:cNvPr id="7" name="Ex vuln code"/>
          <p:cNvSpPr txBox="1"/>
          <p:nvPr/>
        </p:nvSpPr>
        <p:spPr>
          <a:xfrm>
            <a:off x="640080" y="1920240"/>
            <a:ext cx="3657600" cy="2103120"/>
          </a:xfrm>
          <a:prstGeom prst="rect">
            <a:avLst/>
          </a:prstGeom>
          <a:noFill/>
          <a:ln/>
        </p:spPr>
        <p:txBody>
          <a:bodyPr wrap="square" lIns="0" tIns="0" rIns="0" bIns="0" rtlCol="0" anchor="t"/>
          <a:lstStyle/>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&lt;add name="ASPNETCORE_ENVIRONMENT"</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value="Development" /&gt;</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&lt;httpErrors errorMode="Detailed" /&gt;</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&lt;!-- header: Server: IIS/10.0 --&gt;</a:t>
            </a:r>
            <a:endParaRPr lang="en-US" sz="1200" dirty="0"/>
          </a:p>
        </p:txBody>
      </p:sp>
      <p:sp>
        <p:nvSpPr>
          <p:cNvPr id="8" name="Ex fixed"/>
          <p:cNvSpPr/>
          <p:nvPr/>
        </p:nvSpPr>
        <p:spPr>
          <a:xfrm>
            <a:off x="4663440" y="1371600"/>
            <a:ext cx="4023360" cy="2834640"/>
          </a:xfrm>
          <a:prstGeom prst="roundRect">
            <a:avLst>
              <a:gd name="adj" fmla="val 3871"/>
            </a:avLst>
          </a:prstGeom>
          <a:solidFill>
            <a:schemeClr val="accent3">
              <a:alpha val="12000"/>
            </a:schemeClr>
          </a:solidFill>
          <a:ln w="12700">
            <a:solidFill>
              <a:schemeClr val="accent3"/>
            </a:solidFill>
            <a:prstDash val="solid"/>
          </a:ln>
        </p:spPr>
      </p:sp>
      <p:sp>
        <p:nvSpPr>
          <p:cNvPr id="9" name="Ex fixed label"/>
          <p:cNvSpPr txBox="1"/>
          <p:nvPr/>
        </p:nvSpPr>
        <p:spPr>
          <a:xfrm>
            <a:off x="4846320" y="1508760"/>
            <a:ext cx="3657600" cy="256032"/>
          </a:xfrm>
          <a:prstGeom prst="rect">
            <a:avLst/>
          </a:prstGeom>
          <a:noFill/>
          <a:ln/>
        </p:spPr>
        <p:txBody>
          <a:bodyPr wrap="square" lIns="0" tIns="0" rIns="0" bIns="0" rtlCol="0" anchor="ctr"/>
          <a:lstStyle/>
          <a:p>
            <a:pPr indent="0" marL="0">
              <a:buNone/>
            </a:pPr>
            <a:r>
              <a:rPr lang="en-US" sz="1200" b="1" spc="200" kern="0" dirty="0">
                <a:solidFill>
                  <a:schemeClr val="accent3"/>
                </a:solidFill>
              </a:rPr>
              <a:t>FIXED</a:t>
            </a:r>
            <a:endParaRPr lang="en-US" sz="1200" dirty="0"/>
          </a:p>
        </p:txBody>
      </p:sp>
      <p:sp>
        <p:nvSpPr>
          <p:cNvPr id="10" name="Ex fixed code"/>
          <p:cNvSpPr txBox="1"/>
          <p:nvPr/>
        </p:nvSpPr>
        <p:spPr>
          <a:xfrm>
            <a:off x="4846320" y="1920240"/>
            <a:ext cx="3657600" cy="2103120"/>
          </a:xfrm>
          <a:prstGeom prst="rect">
            <a:avLst/>
          </a:prstGeom>
          <a:noFill/>
          <a:ln/>
        </p:spPr>
        <p:txBody>
          <a:bodyPr wrap="square" lIns="0" tIns="0" rIns="0" bIns="0" rtlCol="0" anchor="t"/>
          <a:lstStyle/>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&lt;add name="ASPNETCORE_ENVIRONMENT"</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value="Production" /&gt;</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&lt;httpErrors errorMode="Custom" /&gt;</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&lt;!-- requestFiltering</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removeServerHeader="true" --&gt;</a:t>
            </a:r>
            <a:endParaRPr lang="en-US" sz="1200" dirty="0"/>
          </a:p>
        </p:txBody>
      </p:sp>
      <p:sp>
        <p:nvSpPr>
          <p:cNvPr id="11" name="Takeaway"/>
          <p:cNvSpPr txBox="1"/>
          <p:nvPr/>
        </p:nvSpPr>
        <p:spPr>
          <a:xfrm>
            <a:off x="457200" y="4279392"/>
            <a:ext cx="4754880" cy="411480"/>
          </a:xfrm>
          <a:prstGeom prst="rect">
            <a:avLst/>
          </a:prstGeom>
          <a:noFill/>
          <a:ln/>
        </p:spPr>
        <p:txBody>
          <a:bodyPr wrap="square" lIns="0" tIns="0" rIns="0" bIns="0" rtlCol="0" anchor="ctr"/>
          <a:lstStyle/>
          <a:p>
            <a:pPr indent="0" marL="0">
              <a:buNone/>
            </a:pPr>
            <a:r>
              <a:rPr lang="en-US" sz="1600" b="1" dirty="0">
                <a:solidFill>
                  <a:schemeClr val="accent1"/>
                </a:solidFill>
              </a:rPr>
              <a:t>Production settings are reviewed like code.</a:t>
            </a:r>
            <a:endParaRPr lang="en-US" sz="1600" dirty="0"/>
          </a:p>
        </p:txBody>
      </p:sp>
      <p:pic>
        <p:nvPicPr>
          <p:cNvPr id="12" name="Hacker" descr="Hacker cartoon">    </p:cNvPr>
          <p:cNvPicPr>
            <a:picLocks noChangeAspect="1"/>
          </p:cNvPicPr>
          <p:nvPr/>
        </p:nvPicPr>
        <p:blipFill>
          <a:blip r:embed="rId1"/>
          <a:stretch>
            <a:fillRect/>
          </a:stretch>
        </p:blipFill>
        <p:spPr>
          <a:xfrm>
            <a:off x="7040880" y="4160520"/>
            <a:ext cx="777240" cy="777240"/>
          </a:xfrm>
          <a:prstGeom prst="rect">
            <a:avLst/>
          </a:prstGeom>
        </p:spPr>
      </p:pic>
      <p:pic>
        <p:nvPicPr>
          <p:cNvPr id="13" name="Mascot" descr="Mascot cartoon">    </p:cNvPr>
          <p:cNvPicPr>
            <a:picLocks noChangeAspect="1"/>
          </p:cNvPicPr>
          <p:nvPr/>
        </p:nvPicPr>
        <p:blipFill>
          <a:blip r:embed="rId2"/>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9" fill="hold">
                      <p:stCondLst>
                        <p:cond delay="indefinite"/>
                      </p:stCondLst>
                      <p:childTnLst>
                        <p:par>
                          <p:cTn id="20" fill="hold">
                            <p:stCondLst>
                              <p:cond delay="0"/>
                            </p:stCondLst>
                            <p:childTnLst>
                              <p:par>
                                <p:cTn id="6" presetID="2" presetClass="entr" presetSubtype="8"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 calcmode="lin" valueType="num">
                                      <p:cBhvr additive="base">
                                        <p:cTn id="4" dur="600" fill="hold"/>
                                        <p:tgtEl>
                                          <p:spTgt spid="5"/>
                                        </p:tgtEl>
                                        <p:attrNameLst>
                                          <p:attrName>ppt_x</p:attrName>
                                        </p:attrNameLst>
                                      </p:cBhvr>
                                      <p:tavLst>
                                        <p:tav tm="0">
                                          <p:val>
                                            <p:strVal val="0-#ppt_w/2"/>
                                          </p:val>
                                        </p:tav>
                                        <p:tav tm="100000">
                                          <p:val>
                                            <p:strVal val="#ppt_x"/>
                                          </p:val>
                                        </p:tav>
                                      </p:tavLst>
                                    </p:anim>
                                    <p:anim calcmode="lin" valueType="num">
                                      <p:cBhvr additive="base">
                                        <p:cTn id="5" dur="600" fill="hold"/>
                                        <p:tgtEl>
                                          <p:spTgt spid="5"/>
                                        </p:tgtEl>
                                        <p:attrNameLst>
                                          <p:attrName>ppt_y</p:attrName>
                                        </p:attrNameLst>
                                      </p:cBhvr>
                                      <p:tavLst>
                                        <p:tav tm="0">
                                          <p:val>
                                            <p:strVal val="#ppt_y"/>
                                          </p:val>
                                        </p:tav>
                                        <p:tav tm="100000">
                                          <p:val>
                                            <p:strVal val="#ppt_y"/>
                                          </p:val>
                                        </p:tav>
                                      </p:tavLst>
                                    </p:anim>
                                  </p:childTnLst>
                                </p:cTn>
                              </p:par>
                              <p:par>
                                <p:cTn id="10" presetID="2" presetClass="entr" presetSubtype="8"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 calcmode="lin" valueType="num">
                                      <p:cBhvr additive="base">
                                        <p:cTn id="8" dur="600" fill="hold"/>
                                        <p:tgtEl>
                                          <p:spTgt spid="6"/>
                                        </p:tgtEl>
                                        <p:attrNameLst>
                                          <p:attrName>ppt_x</p:attrName>
                                        </p:attrNameLst>
                                      </p:cBhvr>
                                      <p:tavLst>
                                        <p:tav tm="0">
                                          <p:val>
                                            <p:strVal val="0-#ppt_w/2"/>
                                          </p:val>
                                        </p:tav>
                                        <p:tav tm="100000">
                                          <p:val>
                                            <p:strVal val="#ppt_x"/>
                                          </p:val>
                                        </p:tav>
                                      </p:tavLst>
                                    </p:anim>
                                    <p:anim calcmode="lin" valueType="num">
                                      <p:cBhvr additive="base">
                                        <p:cTn id="9" dur="600" fill="hold"/>
                                        <p:tgtEl>
                                          <p:spTgt spid="6"/>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600" fill="hold"/>
                                        <p:tgtEl>
                                          <p:spTgt spid="7"/>
                                        </p:tgtEl>
                                        <p:attrNameLst>
                                          <p:attrName>ppt_x</p:attrName>
                                        </p:attrNameLst>
                                      </p:cBhvr>
                                      <p:tavLst>
                                        <p:tav tm="0">
                                          <p:val>
                                            <p:strVal val="0-#ppt_w/2"/>
                                          </p:val>
                                        </p:tav>
                                        <p:tav tm="100000">
                                          <p:val>
                                            <p:strVal val="#ppt_x"/>
                                          </p:val>
                                        </p:tav>
                                      </p:tavLst>
                                    </p:anim>
                                    <p:anim calcmode="lin" valueType="num">
                                      <p:cBhvr additive="base">
                                        <p:cTn id="13" dur="600" fill="hold"/>
                                        <p:tgtEl>
                                          <p:spTgt spid="7"/>
                                        </p:tgtEl>
                                        <p:attrNameLst>
                                          <p:attrName>ppt_y</p:attrName>
                                        </p:attrNameLst>
                                      </p:cBhvr>
                                      <p:tavLst>
                                        <p:tav tm="0">
                                          <p:val>
                                            <p:strVal val="#ppt_y"/>
                                          </p:val>
                                        </p:tav>
                                        <p:tav tm="100000">
                                          <p:val>
                                            <p:strVal val="#ppt_y"/>
                                          </p:val>
                                        </p:tav>
                                      </p:tavLst>
                                    </p:anim>
                                  </p:childTnLst>
                                </p:cTn>
                              </p:par>
                              <p:par>
                                <p:cTn id="18" presetID="2" presetClass="entr" presetSubtype="8"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600" fill="hold"/>
                                        <p:tgtEl>
                                          <p:spTgt spid="12"/>
                                        </p:tgtEl>
                                        <p:attrNameLst>
                                          <p:attrName>ppt_x</p:attrName>
                                        </p:attrNameLst>
                                      </p:cBhvr>
                                      <p:tavLst>
                                        <p:tav tm="0">
                                          <p:val>
                                            <p:strVal val="0-#ppt_w/2"/>
                                          </p:val>
                                        </p:tav>
                                        <p:tav tm="100000">
                                          <p:val>
                                            <p:strVal val="#ppt_x"/>
                                          </p:val>
                                        </p:tav>
                                      </p:tavLst>
                                    </p:anim>
                                    <p:anim calcmode="lin" valueType="num">
                                      <p:cBhvr additive="base">
                                        <p:cTn id="17" dur="6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25" presetID="53" presetClass="entr" presetSubtype="16"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600" fill="hold"/>
                                        <p:tgtEl>
                                          <p:spTgt spid="8"/>
                                        </p:tgtEl>
                                        <p:attrNameLst>
                                          <p:attrName>ppt_w</p:attrName>
                                        </p:attrNameLst>
                                      </p:cBhvr>
                                      <p:tavLst>
                                        <p:tav tm="0">
                                          <p:val>
                                            <p:fltVal val="0"/>
                                          </p:val>
                                        </p:tav>
                                        <p:tav tm="100000">
                                          <p:val>
                                            <p:strVal val="#ppt_w"/>
                                          </p:val>
                                        </p:tav>
                                      </p:tavLst>
                                    </p:anim>
                                    <p:anim calcmode="lin" valueType="num">
                                      <p:cBhvr additive="base">
                                        <p:cTn id="23" dur="600" fill="hold"/>
                                        <p:tgtEl>
                                          <p:spTgt spid="8"/>
                                        </p:tgtEl>
                                        <p:attrNameLst>
                                          <p:attrName>ppt_h</p:attrName>
                                        </p:attrNameLst>
                                      </p:cBhvr>
                                      <p:tavLst>
                                        <p:tav tm="0">
                                          <p:val>
                                            <p:fltVal val="0"/>
                                          </p:val>
                                        </p:tav>
                                        <p:tav tm="100000">
                                          <p:val>
                                            <p:strVal val="#ppt_h"/>
                                          </p:val>
                                        </p:tav>
                                      </p:tavLst>
                                    </p:anim>
                                    <p:animEffect transition="in" filter="fade">
                                      <p:cBhvr>
                                        <p:cTn id="24" dur="600"/>
                                        <p:tgtEl>
                                          <p:spTgt spid="8"/>
                                        </p:tgtEl>
                                      </p:cBhvr>
                                    </p:animEffect>
                                  </p:childTnLst>
                                </p:cTn>
                              </p:par>
                              <p:par>
                                <p:cTn id="30" presetID="53"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600" fill="hold"/>
                                        <p:tgtEl>
                                          <p:spTgt spid="9"/>
                                        </p:tgtEl>
                                        <p:attrNameLst>
                                          <p:attrName>ppt_w</p:attrName>
                                        </p:attrNameLst>
                                      </p:cBhvr>
                                      <p:tavLst>
                                        <p:tav tm="0">
                                          <p:val>
                                            <p:fltVal val="0"/>
                                          </p:val>
                                        </p:tav>
                                        <p:tav tm="100000">
                                          <p:val>
                                            <p:strVal val="#ppt_w"/>
                                          </p:val>
                                        </p:tav>
                                      </p:tavLst>
                                    </p:anim>
                                    <p:anim calcmode="lin" valueType="num">
                                      <p:cBhvr additive="base">
                                        <p:cTn id="28" dur="600" fill="hold"/>
                                        <p:tgtEl>
                                          <p:spTgt spid="9"/>
                                        </p:tgtEl>
                                        <p:attrNameLst>
                                          <p:attrName>ppt_h</p:attrName>
                                        </p:attrNameLst>
                                      </p:cBhvr>
                                      <p:tavLst>
                                        <p:tav tm="0">
                                          <p:val>
                                            <p:fltVal val="0"/>
                                          </p:val>
                                        </p:tav>
                                        <p:tav tm="100000">
                                          <p:val>
                                            <p:strVal val="#ppt_h"/>
                                          </p:val>
                                        </p:tav>
                                      </p:tavLst>
                                    </p:anim>
                                    <p:animEffect transition="in" filter="fade">
                                      <p:cBhvr>
                                        <p:cTn id="29" dur="600"/>
                                        <p:tgtEl>
                                          <p:spTgt spid="9"/>
                                        </p:tgtEl>
                                      </p:cBhvr>
                                    </p:animEffect>
                                  </p:childTnLst>
                                </p:cTn>
                              </p:par>
                              <p:par>
                                <p:cTn id="35" presetID="53" presetClass="entr" presetSubtype="16"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600" fill="hold"/>
                                        <p:tgtEl>
                                          <p:spTgt spid="10"/>
                                        </p:tgtEl>
                                        <p:attrNameLst>
                                          <p:attrName>ppt_w</p:attrName>
                                        </p:attrNameLst>
                                      </p:cBhvr>
                                      <p:tavLst>
                                        <p:tav tm="0">
                                          <p:val>
                                            <p:fltVal val="0"/>
                                          </p:val>
                                        </p:tav>
                                        <p:tav tm="100000">
                                          <p:val>
                                            <p:strVal val="#ppt_w"/>
                                          </p:val>
                                        </p:tav>
                                      </p:tavLst>
                                    </p:anim>
                                    <p:anim calcmode="lin" valueType="num">
                                      <p:cBhvr additive="base">
                                        <p:cTn id="33" dur="600" fill="hold"/>
                                        <p:tgtEl>
                                          <p:spTgt spid="10"/>
                                        </p:tgtEl>
                                        <p:attrNameLst>
                                          <p:attrName>ppt_h</p:attrName>
                                        </p:attrNameLst>
                                      </p:cBhvr>
                                      <p:tavLst>
                                        <p:tav tm="0">
                                          <p:val>
                                            <p:fltVal val="0"/>
                                          </p:val>
                                        </p:tav>
                                        <p:tav tm="100000">
                                          <p:val>
                                            <p:strVal val="#ppt_h"/>
                                          </p:val>
                                        </p:tav>
                                      </p:tavLst>
                                    </p:anim>
                                    <p:animEffect transition="in" filter="fade">
                                      <p:cBhvr>
                                        <p:cTn id="34" dur="600"/>
                                        <p:tgtEl>
                                          <p:spTgt spid="10"/>
                                        </p:tgtEl>
                                      </p:cBhvr>
                                    </p:animEffect>
                                  </p:childTnLst>
                                </p:cTn>
                              </p:par>
                              <p:par>
                                <p:cTn id="40" presetID="53" presetClass="entr" presetSubtype="16"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600" fill="hold"/>
                                        <p:tgtEl>
                                          <p:spTgt spid="13"/>
                                        </p:tgtEl>
                                        <p:attrNameLst>
                                          <p:attrName>ppt_w</p:attrName>
                                        </p:attrNameLst>
                                      </p:cBhvr>
                                      <p:tavLst>
                                        <p:tav tm="0">
                                          <p:val>
                                            <p:fltVal val="0"/>
                                          </p:val>
                                        </p:tav>
                                        <p:tav tm="100000">
                                          <p:val>
                                            <p:strVal val="#ppt_w"/>
                                          </p:val>
                                        </p:tav>
                                      </p:tavLst>
                                    </p:anim>
                                    <p:anim calcmode="lin" valueType="num">
                                      <p:cBhvr additive="base">
                                        <p:cTn id="38" dur="600" fill="hold"/>
                                        <p:tgtEl>
                                          <p:spTgt spid="13"/>
                                        </p:tgtEl>
                                        <p:attrNameLst>
                                          <p:attrName>ppt_h</p:attrName>
                                        </p:attrNameLst>
                                      </p:cBhvr>
                                      <p:tavLst>
                                        <p:tav tm="0">
                                          <p:val>
                                            <p:fltVal val="0"/>
                                          </p:val>
                                        </p:tav>
                                        <p:tav tm="100000">
                                          <p:val>
                                            <p:strVal val="#ppt_h"/>
                                          </p:val>
                                        </p:tav>
                                      </p:tavLst>
                                    </p:anim>
                                    <p:animEffect transition="in" filter="fade">
                                      <p:cBhvr>
                                        <p:cTn id="39"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A03 · Supply Chain: Angular + .NET</a:t>
            </a:r>
            <a:endParaRPr lang="en-US" sz="3000" dirty="0"/>
          </a:p>
        </p:txBody>
      </p:sp>
      <p:sp>
        <p:nvSpPr>
          <p:cNvPr id="4" name="Col Angular"/>
          <p:cNvSpPr txBox="1"/>
          <p:nvPr/>
        </p:nvSpPr>
        <p:spPr>
          <a:xfrm>
            <a:off x="457200" y="1097280"/>
            <a:ext cx="4023360" cy="274320"/>
          </a:xfrm>
          <a:prstGeom prst="rect">
            <a:avLst/>
          </a:prstGeom>
          <a:noFill/>
          <a:ln/>
        </p:spPr>
        <p:txBody>
          <a:bodyPr wrap="square" lIns="0" tIns="0" rIns="0" bIns="0" rtlCol="0" anchor="ctr"/>
          <a:lstStyle/>
          <a:p>
            <a:pPr indent="0" marL="0">
              <a:buNone/>
            </a:pPr>
            <a:r>
              <a:rPr lang="en-US" sz="1300" b="1" dirty="0">
                <a:solidFill>
                  <a:schemeClr val="accent5"/>
                </a:solidFill>
              </a:rPr>
              <a:t>ANGULAR · TypeScript</a:t>
            </a:r>
            <a:endParaRPr lang="en-US" sz="1300" dirty="0"/>
          </a:p>
        </p:txBody>
      </p:sp>
      <p:sp>
        <p:nvSpPr>
          <p:cNvPr id="5" name="Col NET"/>
          <p:cNvSpPr txBox="1"/>
          <p:nvPr/>
        </p:nvSpPr>
        <p:spPr>
          <a:xfrm>
            <a:off x="4663440" y="1097280"/>
            <a:ext cx="4023360" cy="274320"/>
          </a:xfrm>
          <a:prstGeom prst="rect">
            <a:avLst/>
          </a:prstGeom>
          <a:noFill/>
          <a:ln/>
        </p:spPr>
        <p:txBody>
          <a:bodyPr wrap="square" lIns="0" tIns="0" rIns="0" bIns="0" rtlCol="0" anchor="ctr"/>
          <a:lstStyle/>
          <a:p>
            <a:pPr indent="0" marL="0">
              <a:buNone/>
            </a:pPr>
            <a:r>
              <a:rPr lang="en-US" sz="1300" b="1" dirty="0">
                <a:solidFill>
                  <a:schemeClr val="accent6"/>
                </a:solidFill>
              </a:rPr>
              <a:t>ASP.NET CORE · C#</a:t>
            </a:r>
            <a:endParaRPr lang="en-US" sz="1300" dirty="0"/>
          </a:p>
        </p:txBody>
      </p:sp>
      <p:sp>
        <p:nvSpPr>
          <p:cNvPr id="6" name="NG vuln"/>
          <p:cNvSpPr/>
          <p:nvPr/>
        </p:nvSpPr>
        <p:spPr>
          <a:xfrm>
            <a:off x="457200" y="1417320"/>
            <a:ext cx="4023360" cy="1325880"/>
          </a:xfrm>
          <a:prstGeom prst="roundRect">
            <a:avLst>
              <a:gd name="adj" fmla="val 8276"/>
            </a:avLst>
          </a:prstGeom>
          <a:solidFill>
            <a:schemeClr val="accent2">
              <a:alpha val="12000"/>
            </a:schemeClr>
          </a:solidFill>
          <a:ln w="12700">
            <a:solidFill>
              <a:schemeClr val="accent2"/>
            </a:solidFill>
            <a:prstDash val="solid"/>
          </a:ln>
        </p:spPr>
      </p:sp>
      <p:sp>
        <p:nvSpPr>
          <p:cNvPr id="7" name="NG vuln label"/>
          <p:cNvSpPr txBox="1"/>
          <p:nvPr/>
        </p:nvSpPr>
        <p:spPr>
          <a:xfrm>
            <a:off x="640080" y="1490472"/>
            <a:ext cx="3657600" cy="256032"/>
          </a:xfrm>
          <a:prstGeom prst="rect">
            <a:avLst/>
          </a:prstGeom>
          <a:noFill/>
          <a:ln/>
        </p:spPr>
        <p:txBody>
          <a:bodyPr wrap="square" lIns="0" tIns="0" rIns="0" bIns="0" rtlCol="0" anchor="ctr"/>
          <a:lstStyle/>
          <a:p>
            <a:pPr indent="0" marL="0">
              <a:buNone/>
            </a:pPr>
            <a:r>
              <a:rPr lang="en-US" sz="1100" b="1" spc="200" kern="0" dirty="0">
                <a:solidFill>
                  <a:schemeClr val="accent2"/>
                </a:solidFill>
              </a:rPr>
              <a:t>VULNERABLE</a:t>
            </a:r>
            <a:endParaRPr lang="en-US" sz="1100" dirty="0"/>
          </a:p>
        </p:txBody>
      </p:sp>
      <p:sp>
        <p:nvSpPr>
          <p:cNvPr id="8" name="NG vuln code"/>
          <p:cNvSpPr txBox="1"/>
          <p:nvPr/>
        </p:nvSpPr>
        <p:spPr>
          <a:xfrm>
            <a:off x="640080" y="1783080"/>
            <a:ext cx="3657600" cy="88696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"dependencies":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"some-lib": "latest",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"other-lib": "^2.0.0" }</a:t>
            </a:r>
            <a:endParaRPr lang="en-US" sz="1200" dirty="0"/>
          </a:p>
        </p:txBody>
      </p:sp>
      <p:sp>
        <p:nvSpPr>
          <p:cNvPr id="9" name="NET vuln"/>
          <p:cNvSpPr/>
          <p:nvPr/>
        </p:nvSpPr>
        <p:spPr>
          <a:xfrm>
            <a:off x="4663440" y="1417320"/>
            <a:ext cx="4023360" cy="1325880"/>
          </a:xfrm>
          <a:prstGeom prst="roundRect">
            <a:avLst>
              <a:gd name="adj" fmla="val 8276"/>
            </a:avLst>
          </a:prstGeom>
          <a:solidFill>
            <a:schemeClr val="accent2">
              <a:alpha val="12000"/>
            </a:schemeClr>
          </a:solidFill>
          <a:ln w="12700">
            <a:solidFill>
              <a:schemeClr val="accent2"/>
            </a:solidFill>
            <a:prstDash val="solid"/>
          </a:ln>
        </p:spPr>
      </p:sp>
      <p:sp>
        <p:nvSpPr>
          <p:cNvPr id="10" name="NET vuln label"/>
          <p:cNvSpPr txBox="1"/>
          <p:nvPr/>
        </p:nvSpPr>
        <p:spPr>
          <a:xfrm>
            <a:off x="4846320" y="1490472"/>
            <a:ext cx="3657600" cy="256032"/>
          </a:xfrm>
          <a:prstGeom prst="rect">
            <a:avLst/>
          </a:prstGeom>
          <a:noFill/>
          <a:ln/>
        </p:spPr>
        <p:txBody>
          <a:bodyPr wrap="square" lIns="0" tIns="0" rIns="0" bIns="0" rtlCol="0" anchor="ctr"/>
          <a:lstStyle/>
          <a:p>
            <a:pPr indent="0" marL="0">
              <a:buNone/>
            </a:pPr>
            <a:r>
              <a:rPr lang="en-US" sz="1100" b="1" spc="200" kern="0" dirty="0">
                <a:solidFill>
                  <a:schemeClr val="accent2"/>
                </a:solidFill>
              </a:rPr>
              <a:t>VULNERABLE</a:t>
            </a:r>
            <a:endParaRPr lang="en-US" sz="1100" dirty="0"/>
          </a:p>
        </p:txBody>
      </p:sp>
      <p:sp>
        <p:nvSpPr>
          <p:cNvPr id="11" name="NET vuln code"/>
          <p:cNvSpPr txBox="1"/>
          <p:nvPr/>
        </p:nvSpPr>
        <p:spPr>
          <a:xfrm>
            <a:off x="4846320" y="1783080"/>
            <a:ext cx="3657600" cy="88696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&lt;PackageReference Include="X"</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Version="*" /&gt;</a:t>
            </a:r>
            <a:endParaRPr lang="en-US" sz="1200" dirty="0"/>
          </a:p>
        </p:txBody>
      </p:sp>
      <p:sp>
        <p:nvSpPr>
          <p:cNvPr id="12" name="NG fixed"/>
          <p:cNvSpPr/>
          <p:nvPr/>
        </p:nvSpPr>
        <p:spPr>
          <a:xfrm>
            <a:off x="457200" y="2807208"/>
            <a:ext cx="4023360" cy="1325880"/>
          </a:xfrm>
          <a:prstGeom prst="roundRect">
            <a:avLst>
              <a:gd name="adj" fmla="val 8276"/>
            </a:avLst>
          </a:prstGeom>
          <a:solidFill>
            <a:schemeClr val="accent3">
              <a:alpha val="12000"/>
            </a:schemeClr>
          </a:solidFill>
          <a:ln w="12700">
            <a:solidFill>
              <a:schemeClr val="accent3"/>
            </a:solidFill>
            <a:prstDash val="solid"/>
          </a:ln>
        </p:spPr>
      </p:sp>
      <p:sp>
        <p:nvSpPr>
          <p:cNvPr id="13" name="NG fixed label"/>
          <p:cNvSpPr txBox="1"/>
          <p:nvPr/>
        </p:nvSpPr>
        <p:spPr>
          <a:xfrm>
            <a:off x="640080" y="2880360"/>
            <a:ext cx="3657600" cy="256032"/>
          </a:xfrm>
          <a:prstGeom prst="rect">
            <a:avLst/>
          </a:prstGeom>
          <a:noFill/>
          <a:ln/>
        </p:spPr>
        <p:txBody>
          <a:bodyPr wrap="square" lIns="0" tIns="0" rIns="0" bIns="0" rtlCol="0" anchor="ctr"/>
          <a:lstStyle/>
          <a:p>
            <a:pPr indent="0" marL="0">
              <a:buNone/>
            </a:pPr>
            <a:r>
              <a:rPr lang="en-US" sz="1100" b="1" spc="200" kern="0" dirty="0">
                <a:solidFill>
                  <a:schemeClr val="accent3"/>
                </a:solidFill>
              </a:rPr>
              <a:t>FIXED</a:t>
            </a:r>
            <a:endParaRPr lang="en-US" sz="1100" dirty="0"/>
          </a:p>
        </p:txBody>
      </p:sp>
      <p:sp>
        <p:nvSpPr>
          <p:cNvPr id="14" name="NG fixed code"/>
          <p:cNvSpPr txBox="1"/>
          <p:nvPr/>
        </p:nvSpPr>
        <p:spPr>
          <a:xfrm>
            <a:off x="640080" y="3172968"/>
            <a:ext cx="3657600" cy="88696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"some-lib": "4.2.1",   // exact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.npmrc: registry=npm.internal</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CI runs: npm ci</a:t>
            </a:r>
            <a:endParaRPr lang="en-US" sz="1200" dirty="0"/>
          </a:p>
        </p:txBody>
      </p:sp>
      <p:sp>
        <p:nvSpPr>
          <p:cNvPr id="15" name="NET fixed"/>
          <p:cNvSpPr/>
          <p:nvPr/>
        </p:nvSpPr>
        <p:spPr>
          <a:xfrm>
            <a:off x="4663440" y="2807208"/>
            <a:ext cx="4023360" cy="1325880"/>
          </a:xfrm>
          <a:prstGeom prst="roundRect">
            <a:avLst>
              <a:gd name="adj" fmla="val 8276"/>
            </a:avLst>
          </a:prstGeom>
          <a:solidFill>
            <a:schemeClr val="accent3">
              <a:alpha val="12000"/>
            </a:schemeClr>
          </a:solidFill>
          <a:ln w="12700">
            <a:solidFill>
              <a:schemeClr val="accent3"/>
            </a:solidFill>
            <a:prstDash val="solid"/>
          </a:ln>
        </p:spPr>
      </p:sp>
      <p:sp>
        <p:nvSpPr>
          <p:cNvPr id="16" name="NET fixed label"/>
          <p:cNvSpPr txBox="1"/>
          <p:nvPr/>
        </p:nvSpPr>
        <p:spPr>
          <a:xfrm>
            <a:off x="4846320" y="2880360"/>
            <a:ext cx="3657600" cy="256032"/>
          </a:xfrm>
          <a:prstGeom prst="rect">
            <a:avLst/>
          </a:prstGeom>
          <a:noFill/>
          <a:ln/>
        </p:spPr>
        <p:txBody>
          <a:bodyPr wrap="square" lIns="0" tIns="0" rIns="0" bIns="0" rtlCol="0" anchor="ctr"/>
          <a:lstStyle/>
          <a:p>
            <a:pPr indent="0" marL="0">
              <a:buNone/>
            </a:pPr>
            <a:r>
              <a:rPr lang="en-US" sz="1100" b="1" spc="200" kern="0" dirty="0">
                <a:solidFill>
                  <a:schemeClr val="accent3"/>
                </a:solidFill>
              </a:rPr>
              <a:t>FIXED</a:t>
            </a:r>
            <a:endParaRPr lang="en-US" sz="1100" dirty="0"/>
          </a:p>
        </p:txBody>
      </p:sp>
      <p:sp>
        <p:nvSpPr>
          <p:cNvPr id="17" name="NET fixed code"/>
          <p:cNvSpPr txBox="1"/>
          <p:nvPr/>
        </p:nvSpPr>
        <p:spPr>
          <a:xfrm>
            <a:off x="4846320" y="3172968"/>
            <a:ext cx="3657600" cy="88696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&lt;PackageReference Include="X"</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Version="4.2.1" /&gt;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&lt;RestorePackagesWithLockFile&gt;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true&lt;/RestorePackagesWithLockFile&gt;</a:t>
            </a:r>
            <a:endParaRPr lang="en-US" sz="1200" dirty="0"/>
          </a:p>
        </p:txBody>
      </p:sp>
      <p:sp>
        <p:nvSpPr>
          <p:cNvPr id="18" name="Takeaway"/>
          <p:cNvSpPr txBox="1"/>
          <p:nvPr/>
        </p:nvSpPr>
        <p:spPr>
          <a:xfrm>
            <a:off x="457200" y="4279392"/>
            <a:ext cx="4754880" cy="411480"/>
          </a:xfrm>
          <a:prstGeom prst="rect">
            <a:avLst/>
          </a:prstGeom>
          <a:noFill/>
          <a:ln/>
        </p:spPr>
        <p:txBody>
          <a:bodyPr wrap="square" lIns="0" tIns="0" rIns="0" bIns="0" rtlCol="0" anchor="ctr"/>
          <a:lstStyle/>
          <a:p>
            <a:pPr indent="0" marL="0">
              <a:buNone/>
            </a:pPr>
            <a:r>
              <a:rPr lang="en-US" sz="1600" b="1" dirty="0">
                <a:solidFill>
                  <a:schemeClr val="accent1"/>
                </a:solidFill>
              </a:rPr>
              <a:t>Pin it, lock it, mirror it.</a:t>
            </a:r>
            <a:endParaRPr lang="en-US" sz="1600" dirty="0"/>
          </a:p>
        </p:txBody>
      </p:sp>
      <p:pic>
        <p:nvPicPr>
          <p:cNvPr id="19" name="Hacker" descr="Hacker cartoon">    </p:cNvPr>
          <p:cNvPicPr>
            <a:picLocks noChangeAspect="1"/>
          </p:cNvPicPr>
          <p:nvPr/>
        </p:nvPicPr>
        <p:blipFill>
          <a:blip r:embed="rId1"/>
          <a:stretch>
            <a:fillRect/>
          </a:stretch>
        </p:blipFill>
        <p:spPr>
          <a:xfrm>
            <a:off x="7040880" y="4160520"/>
            <a:ext cx="777240" cy="777240"/>
          </a:xfrm>
          <a:prstGeom prst="rect">
            <a:avLst/>
          </a:prstGeom>
        </p:spPr>
      </p:pic>
      <p:pic>
        <p:nvPicPr>
          <p:cNvPr id="20" name="Mascot" descr="Mascot cartoon">    </p:cNvPr>
          <p:cNvPicPr>
            <a:picLocks noChangeAspect="1"/>
          </p:cNvPicPr>
          <p:nvPr/>
        </p:nvPicPr>
        <p:blipFill>
          <a:blip r:embed="rId2"/>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stCondLst>
                      <p:childTnLst>
                        <p:par>
                          <p:cTn id="32" fill="hold">
                            <p:stCondLst>
                              <p:cond delay="0"/>
                            </p:stCondLst>
                            <p:childTnLst>
                              <p:par>
                                <p:cTn id="6" presetID="2" presetClass="entr" presetSubtype="8" fill="hold" grpId="0" nodeType="clickEffect">
                                  <p:stCondLst>
                                    <p:cond delay="0"/>
                                  </p:stCondLst>
                                  <p:childTnLst>
                                    <p:set>
                                      <p:cBhvr>
                                        <p:cTn id="3" dur="1" fill="hold">
                                          <p:stCondLst>
                                            <p:cond delay="0"/>
                                          </p:stCondLst>
                                        </p:cTn>
                                        <p:tgtEl>
                                          <p:spTgt spid="6"/>
                                        </p:tgtEl>
                                        <p:attrNameLst>
                                          <p:attrName>style.visibility</p:attrName>
                                        </p:attrNameLst>
                                      </p:cBhvr>
                                      <p:to>
                                        <p:strVal val="visible"/>
                                      </p:to>
                                    </p:set>
                                    <p:anim calcmode="lin" valueType="num">
                                      <p:cBhvr additive="base">
                                        <p:cTn id="4" dur="600" fill="hold"/>
                                        <p:tgtEl>
                                          <p:spTgt spid="6"/>
                                        </p:tgtEl>
                                        <p:attrNameLst>
                                          <p:attrName>ppt_x</p:attrName>
                                        </p:attrNameLst>
                                      </p:cBhvr>
                                      <p:tavLst>
                                        <p:tav tm="0">
                                          <p:val>
                                            <p:strVal val="0-#ppt_w/2"/>
                                          </p:val>
                                        </p:tav>
                                        <p:tav tm="100000">
                                          <p:val>
                                            <p:strVal val="#ppt_x"/>
                                          </p:val>
                                        </p:tav>
                                      </p:tavLst>
                                    </p:anim>
                                    <p:anim calcmode="lin" valueType="num">
                                      <p:cBhvr additive="base">
                                        <p:cTn id="5" dur="600" fill="hold"/>
                                        <p:tgtEl>
                                          <p:spTgt spid="6"/>
                                        </p:tgtEl>
                                        <p:attrNameLst>
                                          <p:attrName>ppt_y</p:attrName>
                                        </p:attrNameLst>
                                      </p:cBhvr>
                                      <p:tavLst>
                                        <p:tav tm="0">
                                          <p:val>
                                            <p:strVal val="#ppt_y"/>
                                          </p:val>
                                        </p:tav>
                                        <p:tav tm="100000">
                                          <p:val>
                                            <p:strVal val="#ppt_y"/>
                                          </p:val>
                                        </p:tav>
                                      </p:tavLst>
                                    </p:anim>
                                  </p:childTnLst>
                                </p:cTn>
                              </p:par>
                              <p:par>
                                <p:cTn id="10" presetID="2" presetClass="entr" presetSubtype="8"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 calcmode="lin" valueType="num">
                                      <p:cBhvr additive="base">
                                        <p:cTn id="8" dur="600" fill="hold"/>
                                        <p:tgtEl>
                                          <p:spTgt spid="7"/>
                                        </p:tgtEl>
                                        <p:attrNameLst>
                                          <p:attrName>ppt_x</p:attrName>
                                        </p:attrNameLst>
                                      </p:cBhvr>
                                      <p:tavLst>
                                        <p:tav tm="0">
                                          <p:val>
                                            <p:strVal val="0-#ppt_w/2"/>
                                          </p:val>
                                        </p:tav>
                                        <p:tav tm="100000">
                                          <p:val>
                                            <p:strVal val="#ppt_x"/>
                                          </p:val>
                                        </p:tav>
                                      </p:tavLst>
                                    </p:anim>
                                    <p:anim calcmode="lin" valueType="num">
                                      <p:cBhvr additive="base">
                                        <p:cTn id="9" dur="600" fill="hold"/>
                                        <p:tgtEl>
                                          <p:spTgt spid="7"/>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600" fill="hold"/>
                                        <p:tgtEl>
                                          <p:spTgt spid="8"/>
                                        </p:tgtEl>
                                        <p:attrNameLst>
                                          <p:attrName>ppt_x</p:attrName>
                                        </p:attrNameLst>
                                      </p:cBhvr>
                                      <p:tavLst>
                                        <p:tav tm="0">
                                          <p:val>
                                            <p:strVal val="0-#ppt_w/2"/>
                                          </p:val>
                                        </p:tav>
                                        <p:tav tm="100000">
                                          <p:val>
                                            <p:strVal val="#ppt_x"/>
                                          </p:val>
                                        </p:tav>
                                      </p:tavLst>
                                    </p:anim>
                                    <p:anim calcmode="lin" valueType="num">
                                      <p:cBhvr additive="base">
                                        <p:cTn id="13" dur="600" fill="hold"/>
                                        <p:tgtEl>
                                          <p:spTgt spid="8"/>
                                        </p:tgtEl>
                                        <p:attrNameLst>
                                          <p:attrName>ppt_y</p:attrName>
                                        </p:attrNameLst>
                                      </p:cBhvr>
                                      <p:tavLst>
                                        <p:tav tm="0">
                                          <p:val>
                                            <p:strVal val="#ppt_y"/>
                                          </p:val>
                                        </p:tav>
                                        <p:tav tm="100000">
                                          <p:val>
                                            <p:strVal val="#ppt_y"/>
                                          </p:val>
                                        </p:tav>
                                      </p:tavLst>
                                    </p:anim>
                                  </p:childTnLst>
                                </p:cTn>
                              </p:par>
                              <p:par>
                                <p:cTn id="18" presetID="2" presetClass="entr" presetSubtype="8"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600" fill="hold"/>
                                        <p:tgtEl>
                                          <p:spTgt spid="9"/>
                                        </p:tgtEl>
                                        <p:attrNameLst>
                                          <p:attrName>ppt_x</p:attrName>
                                        </p:attrNameLst>
                                      </p:cBhvr>
                                      <p:tavLst>
                                        <p:tav tm="0">
                                          <p:val>
                                            <p:strVal val="0-#ppt_w/2"/>
                                          </p:val>
                                        </p:tav>
                                        <p:tav tm="100000">
                                          <p:val>
                                            <p:strVal val="#ppt_x"/>
                                          </p:val>
                                        </p:tav>
                                      </p:tavLst>
                                    </p:anim>
                                    <p:anim calcmode="lin" valueType="num">
                                      <p:cBhvr additive="base">
                                        <p:cTn id="17" dur="600" fill="hold"/>
                                        <p:tgtEl>
                                          <p:spTgt spid="9"/>
                                        </p:tgtEl>
                                        <p:attrNameLst>
                                          <p:attrName>ppt_y</p:attrName>
                                        </p:attrNameLst>
                                      </p:cBhvr>
                                      <p:tavLst>
                                        <p:tav tm="0">
                                          <p:val>
                                            <p:strVal val="#ppt_y"/>
                                          </p:val>
                                        </p:tav>
                                        <p:tav tm="100000">
                                          <p:val>
                                            <p:strVal val="#ppt_y"/>
                                          </p:val>
                                        </p:tav>
                                      </p:tavLst>
                                    </p:anim>
                                  </p:childTnLst>
                                </p:cTn>
                              </p:par>
                              <p:par>
                                <p:cTn id="22" presetID="2" presetClass="entr" presetSubtype="8"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additive="base">
                                        <p:cTn id="20" dur="600" fill="hold"/>
                                        <p:tgtEl>
                                          <p:spTgt spid="10"/>
                                        </p:tgtEl>
                                        <p:attrNameLst>
                                          <p:attrName>ppt_x</p:attrName>
                                        </p:attrNameLst>
                                      </p:cBhvr>
                                      <p:tavLst>
                                        <p:tav tm="0">
                                          <p:val>
                                            <p:strVal val="0-#ppt_w/2"/>
                                          </p:val>
                                        </p:tav>
                                        <p:tav tm="100000">
                                          <p:val>
                                            <p:strVal val="#ppt_x"/>
                                          </p:val>
                                        </p:tav>
                                      </p:tavLst>
                                    </p:anim>
                                    <p:anim calcmode="lin" valueType="num">
                                      <p:cBhvr additive="base">
                                        <p:cTn id="21" dur="600" fill="hold"/>
                                        <p:tgtEl>
                                          <p:spTgt spid="10"/>
                                        </p:tgtEl>
                                        <p:attrNameLst>
                                          <p:attrName>ppt_y</p:attrName>
                                        </p:attrNameLst>
                                      </p:cBhvr>
                                      <p:tavLst>
                                        <p:tav tm="0">
                                          <p:val>
                                            <p:strVal val="#ppt_y"/>
                                          </p:val>
                                        </p:tav>
                                        <p:tav tm="100000">
                                          <p:val>
                                            <p:strVal val="#ppt_y"/>
                                          </p:val>
                                        </p:tav>
                                      </p:tavLst>
                                    </p:anim>
                                  </p:childTnLst>
                                </p:cTn>
                              </p:par>
                              <p:par>
                                <p:cTn id="26" presetID="2" presetClass="entr" presetSubtype="8"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600" fill="hold"/>
                                        <p:tgtEl>
                                          <p:spTgt spid="11"/>
                                        </p:tgtEl>
                                        <p:attrNameLst>
                                          <p:attrName>ppt_x</p:attrName>
                                        </p:attrNameLst>
                                      </p:cBhvr>
                                      <p:tavLst>
                                        <p:tav tm="0">
                                          <p:val>
                                            <p:strVal val="0-#ppt_w/2"/>
                                          </p:val>
                                        </p:tav>
                                        <p:tav tm="100000">
                                          <p:val>
                                            <p:strVal val="#ppt_x"/>
                                          </p:val>
                                        </p:tav>
                                      </p:tavLst>
                                    </p:anim>
                                    <p:anim calcmode="lin" valueType="num">
                                      <p:cBhvr additive="base">
                                        <p:cTn id="25" dur="600" fill="hold"/>
                                        <p:tgtEl>
                                          <p:spTgt spid="11"/>
                                        </p:tgtEl>
                                        <p:attrNameLst>
                                          <p:attrName>ppt_y</p:attrName>
                                        </p:attrNameLst>
                                      </p:cBhvr>
                                      <p:tavLst>
                                        <p:tav tm="0">
                                          <p:val>
                                            <p:strVal val="#ppt_y"/>
                                          </p:val>
                                        </p:tav>
                                        <p:tav tm="100000">
                                          <p:val>
                                            <p:strVal val="#ppt_y"/>
                                          </p:val>
                                        </p:tav>
                                      </p:tavLst>
                                    </p:anim>
                                  </p:childTnLst>
                                </p:cTn>
                              </p:par>
                              <p:par>
                                <p:cTn id="30" presetID="2" presetClass="entr" presetSubtype="8"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 calcmode="lin" valueType="num">
                                      <p:cBhvr additive="base">
                                        <p:cTn id="28" dur="600" fill="hold"/>
                                        <p:tgtEl>
                                          <p:spTgt spid="19"/>
                                        </p:tgtEl>
                                        <p:attrNameLst>
                                          <p:attrName>ppt_x</p:attrName>
                                        </p:attrNameLst>
                                      </p:cBhvr>
                                      <p:tavLst>
                                        <p:tav tm="0">
                                          <p:val>
                                            <p:strVal val="0-#ppt_w/2"/>
                                          </p:val>
                                        </p:tav>
                                        <p:tav tm="100000">
                                          <p:val>
                                            <p:strVal val="#ppt_x"/>
                                          </p:val>
                                        </p:tav>
                                      </p:tavLst>
                                    </p:anim>
                                    <p:anim calcmode="lin" valueType="num">
                                      <p:cBhvr additive="base">
                                        <p:cTn id="29" dur="6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37" presetID="53" presetClass="entr" presetSubtype="16"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600" fill="hold"/>
                                        <p:tgtEl>
                                          <p:spTgt spid="12"/>
                                        </p:tgtEl>
                                        <p:attrNameLst>
                                          <p:attrName>ppt_w</p:attrName>
                                        </p:attrNameLst>
                                      </p:cBhvr>
                                      <p:tavLst>
                                        <p:tav tm="0">
                                          <p:val>
                                            <p:fltVal val="0"/>
                                          </p:val>
                                        </p:tav>
                                        <p:tav tm="100000">
                                          <p:val>
                                            <p:strVal val="#ppt_w"/>
                                          </p:val>
                                        </p:tav>
                                      </p:tavLst>
                                    </p:anim>
                                    <p:anim calcmode="lin" valueType="num">
                                      <p:cBhvr additive="base">
                                        <p:cTn id="35" dur="600" fill="hold"/>
                                        <p:tgtEl>
                                          <p:spTgt spid="12"/>
                                        </p:tgtEl>
                                        <p:attrNameLst>
                                          <p:attrName>ppt_h</p:attrName>
                                        </p:attrNameLst>
                                      </p:cBhvr>
                                      <p:tavLst>
                                        <p:tav tm="0">
                                          <p:val>
                                            <p:fltVal val="0"/>
                                          </p:val>
                                        </p:tav>
                                        <p:tav tm="100000">
                                          <p:val>
                                            <p:strVal val="#ppt_h"/>
                                          </p:val>
                                        </p:tav>
                                      </p:tavLst>
                                    </p:anim>
                                    <p:animEffect transition="in" filter="fade">
                                      <p:cBhvr>
                                        <p:cTn id="36" dur="600"/>
                                        <p:tgtEl>
                                          <p:spTgt spid="12"/>
                                        </p:tgtEl>
                                      </p:cBhvr>
                                    </p:animEffect>
                                  </p:childTnLst>
                                </p:cTn>
                              </p:par>
                              <p:par>
                                <p:cTn id="42" presetID="53" presetClass="entr" presetSubtype="16"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600" fill="hold"/>
                                        <p:tgtEl>
                                          <p:spTgt spid="13"/>
                                        </p:tgtEl>
                                        <p:attrNameLst>
                                          <p:attrName>ppt_w</p:attrName>
                                        </p:attrNameLst>
                                      </p:cBhvr>
                                      <p:tavLst>
                                        <p:tav tm="0">
                                          <p:val>
                                            <p:fltVal val="0"/>
                                          </p:val>
                                        </p:tav>
                                        <p:tav tm="100000">
                                          <p:val>
                                            <p:strVal val="#ppt_w"/>
                                          </p:val>
                                        </p:tav>
                                      </p:tavLst>
                                    </p:anim>
                                    <p:anim calcmode="lin" valueType="num">
                                      <p:cBhvr additive="base">
                                        <p:cTn id="40" dur="600" fill="hold"/>
                                        <p:tgtEl>
                                          <p:spTgt spid="13"/>
                                        </p:tgtEl>
                                        <p:attrNameLst>
                                          <p:attrName>ppt_h</p:attrName>
                                        </p:attrNameLst>
                                      </p:cBhvr>
                                      <p:tavLst>
                                        <p:tav tm="0">
                                          <p:val>
                                            <p:fltVal val="0"/>
                                          </p:val>
                                        </p:tav>
                                        <p:tav tm="100000">
                                          <p:val>
                                            <p:strVal val="#ppt_h"/>
                                          </p:val>
                                        </p:tav>
                                      </p:tavLst>
                                    </p:anim>
                                    <p:animEffect transition="in" filter="fade">
                                      <p:cBhvr>
                                        <p:cTn id="41" dur="600"/>
                                        <p:tgtEl>
                                          <p:spTgt spid="13"/>
                                        </p:tgtEl>
                                      </p:cBhvr>
                                    </p:animEffect>
                                  </p:childTnLst>
                                </p:cTn>
                              </p:par>
                              <p:par>
                                <p:cTn id="47" presetID="53" presetClass="entr" presetSubtype="16"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600" fill="hold"/>
                                        <p:tgtEl>
                                          <p:spTgt spid="14"/>
                                        </p:tgtEl>
                                        <p:attrNameLst>
                                          <p:attrName>ppt_w</p:attrName>
                                        </p:attrNameLst>
                                      </p:cBhvr>
                                      <p:tavLst>
                                        <p:tav tm="0">
                                          <p:val>
                                            <p:fltVal val="0"/>
                                          </p:val>
                                        </p:tav>
                                        <p:tav tm="100000">
                                          <p:val>
                                            <p:strVal val="#ppt_w"/>
                                          </p:val>
                                        </p:tav>
                                      </p:tavLst>
                                    </p:anim>
                                    <p:anim calcmode="lin" valueType="num">
                                      <p:cBhvr additive="base">
                                        <p:cTn id="45" dur="600" fill="hold"/>
                                        <p:tgtEl>
                                          <p:spTgt spid="14"/>
                                        </p:tgtEl>
                                        <p:attrNameLst>
                                          <p:attrName>ppt_h</p:attrName>
                                        </p:attrNameLst>
                                      </p:cBhvr>
                                      <p:tavLst>
                                        <p:tav tm="0">
                                          <p:val>
                                            <p:fltVal val="0"/>
                                          </p:val>
                                        </p:tav>
                                        <p:tav tm="100000">
                                          <p:val>
                                            <p:strVal val="#ppt_h"/>
                                          </p:val>
                                        </p:tav>
                                      </p:tavLst>
                                    </p:anim>
                                    <p:animEffect transition="in" filter="fade">
                                      <p:cBhvr>
                                        <p:cTn id="46" dur="600"/>
                                        <p:tgtEl>
                                          <p:spTgt spid="14"/>
                                        </p:tgtEl>
                                      </p:cBhvr>
                                    </p:animEffect>
                                  </p:childTnLst>
                                </p:cTn>
                              </p:par>
                              <p:par>
                                <p:cTn id="52" presetID="53" presetClass="entr" presetSubtype="16"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600" fill="hold"/>
                                        <p:tgtEl>
                                          <p:spTgt spid="15"/>
                                        </p:tgtEl>
                                        <p:attrNameLst>
                                          <p:attrName>ppt_w</p:attrName>
                                        </p:attrNameLst>
                                      </p:cBhvr>
                                      <p:tavLst>
                                        <p:tav tm="0">
                                          <p:val>
                                            <p:fltVal val="0"/>
                                          </p:val>
                                        </p:tav>
                                        <p:tav tm="100000">
                                          <p:val>
                                            <p:strVal val="#ppt_w"/>
                                          </p:val>
                                        </p:tav>
                                      </p:tavLst>
                                    </p:anim>
                                    <p:anim calcmode="lin" valueType="num">
                                      <p:cBhvr additive="base">
                                        <p:cTn id="50" dur="600" fill="hold"/>
                                        <p:tgtEl>
                                          <p:spTgt spid="15"/>
                                        </p:tgtEl>
                                        <p:attrNameLst>
                                          <p:attrName>ppt_h</p:attrName>
                                        </p:attrNameLst>
                                      </p:cBhvr>
                                      <p:tavLst>
                                        <p:tav tm="0">
                                          <p:val>
                                            <p:fltVal val="0"/>
                                          </p:val>
                                        </p:tav>
                                        <p:tav tm="100000">
                                          <p:val>
                                            <p:strVal val="#ppt_h"/>
                                          </p:val>
                                        </p:tav>
                                      </p:tavLst>
                                    </p:anim>
                                    <p:animEffect transition="in" filter="fade">
                                      <p:cBhvr>
                                        <p:cTn id="51" dur="600"/>
                                        <p:tgtEl>
                                          <p:spTgt spid="15"/>
                                        </p:tgtEl>
                                      </p:cBhvr>
                                    </p:animEffect>
                                  </p:childTnLst>
                                </p:cTn>
                              </p:par>
                              <p:par>
                                <p:cTn id="57" presetID="53" presetClass="entr" presetSubtype="16"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600" fill="hold"/>
                                        <p:tgtEl>
                                          <p:spTgt spid="16"/>
                                        </p:tgtEl>
                                        <p:attrNameLst>
                                          <p:attrName>ppt_w</p:attrName>
                                        </p:attrNameLst>
                                      </p:cBhvr>
                                      <p:tavLst>
                                        <p:tav tm="0">
                                          <p:val>
                                            <p:fltVal val="0"/>
                                          </p:val>
                                        </p:tav>
                                        <p:tav tm="100000">
                                          <p:val>
                                            <p:strVal val="#ppt_w"/>
                                          </p:val>
                                        </p:tav>
                                      </p:tavLst>
                                    </p:anim>
                                    <p:anim calcmode="lin" valueType="num">
                                      <p:cBhvr additive="base">
                                        <p:cTn id="55" dur="600" fill="hold"/>
                                        <p:tgtEl>
                                          <p:spTgt spid="16"/>
                                        </p:tgtEl>
                                        <p:attrNameLst>
                                          <p:attrName>ppt_h</p:attrName>
                                        </p:attrNameLst>
                                      </p:cBhvr>
                                      <p:tavLst>
                                        <p:tav tm="0">
                                          <p:val>
                                            <p:fltVal val="0"/>
                                          </p:val>
                                        </p:tav>
                                        <p:tav tm="100000">
                                          <p:val>
                                            <p:strVal val="#ppt_h"/>
                                          </p:val>
                                        </p:tav>
                                      </p:tavLst>
                                    </p:anim>
                                    <p:animEffect transition="in" filter="fade">
                                      <p:cBhvr>
                                        <p:cTn id="56" dur="600"/>
                                        <p:tgtEl>
                                          <p:spTgt spid="16"/>
                                        </p:tgtEl>
                                      </p:cBhvr>
                                    </p:animEffect>
                                  </p:childTnLst>
                                </p:cTn>
                              </p:par>
                              <p:par>
                                <p:cTn id="62" presetID="53" presetClass="entr" presetSubtype="16"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600" fill="hold"/>
                                        <p:tgtEl>
                                          <p:spTgt spid="17"/>
                                        </p:tgtEl>
                                        <p:attrNameLst>
                                          <p:attrName>ppt_w</p:attrName>
                                        </p:attrNameLst>
                                      </p:cBhvr>
                                      <p:tavLst>
                                        <p:tav tm="0">
                                          <p:val>
                                            <p:fltVal val="0"/>
                                          </p:val>
                                        </p:tav>
                                        <p:tav tm="100000">
                                          <p:val>
                                            <p:strVal val="#ppt_w"/>
                                          </p:val>
                                        </p:tav>
                                      </p:tavLst>
                                    </p:anim>
                                    <p:anim calcmode="lin" valueType="num">
                                      <p:cBhvr additive="base">
                                        <p:cTn id="60" dur="600" fill="hold"/>
                                        <p:tgtEl>
                                          <p:spTgt spid="17"/>
                                        </p:tgtEl>
                                        <p:attrNameLst>
                                          <p:attrName>ppt_h</p:attrName>
                                        </p:attrNameLst>
                                      </p:cBhvr>
                                      <p:tavLst>
                                        <p:tav tm="0">
                                          <p:val>
                                            <p:fltVal val="0"/>
                                          </p:val>
                                        </p:tav>
                                        <p:tav tm="100000">
                                          <p:val>
                                            <p:strVal val="#ppt_h"/>
                                          </p:val>
                                        </p:tav>
                                      </p:tavLst>
                                    </p:anim>
                                    <p:animEffect transition="in" filter="fade">
                                      <p:cBhvr>
                                        <p:cTn id="61" dur="600"/>
                                        <p:tgtEl>
                                          <p:spTgt spid="17"/>
                                        </p:tgtEl>
                                      </p:cBhvr>
                                    </p:animEffect>
                                  </p:childTnLst>
                                </p:cTn>
                              </p:par>
                              <p:par>
                                <p:cTn id="67" presetID="53" presetClass="entr" presetSubtype="16" fill="hold" nodeType="withEffect">
                                  <p:stCondLst>
                                    <p:cond delay="0"/>
                                  </p:stCondLst>
                                  <p:childTnLst>
                                    <p:set>
                                      <p:cBhvr>
                                        <p:cTn id="63" dur="1" fill="hold">
                                          <p:stCondLst>
                                            <p:cond delay="0"/>
                                          </p:stCondLst>
                                        </p:cTn>
                                        <p:tgtEl>
                                          <p:spTgt spid="20"/>
                                        </p:tgtEl>
                                        <p:attrNameLst>
                                          <p:attrName>style.visibility</p:attrName>
                                        </p:attrNameLst>
                                      </p:cBhvr>
                                      <p:to>
                                        <p:strVal val="visible"/>
                                      </p:to>
                                    </p:set>
                                    <p:anim calcmode="lin" valueType="num">
                                      <p:cBhvr additive="base">
                                        <p:cTn id="64" dur="600" fill="hold"/>
                                        <p:tgtEl>
                                          <p:spTgt spid="20"/>
                                        </p:tgtEl>
                                        <p:attrNameLst>
                                          <p:attrName>ppt_w</p:attrName>
                                        </p:attrNameLst>
                                      </p:cBhvr>
                                      <p:tavLst>
                                        <p:tav tm="0">
                                          <p:val>
                                            <p:fltVal val="0"/>
                                          </p:val>
                                        </p:tav>
                                        <p:tav tm="100000">
                                          <p:val>
                                            <p:strVal val="#ppt_w"/>
                                          </p:val>
                                        </p:tav>
                                      </p:tavLst>
                                    </p:anim>
                                    <p:anim calcmode="lin" valueType="num">
                                      <p:cBhvr additive="base">
                                        <p:cTn id="65" dur="600" fill="hold"/>
                                        <p:tgtEl>
                                          <p:spTgt spid="20"/>
                                        </p:tgtEl>
                                        <p:attrNameLst>
                                          <p:attrName>ppt_h</p:attrName>
                                        </p:attrNameLst>
                                      </p:cBhvr>
                                      <p:tavLst>
                                        <p:tav tm="0">
                                          <p:val>
                                            <p:fltVal val="0"/>
                                          </p:val>
                                        </p:tav>
                                        <p:tav tm="100000">
                                          <p:val>
                                            <p:strVal val="#ppt_h"/>
                                          </p:val>
                                        </p:tav>
                                      </p:tavLst>
                                    </p:anim>
                                    <p:animEffect transition="in" filter="fade">
                                      <p:cBhvr>
                                        <p:cTn id="66"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A03 · Supply Chain: NuGet feed</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NuGet.config</a:t>
            </a:r>
            <a:endParaRPr lang="en-US" sz="1300" dirty="0"/>
          </a:p>
        </p:txBody>
      </p:sp>
      <p:sp>
        <p:nvSpPr>
          <p:cNvPr id="5" name="Ex vuln"/>
          <p:cNvSpPr/>
          <p:nvPr/>
        </p:nvSpPr>
        <p:spPr>
          <a:xfrm>
            <a:off x="457200" y="1371600"/>
            <a:ext cx="4023360" cy="2834640"/>
          </a:xfrm>
          <a:prstGeom prst="roundRect">
            <a:avLst>
              <a:gd name="adj" fmla="val 3871"/>
            </a:avLst>
          </a:prstGeom>
          <a:solidFill>
            <a:schemeClr val="accent2">
              <a:alpha val="12000"/>
            </a:schemeClr>
          </a:solidFill>
          <a:ln w="12700">
            <a:solidFill>
              <a:schemeClr val="accent2"/>
            </a:solidFill>
            <a:prstDash val="solid"/>
          </a:ln>
        </p:spPr>
      </p:sp>
      <p:sp>
        <p:nvSpPr>
          <p:cNvPr id="6" name="Ex vuln label"/>
          <p:cNvSpPr txBox="1"/>
          <p:nvPr/>
        </p:nvSpPr>
        <p:spPr>
          <a:xfrm>
            <a:off x="640080" y="1508760"/>
            <a:ext cx="365760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VULNERABLE</a:t>
            </a:r>
            <a:endParaRPr lang="en-US" sz="1200" dirty="0"/>
          </a:p>
        </p:txBody>
      </p:sp>
      <p:sp>
        <p:nvSpPr>
          <p:cNvPr id="7" name="Ex vuln code"/>
          <p:cNvSpPr txBox="1"/>
          <p:nvPr/>
        </p:nvSpPr>
        <p:spPr>
          <a:xfrm>
            <a:off x="640080" y="1920240"/>
            <a:ext cx="3657600" cy="2103120"/>
          </a:xfrm>
          <a:prstGeom prst="rect">
            <a:avLst/>
          </a:prstGeom>
          <a:noFill/>
          <a:ln/>
        </p:spPr>
        <p:txBody>
          <a:bodyPr wrap="square" lIns="0" tIns="0" rIns="0" bIns="0" rtlCol="0" anchor="t"/>
          <a:lstStyle/>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&lt;packageSources&gt;</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&lt;add key="public"</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value="https://nuget.org" /&gt;</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&lt;/packageSources&gt;</a:t>
            </a:r>
            <a:endParaRPr lang="en-US" sz="1200" dirty="0"/>
          </a:p>
        </p:txBody>
      </p:sp>
      <p:sp>
        <p:nvSpPr>
          <p:cNvPr id="8" name="Ex fixed"/>
          <p:cNvSpPr/>
          <p:nvPr/>
        </p:nvSpPr>
        <p:spPr>
          <a:xfrm>
            <a:off x="4663440" y="1371600"/>
            <a:ext cx="4023360" cy="2834640"/>
          </a:xfrm>
          <a:prstGeom prst="roundRect">
            <a:avLst>
              <a:gd name="adj" fmla="val 3871"/>
            </a:avLst>
          </a:prstGeom>
          <a:solidFill>
            <a:schemeClr val="accent3">
              <a:alpha val="12000"/>
            </a:schemeClr>
          </a:solidFill>
          <a:ln w="12700">
            <a:solidFill>
              <a:schemeClr val="accent3"/>
            </a:solidFill>
            <a:prstDash val="solid"/>
          </a:ln>
        </p:spPr>
      </p:sp>
      <p:sp>
        <p:nvSpPr>
          <p:cNvPr id="9" name="Ex fixed label"/>
          <p:cNvSpPr txBox="1"/>
          <p:nvPr/>
        </p:nvSpPr>
        <p:spPr>
          <a:xfrm>
            <a:off x="4846320" y="1508760"/>
            <a:ext cx="3657600" cy="256032"/>
          </a:xfrm>
          <a:prstGeom prst="rect">
            <a:avLst/>
          </a:prstGeom>
          <a:noFill/>
          <a:ln/>
        </p:spPr>
        <p:txBody>
          <a:bodyPr wrap="square" lIns="0" tIns="0" rIns="0" bIns="0" rtlCol="0" anchor="ctr"/>
          <a:lstStyle/>
          <a:p>
            <a:pPr indent="0" marL="0">
              <a:buNone/>
            </a:pPr>
            <a:r>
              <a:rPr lang="en-US" sz="1200" b="1" spc="200" kern="0" dirty="0">
                <a:solidFill>
                  <a:schemeClr val="accent3"/>
                </a:solidFill>
              </a:rPr>
              <a:t>FIXED</a:t>
            </a:r>
            <a:endParaRPr lang="en-US" sz="1200" dirty="0"/>
          </a:p>
        </p:txBody>
      </p:sp>
      <p:sp>
        <p:nvSpPr>
          <p:cNvPr id="10" name="Ex fixed code"/>
          <p:cNvSpPr txBox="1"/>
          <p:nvPr/>
        </p:nvSpPr>
        <p:spPr>
          <a:xfrm>
            <a:off x="4846320" y="1920240"/>
            <a:ext cx="3657600" cy="2103120"/>
          </a:xfrm>
          <a:prstGeom prst="rect">
            <a:avLst/>
          </a:prstGeom>
          <a:noFill/>
          <a:ln/>
        </p:spPr>
        <p:txBody>
          <a:bodyPr wrap="square" lIns="0" tIns="0" rIns="0" bIns="0" rtlCol="0" anchor="t"/>
          <a:lstStyle/>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&lt;packageSources&gt;</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&lt;clear /&gt;</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&lt;add key="internal"</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value="https://nuget.corp" /&gt;</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&lt;/packageSources&gt;</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&lt;packageSourceMapping&gt;</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&lt;packageSource key="internal"&gt;</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&lt;package pattern="*" /&gt;</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&lt;/packageSource&gt;</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&lt;/packageSourceMapping&gt;</a:t>
            </a:r>
            <a:endParaRPr lang="en-US" sz="1200" dirty="0"/>
          </a:p>
        </p:txBody>
      </p:sp>
      <p:sp>
        <p:nvSpPr>
          <p:cNvPr id="11" name="Takeaway"/>
          <p:cNvSpPr txBox="1"/>
          <p:nvPr/>
        </p:nvSpPr>
        <p:spPr>
          <a:xfrm>
            <a:off x="457200" y="4279392"/>
            <a:ext cx="4754880" cy="411480"/>
          </a:xfrm>
          <a:prstGeom prst="rect">
            <a:avLst/>
          </a:prstGeom>
          <a:noFill/>
          <a:ln/>
        </p:spPr>
        <p:txBody>
          <a:bodyPr wrap="square" lIns="0" tIns="0" rIns="0" bIns="0" rtlCol="0" anchor="ctr"/>
          <a:lstStyle/>
          <a:p>
            <a:pPr indent="0" marL="0">
              <a:buNone/>
            </a:pPr>
            <a:r>
              <a:rPr lang="en-US" sz="1600" b="1" dirty="0">
                <a:solidFill>
                  <a:schemeClr val="accent1"/>
                </a:solidFill>
              </a:rPr>
              <a:t>One approved source, mapped explicitly.</a:t>
            </a:r>
            <a:endParaRPr lang="en-US" sz="1600" dirty="0"/>
          </a:p>
        </p:txBody>
      </p:sp>
      <p:pic>
        <p:nvPicPr>
          <p:cNvPr id="12" name="Hacker" descr="Hacker cartoon">    </p:cNvPr>
          <p:cNvPicPr>
            <a:picLocks noChangeAspect="1"/>
          </p:cNvPicPr>
          <p:nvPr/>
        </p:nvPicPr>
        <p:blipFill>
          <a:blip r:embed="rId1"/>
          <a:stretch>
            <a:fillRect/>
          </a:stretch>
        </p:blipFill>
        <p:spPr>
          <a:xfrm>
            <a:off x="7040880" y="4160520"/>
            <a:ext cx="777240" cy="777240"/>
          </a:xfrm>
          <a:prstGeom prst="rect">
            <a:avLst/>
          </a:prstGeom>
        </p:spPr>
      </p:pic>
      <p:pic>
        <p:nvPicPr>
          <p:cNvPr id="13" name="Mascot" descr="Mascot cartoon">    </p:cNvPr>
          <p:cNvPicPr>
            <a:picLocks noChangeAspect="1"/>
          </p:cNvPicPr>
          <p:nvPr/>
        </p:nvPicPr>
        <p:blipFill>
          <a:blip r:embed="rId2"/>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9" fill="hold">
                      <p:stCondLst>
                        <p:cond delay="indefinite"/>
                      </p:stCondLst>
                      <p:childTnLst>
                        <p:par>
                          <p:cTn id="20" fill="hold">
                            <p:stCondLst>
                              <p:cond delay="0"/>
                            </p:stCondLst>
                            <p:childTnLst>
                              <p:par>
                                <p:cTn id="6" presetID="2" presetClass="entr" presetSubtype="8"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 calcmode="lin" valueType="num">
                                      <p:cBhvr additive="base">
                                        <p:cTn id="4" dur="600" fill="hold"/>
                                        <p:tgtEl>
                                          <p:spTgt spid="5"/>
                                        </p:tgtEl>
                                        <p:attrNameLst>
                                          <p:attrName>ppt_x</p:attrName>
                                        </p:attrNameLst>
                                      </p:cBhvr>
                                      <p:tavLst>
                                        <p:tav tm="0">
                                          <p:val>
                                            <p:strVal val="0-#ppt_w/2"/>
                                          </p:val>
                                        </p:tav>
                                        <p:tav tm="100000">
                                          <p:val>
                                            <p:strVal val="#ppt_x"/>
                                          </p:val>
                                        </p:tav>
                                      </p:tavLst>
                                    </p:anim>
                                    <p:anim calcmode="lin" valueType="num">
                                      <p:cBhvr additive="base">
                                        <p:cTn id="5" dur="600" fill="hold"/>
                                        <p:tgtEl>
                                          <p:spTgt spid="5"/>
                                        </p:tgtEl>
                                        <p:attrNameLst>
                                          <p:attrName>ppt_y</p:attrName>
                                        </p:attrNameLst>
                                      </p:cBhvr>
                                      <p:tavLst>
                                        <p:tav tm="0">
                                          <p:val>
                                            <p:strVal val="#ppt_y"/>
                                          </p:val>
                                        </p:tav>
                                        <p:tav tm="100000">
                                          <p:val>
                                            <p:strVal val="#ppt_y"/>
                                          </p:val>
                                        </p:tav>
                                      </p:tavLst>
                                    </p:anim>
                                  </p:childTnLst>
                                </p:cTn>
                              </p:par>
                              <p:par>
                                <p:cTn id="10" presetID="2" presetClass="entr" presetSubtype="8"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 calcmode="lin" valueType="num">
                                      <p:cBhvr additive="base">
                                        <p:cTn id="8" dur="600" fill="hold"/>
                                        <p:tgtEl>
                                          <p:spTgt spid="6"/>
                                        </p:tgtEl>
                                        <p:attrNameLst>
                                          <p:attrName>ppt_x</p:attrName>
                                        </p:attrNameLst>
                                      </p:cBhvr>
                                      <p:tavLst>
                                        <p:tav tm="0">
                                          <p:val>
                                            <p:strVal val="0-#ppt_w/2"/>
                                          </p:val>
                                        </p:tav>
                                        <p:tav tm="100000">
                                          <p:val>
                                            <p:strVal val="#ppt_x"/>
                                          </p:val>
                                        </p:tav>
                                      </p:tavLst>
                                    </p:anim>
                                    <p:anim calcmode="lin" valueType="num">
                                      <p:cBhvr additive="base">
                                        <p:cTn id="9" dur="600" fill="hold"/>
                                        <p:tgtEl>
                                          <p:spTgt spid="6"/>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600" fill="hold"/>
                                        <p:tgtEl>
                                          <p:spTgt spid="7"/>
                                        </p:tgtEl>
                                        <p:attrNameLst>
                                          <p:attrName>ppt_x</p:attrName>
                                        </p:attrNameLst>
                                      </p:cBhvr>
                                      <p:tavLst>
                                        <p:tav tm="0">
                                          <p:val>
                                            <p:strVal val="0-#ppt_w/2"/>
                                          </p:val>
                                        </p:tav>
                                        <p:tav tm="100000">
                                          <p:val>
                                            <p:strVal val="#ppt_x"/>
                                          </p:val>
                                        </p:tav>
                                      </p:tavLst>
                                    </p:anim>
                                    <p:anim calcmode="lin" valueType="num">
                                      <p:cBhvr additive="base">
                                        <p:cTn id="13" dur="600" fill="hold"/>
                                        <p:tgtEl>
                                          <p:spTgt spid="7"/>
                                        </p:tgtEl>
                                        <p:attrNameLst>
                                          <p:attrName>ppt_y</p:attrName>
                                        </p:attrNameLst>
                                      </p:cBhvr>
                                      <p:tavLst>
                                        <p:tav tm="0">
                                          <p:val>
                                            <p:strVal val="#ppt_y"/>
                                          </p:val>
                                        </p:tav>
                                        <p:tav tm="100000">
                                          <p:val>
                                            <p:strVal val="#ppt_y"/>
                                          </p:val>
                                        </p:tav>
                                      </p:tavLst>
                                    </p:anim>
                                  </p:childTnLst>
                                </p:cTn>
                              </p:par>
                              <p:par>
                                <p:cTn id="18" presetID="2" presetClass="entr" presetSubtype="8"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600" fill="hold"/>
                                        <p:tgtEl>
                                          <p:spTgt spid="12"/>
                                        </p:tgtEl>
                                        <p:attrNameLst>
                                          <p:attrName>ppt_x</p:attrName>
                                        </p:attrNameLst>
                                      </p:cBhvr>
                                      <p:tavLst>
                                        <p:tav tm="0">
                                          <p:val>
                                            <p:strVal val="0-#ppt_w/2"/>
                                          </p:val>
                                        </p:tav>
                                        <p:tav tm="100000">
                                          <p:val>
                                            <p:strVal val="#ppt_x"/>
                                          </p:val>
                                        </p:tav>
                                      </p:tavLst>
                                    </p:anim>
                                    <p:anim calcmode="lin" valueType="num">
                                      <p:cBhvr additive="base">
                                        <p:cTn id="17" dur="6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25" presetID="53" presetClass="entr" presetSubtype="16"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600" fill="hold"/>
                                        <p:tgtEl>
                                          <p:spTgt spid="8"/>
                                        </p:tgtEl>
                                        <p:attrNameLst>
                                          <p:attrName>ppt_w</p:attrName>
                                        </p:attrNameLst>
                                      </p:cBhvr>
                                      <p:tavLst>
                                        <p:tav tm="0">
                                          <p:val>
                                            <p:fltVal val="0"/>
                                          </p:val>
                                        </p:tav>
                                        <p:tav tm="100000">
                                          <p:val>
                                            <p:strVal val="#ppt_w"/>
                                          </p:val>
                                        </p:tav>
                                      </p:tavLst>
                                    </p:anim>
                                    <p:anim calcmode="lin" valueType="num">
                                      <p:cBhvr additive="base">
                                        <p:cTn id="23" dur="600" fill="hold"/>
                                        <p:tgtEl>
                                          <p:spTgt spid="8"/>
                                        </p:tgtEl>
                                        <p:attrNameLst>
                                          <p:attrName>ppt_h</p:attrName>
                                        </p:attrNameLst>
                                      </p:cBhvr>
                                      <p:tavLst>
                                        <p:tav tm="0">
                                          <p:val>
                                            <p:fltVal val="0"/>
                                          </p:val>
                                        </p:tav>
                                        <p:tav tm="100000">
                                          <p:val>
                                            <p:strVal val="#ppt_h"/>
                                          </p:val>
                                        </p:tav>
                                      </p:tavLst>
                                    </p:anim>
                                    <p:animEffect transition="in" filter="fade">
                                      <p:cBhvr>
                                        <p:cTn id="24" dur="600"/>
                                        <p:tgtEl>
                                          <p:spTgt spid="8"/>
                                        </p:tgtEl>
                                      </p:cBhvr>
                                    </p:animEffect>
                                  </p:childTnLst>
                                </p:cTn>
                              </p:par>
                              <p:par>
                                <p:cTn id="30" presetID="53"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600" fill="hold"/>
                                        <p:tgtEl>
                                          <p:spTgt spid="9"/>
                                        </p:tgtEl>
                                        <p:attrNameLst>
                                          <p:attrName>ppt_w</p:attrName>
                                        </p:attrNameLst>
                                      </p:cBhvr>
                                      <p:tavLst>
                                        <p:tav tm="0">
                                          <p:val>
                                            <p:fltVal val="0"/>
                                          </p:val>
                                        </p:tav>
                                        <p:tav tm="100000">
                                          <p:val>
                                            <p:strVal val="#ppt_w"/>
                                          </p:val>
                                        </p:tav>
                                      </p:tavLst>
                                    </p:anim>
                                    <p:anim calcmode="lin" valueType="num">
                                      <p:cBhvr additive="base">
                                        <p:cTn id="28" dur="600" fill="hold"/>
                                        <p:tgtEl>
                                          <p:spTgt spid="9"/>
                                        </p:tgtEl>
                                        <p:attrNameLst>
                                          <p:attrName>ppt_h</p:attrName>
                                        </p:attrNameLst>
                                      </p:cBhvr>
                                      <p:tavLst>
                                        <p:tav tm="0">
                                          <p:val>
                                            <p:fltVal val="0"/>
                                          </p:val>
                                        </p:tav>
                                        <p:tav tm="100000">
                                          <p:val>
                                            <p:strVal val="#ppt_h"/>
                                          </p:val>
                                        </p:tav>
                                      </p:tavLst>
                                    </p:anim>
                                    <p:animEffect transition="in" filter="fade">
                                      <p:cBhvr>
                                        <p:cTn id="29" dur="600"/>
                                        <p:tgtEl>
                                          <p:spTgt spid="9"/>
                                        </p:tgtEl>
                                      </p:cBhvr>
                                    </p:animEffect>
                                  </p:childTnLst>
                                </p:cTn>
                              </p:par>
                              <p:par>
                                <p:cTn id="35" presetID="53" presetClass="entr" presetSubtype="16"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600" fill="hold"/>
                                        <p:tgtEl>
                                          <p:spTgt spid="10"/>
                                        </p:tgtEl>
                                        <p:attrNameLst>
                                          <p:attrName>ppt_w</p:attrName>
                                        </p:attrNameLst>
                                      </p:cBhvr>
                                      <p:tavLst>
                                        <p:tav tm="0">
                                          <p:val>
                                            <p:fltVal val="0"/>
                                          </p:val>
                                        </p:tav>
                                        <p:tav tm="100000">
                                          <p:val>
                                            <p:strVal val="#ppt_w"/>
                                          </p:val>
                                        </p:tav>
                                      </p:tavLst>
                                    </p:anim>
                                    <p:anim calcmode="lin" valueType="num">
                                      <p:cBhvr additive="base">
                                        <p:cTn id="33" dur="600" fill="hold"/>
                                        <p:tgtEl>
                                          <p:spTgt spid="10"/>
                                        </p:tgtEl>
                                        <p:attrNameLst>
                                          <p:attrName>ppt_h</p:attrName>
                                        </p:attrNameLst>
                                      </p:cBhvr>
                                      <p:tavLst>
                                        <p:tav tm="0">
                                          <p:val>
                                            <p:fltVal val="0"/>
                                          </p:val>
                                        </p:tav>
                                        <p:tav tm="100000">
                                          <p:val>
                                            <p:strVal val="#ppt_h"/>
                                          </p:val>
                                        </p:tav>
                                      </p:tavLst>
                                    </p:anim>
                                    <p:animEffect transition="in" filter="fade">
                                      <p:cBhvr>
                                        <p:cTn id="34" dur="600"/>
                                        <p:tgtEl>
                                          <p:spTgt spid="10"/>
                                        </p:tgtEl>
                                      </p:cBhvr>
                                    </p:animEffect>
                                  </p:childTnLst>
                                </p:cTn>
                              </p:par>
                              <p:par>
                                <p:cTn id="40" presetID="53" presetClass="entr" presetSubtype="16"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600" fill="hold"/>
                                        <p:tgtEl>
                                          <p:spTgt spid="13"/>
                                        </p:tgtEl>
                                        <p:attrNameLst>
                                          <p:attrName>ppt_w</p:attrName>
                                        </p:attrNameLst>
                                      </p:cBhvr>
                                      <p:tavLst>
                                        <p:tav tm="0">
                                          <p:val>
                                            <p:fltVal val="0"/>
                                          </p:val>
                                        </p:tav>
                                        <p:tav tm="100000">
                                          <p:val>
                                            <p:strVal val="#ppt_w"/>
                                          </p:val>
                                        </p:tav>
                                      </p:tavLst>
                                    </p:anim>
                                    <p:anim calcmode="lin" valueType="num">
                                      <p:cBhvr additive="base">
                                        <p:cTn id="38" dur="600" fill="hold"/>
                                        <p:tgtEl>
                                          <p:spTgt spid="13"/>
                                        </p:tgtEl>
                                        <p:attrNameLst>
                                          <p:attrName>ppt_h</p:attrName>
                                        </p:attrNameLst>
                                      </p:cBhvr>
                                      <p:tavLst>
                                        <p:tav tm="0">
                                          <p:val>
                                            <p:fltVal val="0"/>
                                          </p:val>
                                        </p:tav>
                                        <p:tav tm="100000">
                                          <p:val>
                                            <p:strVal val="#ppt_h"/>
                                          </p:val>
                                        </p:tav>
                                      </p:tavLst>
                                    </p:anim>
                                    <p:animEffect transition="in" filter="fade">
                                      <p:cBhvr>
                                        <p:cTn id="39"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A08 · Integrity: Angular + .NET</a:t>
            </a:r>
            <a:endParaRPr lang="en-US" sz="3000" dirty="0"/>
          </a:p>
        </p:txBody>
      </p:sp>
      <p:sp>
        <p:nvSpPr>
          <p:cNvPr id="4" name="Col Angular"/>
          <p:cNvSpPr txBox="1"/>
          <p:nvPr/>
        </p:nvSpPr>
        <p:spPr>
          <a:xfrm>
            <a:off x="457200" y="1097280"/>
            <a:ext cx="4023360" cy="274320"/>
          </a:xfrm>
          <a:prstGeom prst="rect">
            <a:avLst/>
          </a:prstGeom>
          <a:noFill/>
          <a:ln/>
        </p:spPr>
        <p:txBody>
          <a:bodyPr wrap="square" lIns="0" tIns="0" rIns="0" bIns="0" rtlCol="0" anchor="ctr"/>
          <a:lstStyle/>
          <a:p>
            <a:pPr indent="0" marL="0">
              <a:buNone/>
            </a:pPr>
            <a:r>
              <a:rPr lang="en-US" sz="1300" b="1" dirty="0">
                <a:solidFill>
                  <a:schemeClr val="accent5"/>
                </a:solidFill>
              </a:rPr>
              <a:t>ANGULAR · TypeScript</a:t>
            </a:r>
            <a:endParaRPr lang="en-US" sz="1300" dirty="0"/>
          </a:p>
        </p:txBody>
      </p:sp>
      <p:sp>
        <p:nvSpPr>
          <p:cNvPr id="5" name="Col NET"/>
          <p:cNvSpPr txBox="1"/>
          <p:nvPr/>
        </p:nvSpPr>
        <p:spPr>
          <a:xfrm>
            <a:off x="4663440" y="1097280"/>
            <a:ext cx="4023360" cy="274320"/>
          </a:xfrm>
          <a:prstGeom prst="rect">
            <a:avLst/>
          </a:prstGeom>
          <a:noFill/>
          <a:ln/>
        </p:spPr>
        <p:txBody>
          <a:bodyPr wrap="square" lIns="0" tIns="0" rIns="0" bIns="0" rtlCol="0" anchor="ctr"/>
          <a:lstStyle/>
          <a:p>
            <a:pPr indent="0" marL="0">
              <a:buNone/>
            </a:pPr>
            <a:r>
              <a:rPr lang="en-US" sz="1300" b="1" dirty="0">
                <a:solidFill>
                  <a:schemeClr val="accent6"/>
                </a:solidFill>
              </a:rPr>
              <a:t>ASP.NET CORE · C#</a:t>
            </a:r>
            <a:endParaRPr lang="en-US" sz="1300" dirty="0"/>
          </a:p>
        </p:txBody>
      </p:sp>
      <p:sp>
        <p:nvSpPr>
          <p:cNvPr id="6" name="NG vuln"/>
          <p:cNvSpPr/>
          <p:nvPr/>
        </p:nvSpPr>
        <p:spPr>
          <a:xfrm>
            <a:off x="457200" y="1417320"/>
            <a:ext cx="4023360" cy="1325880"/>
          </a:xfrm>
          <a:prstGeom prst="roundRect">
            <a:avLst>
              <a:gd name="adj" fmla="val 8276"/>
            </a:avLst>
          </a:prstGeom>
          <a:solidFill>
            <a:schemeClr val="accent2">
              <a:alpha val="12000"/>
            </a:schemeClr>
          </a:solidFill>
          <a:ln w="12700">
            <a:solidFill>
              <a:schemeClr val="accent2"/>
            </a:solidFill>
            <a:prstDash val="solid"/>
          </a:ln>
        </p:spPr>
      </p:sp>
      <p:sp>
        <p:nvSpPr>
          <p:cNvPr id="7" name="NG vuln label"/>
          <p:cNvSpPr txBox="1"/>
          <p:nvPr/>
        </p:nvSpPr>
        <p:spPr>
          <a:xfrm>
            <a:off x="640080" y="1490472"/>
            <a:ext cx="3657600" cy="256032"/>
          </a:xfrm>
          <a:prstGeom prst="rect">
            <a:avLst/>
          </a:prstGeom>
          <a:noFill/>
          <a:ln/>
        </p:spPr>
        <p:txBody>
          <a:bodyPr wrap="square" lIns="0" tIns="0" rIns="0" bIns="0" rtlCol="0" anchor="ctr"/>
          <a:lstStyle/>
          <a:p>
            <a:pPr indent="0" marL="0">
              <a:buNone/>
            </a:pPr>
            <a:r>
              <a:rPr lang="en-US" sz="1100" b="1" spc="200" kern="0" dirty="0">
                <a:solidFill>
                  <a:schemeClr val="accent2"/>
                </a:solidFill>
              </a:rPr>
              <a:t>VULNERABLE</a:t>
            </a:r>
            <a:endParaRPr lang="en-US" sz="1100" dirty="0"/>
          </a:p>
        </p:txBody>
      </p:sp>
      <p:sp>
        <p:nvSpPr>
          <p:cNvPr id="8" name="NG vuln code"/>
          <p:cNvSpPr txBox="1"/>
          <p:nvPr/>
        </p:nvSpPr>
        <p:spPr>
          <a:xfrm>
            <a:off x="640080" y="1783080"/>
            <a:ext cx="3657600" cy="88696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&lt;script src="http://cdn.x/lib.js"&gt;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&lt;/script&gt;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loaded, never verified</a:t>
            </a:r>
            <a:endParaRPr lang="en-US" sz="1200" dirty="0"/>
          </a:p>
        </p:txBody>
      </p:sp>
      <p:sp>
        <p:nvSpPr>
          <p:cNvPr id="9" name="NET vuln"/>
          <p:cNvSpPr/>
          <p:nvPr/>
        </p:nvSpPr>
        <p:spPr>
          <a:xfrm>
            <a:off x="4663440" y="1417320"/>
            <a:ext cx="4023360" cy="1325880"/>
          </a:xfrm>
          <a:prstGeom prst="roundRect">
            <a:avLst>
              <a:gd name="adj" fmla="val 8276"/>
            </a:avLst>
          </a:prstGeom>
          <a:solidFill>
            <a:schemeClr val="accent2">
              <a:alpha val="12000"/>
            </a:schemeClr>
          </a:solidFill>
          <a:ln w="12700">
            <a:solidFill>
              <a:schemeClr val="accent2"/>
            </a:solidFill>
            <a:prstDash val="solid"/>
          </a:ln>
        </p:spPr>
      </p:sp>
      <p:sp>
        <p:nvSpPr>
          <p:cNvPr id="10" name="NET vuln label"/>
          <p:cNvSpPr txBox="1"/>
          <p:nvPr/>
        </p:nvSpPr>
        <p:spPr>
          <a:xfrm>
            <a:off x="4846320" y="1490472"/>
            <a:ext cx="3657600" cy="256032"/>
          </a:xfrm>
          <a:prstGeom prst="rect">
            <a:avLst/>
          </a:prstGeom>
          <a:noFill/>
          <a:ln/>
        </p:spPr>
        <p:txBody>
          <a:bodyPr wrap="square" lIns="0" tIns="0" rIns="0" bIns="0" rtlCol="0" anchor="ctr"/>
          <a:lstStyle/>
          <a:p>
            <a:pPr indent="0" marL="0">
              <a:buNone/>
            </a:pPr>
            <a:r>
              <a:rPr lang="en-US" sz="1100" b="1" spc="200" kern="0" dirty="0">
                <a:solidFill>
                  <a:schemeClr val="accent2"/>
                </a:solidFill>
              </a:rPr>
              <a:t>VULNERABLE</a:t>
            </a:r>
            <a:endParaRPr lang="en-US" sz="1100" dirty="0"/>
          </a:p>
        </p:txBody>
      </p:sp>
      <p:sp>
        <p:nvSpPr>
          <p:cNvPr id="11" name="NET vuln code"/>
          <p:cNvSpPr txBox="1"/>
          <p:nvPr/>
        </p:nvSpPr>
        <p:spPr>
          <a:xfrm>
            <a:off x="4846320" y="1783080"/>
            <a:ext cx="3657600" cy="88696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JsonConvert.DeserializeObject(json,</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new JsonSerializerSettings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TypeNameHandling = All });</a:t>
            </a:r>
            <a:endParaRPr lang="en-US" sz="1200" dirty="0"/>
          </a:p>
        </p:txBody>
      </p:sp>
      <p:sp>
        <p:nvSpPr>
          <p:cNvPr id="12" name="NG fixed"/>
          <p:cNvSpPr/>
          <p:nvPr/>
        </p:nvSpPr>
        <p:spPr>
          <a:xfrm>
            <a:off x="457200" y="2807208"/>
            <a:ext cx="4023360" cy="1325880"/>
          </a:xfrm>
          <a:prstGeom prst="roundRect">
            <a:avLst>
              <a:gd name="adj" fmla="val 8276"/>
            </a:avLst>
          </a:prstGeom>
          <a:solidFill>
            <a:schemeClr val="accent3">
              <a:alpha val="12000"/>
            </a:schemeClr>
          </a:solidFill>
          <a:ln w="12700">
            <a:solidFill>
              <a:schemeClr val="accent3"/>
            </a:solidFill>
            <a:prstDash val="solid"/>
          </a:ln>
        </p:spPr>
      </p:sp>
      <p:sp>
        <p:nvSpPr>
          <p:cNvPr id="13" name="NG fixed label"/>
          <p:cNvSpPr txBox="1"/>
          <p:nvPr/>
        </p:nvSpPr>
        <p:spPr>
          <a:xfrm>
            <a:off x="640080" y="2880360"/>
            <a:ext cx="3657600" cy="256032"/>
          </a:xfrm>
          <a:prstGeom prst="rect">
            <a:avLst/>
          </a:prstGeom>
          <a:noFill/>
          <a:ln/>
        </p:spPr>
        <p:txBody>
          <a:bodyPr wrap="square" lIns="0" tIns="0" rIns="0" bIns="0" rtlCol="0" anchor="ctr"/>
          <a:lstStyle/>
          <a:p>
            <a:pPr indent="0" marL="0">
              <a:buNone/>
            </a:pPr>
            <a:r>
              <a:rPr lang="en-US" sz="1100" b="1" spc="200" kern="0" dirty="0">
                <a:solidFill>
                  <a:schemeClr val="accent3"/>
                </a:solidFill>
              </a:rPr>
              <a:t>FIXED</a:t>
            </a:r>
            <a:endParaRPr lang="en-US" sz="1100" dirty="0"/>
          </a:p>
        </p:txBody>
      </p:sp>
      <p:sp>
        <p:nvSpPr>
          <p:cNvPr id="14" name="NG fixed code"/>
          <p:cNvSpPr txBox="1"/>
          <p:nvPr/>
        </p:nvSpPr>
        <p:spPr>
          <a:xfrm>
            <a:off x="640080" y="3172968"/>
            <a:ext cx="3657600" cy="88696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 angular.json</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"subresourceIntegrity": true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libs come from the internal feed</a:t>
            </a:r>
            <a:endParaRPr lang="en-US" sz="1200" dirty="0"/>
          </a:p>
        </p:txBody>
      </p:sp>
      <p:sp>
        <p:nvSpPr>
          <p:cNvPr id="15" name="NET fixed"/>
          <p:cNvSpPr/>
          <p:nvPr/>
        </p:nvSpPr>
        <p:spPr>
          <a:xfrm>
            <a:off x="4663440" y="2807208"/>
            <a:ext cx="4023360" cy="1325880"/>
          </a:xfrm>
          <a:prstGeom prst="roundRect">
            <a:avLst>
              <a:gd name="adj" fmla="val 8276"/>
            </a:avLst>
          </a:prstGeom>
          <a:solidFill>
            <a:schemeClr val="accent3">
              <a:alpha val="12000"/>
            </a:schemeClr>
          </a:solidFill>
          <a:ln w="12700">
            <a:solidFill>
              <a:schemeClr val="accent3"/>
            </a:solidFill>
            <a:prstDash val="solid"/>
          </a:ln>
        </p:spPr>
      </p:sp>
      <p:sp>
        <p:nvSpPr>
          <p:cNvPr id="16" name="NET fixed label"/>
          <p:cNvSpPr txBox="1"/>
          <p:nvPr/>
        </p:nvSpPr>
        <p:spPr>
          <a:xfrm>
            <a:off x="4846320" y="2880360"/>
            <a:ext cx="3657600" cy="256032"/>
          </a:xfrm>
          <a:prstGeom prst="rect">
            <a:avLst/>
          </a:prstGeom>
          <a:noFill/>
          <a:ln/>
        </p:spPr>
        <p:txBody>
          <a:bodyPr wrap="square" lIns="0" tIns="0" rIns="0" bIns="0" rtlCol="0" anchor="ctr"/>
          <a:lstStyle/>
          <a:p>
            <a:pPr indent="0" marL="0">
              <a:buNone/>
            </a:pPr>
            <a:r>
              <a:rPr lang="en-US" sz="1100" b="1" spc="200" kern="0" dirty="0">
                <a:solidFill>
                  <a:schemeClr val="accent3"/>
                </a:solidFill>
              </a:rPr>
              <a:t>FIXED</a:t>
            </a:r>
            <a:endParaRPr lang="en-US" sz="1100" dirty="0"/>
          </a:p>
        </p:txBody>
      </p:sp>
      <p:sp>
        <p:nvSpPr>
          <p:cNvPr id="17" name="NET fixed code"/>
          <p:cNvSpPr txBox="1"/>
          <p:nvPr/>
        </p:nvSpPr>
        <p:spPr>
          <a:xfrm>
            <a:off x="4846320" y="3172968"/>
            <a:ext cx="3657600" cy="88696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var m = JsonSerializer</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.Deserialize&lt;UpdateManifest&gt;(json);</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verify the signature first</a:t>
            </a:r>
            <a:endParaRPr lang="en-US" sz="1200" dirty="0"/>
          </a:p>
        </p:txBody>
      </p:sp>
      <p:sp>
        <p:nvSpPr>
          <p:cNvPr id="18" name="Takeaway"/>
          <p:cNvSpPr txBox="1"/>
          <p:nvPr/>
        </p:nvSpPr>
        <p:spPr>
          <a:xfrm>
            <a:off x="457200" y="4279392"/>
            <a:ext cx="4754880" cy="411480"/>
          </a:xfrm>
          <a:prstGeom prst="rect">
            <a:avLst/>
          </a:prstGeom>
          <a:noFill/>
          <a:ln/>
        </p:spPr>
        <p:txBody>
          <a:bodyPr wrap="square" lIns="0" tIns="0" rIns="0" bIns="0" rtlCol="0" anchor="ctr"/>
          <a:lstStyle/>
          <a:p>
            <a:pPr indent="0" marL="0">
              <a:buNone/>
            </a:pPr>
            <a:r>
              <a:rPr lang="en-US" sz="1600" b="1" dirty="0">
                <a:solidFill>
                  <a:schemeClr val="accent1"/>
                </a:solidFill>
              </a:rPr>
              <a:t>Offline does not mean trusted.</a:t>
            </a:r>
            <a:endParaRPr lang="en-US" sz="1600" dirty="0"/>
          </a:p>
        </p:txBody>
      </p:sp>
      <p:pic>
        <p:nvPicPr>
          <p:cNvPr id="19" name="Hacker" descr="Hacker cartoon">    </p:cNvPr>
          <p:cNvPicPr>
            <a:picLocks noChangeAspect="1"/>
          </p:cNvPicPr>
          <p:nvPr/>
        </p:nvPicPr>
        <p:blipFill>
          <a:blip r:embed="rId1"/>
          <a:stretch>
            <a:fillRect/>
          </a:stretch>
        </p:blipFill>
        <p:spPr>
          <a:xfrm>
            <a:off x="7040880" y="4160520"/>
            <a:ext cx="777240" cy="777240"/>
          </a:xfrm>
          <a:prstGeom prst="rect">
            <a:avLst/>
          </a:prstGeom>
        </p:spPr>
      </p:pic>
      <p:pic>
        <p:nvPicPr>
          <p:cNvPr id="20" name="Mascot" descr="Mascot cartoon">    </p:cNvPr>
          <p:cNvPicPr>
            <a:picLocks noChangeAspect="1"/>
          </p:cNvPicPr>
          <p:nvPr/>
        </p:nvPicPr>
        <p:blipFill>
          <a:blip r:embed="rId2"/>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stCondLst>
                      <p:childTnLst>
                        <p:par>
                          <p:cTn id="32" fill="hold">
                            <p:stCondLst>
                              <p:cond delay="0"/>
                            </p:stCondLst>
                            <p:childTnLst>
                              <p:par>
                                <p:cTn id="6" presetID="2" presetClass="entr" presetSubtype="8" fill="hold" grpId="0" nodeType="clickEffect">
                                  <p:stCondLst>
                                    <p:cond delay="0"/>
                                  </p:stCondLst>
                                  <p:childTnLst>
                                    <p:set>
                                      <p:cBhvr>
                                        <p:cTn id="3" dur="1" fill="hold">
                                          <p:stCondLst>
                                            <p:cond delay="0"/>
                                          </p:stCondLst>
                                        </p:cTn>
                                        <p:tgtEl>
                                          <p:spTgt spid="6"/>
                                        </p:tgtEl>
                                        <p:attrNameLst>
                                          <p:attrName>style.visibility</p:attrName>
                                        </p:attrNameLst>
                                      </p:cBhvr>
                                      <p:to>
                                        <p:strVal val="visible"/>
                                      </p:to>
                                    </p:set>
                                    <p:anim calcmode="lin" valueType="num">
                                      <p:cBhvr additive="base">
                                        <p:cTn id="4" dur="600" fill="hold"/>
                                        <p:tgtEl>
                                          <p:spTgt spid="6"/>
                                        </p:tgtEl>
                                        <p:attrNameLst>
                                          <p:attrName>ppt_x</p:attrName>
                                        </p:attrNameLst>
                                      </p:cBhvr>
                                      <p:tavLst>
                                        <p:tav tm="0">
                                          <p:val>
                                            <p:strVal val="0-#ppt_w/2"/>
                                          </p:val>
                                        </p:tav>
                                        <p:tav tm="100000">
                                          <p:val>
                                            <p:strVal val="#ppt_x"/>
                                          </p:val>
                                        </p:tav>
                                      </p:tavLst>
                                    </p:anim>
                                    <p:anim calcmode="lin" valueType="num">
                                      <p:cBhvr additive="base">
                                        <p:cTn id="5" dur="600" fill="hold"/>
                                        <p:tgtEl>
                                          <p:spTgt spid="6"/>
                                        </p:tgtEl>
                                        <p:attrNameLst>
                                          <p:attrName>ppt_y</p:attrName>
                                        </p:attrNameLst>
                                      </p:cBhvr>
                                      <p:tavLst>
                                        <p:tav tm="0">
                                          <p:val>
                                            <p:strVal val="#ppt_y"/>
                                          </p:val>
                                        </p:tav>
                                        <p:tav tm="100000">
                                          <p:val>
                                            <p:strVal val="#ppt_y"/>
                                          </p:val>
                                        </p:tav>
                                      </p:tavLst>
                                    </p:anim>
                                  </p:childTnLst>
                                </p:cTn>
                              </p:par>
                              <p:par>
                                <p:cTn id="10" presetID="2" presetClass="entr" presetSubtype="8"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 calcmode="lin" valueType="num">
                                      <p:cBhvr additive="base">
                                        <p:cTn id="8" dur="600" fill="hold"/>
                                        <p:tgtEl>
                                          <p:spTgt spid="7"/>
                                        </p:tgtEl>
                                        <p:attrNameLst>
                                          <p:attrName>ppt_x</p:attrName>
                                        </p:attrNameLst>
                                      </p:cBhvr>
                                      <p:tavLst>
                                        <p:tav tm="0">
                                          <p:val>
                                            <p:strVal val="0-#ppt_w/2"/>
                                          </p:val>
                                        </p:tav>
                                        <p:tav tm="100000">
                                          <p:val>
                                            <p:strVal val="#ppt_x"/>
                                          </p:val>
                                        </p:tav>
                                      </p:tavLst>
                                    </p:anim>
                                    <p:anim calcmode="lin" valueType="num">
                                      <p:cBhvr additive="base">
                                        <p:cTn id="9" dur="600" fill="hold"/>
                                        <p:tgtEl>
                                          <p:spTgt spid="7"/>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600" fill="hold"/>
                                        <p:tgtEl>
                                          <p:spTgt spid="8"/>
                                        </p:tgtEl>
                                        <p:attrNameLst>
                                          <p:attrName>ppt_x</p:attrName>
                                        </p:attrNameLst>
                                      </p:cBhvr>
                                      <p:tavLst>
                                        <p:tav tm="0">
                                          <p:val>
                                            <p:strVal val="0-#ppt_w/2"/>
                                          </p:val>
                                        </p:tav>
                                        <p:tav tm="100000">
                                          <p:val>
                                            <p:strVal val="#ppt_x"/>
                                          </p:val>
                                        </p:tav>
                                      </p:tavLst>
                                    </p:anim>
                                    <p:anim calcmode="lin" valueType="num">
                                      <p:cBhvr additive="base">
                                        <p:cTn id="13" dur="600" fill="hold"/>
                                        <p:tgtEl>
                                          <p:spTgt spid="8"/>
                                        </p:tgtEl>
                                        <p:attrNameLst>
                                          <p:attrName>ppt_y</p:attrName>
                                        </p:attrNameLst>
                                      </p:cBhvr>
                                      <p:tavLst>
                                        <p:tav tm="0">
                                          <p:val>
                                            <p:strVal val="#ppt_y"/>
                                          </p:val>
                                        </p:tav>
                                        <p:tav tm="100000">
                                          <p:val>
                                            <p:strVal val="#ppt_y"/>
                                          </p:val>
                                        </p:tav>
                                      </p:tavLst>
                                    </p:anim>
                                  </p:childTnLst>
                                </p:cTn>
                              </p:par>
                              <p:par>
                                <p:cTn id="18" presetID="2" presetClass="entr" presetSubtype="8"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600" fill="hold"/>
                                        <p:tgtEl>
                                          <p:spTgt spid="9"/>
                                        </p:tgtEl>
                                        <p:attrNameLst>
                                          <p:attrName>ppt_x</p:attrName>
                                        </p:attrNameLst>
                                      </p:cBhvr>
                                      <p:tavLst>
                                        <p:tav tm="0">
                                          <p:val>
                                            <p:strVal val="0-#ppt_w/2"/>
                                          </p:val>
                                        </p:tav>
                                        <p:tav tm="100000">
                                          <p:val>
                                            <p:strVal val="#ppt_x"/>
                                          </p:val>
                                        </p:tav>
                                      </p:tavLst>
                                    </p:anim>
                                    <p:anim calcmode="lin" valueType="num">
                                      <p:cBhvr additive="base">
                                        <p:cTn id="17" dur="600" fill="hold"/>
                                        <p:tgtEl>
                                          <p:spTgt spid="9"/>
                                        </p:tgtEl>
                                        <p:attrNameLst>
                                          <p:attrName>ppt_y</p:attrName>
                                        </p:attrNameLst>
                                      </p:cBhvr>
                                      <p:tavLst>
                                        <p:tav tm="0">
                                          <p:val>
                                            <p:strVal val="#ppt_y"/>
                                          </p:val>
                                        </p:tav>
                                        <p:tav tm="100000">
                                          <p:val>
                                            <p:strVal val="#ppt_y"/>
                                          </p:val>
                                        </p:tav>
                                      </p:tavLst>
                                    </p:anim>
                                  </p:childTnLst>
                                </p:cTn>
                              </p:par>
                              <p:par>
                                <p:cTn id="22" presetID="2" presetClass="entr" presetSubtype="8"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additive="base">
                                        <p:cTn id="20" dur="600" fill="hold"/>
                                        <p:tgtEl>
                                          <p:spTgt spid="10"/>
                                        </p:tgtEl>
                                        <p:attrNameLst>
                                          <p:attrName>ppt_x</p:attrName>
                                        </p:attrNameLst>
                                      </p:cBhvr>
                                      <p:tavLst>
                                        <p:tav tm="0">
                                          <p:val>
                                            <p:strVal val="0-#ppt_w/2"/>
                                          </p:val>
                                        </p:tav>
                                        <p:tav tm="100000">
                                          <p:val>
                                            <p:strVal val="#ppt_x"/>
                                          </p:val>
                                        </p:tav>
                                      </p:tavLst>
                                    </p:anim>
                                    <p:anim calcmode="lin" valueType="num">
                                      <p:cBhvr additive="base">
                                        <p:cTn id="21" dur="600" fill="hold"/>
                                        <p:tgtEl>
                                          <p:spTgt spid="10"/>
                                        </p:tgtEl>
                                        <p:attrNameLst>
                                          <p:attrName>ppt_y</p:attrName>
                                        </p:attrNameLst>
                                      </p:cBhvr>
                                      <p:tavLst>
                                        <p:tav tm="0">
                                          <p:val>
                                            <p:strVal val="#ppt_y"/>
                                          </p:val>
                                        </p:tav>
                                        <p:tav tm="100000">
                                          <p:val>
                                            <p:strVal val="#ppt_y"/>
                                          </p:val>
                                        </p:tav>
                                      </p:tavLst>
                                    </p:anim>
                                  </p:childTnLst>
                                </p:cTn>
                              </p:par>
                              <p:par>
                                <p:cTn id="26" presetID="2" presetClass="entr" presetSubtype="8"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600" fill="hold"/>
                                        <p:tgtEl>
                                          <p:spTgt spid="11"/>
                                        </p:tgtEl>
                                        <p:attrNameLst>
                                          <p:attrName>ppt_x</p:attrName>
                                        </p:attrNameLst>
                                      </p:cBhvr>
                                      <p:tavLst>
                                        <p:tav tm="0">
                                          <p:val>
                                            <p:strVal val="0-#ppt_w/2"/>
                                          </p:val>
                                        </p:tav>
                                        <p:tav tm="100000">
                                          <p:val>
                                            <p:strVal val="#ppt_x"/>
                                          </p:val>
                                        </p:tav>
                                      </p:tavLst>
                                    </p:anim>
                                    <p:anim calcmode="lin" valueType="num">
                                      <p:cBhvr additive="base">
                                        <p:cTn id="25" dur="600" fill="hold"/>
                                        <p:tgtEl>
                                          <p:spTgt spid="11"/>
                                        </p:tgtEl>
                                        <p:attrNameLst>
                                          <p:attrName>ppt_y</p:attrName>
                                        </p:attrNameLst>
                                      </p:cBhvr>
                                      <p:tavLst>
                                        <p:tav tm="0">
                                          <p:val>
                                            <p:strVal val="#ppt_y"/>
                                          </p:val>
                                        </p:tav>
                                        <p:tav tm="100000">
                                          <p:val>
                                            <p:strVal val="#ppt_y"/>
                                          </p:val>
                                        </p:tav>
                                      </p:tavLst>
                                    </p:anim>
                                  </p:childTnLst>
                                </p:cTn>
                              </p:par>
                              <p:par>
                                <p:cTn id="30" presetID="2" presetClass="entr" presetSubtype="8"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 calcmode="lin" valueType="num">
                                      <p:cBhvr additive="base">
                                        <p:cTn id="28" dur="600" fill="hold"/>
                                        <p:tgtEl>
                                          <p:spTgt spid="19"/>
                                        </p:tgtEl>
                                        <p:attrNameLst>
                                          <p:attrName>ppt_x</p:attrName>
                                        </p:attrNameLst>
                                      </p:cBhvr>
                                      <p:tavLst>
                                        <p:tav tm="0">
                                          <p:val>
                                            <p:strVal val="0-#ppt_w/2"/>
                                          </p:val>
                                        </p:tav>
                                        <p:tav tm="100000">
                                          <p:val>
                                            <p:strVal val="#ppt_x"/>
                                          </p:val>
                                        </p:tav>
                                      </p:tavLst>
                                    </p:anim>
                                    <p:anim calcmode="lin" valueType="num">
                                      <p:cBhvr additive="base">
                                        <p:cTn id="29" dur="6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37" presetID="53" presetClass="entr" presetSubtype="16"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600" fill="hold"/>
                                        <p:tgtEl>
                                          <p:spTgt spid="12"/>
                                        </p:tgtEl>
                                        <p:attrNameLst>
                                          <p:attrName>ppt_w</p:attrName>
                                        </p:attrNameLst>
                                      </p:cBhvr>
                                      <p:tavLst>
                                        <p:tav tm="0">
                                          <p:val>
                                            <p:fltVal val="0"/>
                                          </p:val>
                                        </p:tav>
                                        <p:tav tm="100000">
                                          <p:val>
                                            <p:strVal val="#ppt_w"/>
                                          </p:val>
                                        </p:tav>
                                      </p:tavLst>
                                    </p:anim>
                                    <p:anim calcmode="lin" valueType="num">
                                      <p:cBhvr additive="base">
                                        <p:cTn id="35" dur="600" fill="hold"/>
                                        <p:tgtEl>
                                          <p:spTgt spid="12"/>
                                        </p:tgtEl>
                                        <p:attrNameLst>
                                          <p:attrName>ppt_h</p:attrName>
                                        </p:attrNameLst>
                                      </p:cBhvr>
                                      <p:tavLst>
                                        <p:tav tm="0">
                                          <p:val>
                                            <p:fltVal val="0"/>
                                          </p:val>
                                        </p:tav>
                                        <p:tav tm="100000">
                                          <p:val>
                                            <p:strVal val="#ppt_h"/>
                                          </p:val>
                                        </p:tav>
                                      </p:tavLst>
                                    </p:anim>
                                    <p:animEffect transition="in" filter="fade">
                                      <p:cBhvr>
                                        <p:cTn id="36" dur="600"/>
                                        <p:tgtEl>
                                          <p:spTgt spid="12"/>
                                        </p:tgtEl>
                                      </p:cBhvr>
                                    </p:animEffect>
                                  </p:childTnLst>
                                </p:cTn>
                              </p:par>
                              <p:par>
                                <p:cTn id="42" presetID="53" presetClass="entr" presetSubtype="16"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600" fill="hold"/>
                                        <p:tgtEl>
                                          <p:spTgt spid="13"/>
                                        </p:tgtEl>
                                        <p:attrNameLst>
                                          <p:attrName>ppt_w</p:attrName>
                                        </p:attrNameLst>
                                      </p:cBhvr>
                                      <p:tavLst>
                                        <p:tav tm="0">
                                          <p:val>
                                            <p:fltVal val="0"/>
                                          </p:val>
                                        </p:tav>
                                        <p:tav tm="100000">
                                          <p:val>
                                            <p:strVal val="#ppt_w"/>
                                          </p:val>
                                        </p:tav>
                                      </p:tavLst>
                                    </p:anim>
                                    <p:anim calcmode="lin" valueType="num">
                                      <p:cBhvr additive="base">
                                        <p:cTn id="40" dur="600" fill="hold"/>
                                        <p:tgtEl>
                                          <p:spTgt spid="13"/>
                                        </p:tgtEl>
                                        <p:attrNameLst>
                                          <p:attrName>ppt_h</p:attrName>
                                        </p:attrNameLst>
                                      </p:cBhvr>
                                      <p:tavLst>
                                        <p:tav tm="0">
                                          <p:val>
                                            <p:fltVal val="0"/>
                                          </p:val>
                                        </p:tav>
                                        <p:tav tm="100000">
                                          <p:val>
                                            <p:strVal val="#ppt_h"/>
                                          </p:val>
                                        </p:tav>
                                      </p:tavLst>
                                    </p:anim>
                                    <p:animEffect transition="in" filter="fade">
                                      <p:cBhvr>
                                        <p:cTn id="41" dur="600"/>
                                        <p:tgtEl>
                                          <p:spTgt spid="13"/>
                                        </p:tgtEl>
                                      </p:cBhvr>
                                    </p:animEffect>
                                  </p:childTnLst>
                                </p:cTn>
                              </p:par>
                              <p:par>
                                <p:cTn id="47" presetID="53" presetClass="entr" presetSubtype="16"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600" fill="hold"/>
                                        <p:tgtEl>
                                          <p:spTgt spid="14"/>
                                        </p:tgtEl>
                                        <p:attrNameLst>
                                          <p:attrName>ppt_w</p:attrName>
                                        </p:attrNameLst>
                                      </p:cBhvr>
                                      <p:tavLst>
                                        <p:tav tm="0">
                                          <p:val>
                                            <p:fltVal val="0"/>
                                          </p:val>
                                        </p:tav>
                                        <p:tav tm="100000">
                                          <p:val>
                                            <p:strVal val="#ppt_w"/>
                                          </p:val>
                                        </p:tav>
                                      </p:tavLst>
                                    </p:anim>
                                    <p:anim calcmode="lin" valueType="num">
                                      <p:cBhvr additive="base">
                                        <p:cTn id="45" dur="600" fill="hold"/>
                                        <p:tgtEl>
                                          <p:spTgt spid="14"/>
                                        </p:tgtEl>
                                        <p:attrNameLst>
                                          <p:attrName>ppt_h</p:attrName>
                                        </p:attrNameLst>
                                      </p:cBhvr>
                                      <p:tavLst>
                                        <p:tav tm="0">
                                          <p:val>
                                            <p:fltVal val="0"/>
                                          </p:val>
                                        </p:tav>
                                        <p:tav tm="100000">
                                          <p:val>
                                            <p:strVal val="#ppt_h"/>
                                          </p:val>
                                        </p:tav>
                                      </p:tavLst>
                                    </p:anim>
                                    <p:animEffect transition="in" filter="fade">
                                      <p:cBhvr>
                                        <p:cTn id="46" dur="600"/>
                                        <p:tgtEl>
                                          <p:spTgt spid="14"/>
                                        </p:tgtEl>
                                      </p:cBhvr>
                                    </p:animEffect>
                                  </p:childTnLst>
                                </p:cTn>
                              </p:par>
                              <p:par>
                                <p:cTn id="52" presetID="53" presetClass="entr" presetSubtype="16"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600" fill="hold"/>
                                        <p:tgtEl>
                                          <p:spTgt spid="15"/>
                                        </p:tgtEl>
                                        <p:attrNameLst>
                                          <p:attrName>ppt_w</p:attrName>
                                        </p:attrNameLst>
                                      </p:cBhvr>
                                      <p:tavLst>
                                        <p:tav tm="0">
                                          <p:val>
                                            <p:fltVal val="0"/>
                                          </p:val>
                                        </p:tav>
                                        <p:tav tm="100000">
                                          <p:val>
                                            <p:strVal val="#ppt_w"/>
                                          </p:val>
                                        </p:tav>
                                      </p:tavLst>
                                    </p:anim>
                                    <p:anim calcmode="lin" valueType="num">
                                      <p:cBhvr additive="base">
                                        <p:cTn id="50" dur="600" fill="hold"/>
                                        <p:tgtEl>
                                          <p:spTgt spid="15"/>
                                        </p:tgtEl>
                                        <p:attrNameLst>
                                          <p:attrName>ppt_h</p:attrName>
                                        </p:attrNameLst>
                                      </p:cBhvr>
                                      <p:tavLst>
                                        <p:tav tm="0">
                                          <p:val>
                                            <p:fltVal val="0"/>
                                          </p:val>
                                        </p:tav>
                                        <p:tav tm="100000">
                                          <p:val>
                                            <p:strVal val="#ppt_h"/>
                                          </p:val>
                                        </p:tav>
                                      </p:tavLst>
                                    </p:anim>
                                    <p:animEffect transition="in" filter="fade">
                                      <p:cBhvr>
                                        <p:cTn id="51" dur="600"/>
                                        <p:tgtEl>
                                          <p:spTgt spid="15"/>
                                        </p:tgtEl>
                                      </p:cBhvr>
                                    </p:animEffect>
                                  </p:childTnLst>
                                </p:cTn>
                              </p:par>
                              <p:par>
                                <p:cTn id="57" presetID="53" presetClass="entr" presetSubtype="16"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600" fill="hold"/>
                                        <p:tgtEl>
                                          <p:spTgt spid="16"/>
                                        </p:tgtEl>
                                        <p:attrNameLst>
                                          <p:attrName>ppt_w</p:attrName>
                                        </p:attrNameLst>
                                      </p:cBhvr>
                                      <p:tavLst>
                                        <p:tav tm="0">
                                          <p:val>
                                            <p:fltVal val="0"/>
                                          </p:val>
                                        </p:tav>
                                        <p:tav tm="100000">
                                          <p:val>
                                            <p:strVal val="#ppt_w"/>
                                          </p:val>
                                        </p:tav>
                                      </p:tavLst>
                                    </p:anim>
                                    <p:anim calcmode="lin" valueType="num">
                                      <p:cBhvr additive="base">
                                        <p:cTn id="55" dur="600" fill="hold"/>
                                        <p:tgtEl>
                                          <p:spTgt spid="16"/>
                                        </p:tgtEl>
                                        <p:attrNameLst>
                                          <p:attrName>ppt_h</p:attrName>
                                        </p:attrNameLst>
                                      </p:cBhvr>
                                      <p:tavLst>
                                        <p:tav tm="0">
                                          <p:val>
                                            <p:fltVal val="0"/>
                                          </p:val>
                                        </p:tav>
                                        <p:tav tm="100000">
                                          <p:val>
                                            <p:strVal val="#ppt_h"/>
                                          </p:val>
                                        </p:tav>
                                      </p:tavLst>
                                    </p:anim>
                                    <p:animEffect transition="in" filter="fade">
                                      <p:cBhvr>
                                        <p:cTn id="56" dur="600"/>
                                        <p:tgtEl>
                                          <p:spTgt spid="16"/>
                                        </p:tgtEl>
                                      </p:cBhvr>
                                    </p:animEffect>
                                  </p:childTnLst>
                                </p:cTn>
                              </p:par>
                              <p:par>
                                <p:cTn id="62" presetID="53" presetClass="entr" presetSubtype="16"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600" fill="hold"/>
                                        <p:tgtEl>
                                          <p:spTgt spid="17"/>
                                        </p:tgtEl>
                                        <p:attrNameLst>
                                          <p:attrName>ppt_w</p:attrName>
                                        </p:attrNameLst>
                                      </p:cBhvr>
                                      <p:tavLst>
                                        <p:tav tm="0">
                                          <p:val>
                                            <p:fltVal val="0"/>
                                          </p:val>
                                        </p:tav>
                                        <p:tav tm="100000">
                                          <p:val>
                                            <p:strVal val="#ppt_w"/>
                                          </p:val>
                                        </p:tav>
                                      </p:tavLst>
                                    </p:anim>
                                    <p:anim calcmode="lin" valueType="num">
                                      <p:cBhvr additive="base">
                                        <p:cTn id="60" dur="600" fill="hold"/>
                                        <p:tgtEl>
                                          <p:spTgt spid="17"/>
                                        </p:tgtEl>
                                        <p:attrNameLst>
                                          <p:attrName>ppt_h</p:attrName>
                                        </p:attrNameLst>
                                      </p:cBhvr>
                                      <p:tavLst>
                                        <p:tav tm="0">
                                          <p:val>
                                            <p:fltVal val="0"/>
                                          </p:val>
                                        </p:tav>
                                        <p:tav tm="100000">
                                          <p:val>
                                            <p:strVal val="#ppt_h"/>
                                          </p:val>
                                        </p:tav>
                                      </p:tavLst>
                                    </p:anim>
                                    <p:animEffect transition="in" filter="fade">
                                      <p:cBhvr>
                                        <p:cTn id="61" dur="600"/>
                                        <p:tgtEl>
                                          <p:spTgt spid="17"/>
                                        </p:tgtEl>
                                      </p:cBhvr>
                                    </p:animEffect>
                                  </p:childTnLst>
                                </p:cTn>
                              </p:par>
                              <p:par>
                                <p:cTn id="67" presetID="53" presetClass="entr" presetSubtype="16" fill="hold" nodeType="withEffect">
                                  <p:stCondLst>
                                    <p:cond delay="0"/>
                                  </p:stCondLst>
                                  <p:childTnLst>
                                    <p:set>
                                      <p:cBhvr>
                                        <p:cTn id="63" dur="1" fill="hold">
                                          <p:stCondLst>
                                            <p:cond delay="0"/>
                                          </p:stCondLst>
                                        </p:cTn>
                                        <p:tgtEl>
                                          <p:spTgt spid="20"/>
                                        </p:tgtEl>
                                        <p:attrNameLst>
                                          <p:attrName>style.visibility</p:attrName>
                                        </p:attrNameLst>
                                      </p:cBhvr>
                                      <p:to>
                                        <p:strVal val="visible"/>
                                      </p:to>
                                    </p:set>
                                    <p:anim calcmode="lin" valueType="num">
                                      <p:cBhvr additive="base">
                                        <p:cTn id="64" dur="600" fill="hold"/>
                                        <p:tgtEl>
                                          <p:spTgt spid="20"/>
                                        </p:tgtEl>
                                        <p:attrNameLst>
                                          <p:attrName>ppt_w</p:attrName>
                                        </p:attrNameLst>
                                      </p:cBhvr>
                                      <p:tavLst>
                                        <p:tav tm="0">
                                          <p:val>
                                            <p:fltVal val="0"/>
                                          </p:val>
                                        </p:tav>
                                        <p:tav tm="100000">
                                          <p:val>
                                            <p:strVal val="#ppt_w"/>
                                          </p:val>
                                        </p:tav>
                                      </p:tavLst>
                                    </p:anim>
                                    <p:anim calcmode="lin" valueType="num">
                                      <p:cBhvr additive="base">
                                        <p:cTn id="65" dur="600" fill="hold"/>
                                        <p:tgtEl>
                                          <p:spTgt spid="20"/>
                                        </p:tgtEl>
                                        <p:attrNameLst>
                                          <p:attrName>ppt_h</p:attrName>
                                        </p:attrNameLst>
                                      </p:cBhvr>
                                      <p:tavLst>
                                        <p:tav tm="0">
                                          <p:val>
                                            <p:fltVal val="0"/>
                                          </p:val>
                                        </p:tav>
                                        <p:tav tm="100000">
                                          <p:val>
                                            <p:strVal val="#ppt_h"/>
                                          </p:val>
                                        </p:tav>
                                      </p:tavLst>
                                    </p:anim>
                                    <p:animEffect transition="in" filter="fade">
                                      <p:cBhvr>
                                        <p:cTn id="66"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A08 · Integrity: the update script</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POWERSHELL · update.ps1</a:t>
            </a:r>
            <a:endParaRPr lang="en-US" sz="1300" dirty="0"/>
          </a:p>
        </p:txBody>
      </p:sp>
      <p:sp>
        <p:nvSpPr>
          <p:cNvPr id="5" name="Ex vuln"/>
          <p:cNvSpPr/>
          <p:nvPr/>
        </p:nvSpPr>
        <p:spPr>
          <a:xfrm>
            <a:off x="457200" y="1371600"/>
            <a:ext cx="4023360" cy="2834640"/>
          </a:xfrm>
          <a:prstGeom prst="roundRect">
            <a:avLst>
              <a:gd name="adj" fmla="val 3871"/>
            </a:avLst>
          </a:prstGeom>
          <a:solidFill>
            <a:schemeClr val="accent2">
              <a:alpha val="12000"/>
            </a:schemeClr>
          </a:solidFill>
          <a:ln w="12700">
            <a:solidFill>
              <a:schemeClr val="accent2"/>
            </a:solidFill>
            <a:prstDash val="solid"/>
          </a:ln>
        </p:spPr>
      </p:sp>
      <p:sp>
        <p:nvSpPr>
          <p:cNvPr id="6" name="Ex vuln label"/>
          <p:cNvSpPr txBox="1"/>
          <p:nvPr/>
        </p:nvSpPr>
        <p:spPr>
          <a:xfrm>
            <a:off x="640080" y="1508760"/>
            <a:ext cx="365760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VULNERABLE</a:t>
            </a:r>
            <a:endParaRPr lang="en-US" sz="1200" dirty="0"/>
          </a:p>
        </p:txBody>
      </p:sp>
      <p:sp>
        <p:nvSpPr>
          <p:cNvPr id="7" name="Ex vuln code"/>
          <p:cNvSpPr txBox="1"/>
          <p:nvPr/>
        </p:nvSpPr>
        <p:spPr>
          <a:xfrm>
            <a:off x="640080" y="1920240"/>
            <a:ext cx="3657600" cy="2103120"/>
          </a:xfrm>
          <a:prstGeom prst="rect">
            <a:avLst/>
          </a:prstGeom>
          <a:noFill/>
          <a:ln/>
        </p:spPr>
        <p:txBody>
          <a:bodyPr wrap="square" lIns="0" tIns="0" rIns="0" bIns="0" rtlCol="0" anchor="t"/>
          <a:lstStyle/>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update from the USB drive E:</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Copy-Item E:\update.zip .</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Expand-Archive update.zip C:\app</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nobody checked who made it</a:t>
            </a:r>
            <a:endParaRPr lang="en-US" sz="1200" dirty="0"/>
          </a:p>
        </p:txBody>
      </p:sp>
      <p:sp>
        <p:nvSpPr>
          <p:cNvPr id="8" name="Ex fixed"/>
          <p:cNvSpPr/>
          <p:nvPr/>
        </p:nvSpPr>
        <p:spPr>
          <a:xfrm>
            <a:off x="4663440" y="1371600"/>
            <a:ext cx="4023360" cy="2834640"/>
          </a:xfrm>
          <a:prstGeom prst="roundRect">
            <a:avLst>
              <a:gd name="adj" fmla="val 3871"/>
            </a:avLst>
          </a:prstGeom>
          <a:solidFill>
            <a:schemeClr val="accent3">
              <a:alpha val="12000"/>
            </a:schemeClr>
          </a:solidFill>
          <a:ln w="12700">
            <a:solidFill>
              <a:schemeClr val="accent3"/>
            </a:solidFill>
            <a:prstDash val="solid"/>
          </a:ln>
        </p:spPr>
      </p:sp>
      <p:sp>
        <p:nvSpPr>
          <p:cNvPr id="9" name="Ex fixed label"/>
          <p:cNvSpPr txBox="1"/>
          <p:nvPr/>
        </p:nvSpPr>
        <p:spPr>
          <a:xfrm>
            <a:off x="4846320" y="1508760"/>
            <a:ext cx="3657600" cy="256032"/>
          </a:xfrm>
          <a:prstGeom prst="rect">
            <a:avLst/>
          </a:prstGeom>
          <a:noFill/>
          <a:ln/>
        </p:spPr>
        <p:txBody>
          <a:bodyPr wrap="square" lIns="0" tIns="0" rIns="0" bIns="0" rtlCol="0" anchor="ctr"/>
          <a:lstStyle/>
          <a:p>
            <a:pPr indent="0" marL="0">
              <a:buNone/>
            </a:pPr>
            <a:r>
              <a:rPr lang="en-US" sz="1200" b="1" spc="200" kern="0" dirty="0">
                <a:solidFill>
                  <a:schemeClr val="accent3"/>
                </a:solidFill>
              </a:rPr>
              <a:t>FIXED</a:t>
            </a:r>
            <a:endParaRPr lang="en-US" sz="1200" dirty="0"/>
          </a:p>
        </p:txBody>
      </p:sp>
      <p:sp>
        <p:nvSpPr>
          <p:cNvPr id="10" name="Ex fixed code"/>
          <p:cNvSpPr txBox="1"/>
          <p:nvPr/>
        </p:nvSpPr>
        <p:spPr>
          <a:xfrm>
            <a:off x="4846320" y="1920240"/>
            <a:ext cx="3657600" cy="2103120"/>
          </a:xfrm>
          <a:prstGeom prst="rect">
            <a:avLst/>
          </a:prstGeom>
          <a:noFill/>
          <a:ln/>
        </p:spPr>
        <p:txBody>
          <a:bodyPr wrap="square" lIns="0" tIns="0" rIns="0" bIns="0" rtlCol="0" anchor="t"/>
          <a:lstStyle/>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$h = Get-FileHash update.zip `</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-Algorithm SHA256</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if ($h.Hash -ne $expected) {</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throw "Hash mismatch: stop" }</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Expand-Archive update.zip C:\app</a:t>
            </a:r>
            <a:endParaRPr lang="en-US" sz="12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 $expected comes from elsewhere</a:t>
            </a:r>
            <a:endParaRPr lang="en-US" sz="1200" dirty="0"/>
          </a:p>
        </p:txBody>
      </p:sp>
      <p:sp>
        <p:nvSpPr>
          <p:cNvPr id="11" name="Takeaway"/>
          <p:cNvSpPr txBox="1"/>
          <p:nvPr/>
        </p:nvSpPr>
        <p:spPr>
          <a:xfrm>
            <a:off x="457200" y="4279392"/>
            <a:ext cx="4754880" cy="411480"/>
          </a:xfrm>
          <a:prstGeom prst="rect">
            <a:avLst/>
          </a:prstGeom>
          <a:noFill/>
          <a:ln/>
        </p:spPr>
        <p:txBody>
          <a:bodyPr wrap="square" lIns="0" tIns="0" rIns="0" bIns="0" rtlCol="0" anchor="ctr"/>
          <a:lstStyle/>
          <a:p>
            <a:pPr indent="0" marL="0">
              <a:buNone/>
            </a:pPr>
            <a:r>
              <a:rPr lang="en-US" sz="1600" b="1" dirty="0">
                <a:solidFill>
                  <a:schemeClr val="accent1"/>
                </a:solidFill>
              </a:rPr>
              <a:t>Verify first. Install second.</a:t>
            </a:r>
            <a:endParaRPr lang="en-US" sz="1600" dirty="0"/>
          </a:p>
        </p:txBody>
      </p:sp>
      <p:pic>
        <p:nvPicPr>
          <p:cNvPr id="12" name="Hacker" descr="Hacker cartoon">    </p:cNvPr>
          <p:cNvPicPr>
            <a:picLocks noChangeAspect="1"/>
          </p:cNvPicPr>
          <p:nvPr/>
        </p:nvPicPr>
        <p:blipFill>
          <a:blip r:embed="rId1"/>
          <a:stretch>
            <a:fillRect/>
          </a:stretch>
        </p:blipFill>
        <p:spPr>
          <a:xfrm>
            <a:off x="7040880" y="4160520"/>
            <a:ext cx="777240" cy="777240"/>
          </a:xfrm>
          <a:prstGeom prst="rect">
            <a:avLst/>
          </a:prstGeom>
        </p:spPr>
      </p:pic>
      <p:pic>
        <p:nvPicPr>
          <p:cNvPr id="13" name="Mascot" descr="Mascot cartoon">    </p:cNvPr>
          <p:cNvPicPr>
            <a:picLocks noChangeAspect="1"/>
          </p:cNvPicPr>
          <p:nvPr/>
        </p:nvPicPr>
        <p:blipFill>
          <a:blip r:embed="rId2"/>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9" fill="hold">
                      <p:stCondLst>
                        <p:cond delay="indefinite"/>
                      </p:stCondLst>
                      <p:childTnLst>
                        <p:par>
                          <p:cTn id="20" fill="hold">
                            <p:stCondLst>
                              <p:cond delay="0"/>
                            </p:stCondLst>
                            <p:childTnLst>
                              <p:par>
                                <p:cTn id="6" presetID="2" presetClass="entr" presetSubtype="8"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 calcmode="lin" valueType="num">
                                      <p:cBhvr additive="base">
                                        <p:cTn id="4" dur="600" fill="hold"/>
                                        <p:tgtEl>
                                          <p:spTgt spid="5"/>
                                        </p:tgtEl>
                                        <p:attrNameLst>
                                          <p:attrName>ppt_x</p:attrName>
                                        </p:attrNameLst>
                                      </p:cBhvr>
                                      <p:tavLst>
                                        <p:tav tm="0">
                                          <p:val>
                                            <p:strVal val="0-#ppt_w/2"/>
                                          </p:val>
                                        </p:tav>
                                        <p:tav tm="100000">
                                          <p:val>
                                            <p:strVal val="#ppt_x"/>
                                          </p:val>
                                        </p:tav>
                                      </p:tavLst>
                                    </p:anim>
                                    <p:anim calcmode="lin" valueType="num">
                                      <p:cBhvr additive="base">
                                        <p:cTn id="5" dur="600" fill="hold"/>
                                        <p:tgtEl>
                                          <p:spTgt spid="5"/>
                                        </p:tgtEl>
                                        <p:attrNameLst>
                                          <p:attrName>ppt_y</p:attrName>
                                        </p:attrNameLst>
                                      </p:cBhvr>
                                      <p:tavLst>
                                        <p:tav tm="0">
                                          <p:val>
                                            <p:strVal val="#ppt_y"/>
                                          </p:val>
                                        </p:tav>
                                        <p:tav tm="100000">
                                          <p:val>
                                            <p:strVal val="#ppt_y"/>
                                          </p:val>
                                        </p:tav>
                                      </p:tavLst>
                                    </p:anim>
                                  </p:childTnLst>
                                </p:cTn>
                              </p:par>
                              <p:par>
                                <p:cTn id="10" presetID="2" presetClass="entr" presetSubtype="8"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 calcmode="lin" valueType="num">
                                      <p:cBhvr additive="base">
                                        <p:cTn id="8" dur="600" fill="hold"/>
                                        <p:tgtEl>
                                          <p:spTgt spid="6"/>
                                        </p:tgtEl>
                                        <p:attrNameLst>
                                          <p:attrName>ppt_x</p:attrName>
                                        </p:attrNameLst>
                                      </p:cBhvr>
                                      <p:tavLst>
                                        <p:tav tm="0">
                                          <p:val>
                                            <p:strVal val="0-#ppt_w/2"/>
                                          </p:val>
                                        </p:tav>
                                        <p:tav tm="100000">
                                          <p:val>
                                            <p:strVal val="#ppt_x"/>
                                          </p:val>
                                        </p:tav>
                                      </p:tavLst>
                                    </p:anim>
                                    <p:anim calcmode="lin" valueType="num">
                                      <p:cBhvr additive="base">
                                        <p:cTn id="9" dur="600" fill="hold"/>
                                        <p:tgtEl>
                                          <p:spTgt spid="6"/>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600" fill="hold"/>
                                        <p:tgtEl>
                                          <p:spTgt spid="7"/>
                                        </p:tgtEl>
                                        <p:attrNameLst>
                                          <p:attrName>ppt_x</p:attrName>
                                        </p:attrNameLst>
                                      </p:cBhvr>
                                      <p:tavLst>
                                        <p:tav tm="0">
                                          <p:val>
                                            <p:strVal val="0-#ppt_w/2"/>
                                          </p:val>
                                        </p:tav>
                                        <p:tav tm="100000">
                                          <p:val>
                                            <p:strVal val="#ppt_x"/>
                                          </p:val>
                                        </p:tav>
                                      </p:tavLst>
                                    </p:anim>
                                    <p:anim calcmode="lin" valueType="num">
                                      <p:cBhvr additive="base">
                                        <p:cTn id="13" dur="600" fill="hold"/>
                                        <p:tgtEl>
                                          <p:spTgt spid="7"/>
                                        </p:tgtEl>
                                        <p:attrNameLst>
                                          <p:attrName>ppt_y</p:attrName>
                                        </p:attrNameLst>
                                      </p:cBhvr>
                                      <p:tavLst>
                                        <p:tav tm="0">
                                          <p:val>
                                            <p:strVal val="#ppt_y"/>
                                          </p:val>
                                        </p:tav>
                                        <p:tav tm="100000">
                                          <p:val>
                                            <p:strVal val="#ppt_y"/>
                                          </p:val>
                                        </p:tav>
                                      </p:tavLst>
                                    </p:anim>
                                  </p:childTnLst>
                                </p:cTn>
                              </p:par>
                              <p:par>
                                <p:cTn id="18" presetID="2" presetClass="entr" presetSubtype="8"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600" fill="hold"/>
                                        <p:tgtEl>
                                          <p:spTgt spid="12"/>
                                        </p:tgtEl>
                                        <p:attrNameLst>
                                          <p:attrName>ppt_x</p:attrName>
                                        </p:attrNameLst>
                                      </p:cBhvr>
                                      <p:tavLst>
                                        <p:tav tm="0">
                                          <p:val>
                                            <p:strVal val="0-#ppt_w/2"/>
                                          </p:val>
                                        </p:tav>
                                        <p:tav tm="100000">
                                          <p:val>
                                            <p:strVal val="#ppt_x"/>
                                          </p:val>
                                        </p:tav>
                                      </p:tavLst>
                                    </p:anim>
                                    <p:anim calcmode="lin" valueType="num">
                                      <p:cBhvr additive="base">
                                        <p:cTn id="17" dur="6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25" presetID="53" presetClass="entr" presetSubtype="16"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600" fill="hold"/>
                                        <p:tgtEl>
                                          <p:spTgt spid="8"/>
                                        </p:tgtEl>
                                        <p:attrNameLst>
                                          <p:attrName>ppt_w</p:attrName>
                                        </p:attrNameLst>
                                      </p:cBhvr>
                                      <p:tavLst>
                                        <p:tav tm="0">
                                          <p:val>
                                            <p:fltVal val="0"/>
                                          </p:val>
                                        </p:tav>
                                        <p:tav tm="100000">
                                          <p:val>
                                            <p:strVal val="#ppt_w"/>
                                          </p:val>
                                        </p:tav>
                                      </p:tavLst>
                                    </p:anim>
                                    <p:anim calcmode="lin" valueType="num">
                                      <p:cBhvr additive="base">
                                        <p:cTn id="23" dur="600" fill="hold"/>
                                        <p:tgtEl>
                                          <p:spTgt spid="8"/>
                                        </p:tgtEl>
                                        <p:attrNameLst>
                                          <p:attrName>ppt_h</p:attrName>
                                        </p:attrNameLst>
                                      </p:cBhvr>
                                      <p:tavLst>
                                        <p:tav tm="0">
                                          <p:val>
                                            <p:fltVal val="0"/>
                                          </p:val>
                                        </p:tav>
                                        <p:tav tm="100000">
                                          <p:val>
                                            <p:strVal val="#ppt_h"/>
                                          </p:val>
                                        </p:tav>
                                      </p:tavLst>
                                    </p:anim>
                                    <p:animEffect transition="in" filter="fade">
                                      <p:cBhvr>
                                        <p:cTn id="24" dur="600"/>
                                        <p:tgtEl>
                                          <p:spTgt spid="8"/>
                                        </p:tgtEl>
                                      </p:cBhvr>
                                    </p:animEffect>
                                  </p:childTnLst>
                                </p:cTn>
                              </p:par>
                              <p:par>
                                <p:cTn id="30" presetID="53"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600" fill="hold"/>
                                        <p:tgtEl>
                                          <p:spTgt spid="9"/>
                                        </p:tgtEl>
                                        <p:attrNameLst>
                                          <p:attrName>ppt_w</p:attrName>
                                        </p:attrNameLst>
                                      </p:cBhvr>
                                      <p:tavLst>
                                        <p:tav tm="0">
                                          <p:val>
                                            <p:fltVal val="0"/>
                                          </p:val>
                                        </p:tav>
                                        <p:tav tm="100000">
                                          <p:val>
                                            <p:strVal val="#ppt_w"/>
                                          </p:val>
                                        </p:tav>
                                      </p:tavLst>
                                    </p:anim>
                                    <p:anim calcmode="lin" valueType="num">
                                      <p:cBhvr additive="base">
                                        <p:cTn id="28" dur="600" fill="hold"/>
                                        <p:tgtEl>
                                          <p:spTgt spid="9"/>
                                        </p:tgtEl>
                                        <p:attrNameLst>
                                          <p:attrName>ppt_h</p:attrName>
                                        </p:attrNameLst>
                                      </p:cBhvr>
                                      <p:tavLst>
                                        <p:tav tm="0">
                                          <p:val>
                                            <p:fltVal val="0"/>
                                          </p:val>
                                        </p:tav>
                                        <p:tav tm="100000">
                                          <p:val>
                                            <p:strVal val="#ppt_h"/>
                                          </p:val>
                                        </p:tav>
                                      </p:tavLst>
                                    </p:anim>
                                    <p:animEffect transition="in" filter="fade">
                                      <p:cBhvr>
                                        <p:cTn id="29" dur="600"/>
                                        <p:tgtEl>
                                          <p:spTgt spid="9"/>
                                        </p:tgtEl>
                                      </p:cBhvr>
                                    </p:animEffect>
                                  </p:childTnLst>
                                </p:cTn>
                              </p:par>
                              <p:par>
                                <p:cTn id="35" presetID="53" presetClass="entr" presetSubtype="16"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600" fill="hold"/>
                                        <p:tgtEl>
                                          <p:spTgt spid="10"/>
                                        </p:tgtEl>
                                        <p:attrNameLst>
                                          <p:attrName>ppt_w</p:attrName>
                                        </p:attrNameLst>
                                      </p:cBhvr>
                                      <p:tavLst>
                                        <p:tav tm="0">
                                          <p:val>
                                            <p:fltVal val="0"/>
                                          </p:val>
                                        </p:tav>
                                        <p:tav tm="100000">
                                          <p:val>
                                            <p:strVal val="#ppt_w"/>
                                          </p:val>
                                        </p:tav>
                                      </p:tavLst>
                                    </p:anim>
                                    <p:anim calcmode="lin" valueType="num">
                                      <p:cBhvr additive="base">
                                        <p:cTn id="33" dur="600" fill="hold"/>
                                        <p:tgtEl>
                                          <p:spTgt spid="10"/>
                                        </p:tgtEl>
                                        <p:attrNameLst>
                                          <p:attrName>ppt_h</p:attrName>
                                        </p:attrNameLst>
                                      </p:cBhvr>
                                      <p:tavLst>
                                        <p:tav tm="0">
                                          <p:val>
                                            <p:fltVal val="0"/>
                                          </p:val>
                                        </p:tav>
                                        <p:tav tm="100000">
                                          <p:val>
                                            <p:strVal val="#ppt_h"/>
                                          </p:val>
                                        </p:tav>
                                      </p:tavLst>
                                    </p:anim>
                                    <p:animEffect transition="in" filter="fade">
                                      <p:cBhvr>
                                        <p:cTn id="34" dur="600"/>
                                        <p:tgtEl>
                                          <p:spTgt spid="10"/>
                                        </p:tgtEl>
                                      </p:cBhvr>
                                    </p:animEffect>
                                  </p:childTnLst>
                                </p:cTn>
                              </p:par>
                              <p:par>
                                <p:cTn id="40" presetID="53" presetClass="entr" presetSubtype="16"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600" fill="hold"/>
                                        <p:tgtEl>
                                          <p:spTgt spid="13"/>
                                        </p:tgtEl>
                                        <p:attrNameLst>
                                          <p:attrName>ppt_w</p:attrName>
                                        </p:attrNameLst>
                                      </p:cBhvr>
                                      <p:tavLst>
                                        <p:tav tm="0">
                                          <p:val>
                                            <p:fltVal val="0"/>
                                          </p:val>
                                        </p:tav>
                                        <p:tav tm="100000">
                                          <p:val>
                                            <p:strVal val="#ppt_w"/>
                                          </p:val>
                                        </p:tav>
                                      </p:tavLst>
                                    </p:anim>
                                    <p:anim calcmode="lin" valueType="num">
                                      <p:cBhvr additive="base">
                                        <p:cTn id="38" dur="600" fill="hold"/>
                                        <p:tgtEl>
                                          <p:spTgt spid="13"/>
                                        </p:tgtEl>
                                        <p:attrNameLst>
                                          <p:attrName>ppt_h</p:attrName>
                                        </p:attrNameLst>
                                      </p:cBhvr>
                                      <p:tavLst>
                                        <p:tav tm="0">
                                          <p:val>
                                            <p:fltVal val="0"/>
                                          </p:val>
                                        </p:tav>
                                        <p:tav tm="100000">
                                          <p:val>
                                            <p:strVal val="#ppt_h"/>
                                          </p:val>
                                        </p:tav>
                                      </p:tavLst>
                                    </p:anim>
                                    <p:animEffect transition="in" filter="fade">
                                      <p:cBhvr>
                                        <p:cTn id="39"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Your 10-point checklist</a:t>
            </a:r>
            <a:endParaRPr lang="en-US" sz="3000" dirty="0"/>
          </a:p>
        </p:txBody>
      </p:sp>
      <p:sp>
        <p:nvSpPr>
          <p:cNvPr id="4" name="Rule 1"/>
          <p:cNvSpPr txBox="1"/>
          <p:nvPr/>
        </p:nvSpPr>
        <p:spPr>
          <a:xfrm>
            <a:off x="457200" y="1280160"/>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5" name="Rule text 1"/>
          <p:cNvSpPr txBox="1"/>
          <p:nvPr/>
        </p:nvSpPr>
        <p:spPr>
          <a:xfrm>
            <a:off x="1051560" y="1280160"/>
            <a:ext cx="3474720" cy="411480"/>
          </a:xfrm>
          <a:prstGeom prst="rect">
            <a:avLst/>
          </a:prstGeom>
          <a:noFill/>
          <a:ln/>
        </p:spPr>
        <p:txBody>
          <a:bodyPr wrap="square" lIns="0" tIns="0" rIns="0" bIns="0" rtlCol="0" anchor="ctr"/>
          <a:lstStyle/>
          <a:p>
            <a:pPr indent="0" marL="0">
              <a:buNone/>
            </a:pPr>
            <a:r>
              <a:rPr lang="en-US" sz="1800" dirty="0">
                <a:solidFill>
                  <a:schemeClr val="tx1"/>
                </a:solidFill>
              </a:rPr>
              <a:t>Authorize on the server</a:t>
            </a:r>
            <a:endParaRPr lang="en-US" sz="1800" dirty="0"/>
          </a:p>
        </p:txBody>
      </p:sp>
      <p:sp>
        <p:nvSpPr>
          <p:cNvPr id="6" name="Rule 2"/>
          <p:cNvSpPr txBox="1"/>
          <p:nvPr/>
        </p:nvSpPr>
        <p:spPr>
          <a:xfrm>
            <a:off x="457200" y="1883664"/>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7" name="Rule text 2"/>
          <p:cNvSpPr txBox="1"/>
          <p:nvPr/>
        </p:nvSpPr>
        <p:spPr>
          <a:xfrm>
            <a:off x="1051560" y="1883664"/>
            <a:ext cx="3474720" cy="411480"/>
          </a:xfrm>
          <a:prstGeom prst="rect">
            <a:avLst/>
          </a:prstGeom>
          <a:noFill/>
          <a:ln/>
        </p:spPr>
        <p:txBody>
          <a:bodyPr wrap="square" lIns="0" tIns="0" rIns="0" bIns="0" rtlCol="0" anchor="ctr"/>
          <a:lstStyle/>
          <a:p>
            <a:pPr indent="0" marL="0">
              <a:buNone/>
            </a:pPr>
            <a:r>
              <a:rPr lang="en-US" sz="1800" dirty="0">
                <a:solidFill>
                  <a:schemeClr val="tx1"/>
                </a:solidFill>
              </a:rPr>
              <a:t>Parameterize every query</a:t>
            </a:r>
            <a:endParaRPr lang="en-US" sz="1800" dirty="0"/>
          </a:p>
        </p:txBody>
      </p:sp>
      <p:sp>
        <p:nvSpPr>
          <p:cNvPr id="8" name="Rule 3"/>
          <p:cNvSpPr txBox="1"/>
          <p:nvPr/>
        </p:nvSpPr>
        <p:spPr>
          <a:xfrm>
            <a:off x="457200" y="2487168"/>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9" name="Rule text 3"/>
          <p:cNvSpPr txBox="1"/>
          <p:nvPr/>
        </p:nvSpPr>
        <p:spPr>
          <a:xfrm>
            <a:off x="1051560" y="2487168"/>
            <a:ext cx="3474720" cy="411480"/>
          </a:xfrm>
          <a:prstGeom prst="rect">
            <a:avLst/>
          </a:prstGeom>
          <a:noFill/>
          <a:ln/>
        </p:spPr>
        <p:txBody>
          <a:bodyPr wrap="square" lIns="0" tIns="0" rIns="0" bIns="0" rtlCol="0" anchor="ctr"/>
          <a:lstStyle/>
          <a:p>
            <a:pPr indent="0" marL="0">
              <a:buNone/>
            </a:pPr>
            <a:r>
              <a:rPr lang="en-US" sz="1800" dirty="0">
                <a:solidFill>
                  <a:schemeClr val="tx1"/>
                </a:solidFill>
              </a:rPr>
              <a:t>Deny by default</a:t>
            </a:r>
            <a:endParaRPr lang="en-US" sz="1800" dirty="0"/>
          </a:p>
        </p:txBody>
      </p:sp>
      <p:sp>
        <p:nvSpPr>
          <p:cNvPr id="10" name="Rule 4"/>
          <p:cNvSpPr txBox="1"/>
          <p:nvPr/>
        </p:nvSpPr>
        <p:spPr>
          <a:xfrm>
            <a:off x="457200" y="3090672"/>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1" name="Rule text 4"/>
          <p:cNvSpPr txBox="1"/>
          <p:nvPr/>
        </p:nvSpPr>
        <p:spPr>
          <a:xfrm>
            <a:off x="1051560" y="3090672"/>
            <a:ext cx="3474720" cy="411480"/>
          </a:xfrm>
          <a:prstGeom prst="rect">
            <a:avLst/>
          </a:prstGeom>
          <a:noFill/>
          <a:ln/>
        </p:spPr>
        <p:txBody>
          <a:bodyPr wrap="square" lIns="0" tIns="0" rIns="0" bIns="0" rtlCol="0" anchor="ctr"/>
          <a:lstStyle/>
          <a:p>
            <a:pPr indent="0" marL="0">
              <a:buNone/>
            </a:pPr>
            <a:r>
              <a:rPr lang="en-US" sz="1800" dirty="0">
                <a:solidFill>
                  <a:schemeClr val="tx1"/>
                </a:solidFill>
              </a:rPr>
              <a:t>No secrets in source</a:t>
            </a:r>
            <a:endParaRPr lang="en-US" sz="1800" dirty="0"/>
          </a:p>
        </p:txBody>
      </p:sp>
      <p:sp>
        <p:nvSpPr>
          <p:cNvPr id="12" name="Rule 5"/>
          <p:cNvSpPr txBox="1"/>
          <p:nvPr/>
        </p:nvSpPr>
        <p:spPr>
          <a:xfrm>
            <a:off x="457200" y="3694176"/>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13" name="Rule text 5"/>
          <p:cNvSpPr txBox="1"/>
          <p:nvPr/>
        </p:nvSpPr>
        <p:spPr>
          <a:xfrm>
            <a:off x="1051560" y="3694176"/>
            <a:ext cx="3474720" cy="411480"/>
          </a:xfrm>
          <a:prstGeom prst="rect">
            <a:avLst/>
          </a:prstGeom>
          <a:noFill/>
          <a:ln/>
        </p:spPr>
        <p:txBody>
          <a:bodyPr wrap="square" lIns="0" tIns="0" rIns="0" bIns="0" rtlCol="0" anchor="ctr"/>
          <a:lstStyle/>
          <a:p>
            <a:pPr indent="0" marL="0">
              <a:buNone/>
            </a:pPr>
            <a:r>
              <a:rPr lang="en-US" sz="1800" dirty="0">
                <a:solidFill>
                  <a:schemeClr val="tx1"/>
                </a:solidFill>
              </a:rPr>
              <a:t>Pin and lock dependencies</a:t>
            </a:r>
            <a:endParaRPr lang="en-US" sz="1800" dirty="0"/>
          </a:p>
        </p:txBody>
      </p:sp>
      <p:sp>
        <p:nvSpPr>
          <p:cNvPr id="14" name="Rule 6"/>
          <p:cNvSpPr txBox="1"/>
          <p:nvPr/>
        </p:nvSpPr>
        <p:spPr>
          <a:xfrm>
            <a:off x="4663440" y="1280160"/>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15" name="Rule text 6"/>
          <p:cNvSpPr txBox="1"/>
          <p:nvPr/>
        </p:nvSpPr>
        <p:spPr>
          <a:xfrm>
            <a:off x="5257800" y="1280160"/>
            <a:ext cx="3474720" cy="411480"/>
          </a:xfrm>
          <a:prstGeom prst="rect">
            <a:avLst/>
          </a:prstGeom>
          <a:noFill/>
          <a:ln/>
        </p:spPr>
        <p:txBody>
          <a:bodyPr wrap="square" lIns="0" tIns="0" rIns="0" bIns="0" rtlCol="0" anchor="ctr"/>
          <a:lstStyle/>
          <a:p>
            <a:pPr indent="0" marL="0">
              <a:buNone/>
            </a:pPr>
            <a:r>
              <a:rPr lang="en-US" sz="1800" dirty="0">
                <a:solidFill>
                  <a:schemeClr val="tx1"/>
                </a:solidFill>
              </a:rPr>
              <a:t>Sign offline updates</a:t>
            </a:r>
            <a:endParaRPr lang="en-US" sz="1800" dirty="0"/>
          </a:p>
        </p:txBody>
      </p:sp>
      <p:sp>
        <p:nvSpPr>
          <p:cNvPr id="16" name="Rule 7"/>
          <p:cNvSpPr txBox="1"/>
          <p:nvPr/>
        </p:nvSpPr>
        <p:spPr>
          <a:xfrm>
            <a:off x="4663440" y="1883664"/>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7</a:t>
            </a:r>
            <a:endParaRPr lang="en-US" sz="1500" dirty="0"/>
          </a:p>
        </p:txBody>
      </p:sp>
      <p:sp>
        <p:nvSpPr>
          <p:cNvPr id="17" name="Rule text 7"/>
          <p:cNvSpPr txBox="1"/>
          <p:nvPr/>
        </p:nvSpPr>
        <p:spPr>
          <a:xfrm>
            <a:off x="5257800" y="1883664"/>
            <a:ext cx="3474720" cy="411480"/>
          </a:xfrm>
          <a:prstGeom prst="rect">
            <a:avLst/>
          </a:prstGeom>
          <a:noFill/>
          <a:ln/>
        </p:spPr>
        <p:txBody>
          <a:bodyPr wrap="square" lIns="0" tIns="0" rIns="0" bIns="0" rtlCol="0" anchor="ctr"/>
          <a:lstStyle/>
          <a:p>
            <a:pPr indent="0" marL="0">
              <a:buNone/>
            </a:pPr>
            <a:r>
              <a:rPr lang="en-US" sz="1800" dirty="0">
                <a:solidFill>
                  <a:schemeClr val="tx1"/>
                </a:solidFill>
              </a:rPr>
              <a:t>Generic errors, fail closed</a:t>
            </a:r>
            <a:endParaRPr lang="en-US" sz="1800" dirty="0"/>
          </a:p>
        </p:txBody>
      </p:sp>
      <p:sp>
        <p:nvSpPr>
          <p:cNvPr id="18" name="Rule 8"/>
          <p:cNvSpPr txBox="1"/>
          <p:nvPr/>
        </p:nvSpPr>
        <p:spPr>
          <a:xfrm>
            <a:off x="4663440" y="2487168"/>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8</a:t>
            </a:r>
            <a:endParaRPr lang="en-US" sz="1500" dirty="0"/>
          </a:p>
        </p:txBody>
      </p:sp>
      <p:sp>
        <p:nvSpPr>
          <p:cNvPr id="19" name="Rule text 8"/>
          <p:cNvSpPr txBox="1"/>
          <p:nvPr/>
        </p:nvSpPr>
        <p:spPr>
          <a:xfrm>
            <a:off x="5257800" y="2487168"/>
            <a:ext cx="3474720" cy="411480"/>
          </a:xfrm>
          <a:prstGeom prst="rect">
            <a:avLst/>
          </a:prstGeom>
          <a:noFill/>
          <a:ln/>
        </p:spPr>
        <p:txBody>
          <a:bodyPr wrap="square" lIns="0" tIns="0" rIns="0" bIns="0" rtlCol="0" anchor="ctr"/>
          <a:lstStyle/>
          <a:p>
            <a:pPr indent="0" marL="0">
              <a:buNone/>
            </a:pPr>
            <a:r>
              <a:rPr lang="en-US" sz="1800" dirty="0">
                <a:solidFill>
                  <a:schemeClr val="tx1"/>
                </a:solidFill>
              </a:rPr>
              <a:t>Log events, never secrets</a:t>
            </a:r>
            <a:endParaRPr lang="en-US" sz="1800" dirty="0"/>
          </a:p>
        </p:txBody>
      </p:sp>
      <p:sp>
        <p:nvSpPr>
          <p:cNvPr id="20" name="Rule 9"/>
          <p:cNvSpPr txBox="1"/>
          <p:nvPr/>
        </p:nvSpPr>
        <p:spPr>
          <a:xfrm>
            <a:off x="4663440" y="3090672"/>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9</a:t>
            </a:r>
            <a:endParaRPr lang="en-US" sz="1500" dirty="0"/>
          </a:p>
        </p:txBody>
      </p:sp>
      <p:sp>
        <p:nvSpPr>
          <p:cNvPr id="21" name="Rule text 9"/>
          <p:cNvSpPr txBox="1"/>
          <p:nvPr/>
        </p:nvSpPr>
        <p:spPr>
          <a:xfrm>
            <a:off x="5257800" y="3090672"/>
            <a:ext cx="3474720" cy="411480"/>
          </a:xfrm>
          <a:prstGeom prst="rect">
            <a:avLst/>
          </a:prstGeom>
          <a:noFill/>
          <a:ln/>
        </p:spPr>
        <p:txBody>
          <a:bodyPr wrap="square" lIns="0" tIns="0" rIns="0" bIns="0" rtlCol="0" anchor="ctr"/>
          <a:lstStyle/>
          <a:p>
            <a:pPr indent="0" marL="0">
              <a:buNone/>
            </a:pPr>
            <a:r>
              <a:rPr lang="en-US" sz="1800" dirty="0">
                <a:solidFill>
                  <a:schemeClr val="tx1"/>
                </a:solidFill>
              </a:rPr>
              <a:t>Short-lived tokens</a:t>
            </a:r>
            <a:endParaRPr lang="en-US" sz="1800" dirty="0"/>
          </a:p>
        </p:txBody>
      </p:sp>
      <p:sp>
        <p:nvSpPr>
          <p:cNvPr id="22" name="Rule 10"/>
          <p:cNvSpPr txBox="1"/>
          <p:nvPr/>
        </p:nvSpPr>
        <p:spPr>
          <a:xfrm>
            <a:off x="4663440" y="3694176"/>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10</a:t>
            </a:r>
            <a:endParaRPr lang="en-US" sz="1500" dirty="0"/>
          </a:p>
        </p:txBody>
      </p:sp>
      <p:sp>
        <p:nvSpPr>
          <p:cNvPr id="23" name="Rule text 10"/>
          <p:cNvSpPr txBox="1"/>
          <p:nvPr/>
        </p:nvSpPr>
        <p:spPr>
          <a:xfrm>
            <a:off x="5257800" y="3694176"/>
            <a:ext cx="3474720" cy="411480"/>
          </a:xfrm>
          <a:prstGeom prst="rect">
            <a:avLst/>
          </a:prstGeom>
          <a:noFill/>
          <a:ln/>
        </p:spPr>
        <p:txBody>
          <a:bodyPr wrap="square" lIns="0" tIns="0" rIns="0" bIns="0" rtlCol="0" anchor="ctr"/>
          <a:lstStyle/>
          <a:p>
            <a:pPr indent="0" marL="0">
              <a:buNone/>
            </a:pPr>
            <a:r>
              <a:rPr lang="en-US" sz="1800" dirty="0">
                <a:solidFill>
                  <a:schemeClr val="tx1"/>
                </a:solidFill>
              </a:rPr>
              <a:t>Harden production config</a:t>
            </a:r>
            <a:endParaRPr lang="en-US" sz="18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3" fill="hold">
                      <p:stCondLst>
                        <p:cond delay="indefinite"/>
                        <p:cond evt="onBegin" delay="0">
                          <p:tn val="2"/>
                        </p:cond>
                      </p:stCondLst>
                      <p:childTnLst>
                        <p:par>
                          <p:cTn id="84" fill="hold">
                            <p:stCondLst>
                              <p:cond delay="0"/>
                            </p:stCondLst>
                            <p:childTnLst>
                              <p:par>
                                <p:cTn id="6" presetID="2" presetClass="entr" presetSubtype="8" fill="hold" grpId="0" nodeType="afterEffect">
                                  <p:stCondLst>
                                    <p:cond delay="0"/>
                                  </p:stCondLst>
                                  <p:childTnLst>
                                    <p:set>
                                      <p:cBhvr>
                                        <p:cTn id="3" dur="1" fill="hold">
                                          <p:stCondLst>
                                            <p:cond delay="0"/>
                                          </p:stCondLst>
                                        </p:cTn>
                                        <p:tgtEl>
                                          <p:spTgt spid="4"/>
                                        </p:tgtEl>
                                        <p:attrNameLst>
                                          <p:attrName>style.visibility</p:attrName>
                                        </p:attrNameLst>
                                      </p:cBhvr>
                                      <p:to>
                                        <p:strVal val="visible"/>
                                      </p:to>
                                    </p:set>
                                    <p:anim calcmode="lin" valueType="num">
                                      <p:cBhvr additive="base">
                                        <p:cTn id="4" dur="450" fill="hold"/>
                                        <p:tgtEl>
                                          <p:spTgt spid="4"/>
                                        </p:tgtEl>
                                        <p:attrNameLst>
                                          <p:attrName>ppt_x</p:attrName>
                                        </p:attrNameLst>
                                      </p:cBhvr>
                                      <p:tavLst>
                                        <p:tav tm="0">
                                          <p:val>
                                            <p:strVal val="0-#ppt_w/2"/>
                                          </p:val>
                                        </p:tav>
                                        <p:tav tm="100000">
                                          <p:val>
                                            <p:strVal val="#ppt_x"/>
                                          </p:val>
                                        </p:tav>
                                      </p:tavLst>
                                    </p:anim>
                                    <p:anim calcmode="lin" valueType="num">
                                      <p:cBhvr additive="base">
                                        <p:cTn id="5" dur="450" fill="hold"/>
                                        <p:tgtEl>
                                          <p:spTgt spid="4"/>
                                        </p:tgtEl>
                                        <p:attrNameLst>
                                          <p:attrName>ppt_y</p:attrName>
                                        </p:attrNameLst>
                                      </p:cBhvr>
                                      <p:tavLst>
                                        <p:tav tm="0">
                                          <p:val>
                                            <p:strVal val="#ppt_y"/>
                                          </p:val>
                                        </p:tav>
                                        <p:tav tm="100000">
                                          <p:val>
                                            <p:strVal val="#ppt_y"/>
                                          </p:val>
                                        </p:tav>
                                      </p:tavLst>
                                    </p:anim>
                                  </p:childTnLst>
                                </p:cTn>
                              </p:par>
                              <p:par>
                                <p:cTn id="10" presetID="2" presetClass="entr" presetSubtype="8"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 calcmode="lin" valueType="num">
                                      <p:cBhvr additive="base">
                                        <p:cTn id="8" dur="450" fill="hold"/>
                                        <p:tgtEl>
                                          <p:spTgt spid="5"/>
                                        </p:tgtEl>
                                        <p:attrNameLst>
                                          <p:attrName>ppt_x</p:attrName>
                                        </p:attrNameLst>
                                      </p:cBhvr>
                                      <p:tavLst>
                                        <p:tav tm="0">
                                          <p:val>
                                            <p:strVal val="0-#ppt_w/2"/>
                                          </p:val>
                                        </p:tav>
                                        <p:tav tm="100000">
                                          <p:val>
                                            <p:strVal val="#ppt_x"/>
                                          </p:val>
                                        </p:tav>
                                      </p:tavLst>
                                    </p:anim>
                                    <p:anim calcmode="lin" valueType="num">
                                      <p:cBhvr additive="base">
                                        <p:cTn id="9" dur="450" fill="hold"/>
                                        <p:tgtEl>
                                          <p:spTgt spid="5"/>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35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450" fill="hold"/>
                                        <p:tgtEl>
                                          <p:spTgt spid="6"/>
                                        </p:tgtEl>
                                        <p:attrNameLst>
                                          <p:attrName>ppt_x</p:attrName>
                                        </p:attrNameLst>
                                      </p:cBhvr>
                                      <p:tavLst>
                                        <p:tav tm="0">
                                          <p:val>
                                            <p:strVal val="0-#ppt_w/2"/>
                                          </p:val>
                                        </p:tav>
                                        <p:tav tm="100000">
                                          <p:val>
                                            <p:strVal val="#ppt_x"/>
                                          </p:val>
                                        </p:tav>
                                      </p:tavLst>
                                    </p:anim>
                                    <p:anim calcmode="lin" valueType="num">
                                      <p:cBhvr additive="base">
                                        <p:cTn id="13" dur="450" fill="hold"/>
                                        <p:tgtEl>
                                          <p:spTgt spid="6"/>
                                        </p:tgtEl>
                                        <p:attrNameLst>
                                          <p:attrName>ppt_y</p:attrName>
                                        </p:attrNameLst>
                                      </p:cBhvr>
                                      <p:tavLst>
                                        <p:tav tm="0">
                                          <p:val>
                                            <p:strVal val="#ppt_y"/>
                                          </p:val>
                                        </p:tav>
                                        <p:tav tm="100000">
                                          <p:val>
                                            <p:strVal val="#ppt_y"/>
                                          </p:val>
                                        </p:tav>
                                      </p:tavLst>
                                    </p:anim>
                                  </p:childTnLst>
                                </p:cTn>
                              </p:par>
                              <p:par>
                                <p:cTn id="18" presetID="2" presetClass="entr" presetSubtype="8" fill="hold" grpId="0" nodeType="withEffect">
                                  <p:stCondLst>
                                    <p:cond delay="35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450" fill="hold"/>
                                        <p:tgtEl>
                                          <p:spTgt spid="7"/>
                                        </p:tgtEl>
                                        <p:attrNameLst>
                                          <p:attrName>ppt_x</p:attrName>
                                        </p:attrNameLst>
                                      </p:cBhvr>
                                      <p:tavLst>
                                        <p:tav tm="0">
                                          <p:val>
                                            <p:strVal val="0-#ppt_w/2"/>
                                          </p:val>
                                        </p:tav>
                                        <p:tav tm="100000">
                                          <p:val>
                                            <p:strVal val="#ppt_x"/>
                                          </p:val>
                                        </p:tav>
                                      </p:tavLst>
                                    </p:anim>
                                    <p:anim calcmode="lin" valueType="num">
                                      <p:cBhvr additive="base">
                                        <p:cTn id="17" dur="450" fill="hold"/>
                                        <p:tgtEl>
                                          <p:spTgt spid="7"/>
                                        </p:tgtEl>
                                        <p:attrNameLst>
                                          <p:attrName>ppt_y</p:attrName>
                                        </p:attrNameLst>
                                      </p:cBhvr>
                                      <p:tavLst>
                                        <p:tav tm="0">
                                          <p:val>
                                            <p:strVal val="#ppt_y"/>
                                          </p:val>
                                        </p:tav>
                                        <p:tav tm="100000">
                                          <p:val>
                                            <p:strVal val="#ppt_y"/>
                                          </p:val>
                                        </p:tav>
                                      </p:tavLst>
                                    </p:anim>
                                  </p:childTnLst>
                                </p:cTn>
                              </p:par>
                              <p:par>
                                <p:cTn id="22" presetID="2" presetClass="entr" presetSubtype="8" fill="hold" grpId="0" nodeType="withEffect">
                                  <p:stCondLst>
                                    <p:cond delay="70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450" fill="hold"/>
                                        <p:tgtEl>
                                          <p:spTgt spid="8"/>
                                        </p:tgtEl>
                                        <p:attrNameLst>
                                          <p:attrName>ppt_x</p:attrName>
                                        </p:attrNameLst>
                                      </p:cBhvr>
                                      <p:tavLst>
                                        <p:tav tm="0">
                                          <p:val>
                                            <p:strVal val="0-#ppt_w/2"/>
                                          </p:val>
                                        </p:tav>
                                        <p:tav tm="100000">
                                          <p:val>
                                            <p:strVal val="#ppt_x"/>
                                          </p:val>
                                        </p:tav>
                                      </p:tavLst>
                                    </p:anim>
                                    <p:anim calcmode="lin" valueType="num">
                                      <p:cBhvr additive="base">
                                        <p:cTn id="21" dur="450" fill="hold"/>
                                        <p:tgtEl>
                                          <p:spTgt spid="8"/>
                                        </p:tgtEl>
                                        <p:attrNameLst>
                                          <p:attrName>ppt_y</p:attrName>
                                        </p:attrNameLst>
                                      </p:cBhvr>
                                      <p:tavLst>
                                        <p:tav tm="0">
                                          <p:val>
                                            <p:strVal val="#ppt_y"/>
                                          </p:val>
                                        </p:tav>
                                        <p:tav tm="100000">
                                          <p:val>
                                            <p:strVal val="#ppt_y"/>
                                          </p:val>
                                        </p:tav>
                                      </p:tavLst>
                                    </p:anim>
                                  </p:childTnLst>
                                </p:cTn>
                              </p:par>
                              <p:par>
                                <p:cTn id="26" presetID="2" presetClass="entr" presetSubtype="8" fill="hold" grpId="0" nodeType="withEffect">
                                  <p:stCondLst>
                                    <p:cond delay="70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450" fill="hold"/>
                                        <p:tgtEl>
                                          <p:spTgt spid="9"/>
                                        </p:tgtEl>
                                        <p:attrNameLst>
                                          <p:attrName>ppt_x</p:attrName>
                                        </p:attrNameLst>
                                      </p:cBhvr>
                                      <p:tavLst>
                                        <p:tav tm="0">
                                          <p:val>
                                            <p:strVal val="0-#ppt_w/2"/>
                                          </p:val>
                                        </p:tav>
                                        <p:tav tm="100000">
                                          <p:val>
                                            <p:strVal val="#ppt_x"/>
                                          </p:val>
                                        </p:tav>
                                      </p:tavLst>
                                    </p:anim>
                                    <p:anim calcmode="lin" valueType="num">
                                      <p:cBhvr additive="base">
                                        <p:cTn id="25" dur="450" fill="hold"/>
                                        <p:tgtEl>
                                          <p:spTgt spid="9"/>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stCondLst>
                                    <p:cond delay="105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450" fill="hold"/>
                                        <p:tgtEl>
                                          <p:spTgt spid="10"/>
                                        </p:tgtEl>
                                        <p:attrNameLst>
                                          <p:attrName>ppt_x</p:attrName>
                                        </p:attrNameLst>
                                      </p:cBhvr>
                                      <p:tavLst>
                                        <p:tav tm="0">
                                          <p:val>
                                            <p:strVal val="0-#ppt_w/2"/>
                                          </p:val>
                                        </p:tav>
                                        <p:tav tm="100000">
                                          <p:val>
                                            <p:strVal val="#ppt_x"/>
                                          </p:val>
                                        </p:tav>
                                      </p:tavLst>
                                    </p:anim>
                                    <p:anim calcmode="lin" valueType="num">
                                      <p:cBhvr additive="base">
                                        <p:cTn id="29" dur="450" fill="hold"/>
                                        <p:tgtEl>
                                          <p:spTgt spid="10"/>
                                        </p:tgtEl>
                                        <p:attrNameLst>
                                          <p:attrName>ppt_y</p:attrName>
                                        </p:attrNameLst>
                                      </p:cBhvr>
                                      <p:tavLst>
                                        <p:tav tm="0">
                                          <p:val>
                                            <p:strVal val="#ppt_y"/>
                                          </p:val>
                                        </p:tav>
                                        <p:tav tm="100000">
                                          <p:val>
                                            <p:strVal val="#ppt_y"/>
                                          </p:val>
                                        </p:tav>
                                      </p:tavLst>
                                    </p:anim>
                                  </p:childTnLst>
                                </p:cTn>
                              </p:par>
                              <p:par>
                                <p:cTn id="34" presetID="2" presetClass="entr" presetSubtype="8" fill="hold" grpId="0" nodeType="withEffect">
                                  <p:stCondLst>
                                    <p:cond delay="105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450" fill="hold"/>
                                        <p:tgtEl>
                                          <p:spTgt spid="11"/>
                                        </p:tgtEl>
                                        <p:attrNameLst>
                                          <p:attrName>ppt_x</p:attrName>
                                        </p:attrNameLst>
                                      </p:cBhvr>
                                      <p:tavLst>
                                        <p:tav tm="0">
                                          <p:val>
                                            <p:strVal val="0-#ppt_w/2"/>
                                          </p:val>
                                        </p:tav>
                                        <p:tav tm="100000">
                                          <p:val>
                                            <p:strVal val="#ppt_x"/>
                                          </p:val>
                                        </p:tav>
                                      </p:tavLst>
                                    </p:anim>
                                    <p:anim calcmode="lin" valueType="num">
                                      <p:cBhvr additive="base">
                                        <p:cTn id="33" dur="450" fill="hold"/>
                                        <p:tgtEl>
                                          <p:spTgt spid="11"/>
                                        </p:tgtEl>
                                        <p:attrNameLst>
                                          <p:attrName>ppt_y</p:attrName>
                                        </p:attrNameLst>
                                      </p:cBhvr>
                                      <p:tavLst>
                                        <p:tav tm="0">
                                          <p:val>
                                            <p:strVal val="#ppt_y"/>
                                          </p:val>
                                        </p:tav>
                                        <p:tav tm="100000">
                                          <p:val>
                                            <p:strVal val="#ppt_y"/>
                                          </p:val>
                                        </p:tav>
                                      </p:tavLst>
                                    </p:anim>
                                  </p:childTnLst>
                                </p:cTn>
                              </p:par>
                              <p:par>
                                <p:cTn id="38" presetID="2" presetClass="entr" presetSubtype="8" fill="hold" grpId="0" nodeType="withEffect">
                                  <p:stCondLst>
                                    <p:cond delay="140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450" fill="hold"/>
                                        <p:tgtEl>
                                          <p:spTgt spid="12"/>
                                        </p:tgtEl>
                                        <p:attrNameLst>
                                          <p:attrName>ppt_x</p:attrName>
                                        </p:attrNameLst>
                                      </p:cBhvr>
                                      <p:tavLst>
                                        <p:tav tm="0">
                                          <p:val>
                                            <p:strVal val="0-#ppt_w/2"/>
                                          </p:val>
                                        </p:tav>
                                        <p:tav tm="100000">
                                          <p:val>
                                            <p:strVal val="#ppt_x"/>
                                          </p:val>
                                        </p:tav>
                                      </p:tavLst>
                                    </p:anim>
                                    <p:anim calcmode="lin" valueType="num">
                                      <p:cBhvr additive="base">
                                        <p:cTn id="37" dur="450" fill="hold"/>
                                        <p:tgtEl>
                                          <p:spTgt spid="12"/>
                                        </p:tgtEl>
                                        <p:attrNameLst>
                                          <p:attrName>ppt_y</p:attrName>
                                        </p:attrNameLst>
                                      </p:cBhvr>
                                      <p:tavLst>
                                        <p:tav tm="0">
                                          <p:val>
                                            <p:strVal val="#ppt_y"/>
                                          </p:val>
                                        </p:tav>
                                        <p:tav tm="100000">
                                          <p:val>
                                            <p:strVal val="#ppt_y"/>
                                          </p:val>
                                        </p:tav>
                                      </p:tavLst>
                                    </p:anim>
                                  </p:childTnLst>
                                </p:cTn>
                              </p:par>
                              <p:par>
                                <p:cTn id="42" presetID="2" presetClass="entr" presetSubtype="8" fill="hold" grpId="0" nodeType="withEffect">
                                  <p:stCondLst>
                                    <p:cond delay="1400"/>
                                  </p:stCondLst>
                                  <p:childTnLst>
                                    <p:set>
                                      <p:cBhvr>
                                        <p:cTn id="39" dur="1" fill="hold">
                                          <p:stCondLst>
                                            <p:cond delay="0"/>
                                          </p:stCondLst>
                                        </p:cTn>
                                        <p:tgtEl>
                                          <p:spTgt spid="13"/>
                                        </p:tgtEl>
                                        <p:attrNameLst>
                                          <p:attrName>style.visibility</p:attrName>
                                        </p:attrNameLst>
                                      </p:cBhvr>
                                      <p:to>
                                        <p:strVal val="visible"/>
                                      </p:to>
                                    </p:set>
                                    <p:anim calcmode="lin" valueType="num">
                                      <p:cBhvr additive="base">
                                        <p:cTn id="40" dur="450" fill="hold"/>
                                        <p:tgtEl>
                                          <p:spTgt spid="13"/>
                                        </p:tgtEl>
                                        <p:attrNameLst>
                                          <p:attrName>ppt_x</p:attrName>
                                        </p:attrNameLst>
                                      </p:cBhvr>
                                      <p:tavLst>
                                        <p:tav tm="0">
                                          <p:val>
                                            <p:strVal val="0-#ppt_w/2"/>
                                          </p:val>
                                        </p:tav>
                                        <p:tav tm="100000">
                                          <p:val>
                                            <p:strVal val="#ppt_x"/>
                                          </p:val>
                                        </p:tav>
                                      </p:tavLst>
                                    </p:anim>
                                    <p:anim calcmode="lin" valueType="num">
                                      <p:cBhvr additive="base">
                                        <p:cTn id="41" dur="450" fill="hold"/>
                                        <p:tgtEl>
                                          <p:spTgt spid="13"/>
                                        </p:tgtEl>
                                        <p:attrNameLst>
                                          <p:attrName>ppt_y</p:attrName>
                                        </p:attrNameLst>
                                      </p:cBhvr>
                                      <p:tavLst>
                                        <p:tav tm="0">
                                          <p:val>
                                            <p:strVal val="#ppt_y"/>
                                          </p:val>
                                        </p:tav>
                                        <p:tav tm="100000">
                                          <p:val>
                                            <p:strVal val="#ppt_y"/>
                                          </p:val>
                                        </p:tav>
                                      </p:tavLst>
                                    </p:anim>
                                  </p:childTnLst>
                                </p:cTn>
                              </p:par>
                              <p:par>
                                <p:cTn id="46" presetID="2" presetClass="entr" presetSubtype="8" fill="hold" grpId="0" nodeType="withEffect">
                                  <p:stCondLst>
                                    <p:cond delay="175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450" fill="hold"/>
                                        <p:tgtEl>
                                          <p:spTgt spid="14"/>
                                        </p:tgtEl>
                                        <p:attrNameLst>
                                          <p:attrName>ppt_x</p:attrName>
                                        </p:attrNameLst>
                                      </p:cBhvr>
                                      <p:tavLst>
                                        <p:tav tm="0">
                                          <p:val>
                                            <p:strVal val="0-#ppt_w/2"/>
                                          </p:val>
                                        </p:tav>
                                        <p:tav tm="100000">
                                          <p:val>
                                            <p:strVal val="#ppt_x"/>
                                          </p:val>
                                        </p:tav>
                                      </p:tavLst>
                                    </p:anim>
                                    <p:anim calcmode="lin" valueType="num">
                                      <p:cBhvr additive="base">
                                        <p:cTn id="45" dur="450" fill="hold"/>
                                        <p:tgtEl>
                                          <p:spTgt spid="14"/>
                                        </p:tgtEl>
                                        <p:attrNameLst>
                                          <p:attrName>ppt_y</p:attrName>
                                        </p:attrNameLst>
                                      </p:cBhvr>
                                      <p:tavLst>
                                        <p:tav tm="0">
                                          <p:val>
                                            <p:strVal val="#ppt_y"/>
                                          </p:val>
                                        </p:tav>
                                        <p:tav tm="100000">
                                          <p:val>
                                            <p:strVal val="#ppt_y"/>
                                          </p:val>
                                        </p:tav>
                                      </p:tavLst>
                                    </p:anim>
                                  </p:childTnLst>
                                </p:cTn>
                              </p:par>
                              <p:par>
                                <p:cTn id="50" presetID="2" presetClass="entr" presetSubtype="8" fill="hold" grpId="0" nodeType="withEffect">
                                  <p:stCondLst>
                                    <p:cond delay="1750"/>
                                  </p:stCondLst>
                                  <p:childTnLst>
                                    <p:set>
                                      <p:cBhvr>
                                        <p:cTn id="47" dur="1" fill="hold">
                                          <p:stCondLst>
                                            <p:cond delay="0"/>
                                          </p:stCondLst>
                                        </p:cTn>
                                        <p:tgtEl>
                                          <p:spTgt spid="15"/>
                                        </p:tgtEl>
                                        <p:attrNameLst>
                                          <p:attrName>style.visibility</p:attrName>
                                        </p:attrNameLst>
                                      </p:cBhvr>
                                      <p:to>
                                        <p:strVal val="visible"/>
                                      </p:to>
                                    </p:set>
                                    <p:anim calcmode="lin" valueType="num">
                                      <p:cBhvr additive="base">
                                        <p:cTn id="48" dur="450" fill="hold"/>
                                        <p:tgtEl>
                                          <p:spTgt spid="15"/>
                                        </p:tgtEl>
                                        <p:attrNameLst>
                                          <p:attrName>ppt_x</p:attrName>
                                        </p:attrNameLst>
                                      </p:cBhvr>
                                      <p:tavLst>
                                        <p:tav tm="0">
                                          <p:val>
                                            <p:strVal val="0-#ppt_w/2"/>
                                          </p:val>
                                        </p:tav>
                                        <p:tav tm="100000">
                                          <p:val>
                                            <p:strVal val="#ppt_x"/>
                                          </p:val>
                                        </p:tav>
                                      </p:tavLst>
                                    </p:anim>
                                    <p:anim calcmode="lin" valueType="num">
                                      <p:cBhvr additive="base">
                                        <p:cTn id="49" dur="450" fill="hold"/>
                                        <p:tgtEl>
                                          <p:spTgt spid="15"/>
                                        </p:tgtEl>
                                        <p:attrNameLst>
                                          <p:attrName>ppt_y</p:attrName>
                                        </p:attrNameLst>
                                      </p:cBhvr>
                                      <p:tavLst>
                                        <p:tav tm="0">
                                          <p:val>
                                            <p:strVal val="#ppt_y"/>
                                          </p:val>
                                        </p:tav>
                                        <p:tav tm="100000">
                                          <p:val>
                                            <p:strVal val="#ppt_y"/>
                                          </p:val>
                                        </p:tav>
                                      </p:tavLst>
                                    </p:anim>
                                  </p:childTnLst>
                                </p:cTn>
                              </p:par>
                              <p:par>
                                <p:cTn id="54" presetID="2" presetClass="entr" presetSubtype="8" fill="hold" grpId="0" nodeType="withEffect">
                                  <p:stCondLst>
                                    <p:cond delay="2100"/>
                                  </p:stCondLst>
                                  <p:childTnLst>
                                    <p:set>
                                      <p:cBhvr>
                                        <p:cTn id="51" dur="1" fill="hold">
                                          <p:stCondLst>
                                            <p:cond delay="0"/>
                                          </p:stCondLst>
                                        </p:cTn>
                                        <p:tgtEl>
                                          <p:spTgt spid="16"/>
                                        </p:tgtEl>
                                        <p:attrNameLst>
                                          <p:attrName>style.visibility</p:attrName>
                                        </p:attrNameLst>
                                      </p:cBhvr>
                                      <p:to>
                                        <p:strVal val="visible"/>
                                      </p:to>
                                    </p:set>
                                    <p:anim calcmode="lin" valueType="num">
                                      <p:cBhvr additive="base">
                                        <p:cTn id="52" dur="450" fill="hold"/>
                                        <p:tgtEl>
                                          <p:spTgt spid="16"/>
                                        </p:tgtEl>
                                        <p:attrNameLst>
                                          <p:attrName>ppt_x</p:attrName>
                                        </p:attrNameLst>
                                      </p:cBhvr>
                                      <p:tavLst>
                                        <p:tav tm="0">
                                          <p:val>
                                            <p:strVal val="0-#ppt_w/2"/>
                                          </p:val>
                                        </p:tav>
                                        <p:tav tm="100000">
                                          <p:val>
                                            <p:strVal val="#ppt_x"/>
                                          </p:val>
                                        </p:tav>
                                      </p:tavLst>
                                    </p:anim>
                                    <p:anim calcmode="lin" valueType="num">
                                      <p:cBhvr additive="base">
                                        <p:cTn id="53" dur="450" fill="hold"/>
                                        <p:tgtEl>
                                          <p:spTgt spid="16"/>
                                        </p:tgtEl>
                                        <p:attrNameLst>
                                          <p:attrName>ppt_y</p:attrName>
                                        </p:attrNameLst>
                                      </p:cBhvr>
                                      <p:tavLst>
                                        <p:tav tm="0">
                                          <p:val>
                                            <p:strVal val="#ppt_y"/>
                                          </p:val>
                                        </p:tav>
                                        <p:tav tm="100000">
                                          <p:val>
                                            <p:strVal val="#ppt_y"/>
                                          </p:val>
                                        </p:tav>
                                      </p:tavLst>
                                    </p:anim>
                                  </p:childTnLst>
                                </p:cTn>
                              </p:par>
                              <p:par>
                                <p:cTn id="58" presetID="2" presetClass="entr" presetSubtype="8" fill="hold" grpId="0" nodeType="withEffect">
                                  <p:stCondLst>
                                    <p:cond delay="2100"/>
                                  </p:stCondLst>
                                  <p:childTnLst>
                                    <p:set>
                                      <p:cBhvr>
                                        <p:cTn id="55" dur="1" fill="hold">
                                          <p:stCondLst>
                                            <p:cond delay="0"/>
                                          </p:stCondLst>
                                        </p:cTn>
                                        <p:tgtEl>
                                          <p:spTgt spid="17"/>
                                        </p:tgtEl>
                                        <p:attrNameLst>
                                          <p:attrName>style.visibility</p:attrName>
                                        </p:attrNameLst>
                                      </p:cBhvr>
                                      <p:to>
                                        <p:strVal val="visible"/>
                                      </p:to>
                                    </p:set>
                                    <p:anim calcmode="lin" valueType="num">
                                      <p:cBhvr additive="base">
                                        <p:cTn id="56" dur="450" fill="hold"/>
                                        <p:tgtEl>
                                          <p:spTgt spid="17"/>
                                        </p:tgtEl>
                                        <p:attrNameLst>
                                          <p:attrName>ppt_x</p:attrName>
                                        </p:attrNameLst>
                                      </p:cBhvr>
                                      <p:tavLst>
                                        <p:tav tm="0">
                                          <p:val>
                                            <p:strVal val="0-#ppt_w/2"/>
                                          </p:val>
                                        </p:tav>
                                        <p:tav tm="100000">
                                          <p:val>
                                            <p:strVal val="#ppt_x"/>
                                          </p:val>
                                        </p:tav>
                                      </p:tavLst>
                                    </p:anim>
                                    <p:anim calcmode="lin" valueType="num">
                                      <p:cBhvr additive="base">
                                        <p:cTn id="57" dur="450" fill="hold"/>
                                        <p:tgtEl>
                                          <p:spTgt spid="17"/>
                                        </p:tgtEl>
                                        <p:attrNameLst>
                                          <p:attrName>ppt_y</p:attrName>
                                        </p:attrNameLst>
                                      </p:cBhvr>
                                      <p:tavLst>
                                        <p:tav tm="0">
                                          <p:val>
                                            <p:strVal val="#ppt_y"/>
                                          </p:val>
                                        </p:tav>
                                        <p:tav tm="100000">
                                          <p:val>
                                            <p:strVal val="#ppt_y"/>
                                          </p:val>
                                        </p:tav>
                                      </p:tavLst>
                                    </p:anim>
                                  </p:childTnLst>
                                </p:cTn>
                              </p:par>
                              <p:par>
                                <p:cTn id="62" presetID="2" presetClass="entr" presetSubtype="8" fill="hold" grpId="0" nodeType="withEffect">
                                  <p:stCondLst>
                                    <p:cond delay="2450"/>
                                  </p:stCondLst>
                                  <p:childTnLst>
                                    <p:set>
                                      <p:cBhvr>
                                        <p:cTn id="59" dur="1" fill="hold">
                                          <p:stCondLst>
                                            <p:cond delay="0"/>
                                          </p:stCondLst>
                                        </p:cTn>
                                        <p:tgtEl>
                                          <p:spTgt spid="18"/>
                                        </p:tgtEl>
                                        <p:attrNameLst>
                                          <p:attrName>style.visibility</p:attrName>
                                        </p:attrNameLst>
                                      </p:cBhvr>
                                      <p:to>
                                        <p:strVal val="visible"/>
                                      </p:to>
                                    </p:set>
                                    <p:anim calcmode="lin" valueType="num">
                                      <p:cBhvr additive="base">
                                        <p:cTn id="60" dur="450" fill="hold"/>
                                        <p:tgtEl>
                                          <p:spTgt spid="18"/>
                                        </p:tgtEl>
                                        <p:attrNameLst>
                                          <p:attrName>ppt_x</p:attrName>
                                        </p:attrNameLst>
                                      </p:cBhvr>
                                      <p:tavLst>
                                        <p:tav tm="0">
                                          <p:val>
                                            <p:strVal val="0-#ppt_w/2"/>
                                          </p:val>
                                        </p:tav>
                                        <p:tav tm="100000">
                                          <p:val>
                                            <p:strVal val="#ppt_x"/>
                                          </p:val>
                                        </p:tav>
                                      </p:tavLst>
                                    </p:anim>
                                    <p:anim calcmode="lin" valueType="num">
                                      <p:cBhvr additive="base">
                                        <p:cTn id="61" dur="450" fill="hold"/>
                                        <p:tgtEl>
                                          <p:spTgt spid="18"/>
                                        </p:tgtEl>
                                        <p:attrNameLst>
                                          <p:attrName>ppt_y</p:attrName>
                                        </p:attrNameLst>
                                      </p:cBhvr>
                                      <p:tavLst>
                                        <p:tav tm="0">
                                          <p:val>
                                            <p:strVal val="#ppt_y"/>
                                          </p:val>
                                        </p:tav>
                                        <p:tav tm="100000">
                                          <p:val>
                                            <p:strVal val="#ppt_y"/>
                                          </p:val>
                                        </p:tav>
                                      </p:tavLst>
                                    </p:anim>
                                  </p:childTnLst>
                                </p:cTn>
                              </p:par>
                              <p:par>
                                <p:cTn id="66" presetID="2" presetClass="entr" presetSubtype="8" fill="hold" grpId="0" nodeType="withEffect">
                                  <p:stCondLst>
                                    <p:cond delay="2450"/>
                                  </p:stCondLst>
                                  <p:childTnLst>
                                    <p:set>
                                      <p:cBhvr>
                                        <p:cTn id="63" dur="1" fill="hold">
                                          <p:stCondLst>
                                            <p:cond delay="0"/>
                                          </p:stCondLst>
                                        </p:cTn>
                                        <p:tgtEl>
                                          <p:spTgt spid="19"/>
                                        </p:tgtEl>
                                        <p:attrNameLst>
                                          <p:attrName>style.visibility</p:attrName>
                                        </p:attrNameLst>
                                      </p:cBhvr>
                                      <p:to>
                                        <p:strVal val="visible"/>
                                      </p:to>
                                    </p:set>
                                    <p:anim calcmode="lin" valueType="num">
                                      <p:cBhvr additive="base">
                                        <p:cTn id="64" dur="450" fill="hold"/>
                                        <p:tgtEl>
                                          <p:spTgt spid="19"/>
                                        </p:tgtEl>
                                        <p:attrNameLst>
                                          <p:attrName>ppt_x</p:attrName>
                                        </p:attrNameLst>
                                      </p:cBhvr>
                                      <p:tavLst>
                                        <p:tav tm="0">
                                          <p:val>
                                            <p:strVal val="0-#ppt_w/2"/>
                                          </p:val>
                                        </p:tav>
                                        <p:tav tm="100000">
                                          <p:val>
                                            <p:strVal val="#ppt_x"/>
                                          </p:val>
                                        </p:tav>
                                      </p:tavLst>
                                    </p:anim>
                                    <p:anim calcmode="lin" valueType="num">
                                      <p:cBhvr additive="base">
                                        <p:cTn id="65" dur="450" fill="hold"/>
                                        <p:tgtEl>
                                          <p:spTgt spid="19"/>
                                        </p:tgtEl>
                                        <p:attrNameLst>
                                          <p:attrName>ppt_y</p:attrName>
                                        </p:attrNameLst>
                                      </p:cBhvr>
                                      <p:tavLst>
                                        <p:tav tm="0">
                                          <p:val>
                                            <p:strVal val="#ppt_y"/>
                                          </p:val>
                                        </p:tav>
                                        <p:tav tm="100000">
                                          <p:val>
                                            <p:strVal val="#ppt_y"/>
                                          </p:val>
                                        </p:tav>
                                      </p:tavLst>
                                    </p:anim>
                                  </p:childTnLst>
                                </p:cTn>
                              </p:par>
                              <p:par>
                                <p:cTn id="70" presetID="2" presetClass="entr" presetSubtype="8" fill="hold" grpId="0" nodeType="withEffect">
                                  <p:stCondLst>
                                    <p:cond delay="2800"/>
                                  </p:stCondLst>
                                  <p:childTnLst>
                                    <p:set>
                                      <p:cBhvr>
                                        <p:cTn id="67" dur="1" fill="hold">
                                          <p:stCondLst>
                                            <p:cond delay="0"/>
                                          </p:stCondLst>
                                        </p:cTn>
                                        <p:tgtEl>
                                          <p:spTgt spid="20"/>
                                        </p:tgtEl>
                                        <p:attrNameLst>
                                          <p:attrName>style.visibility</p:attrName>
                                        </p:attrNameLst>
                                      </p:cBhvr>
                                      <p:to>
                                        <p:strVal val="visible"/>
                                      </p:to>
                                    </p:set>
                                    <p:anim calcmode="lin" valueType="num">
                                      <p:cBhvr additive="base">
                                        <p:cTn id="68" dur="450" fill="hold"/>
                                        <p:tgtEl>
                                          <p:spTgt spid="20"/>
                                        </p:tgtEl>
                                        <p:attrNameLst>
                                          <p:attrName>ppt_x</p:attrName>
                                        </p:attrNameLst>
                                      </p:cBhvr>
                                      <p:tavLst>
                                        <p:tav tm="0">
                                          <p:val>
                                            <p:strVal val="0-#ppt_w/2"/>
                                          </p:val>
                                        </p:tav>
                                        <p:tav tm="100000">
                                          <p:val>
                                            <p:strVal val="#ppt_x"/>
                                          </p:val>
                                        </p:tav>
                                      </p:tavLst>
                                    </p:anim>
                                    <p:anim calcmode="lin" valueType="num">
                                      <p:cBhvr additive="base">
                                        <p:cTn id="69" dur="450" fill="hold"/>
                                        <p:tgtEl>
                                          <p:spTgt spid="20"/>
                                        </p:tgtEl>
                                        <p:attrNameLst>
                                          <p:attrName>ppt_y</p:attrName>
                                        </p:attrNameLst>
                                      </p:cBhvr>
                                      <p:tavLst>
                                        <p:tav tm="0">
                                          <p:val>
                                            <p:strVal val="#ppt_y"/>
                                          </p:val>
                                        </p:tav>
                                        <p:tav tm="100000">
                                          <p:val>
                                            <p:strVal val="#ppt_y"/>
                                          </p:val>
                                        </p:tav>
                                      </p:tavLst>
                                    </p:anim>
                                  </p:childTnLst>
                                </p:cTn>
                              </p:par>
                              <p:par>
                                <p:cTn id="74" presetID="2" presetClass="entr" presetSubtype="8" fill="hold" grpId="0" nodeType="withEffect">
                                  <p:stCondLst>
                                    <p:cond delay="280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450" fill="hold"/>
                                        <p:tgtEl>
                                          <p:spTgt spid="21"/>
                                        </p:tgtEl>
                                        <p:attrNameLst>
                                          <p:attrName>ppt_x</p:attrName>
                                        </p:attrNameLst>
                                      </p:cBhvr>
                                      <p:tavLst>
                                        <p:tav tm="0">
                                          <p:val>
                                            <p:strVal val="0-#ppt_w/2"/>
                                          </p:val>
                                        </p:tav>
                                        <p:tav tm="100000">
                                          <p:val>
                                            <p:strVal val="#ppt_x"/>
                                          </p:val>
                                        </p:tav>
                                      </p:tavLst>
                                    </p:anim>
                                    <p:anim calcmode="lin" valueType="num">
                                      <p:cBhvr additive="base">
                                        <p:cTn id="73" dur="450" fill="hold"/>
                                        <p:tgtEl>
                                          <p:spTgt spid="21"/>
                                        </p:tgtEl>
                                        <p:attrNameLst>
                                          <p:attrName>ppt_y</p:attrName>
                                        </p:attrNameLst>
                                      </p:cBhvr>
                                      <p:tavLst>
                                        <p:tav tm="0">
                                          <p:val>
                                            <p:strVal val="#ppt_y"/>
                                          </p:val>
                                        </p:tav>
                                        <p:tav tm="100000">
                                          <p:val>
                                            <p:strVal val="#ppt_y"/>
                                          </p:val>
                                        </p:tav>
                                      </p:tavLst>
                                    </p:anim>
                                  </p:childTnLst>
                                </p:cTn>
                              </p:par>
                              <p:par>
                                <p:cTn id="78" presetID="2" presetClass="entr" presetSubtype="8" fill="hold" grpId="0" nodeType="withEffect">
                                  <p:stCondLst>
                                    <p:cond delay="3150"/>
                                  </p:stCondLst>
                                  <p:childTnLst>
                                    <p:set>
                                      <p:cBhvr>
                                        <p:cTn id="75" dur="1" fill="hold">
                                          <p:stCondLst>
                                            <p:cond delay="0"/>
                                          </p:stCondLst>
                                        </p:cTn>
                                        <p:tgtEl>
                                          <p:spTgt spid="22"/>
                                        </p:tgtEl>
                                        <p:attrNameLst>
                                          <p:attrName>style.visibility</p:attrName>
                                        </p:attrNameLst>
                                      </p:cBhvr>
                                      <p:to>
                                        <p:strVal val="visible"/>
                                      </p:to>
                                    </p:set>
                                    <p:anim calcmode="lin" valueType="num">
                                      <p:cBhvr additive="base">
                                        <p:cTn id="76" dur="450" fill="hold"/>
                                        <p:tgtEl>
                                          <p:spTgt spid="22"/>
                                        </p:tgtEl>
                                        <p:attrNameLst>
                                          <p:attrName>ppt_x</p:attrName>
                                        </p:attrNameLst>
                                      </p:cBhvr>
                                      <p:tavLst>
                                        <p:tav tm="0">
                                          <p:val>
                                            <p:strVal val="0-#ppt_w/2"/>
                                          </p:val>
                                        </p:tav>
                                        <p:tav tm="100000">
                                          <p:val>
                                            <p:strVal val="#ppt_x"/>
                                          </p:val>
                                        </p:tav>
                                      </p:tavLst>
                                    </p:anim>
                                    <p:anim calcmode="lin" valueType="num">
                                      <p:cBhvr additive="base">
                                        <p:cTn id="77" dur="450" fill="hold"/>
                                        <p:tgtEl>
                                          <p:spTgt spid="22"/>
                                        </p:tgtEl>
                                        <p:attrNameLst>
                                          <p:attrName>ppt_y</p:attrName>
                                        </p:attrNameLst>
                                      </p:cBhvr>
                                      <p:tavLst>
                                        <p:tav tm="0">
                                          <p:val>
                                            <p:strVal val="#ppt_y"/>
                                          </p:val>
                                        </p:tav>
                                        <p:tav tm="100000">
                                          <p:val>
                                            <p:strVal val="#ppt_y"/>
                                          </p:val>
                                        </p:tav>
                                      </p:tavLst>
                                    </p:anim>
                                  </p:childTnLst>
                                </p:cTn>
                              </p:par>
                              <p:par>
                                <p:cTn id="82" presetID="2" presetClass="entr" presetSubtype="8" fill="hold" grpId="0" nodeType="withEffect">
                                  <p:stCondLst>
                                    <p:cond delay="3150"/>
                                  </p:stCondLst>
                                  <p:childTnLst>
                                    <p:set>
                                      <p:cBhvr>
                                        <p:cTn id="79" dur="1" fill="hold">
                                          <p:stCondLst>
                                            <p:cond delay="0"/>
                                          </p:stCondLst>
                                        </p:cTn>
                                        <p:tgtEl>
                                          <p:spTgt spid="23"/>
                                        </p:tgtEl>
                                        <p:attrNameLst>
                                          <p:attrName>style.visibility</p:attrName>
                                        </p:attrNameLst>
                                      </p:cBhvr>
                                      <p:to>
                                        <p:strVal val="visible"/>
                                      </p:to>
                                    </p:set>
                                    <p:anim calcmode="lin" valueType="num">
                                      <p:cBhvr additive="base">
                                        <p:cTn id="80" dur="450" fill="hold"/>
                                        <p:tgtEl>
                                          <p:spTgt spid="23"/>
                                        </p:tgtEl>
                                        <p:attrNameLst>
                                          <p:attrName>ppt_x</p:attrName>
                                        </p:attrNameLst>
                                      </p:cBhvr>
                                      <p:tavLst>
                                        <p:tav tm="0">
                                          <p:val>
                                            <p:strVal val="0-#ppt_w/2"/>
                                          </p:val>
                                        </p:tav>
                                        <p:tav tm="100000">
                                          <p:val>
                                            <p:strVal val="#ppt_x"/>
                                          </p:val>
                                        </p:tav>
                                      </p:tavLst>
                                    </p:anim>
                                    <p:anim calcmode="lin" valueType="num">
                                      <p:cBhvr additive="base">
                                        <p:cTn id="81" dur="45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Resources and Q&amp;A</a:t>
            </a:r>
            <a:endParaRPr lang="en-US" sz="3000" dirty="0"/>
          </a:p>
        </p:txBody>
      </p:sp>
      <p:pic>
        <p:nvPicPr>
          <p:cNvPr id="4" name="Mascot" descr="Mascot cartoon">    </p:cNvPr>
          <p:cNvPicPr>
            <a:picLocks noChangeAspect="1"/>
          </p:cNvPicPr>
          <p:nvPr/>
        </p:nvPicPr>
        <p:blipFill>
          <a:blip r:embed="rId1"/>
          <a:stretch>
            <a:fillRect/>
          </a:stretch>
        </p:blipFill>
        <p:spPr>
          <a:xfrm>
            <a:off x="822960" y="1188720"/>
            <a:ext cx="2377440" cy="2377440"/>
          </a:xfrm>
          <a:prstGeom prst="rect">
            <a:avLst/>
          </a:prstGeom>
        </p:spPr>
      </p:pic>
      <p:sp>
        <p:nvSpPr>
          <p:cNvPr id="5" name="Questions"/>
          <p:cNvSpPr txBox="1"/>
          <p:nvPr/>
        </p:nvSpPr>
        <p:spPr>
          <a:xfrm>
            <a:off x="640080" y="3657600"/>
            <a:ext cx="2743200" cy="548640"/>
          </a:xfrm>
          <a:prstGeom prst="rect">
            <a:avLst/>
          </a:prstGeom>
          <a:noFill/>
          <a:ln/>
        </p:spPr>
        <p:txBody>
          <a:bodyPr wrap="square" lIns="0" tIns="0" rIns="0" bIns="0" rtlCol="0" anchor="ctr"/>
          <a:lstStyle/>
          <a:p>
            <a:pPr algn="ctr" indent="0" marL="0">
              <a:buNone/>
            </a:pPr>
            <a:r>
              <a:rPr lang="en-US" sz="2800" b="1" dirty="0">
                <a:solidFill>
                  <a:schemeClr val="accent1"/>
                </a:solidFill>
              </a:rPr>
              <a:t>Questions?</a:t>
            </a:r>
            <a:endParaRPr lang="en-US" sz="2800" dirty="0"/>
          </a:p>
        </p:txBody>
      </p:sp>
      <p:sp>
        <p:nvSpPr>
          <p:cNvPr id="6" name="Resource 0"/>
          <p:cNvSpPr txBox="1"/>
          <p:nvPr/>
        </p:nvSpPr>
        <p:spPr>
          <a:xfrm>
            <a:off x="3840480" y="1325880"/>
            <a:ext cx="4846320" cy="594360"/>
          </a:xfrm>
          <a:prstGeom prst="roundRect">
            <a:avLst>
              <a:gd name="adj" fmla="val 15385"/>
            </a:avLst>
          </a:prstGeom>
          <a:solidFill>
            <a:schemeClr val="bg2"/>
          </a:solidFill>
          <a:ln/>
        </p:spPr>
        <p:txBody>
          <a:bodyPr wrap="square" lIns="177800" tIns="177800" rIns="177800" bIns="177800" rtlCol="0" anchor="ctr"/>
          <a:lstStyle/>
          <a:p>
            <a:pPr algn="l" indent="0" marL="0">
              <a:buNone/>
            </a:pPr>
            <a:r>
              <a:rPr lang="en-US" sz="1800" dirty="0">
                <a:solidFill>
                  <a:schemeClr val="tx1"/>
                </a:solidFill>
              </a:rPr>
              <a:t>OWASP Top 10:2025</a:t>
            </a:r>
            <a:endParaRPr lang="en-US" sz="1800" dirty="0"/>
          </a:p>
        </p:txBody>
      </p:sp>
      <p:sp>
        <p:nvSpPr>
          <p:cNvPr id="7" name="Resource 1"/>
          <p:cNvSpPr txBox="1"/>
          <p:nvPr/>
        </p:nvSpPr>
        <p:spPr>
          <a:xfrm>
            <a:off x="3840480" y="2103120"/>
            <a:ext cx="4846320" cy="594360"/>
          </a:xfrm>
          <a:prstGeom prst="roundRect">
            <a:avLst>
              <a:gd name="adj" fmla="val 15385"/>
            </a:avLst>
          </a:prstGeom>
          <a:solidFill>
            <a:schemeClr val="bg2"/>
          </a:solidFill>
          <a:ln/>
        </p:spPr>
        <p:txBody>
          <a:bodyPr wrap="square" lIns="177800" tIns="177800" rIns="177800" bIns="177800" rtlCol="0" anchor="ctr"/>
          <a:lstStyle/>
          <a:p>
            <a:pPr algn="l" indent="0" marL="0">
              <a:buNone/>
            </a:pPr>
            <a:r>
              <a:rPr lang="en-US" sz="1800" dirty="0">
                <a:solidFill>
                  <a:schemeClr val="tx1"/>
                </a:solidFill>
              </a:rPr>
              <a:t>OWASP ASVS 5.0 (verification)</a:t>
            </a:r>
            <a:endParaRPr lang="en-US" sz="1800" dirty="0"/>
          </a:p>
        </p:txBody>
      </p:sp>
      <p:sp>
        <p:nvSpPr>
          <p:cNvPr id="8" name="Resource 2"/>
          <p:cNvSpPr txBox="1"/>
          <p:nvPr/>
        </p:nvSpPr>
        <p:spPr>
          <a:xfrm>
            <a:off x="3840480" y="2880360"/>
            <a:ext cx="4846320" cy="594360"/>
          </a:xfrm>
          <a:prstGeom prst="roundRect">
            <a:avLst>
              <a:gd name="adj" fmla="val 15385"/>
            </a:avLst>
          </a:prstGeom>
          <a:solidFill>
            <a:schemeClr val="bg2"/>
          </a:solidFill>
          <a:ln/>
        </p:spPr>
        <p:txBody>
          <a:bodyPr wrap="square" lIns="177800" tIns="177800" rIns="177800" bIns="177800" rtlCol="0" anchor="ctr"/>
          <a:lstStyle/>
          <a:p>
            <a:pPr algn="l" indent="0" marL="0">
              <a:buNone/>
            </a:pPr>
            <a:r>
              <a:rPr lang="en-US" sz="1800" dirty="0">
                <a:solidFill>
                  <a:schemeClr val="tx1"/>
                </a:solidFill>
              </a:rPr>
              <a:t>OWASP Cheat Sheet Series</a:t>
            </a:r>
            <a:endParaRPr lang="en-US" sz="1800" dirty="0"/>
          </a:p>
        </p:txBody>
      </p:sp>
      <p:sp>
        <p:nvSpPr>
          <p:cNvPr id="9" name="Resource 3"/>
          <p:cNvSpPr txBox="1"/>
          <p:nvPr/>
        </p:nvSpPr>
        <p:spPr>
          <a:xfrm>
            <a:off x="3840480" y="3657600"/>
            <a:ext cx="4846320" cy="594360"/>
          </a:xfrm>
          <a:prstGeom prst="roundRect">
            <a:avLst>
              <a:gd name="adj" fmla="val 15385"/>
            </a:avLst>
          </a:prstGeom>
          <a:solidFill>
            <a:schemeClr val="bg2"/>
          </a:solidFill>
          <a:ln/>
        </p:spPr>
        <p:txBody>
          <a:bodyPr wrap="square" lIns="177800" tIns="177800" rIns="177800" bIns="177800" rtlCol="0" anchor="ctr"/>
          <a:lstStyle/>
          <a:p>
            <a:pPr algn="l" indent="0" marL="0">
              <a:buNone/>
            </a:pPr>
            <a:r>
              <a:rPr lang="en-US" sz="1800" dirty="0">
                <a:solidFill>
                  <a:schemeClr val="tx1"/>
                </a:solidFill>
              </a:rPr>
              <a:t>Your internal secure-coding standard</a:t>
            </a:r>
            <a:endParaRPr lang="en-US" sz="1800" dirty="0"/>
          </a:p>
        </p:txBody>
      </p:sp>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7" fill="hold">
                      <p:stCondLst>
                        <p:cond delay="indefinite"/>
                        <p:cond evt="onBegin" delay="0">
                          <p:tn val="2"/>
                        </p:cond>
                      </p:stCondLst>
                      <p:childTnLst>
                        <p:par>
                          <p:cTn id="28" fill="hold">
                            <p:stCondLst>
                              <p:cond delay="0"/>
                            </p:stCondLst>
                            <p:childTnLst>
                              <p:par>
                                <p:cTn id="7" presetID="53" presetClass="entr" presetSubtype="16" fill="hold" nodeType="afterEffect">
                                  <p:stCondLst>
                                    <p:cond delay="0"/>
                                  </p:stCondLst>
                                  <p:childTnLst>
                                    <p:set>
                                      <p:cBhvr>
                                        <p:cTn id="3" dur="1" fill="hold">
                                          <p:stCondLst>
                                            <p:cond delay="0"/>
                                          </p:stCondLst>
                                        </p:cTn>
                                        <p:tgtEl>
                                          <p:spTgt spid="4"/>
                                        </p:tgtEl>
                                        <p:attrNameLst>
                                          <p:attrName>style.visibility</p:attrName>
                                        </p:attrNameLst>
                                      </p:cBhvr>
                                      <p:to>
                                        <p:strVal val="visible"/>
                                      </p:to>
                                    </p:set>
                                    <p:anim calcmode="lin" valueType="num">
                                      <p:cBhvr additive="base">
                                        <p:cTn id="4" dur="600" fill="hold"/>
                                        <p:tgtEl>
                                          <p:spTgt spid="4"/>
                                        </p:tgtEl>
                                        <p:attrNameLst>
                                          <p:attrName>ppt_w</p:attrName>
                                        </p:attrNameLst>
                                      </p:cBhvr>
                                      <p:tavLst>
                                        <p:tav tm="0">
                                          <p:val>
                                            <p:fltVal val="0"/>
                                          </p:val>
                                        </p:tav>
                                        <p:tav tm="100000">
                                          <p:val>
                                            <p:strVal val="#ppt_w"/>
                                          </p:val>
                                        </p:tav>
                                      </p:tavLst>
                                    </p:anim>
                                    <p:anim calcmode="lin" valueType="num">
                                      <p:cBhvr additive="base">
                                        <p:cTn id="5" dur="600" fill="hold"/>
                                        <p:tgtEl>
                                          <p:spTgt spid="4"/>
                                        </p:tgtEl>
                                        <p:attrNameLst>
                                          <p:attrName>ppt_h</p:attrName>
                                        </p:attrNameLst>
                                      </p:cBhvr>
                                      <p:tavLst>
                                        <p:tav tm="0">
                                          <p:val>
                                            <p:fltVal val="0"/>
                                          </p:val>
                                        </p:tav>
                                        <p:tav tm="100000">
                                          <p:val>
                                            <p:strVal val="#ppt_h"/>
                                          </p:val>
                                        </p:tav>
                                      </p:tavLst>
                                    </p:anim>
                                    <p:animEffect transition="in" filter="fade">
                                      <p:cBhvr>
                                        <p:cTn id="6" dur="600"/>
                                        <p:tgtEl>
                                          <p:spTgt spid="4"/>
                                        </p:tgtEl>
                                      </p:cBhvr>
                                    </p:animEffect>
                                  </p:childTnLst>
                                </p:cTn>
                              </p:par>
                              <p:par>
                                <p:cTn id="10" presetID="10" presetClass="entr" presetSubtype="0" fill="hold" grpId="0" nodeType="withEffect">
                                  <p:stCondLst>
                                    <p:cond delay="5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00"/>
                                        <p:tgtEl>
                                          <p:spTgt spid="5"/>
                                        </p:tgtEl>
                                      </p:cBhvr>
                                    </p:animEffect>
                                  </p:childTnLst>
                                </p:cTn>
                              </p:par>
                              <p:par>
                                <p:cTn id="14" presetID="2" presetClass="entr" presetSubtype="2" fill="hold" grpId="0" nodeType="withEffect">
                                  <p:stCondLst>
                                    <p:cond delay="40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450" fill="hold"/>
                                        <p:tgtEl>
                                          <p:spTgt spid="6"/>
                                        </p:tgtEl>
                                        <p:attrNameLst>
                                          <p:attrName>ppt_x</p:attrName>
                                        </p:attrNameLst>
                                      </p:cBhvr>
                                      <p:tavLst>
                                        <p:tav tm="0">
                                          <p:val>
                                            <p:strVal val="1+#ppt_w/2"/>
                                          </p:val>
                                        </p:tav>
                                        <p:tav tm="100000">
                                          <p:val>
                                            <p:strVal val="#ppt_x"/>
                                          </p:val>
                                        </p:tav>
                                      </p:tavLst>
                                    </p:anim>
                                    <p:anim calcmode="lin" valueType="num">
                                      <p:cBhvr additive="base">
                                        <p:cTn id="13" dur="450" fill="hold"/>
                                        <p:tgtEl>
                                          <p:spTgt spid="6"/>
                                        </p:tgtEl>
                                        <p:attrNameLst>
                                          <p:attrName>ppt_y</p:attrName>
                                        </p:attrNameLst>
                                      </p:cBhvr>
                                      <p:tavLst>
                                        <p:tav tm="0">
                                          <p:val>
                                            <p:strVal val="#ppt_y"/>
                                          </p:val>
                                        </p:tav>
                                        <p:tav tm="100000">
                                          <p:val>
                                            <p:strVal val="#ppt_y"/>
                                          </p:val>
                                        </p:tav>
                                      </p:tavLst>
                                    </p:anim>
                                  </p:childTnLst>
                                </p:cTn>
                              </p:par>
                              <p:par>
                                <p:cTn id="18" presetID="2" presetClass="entr" presetSubtype="2" fill="hold" grpId="0" nodeType="withEffect">
                                  <p:stCondLst>
                                    <p:cond delay="65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450" fill="hold"/>
                                        <p:tgtEl>
                                          <p:spTgt spid="7"/>
                                        </p:tgtEl>
                                        <p:attrNameLst>
                                          <p:attrName>ppt_x</p:attrName>
                                        </p:attrNameLst>
                                      </p:cBhvr>
                                      <p:tavLst>
                                        <p:tav tm="0">
                                          <p:val>
                                            <p:strVal val="1+#ppt_w/2"/>
                                          </p:val>
                                        </p:tav>
                                        <p:tav tm="100000">
                                          <p:val>
                                            <p:strVal val="#ppt_x"/>
                                          </p:val>
                                        </p:tav>
                                      </p:tavLst>
                                    </p:anim>
                                    <p:anim calcmode="lin" valueType="num">
                                      <p:cBhvr additive="base">
                                        <p:cTn id="17" dur="450" fill="hold"/>
                                        <p:tgtEl>
                                          <p:spTgt spid="7"/>
                                        </p:tgtEl>
                                        <p:attrNameLst>
                                          <p:attrName>ppt_y</p:attrName>
                                        </p:attrNameLst>
                                      </p:cBhvr>
                                      <p:tavLst>
                                        <p:tav tm="0">
                                          <p:val>
                                            <p:strVal val="#ppt_y"/>
                                          </p:val>
                                        </p:tav>
                                        <p:tav tm="100000">
                                          <p:val>
                                            <p:strVal val="#ppt_y"/>
                                          </p:val>
                                        </p:tav>
                                      </p:tavLst>
                                    </p:anim>
                                  </p:childTnLst>
                                </p:cTn>
                              </p:par>
                              <p:par>
                                <p:cTn id="22" presetID="2" presetClass="entr" presetSubtype="2" fill="hold" grpId="0" nodeType="withEffect">
                                  <p:stCondLst>
                                    <p:cond delay="90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450" fill="hold"/>
                                        <p:tgtEl>
                                          <p:spTgt spid="8"/>
                                        </p:tgtEl>
                                        <p:attrNameLst>
                                          <p:attrName>ppt_x</p:attrName>
                                        </p:attrNameLst>
                                      </p:cBhvr>
                                      <p:tavLst>
                                        <p:tav tm="0">
                                          <p:val>
                                            <p:strVal val="1+#ppt_w/2"/>
                                          </p:val>
                                        </p:tav>
                                        <p:tav tm="100000">
                                          <p:val>
                                            <p:strVal val="#ppt_x"/>
                                          </p:val>
                                        </p:tav>
                                      </p:tavLst>
                                    </p:anim>
                                    <p:anim calcmode="lin" valueType="num">
                                      <p:cBhvr additive="base">
                                        <p:cTn id="21" dur="450" fill="hold"/>
                                        <p:tgtEl>
                                          <p:spTgt spid="8"/>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115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450" fill="hold"/>
                                        <p:tgtEl>
                                          <p:spTgt spid="9"/>
                                        </p:tgtEl>
                                        <p:attrNameLst>
                                          <p:attrName>ppt_x</p:attrName>
                                        </p:attrNameLst>
                                      </p:cBhvr>
                                      <p:tavLst>
                                        <p:tav tm="0">
                                          <p:val>
                                            <p:strVal val="1+#ppt_w/2"/>
                                          </p:val>
                                        </p:tav>
                                        <p:tav tm="100000">
                                          <p:val>
                                            <p:strVal val="#ppt_x"/>
                                          </p:val>
                                        </p:tav>
                                      </p:tavLst>
                                    </p:anim>
                                    <p:anim calcmode="lin" valueType="num">
                                      <p:cBhvr additive="base">
                                        <p:cTn id="25" dur="4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Quiz Arena: 10 levels for every topic</a:t>
            </a:r>
            <a:endParaRPr lang="en-US" sz="3000" dirty="0"/>
          </a:p>
        </p:txBody>
      </p:sp>
      <p:sp>
        <p:nvSpPr>
          <p:cNvPr id="4" name="Level card 0"/>
          <p:cNvSpPr/>
          <p:nvPr/>
        </p:nvSpPr>
        <p:spPr>
          <a:xfrm>
            <a:off x="457200" y="1143000"/>
            <a:ext cx="1481328" cy="1234440"/>
          </a:xfrm>
          <a:prstGeom prst="roundRect">
            <a:avLst>
              <a:gd name="adj" fmla="val 8889"/>
            </a:avLst>
          </a:prstGeom>
          <a:solidFill>
            <a:schemeClr val="bg2"/>
          </a:solidFill>
          <a:ln/>
        </p:spPr>
      </p:sp>
      <p:sp>
        <p:nvSpPr>
          <p:cNvPr id="5" name="Level badge 0"/>
          <p:cNvSpPr txBox="1"/>
          <p:nvPr/>
        </p:nvSpPr>
        <p:spPr>
          <a:xfrm>
            <a:off x="566928" y="1252728"/>
            <a:ext cx="457200" cy="457200"/>
          </a:xfrm>
          <a:prstGeom prst="ellipse">
            <a:avLst/>
          </a:prstGeom>
          <a:solidFill>
            <a:schemeClr val="accent3"/>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Level name 0"/>
          <p:cNvSpPr txBox="1"/>
          <p:nvPr/>
        </p:nvSpPr>
        <p:spPr>
          <a:xfrm>
            <a:off x="1097280" y="1252728"/>
            <a:ext cx="822960" cy="457200"/>
          </a:xfrm>
          <a:prstGeom prst="rect">
            <a:avLst/>
          </a:prstGeom>
          <a:noFill/>
          <a:ln/>
        </p:spPr>
        <p:txBody>
          <a:bodyPr wrap="square" lIns="0" tIns="0" rIns="0" bIns="0" rtlCol="0" anchor="ctr"/>
          <a:lstStyle/>
          <a:p>
            <a:pPr indent="0" marL="0">
              <a:buNone/>
            </a:pPr>
            <a:r>
              <a:rPr lang="en-US" sz="1400" b="1" dirty="0">
                <a:solidFill>
                  <a:schemeClr val="accent3"/>
                </a:solidFill>
              </a:rPr>
              <a:t>Rookie</a:t>
            </a:r>
            <a:endParaRPr lang="en-US" sz="1400" dirty="0"/>
          </a:p>
        </p:txBody>
      </p:sp>
      <p:sp>
        <p:nvSpPr>
          <p:cNvPr id="7" name="Level desc 0"/>
          <p:cNvSpPr txBox="1"/>
          <p:nvPr/>
        </p:nvSpPr>
        <p:spPr>
          <a:xfrm>
            <a:off x="594360" y="1801368"/>
            <a:ext cx="1261872" cy="548640"/>
          </a:xfrm>
          <a:prstGeom prst="rect">
            <a:avLst/>
          </a:prstGeom>
          <a:noFill/>
          <a:ln/>
        </p:spPr>
        <p:txBody>
          <a:bodyPr wrap="square" lIns="0" tIns="0" rIns="0" bIns="0" rtlCol="0" anchor="t"/>
          <a:lstStyle/>
          <a:p>
            <a:pPr indent="0" marL="0">
              <a:buNone/>
            </a:pPr>
            <a:r>
              <a:rPr lang="en-US" sz="1200" dirty="0">
                <a:solidFill>
                  <a:schemeClr val="tx2"/>
                </a:solidFill>
              </a:rPr>
              <a:t>Basic ideas</a:t>
            </a:r>
            <a:endParaRPr lang="en-US" sz="1200" dirty="0"/>
          </a:p>
        </p:txBody>
      </p:sp>
      <p:sp>
        <p:nvSpPr>
          <p:cNvPr id="8" name="Level card 1"/>
          <p:cNvSpPr/>
          <p:nvPr/>
        </p:nvSpPr>
        <p:spPr>
          <a:xfrm>
            <a:off x="2148840" y="1143000"/>
            <a:ext cx="1481328" cy="1234440"/>
          </a:xfrm>
          <a:prstGeom prst="roundRect">
            <a:avLst>
              <a:gd name="adj" fmla="val 8889"/>
            </a:avLst>
          </a:prstGeom>
          <a:solidFill>
            <a:schemeClr val="bg2"/>
          </a:solidFill>
          <a:ln/>
        </p:spPr>
      </p:sp>
      <p:sp>
        <p:nvSpPr>
          <p:cNvPr id="9" name="Level badge 1"/>
          <p:cNvSpPr txBox="1"/>
          <p:nvPr/>
        </p:nvSpPr>
        <p:spPr>
          <a:xfrm>
            <a:off x="2258568" y="1252728"/>
            <a:ext cx="457200" cy="45720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Level name 1"/>
          <p:cNvSpPr txBox="1"/>
          <p:nvPr/>
        </p:nvSpPr>
        <p:spPr>
          <a:xfrm>
            <a:off x="2788920" y="1252728"/>
            <a:ext cx="822960" cy="457200"/>
          </a:xfrm>
          <a:prstGeom prst="rect">
            <a:avLst/>
          </a:prstGeom>
          <a:noFill/>
          <a:ln/>
        </p:spPr>
        <p:txBody>
          <a:bodyPr wrap="square" lIns="0" tIns="0" rIns="0" bIns="0" rtlCol="0" anchor="ctr"/>
          <a:lstStyle/>
          <a:p>
            <a:pPr indent="0" marL="0">
              <a:buNone/>
            </a:pPr>
            <a:r>
              <a:rPr lang="en-US" sz="1400" b="1" dirty="0">
                <a:solidFill>
                  <a:schemeClr val="accent1"/>
                </a:solidFill>
              </a:rPr>
              <a:t>Junior</a:t>
            </a:r>
            <a:endParaRPr lang="en-US" sz="1400" dirty="0"/>
          </a:p>
        </p:txBody>
      </p:sp>
      <p:sp>
        <p:nvSpPr>
          <p:cNvPr id="11" name="Level desc 1"/>
          <p:cNvSpPr txBox="1"/>
          <p:nvPr/>
        </p:nvSpPr>
        <p:spPr>
          <a:xfrm>
            <a:off x="2286000" y="1801368"/>
            <a:ext cx="1261872" cy="548640"/>
          </a:xfrm>
          <a:prstGeom prst="rect">
            <a:avLst/>
          </a:prstGeom>
          <a:noFill/>
          <a:ln/>
        </p:spPr>
        <p:txBody>
          <a:bodyPr wrap="square" lIns="0" tIns="0" rIns="0" bIns="0" rtlCol="0" anchor="t"/>
          <a:lstStyle/>
          <a:p>
            <a:pPr indent="0" marL="0">
              <a:buNone/>
            </a:pPr>
            <a:r>
              <a:rPr lang="en-US" sz="1200" dirty="0">
                <a:solidFill>
                  <a:schemeClr val="tx2"/>
                </a:solidFill>
              </a:rPr>
              <a:t>Core concepts</a:t>
            </a:r>
            <a:endParaRPr lang="en-US" sz="1200" dirty="0"/>
          </a:p>
        </p:txBody>
      </p:sp>
      <p:sp>
        <p:nvSpPr>
          <p:cNvPr id="12" name="Level card 2"/>
          <p:cNvSpPr/>
          <p:nvPr/>
        </p:nvSpPr>
        <p:spPr>
          <a:xfrm>
            <a:off x="3840480" y="1143000"/>
            <a:ext cx="1481328" cy="1234440"/>
          </a:xfrm>
          <a:prstGeom prst="roundRect">
            <a:avLst>
              <a:gd name="adj" fmla="val 8889"/>
            </a:avLst>
          </a:prstGeom>
          <a:solidFill>
            <a:schemeClr val="bg2"/>
          </a:solidFill>
          <a:ln/>
        </p:spPr>
      </p:sp>
      <p:sp>
        <p:nvSpPr>
          <p:cNvPr id="13" name="Level badge 2"/>
          <p:cNvSpPr txBox="1"/>
          <p:nvPr/>
        </p:nvSpPr>
        <p:spPr>
          <a:xfrm>
            <a:off x="3950208" y="1252728"/>
            <a:ext cx="457200" cy="457200"/>
          </a:xfrm>
          <a:prstGeom prst="ellipse">
            <a:avLst/>
          </a:prstGeom>
          <a:solidFill>
            <a:schemeClr val="accent5"/>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Level name 2"/>
          <p:cNvSpPr txBox="1"/>
          <p:nvPr/>
        </p:nvSpPr>
        <p:spPr>
          <a:xfrm>
            <a:off x="4480560" y="1252728"/>
            <a:ext cx="822960" cy="457200"/>
          </a:xfrm>
          <a:prstGeom prst="rect">
            <a:avLst/>
          </a:prstGeom>
          <a:noFill/>
          <a:ln/>
        </p:spPr>
        <p:txBody>
          <a:bodyPr wrap="square" lIns="0" tIns="0" rIns="0" bIns="0" rtlCol="0" anchor="ctr"/>
          <a:lstStyle/>
          <a:p>
            <a:pPr indent="0" marL="0">
              <a:buNone/>
            </a:pPr>
            <a:r>
              <a:rPr lang="en-US" sz="1400" b="1" dirty="0">
                <a:solidFill>
                  <a:schemeClr val="accent5"/>
                </a:solidFill>
              </a:rPr>
              <a:t>Developer</a:t>
            </a:r>
            <a:endParaRPr lang="en-US" sz="1400" dirty="0"/>
          </a:p>
        </p:txBody>
      </p:sp>
      <p:sp>
        <p:nvSpPr>
          <p:cNvPr id="15" name="Level desc 2"/>
          <p:cNvSpPr txBox="1"/>
          <p:nvPr/>
        </p:nvSpPr>
        <p:spPr>
          <a:xfrm>
            <a:off x="3977640" y="1801368"/>
            <a:ext cx="1261872" cy="548640"/>
          </a:xfrm>
          <a:prstGeom prst="rect">
            <a:avLst/>
          </a:prstGeom>
          <a:noFill/>
          <a:ln/>
        </p:spPr>
        <p:txBody>
          <a:bodyPr wrap="square" lIns="0" tIns="0" rIns="0" bIns="0" rtlCol="0" anchor="t"/>
          <a:lstStyle/>
          <a:p>
            <a:pPr indent="0" marL="0">
              <a:buNone/>
            </a:pPr>
            <a:r>
              <a:rPr lang="en-US" sz="1200" dirty="0">
                <a:solidFill>
                  <a:schemeClr val="tx2"/>
                </a:solidFill>
              </a:rPr>
              <a:t>Hands-on in our stack</a:t>
            </a:r>
            <a:endParaRPr lang="en-US" sz="1200" dirty="0"/>
          </a:p>
        </p:txBody>
      </p:sp>
      <p:sp>
        <p:nvSpPr>
          <p:cNvPr id="16" name="Level card 3"/>
          <p:cNvSpPr/>
          <p:nvPr/>
        </p:nvSpPr>
        <p:spPr>
          <a:xfrm>
            <a:off x="5532120" y="1143000"/>
            <a:ext cx="1481328" cy="1234440"/>
          </a:xfrm>
          <a:prstGeom prst="roundRect">
            <a:avLst>
              <a:gd name="adj" fmla="val 8889"/>
            </a:avLst>
          </a:prstGeom>
          <a:solidFill>
            <a:schemeClr val="bg2"/>
          </a:solidFill>
          <a:ln/>
        </p:spPr>
      </p:sp>
      <p:sp>
        <p:nvSpPr>
          <p:cNvPr id="17" name="Level badge 3"/>
          <p:cNvSpPr txBox="1"/>
          <p:nvPr/>
        </p:nvSpPr>
        <p:spPr>
          <a:xfrm>
            <a:off x="5641848" y="1252728"/>
            <a:ext cx="457200" cy="457200"/>
          </a:xfrm>
          <a:prstGeom prst="ellipse">
            <a:avLst/>
          </a:prstGeom>
          <a:solidFill>
            <a:schemeClr val="accent4"/>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8" name="Level name 3"/>
          <p:cNvSpPr txBox="1"/>
          <p:nvPr/>
        </p:nvSpPr>
        <p:spPr>
          <a:xfrm>
            <a:off x="6172200" y="1252728"/>
            <a:ext cx="822960" cy="457200"/>
          </a:xfrm>
          <a:prstGeom prst="rect">
            <a:avLst/>
          </a:prstGeom>
          <a:noFill/>
          <a:ln/>
        </p:spPr>
        <p:txBody>
          <a:bodyPr wrap="square" lIns="0" tIns="0" rIns="0" bIns="0" rtlCol="0" anchor="ctr"/>
          <a:lstStyle/>
          <a:p>
            <a:pPr indent="0" marL="0">
              <a:buNone/>
            </a:pPr>
            <a:r>
              <a:rPr lang="en-US" sz="1400" b="1" dirty="0">
                <a:solidFill>
                  <a:schemeClr val="accent4"/>
                </a:solidFill>
              </a:rPr>
              <a:t>Senior</a:t>
            </a:r>
            <a:endParaRPr lang="en-US" sz="1400" dirty="0"/>
          </a:p>
        </p:txBody>
      </p:sp>
      <p:sp>
        <p:nvSpPr>
          <p:cNvPr id="19" name="Level desc 3"/>
          <p:cNvSpPr txBox="1"/>
          <p:nvPr/>
        </p:nvSpPr>
        <p:spPr>
          <a:xfrm>
            <a:off x="5669280" y="1801368"/>
            <a:ext cx="1261872" cy="548640"/>
          </a:xfrm>
          <a:prstGeom prst="rect">
            <a:avLst/>
          </a:prstGeom>
          <a:noFill/>
          <a:ln/>
        </p:spPr>
        <p:txBody>
          <a:bodyPr wrap="square" lIns="0" tIns="0" rIns="0" bIns="0" rtlCol="0" anchor="t"/>
          <a:lstStyle/>
          <a:p>
            <a:pPr indent="0" marL="0">
              <a:buNone/>
            </a:pPr>
            <a:r>
              <a:rPr lang="en-US" sz="1200" dirty="0">
                <a:solidFill>
                  <a:schemeClr val="tx2"/>
                </a:solidFill>
              </a:rPr>
              <a:t>Edge cases and trade-offs</a:t>
            </a:r>
            <a:endParaRPr lang="en-US" sz="1200" dirty="0"/>
          </a:p>
        </p:txBody>
      </p:sp>
      <p:sp>
        <p:nvSpPr>
          <p:cNvPr id="20" name="Level card 4"/>
          <p:cNvSpPr/>
          <p:nvPr/>
        </p:nvSpPr>
        <p:spPr>
          <a:xfrm>
            <a:off x="7223760" y="1143000"/>
            <a:ext cx="1481328" cy="1234440"/>
          </a:xfrm>
          <a:prstGeom prst="roundRect">
            <a:avLst>
              <a:gd name="adj" fmla="val 8889"/>
            </a:avLst>
          </a:prstGeom>
          <a:solidFill>
            <a:schemeClr val="bg2"/>
          </a:solidFill>
          <a:ln/>
        </p:spPr>
      </p:sp>
      <p:sp>
        <p:nvSpPr>
          <p:cNvPr id="21" name="Level badge 4"/>
          <p:cNvSpPr txBox="1"/>
          <p:nvPr/>
        </p:nvSpPr>
        <p:spPr>
          <a:xfrm>
            <a:off x="7333488" y="1252728"/>
            <a:ext cx="457200" cy="457200"/>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2" name="Level name 4"/>
          <p:cNvSpPr txBox="1"/>
          <p:nvPr/>
        </p:nvSpPr>
        <p:spPr>
          <a:xfrm>
            <a:off x="7863840" y="1252728"/>
            <a:ext cx="822960" cy="457200"/>
          </a:xfrm>
          <a:prstGeom prst="rect">
            <a:avLst/>
          </a:prstGeom>
          <a:noFill/>
          <a:ln/>
        </p:spPr>
        <p:txBody>
          <a:bodyPr wrap="square" lIns="0" tIns="0" rIns="0" bIns="0" rtlCol="0" anchor="ctr"/>
          <a:lstStyle/>
          <a:p>
            <a:pPr indent="0" marL="0">
              <a:buNone/>
            </a:pPr>
            <a:r>
              <a:rPr lang="en-US" sz="1400" b="1" dirty="0">
                <a:solidFill>
                  <a:schemeClr val="accent2"/>
                </a:solidFill>
              </a:rPr>
              <a:t>Expert</a:t>
            </a:r>
            <a:endParaRPr lang="en-US" sz="1400" dirty="0"/>
          </a:p>
        </p:txBody>
      </p:sp>
      <p:sp>
        <p:nvSpPr>
          <p:cNvPr id="23" name="Level desc 4"/>
          <p:cNvSpPr txBox="1"/>
          <p:nvPr/>
        </p:nvSpPr>
        <p:spPr>
          <a:xfrm>
            <a:off x="7360920" y="1801368"/>
            <a:ext cx="1261872" cy="548640"/>
          </a:xfrm>
          <a:prstGeom prst="rect">
            <a:avLst/>
          </a:prstGeom>
          <a:noFill/>
          <a:ln/>
        </p:spPr>
        <p:txBody>
          <a:bodyPr wrap="square" lIns="0" tIns="0" rIns="0" bIns="0" rtlCol="0" anchor="t"/>
          <a:lstStyle/>
          <a:p>
            <a:pPr indent="0" marL="0">
              <a:buNone/>
            </a:pPr>
            <a:r>
              <a:rPr lang="en-US" sz="1200" dirty="0">
                <a:solidFill>
                  <a:schemeClr val="tx2"/>
                </a:solidFill>
              </a:rPr>
              <a:t>Deep, tricky details</a:t>
            </a:r>
            <a:endParaRPr lang="en-US" sz="1200" dirty="0"/>
          </a:p>
        </p:txBody>
      </p:sp>
      <p:sp>
        <p:nvSpPr>
          <p:cNvPr id="24" name="Level card 5"/>
          <p:cNvSpPr/>
          <p:nvPr/>
        </p:nvSpPr>
        <p:spPr>
          <a:xfrm>
            <a:off x="457200" y="2514600"/>
            <a:ext cx="1481328" cy="1234440"/>
          </a:xfrm>
          <a:prstGeom prst="roundRect">
            <a:avLst>
              <a:gd name="adj" fmla="val 8889"/>
            </a:avLst>
          </a:prstGeom>
          <a:solidFill>
            <a:schemeClr val="bg2"/>
          </a:solidFill>
          <a:ln/>
        </p:spPr>
      </p:sp>
      <p:sp>
        <p:nvSpPr>
          <p:cNvPr id="25" name="Level badge 5"/>
          <p:cNvSpPr txBox="1"/>
          <p:nvPr/>
        </p:nvSpPr>
        <p:spPr>
          <a:xfrm>
            <a:off x="566928" y="2624328"/>
            <a:ext cx="457200" cy="457200"/>
          </a:xfrm>
          <a:prstGeom prst="ellipse">
            <a:avLst/>
          </a:prstGeom>
          <a:solidFill>
            <a:srgbClr val="A78BFA"/>
          </a:solid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26" name="Level name 5"/>
          <p:cNvSpPr txBox="1"/>
          <p:nvPr/>
        </p:nvSpPr>
        <p:spPr>
          <a:xfrm>
            <a:off x="1097280" y="2624328"/>
            <a:ext cx="822960" cy="457200"/>
          </a:xfrm>
          <a:prstGeom prst="rect">
            <a:avLst/>
          </a:prstGeom>
          <a:noFill/>
          <a:ln/>
        </p:spPr>
        <p:txBody>
          <a:bodyPr wrap="square" lIns="0" tIns="0" rIns="0" bIns="0" rtlCol="0" anchor="ctr"/>
          <a:lstStyle/>
          <a:p>
            <a:pPr indent="0" marL="0">
              <a:buNone/>
            </a:pPr>
            <a:r>
              <a:rPr lang="en-US" sz="1400" b="1" dirty="0">
                <a:solidFill>
                  <a:srgbClr val="A78BFA"/>
                </a:solidFill>
              </a:rPr>
              <a:t>Master</a:t>
            </a:r>
            <a:endParaRPr lang="en-US" sz="1400" dirty="0"/>
          </a:p>
        </p:txBody>
      </p:sp>
      <p:sp>
        <p:nvSpPr>
          <p:cNvPr id="27" name="Level desc 5"/>
          <p:cNvSpPr txBox="1"/>
          <p:nvPr/>
        </p:nvSpPr>
        <p:spPr>
          <a:xfrm>
            <a:off x="594360" y="3172968"/>
            <a:ext cx="1261872" cy="548640"/>
          </a:xfrm>
          <a:prstGeom prst="rect">
            <a:avLst/>
          </a:prstGeom>
          <a:noFill/>
          <a:ln/>
        </p:spPr>
        <p:txBody>
          <a:bodyPr wrap="square" lIns="0" tIns="0" rIns="0" bIns="0" rtlCol="0" anchor="t"/>
          <a:lstStyle/>
          <a:p>
            <a:pPr indent="0" marL="0">
              <a:buNone/>
            </a:pPr>
            <a:r>
              <a:rPr lang="en-US" sz="1200" dirty="0">
                <a:solidFill>
                  <a:schemeClr val="tx2"/>
                </a:solidFill>
              </a:rPr>
              <a:t>Subtle bugs</a:t>
            </a:r>
            <a:endParaRPr lang="en-US" sz="1200" dirty="0"/>
          </a:p>
        </p:txBody>
      </p:sp>
      <p:sp>
        <p:nvSpPr>
          <p:cNvPr id="28" name="Level card 6"/>
          <p:cNvSpPr/>
          <p:nvPr/>
        </p:nvSpPr>
        <p:spPr>
          <a:xfrm>
            <a:off x="2148840" y="2514600"/>
            <a:ext cx="1481328" cy="1234440"/>
          </a:xfrm>
          <a:prstGeom prst="roundRect">
            <a:avLst>
              <a:gd name="adj" fmla="val 8889"/>
            </a:avLst>
          </a:prstGeom>
          <a:solidFill>
            <a:schemeClr val="bg2"/>
          </a:solidFill>
          <a:ln/>
        </p:spPr>
      </p:sp>
      <p:sp>
        <p:nvSpPr>
          <p:cNvPr id="29" name="Level badge 6"/>
          <p:cNvSpPr txBox="1"/>
          <p:nvPr/>
        </p:nvSpPr>
        <p:spPr>
          <a:xfrm>
            <a:off x="2258568" y="2624328"/>
            <a:ext cx="457200" cy="457200"/>
          </a:xfrm>
          <a:prstGeom prst="ellipse">
            <a:avLst/>
          </a:prstGeom>
          <a:solidFill>
            <a:srgbClr val="C084FC"/>
          </a:solidFill>
          <a:ln/>
        </p:spPr>
        <p:txBody>
          <a:bodyPr wrap="square" lIns="0" tIns="0" rIns="0" bIns="0" rtlCol="0" anchor="ctr"/>
          <a:lstStyle/>
          <a:p>
            <a:pPr algn="ctr" indent="0" marL="0">
              <a:buNone/>
            </a:pPr>
            <a:r>
              <a:rPr lang="en-US" sz="2000" b="1" dirty="0">
                <a:solidFill>
                  <a:schemeClr val="bg1"/>
                </a:solidFill>
              </a:rPr>
              <a:t>7</a:t>
            </a:r>
            <a:endParaRPr lang="en-US" sz="2000" dirty="0"/>
          </a:p>
        </p:txBody>
      </p:sp>
      <p:sp>
        <p:nvSpPr>
          <p:cNvPr id="30" name="Level name 6"/>
          <p:cNvSpPr txBox="1"/>
          <p:nvPr/>
        </p:nvSpPr>
        <p:spPr>
          <a:xfrm>
            <a:off x="2788920" y="2624328"/>
            <a:ext cx="822960" cy="457200"/>
          </a:xfrm>
          <a:prstGeom prst="rect">
            <a:avLst/>
          </a:prstGeom>
          <a:noFill/>
          <a:ln/>
        </p:spPr>
        <p:txBody>
          <a:bodyPr wrap="square" lIns="0" tIns="0" rIns="0" bIns="0" rtlCol="0" anchor="ctr"/>
          <a:lstStyle/>
          <a:p>
            <a:pPr indent="0" marL="0">
              <a:buNone/>
            </a:pPr>
            <a:r>
              <a:rPr lang="en-US" sz="1400" b="1" dirty="0">
                <a:solidFill>
                  <a:srgbClr val="C084FC"/>
                </a:solidFill>
              </a:rPr>
              <a:t>Guru</a:t>
            </a:r>
            <a:endParaRPr lang="en-US" sz="1400" dirty="0"/>
          </a:p>
        </p:txBody>
      </p:sp>
      <p:sp>
        <p:nvSpPr>
          <p:cNvPr id="31" name="Level desc 6"/>
          <p:cNvSpPr txBox="1"/>
          <p:nvPr/>
        </p:nvSpPr>
        <p:spPr>
          <a:xfrm>
            <a:off x="2286000" y="3172968"/>
            <a:ext cx="1261872" cy="548640"/>
          </a:xfrm>
          <a:prstGeom prst="rect">
            <a:avLst/>
          </a:prstGeom>
          <a:noFill/>
          <a:ln/>
        </p:spPr>
        <p:txBody>
          <a:bodyPr wrap="square" lIns="0" tIns="0" rIns="0" bIns="0" rtlCol="0" anchor="t"/>
          <a:lstStyle/>
          <a:p>
            <a:pPr indent="0" marL="0">
              <a:buNone/>
            </a:pPr>
            <a:r>
              <a:rPr lang="en-US" sz="1200" dirty="0">
                <a:solidFill>
                  <a:schemeClr val="tx2"/>
                </a:solidFill>
              </a:rPr>
              <a:t>Real attack techniques</a:t>
            </a:r>
            <a:endParaRPr lang="en-US" sz="1200" dirty="0"/>
          </a:p>
        </p:txBody>
      </p:sp>
      <p:sp>
        <p:nvSpPr>
          <p:cNvPr id="32" name="Level card 7"/>
          <p:cNvSpPr/>
          <p:nvPr/>
        </p:nvSpPr>
        <p:spPr>
          <a:xfrm>
            <a:off x="3840480" y="2514600"/>
            <a:ext cx="1481328" cy="1234440"/>
          </a:xfrm>
          <a:prstGeom prst="roundRect">
            <a:avLst>
              <a:gd name="adj" fmla="val 8889"/>
            </a:avLst>
          </a:prstGeom>
          <a:solidFill>
            <a:schemeClr val="bg2"/>
          </a:solidFill>
          <a:ln/>
        </p:spPr>
      </p:sp>
      <p:sp>
        <p:nvSpPr>
          <p:cNvPr id="33" name="Level badge 7"/>
          <p:cNvSpPr txBox="1"/>
          <p:nvPr/>
        </p:nvSpPr>
        <p:spPr>
          <a:xfrm>
            <a:off x="3950208" y="2624328"/>
            <a:ext cx="457200" cy="457200"/>
          </a:xfrm>
          <a:prstGeom prst="ellipse">
            <a:avLst/>
          </a:prstGeom>
          <a:solidFill>
            <a:srgbClr val="E879F9"/>
          </a:solidFill>
          <a:ln/>
        </p:spPr>
        <p:txBody>
          <a:bodyPr wrap="square" lIns="0" tIns="0" rIns="0" bIns="0" rtlCol="0" anchor="ctr"/>
          <a:lstStyle/>
          <a:p>
            <a:pPr algn="ctr" indent="0" marL="0">
              <a:buNone/>
            </a:pPr>
            <a:r>
              <a:rPr lang="en-US" sz="2000" b="1" dirty="0">
                <a:solidFill>
                  <a:schemeClr val="bg1"/>
                </a:solidFill>
              </a:rPr>
              <a:t>8</a:t>
            </a:r>
            <a:endParaRPr lang="en-US" sz="2000" dirty="0"/>
          </a:p>
        </p:txBody>
      </p:sp>
      <p:sp>
        <p:nvSpPr>
          <p:cNvPr id="34" name="Level name 7"/>
          <p:cNvSpPr txBox="1"/>
          <p:nvPr/>
        </p:nvSpPr>
        <p:spPr>
          <a:xfrm>
            <a:off x="4480560" y="2624328"/>
            <a:ext cx="822960" cy="457200"/>
          </a:xfrm>
          <a:prstGeom prst="rect">
            <a:avLst/>
          </a:prstGeom>
          <a:noFill/>
          <a:ln/>
        </p:spPr>
        <p:txBody>
          <a:bodyPr wrap="square" lIns="0" tIns="0" rIns="0" bIns="0" rtlCol="0" anchor="ctr"/>
          <a:lstStyle/>
          <a:p>
            <a:pPr indent="0" marL="0">
              <a:buNone/>
            </a:pPr>
            <a:r>
              <a:rPr lang="en-US" sz="1400" b="1" dirty="0">
                <a:solidFill>
                  <a:srgbClr val="E879F9"/>
                </a:solidFill>
              </a:rPr>
              <a:t>Hacker</a:t>
            </a:r>
            <a:endParaRPr lang="en-US" sz="1400" dirty="0"/>
          </a:p>
        </p:txBody>
      </p:sp>
      <p:sp>
        <p:nvSpPr>
          <p:cNvPr id="35" name="Level desc 7"/>
          <p:cNvSpPr txBox="1"/>
          <p:nvPr/>
        </p:nvSpPr>
        <p:spPr>
          <a:xfrm>
            <a:off x="3977640" y="3172968"/>
            <a:ext cx="1261872" cy="548640"/>
          </a:xfrm>
          <a:prstGeom prst="rect">
            <a:avLst/>
          </a:prstGeom>
          <a:noFill/>
          <a:ln/>
        </p:spPr>
        <p:txBody>
          <a:bodyPr wrap="square" lIns="0" tIns="0" rIns="0" bIns="0" rtlCol="0" anchor="t"/>
          <a:lstStyle/>
          <a:p>
            <a:pPr indent="0" marL="0">
              <a:buNone/>
            </a:pPr>
            <a:r>
              <a:rPr lang="en-US" sz="1200" dirty="0">
                <a:solidFill>
                  <a:schemeClr val="tx2"/>
                </a:solidFill>
              </a:rPr>
              <a:t>Tricky internals</a:t>
            </a:r>
            <a:endParaRPr lang="en-US" sz="1200" dirty="0"/>
          </a:p>
        </p:txBody>
      </p:sp>
      <p:sp>
        <p:nvSpPr>
          <p:cNvPr id="36" name="Level card 8"/>
          <p:cNvSpPr/>
          <p:nvPr/>
        </p:nvSpPr>
        <p:spPr>
          <a:xfrm>
            <a:off x="5532120" y="2514600"/>
            <a:ext cx="1481328" cy="1234440"/>
          </a:xfrm>
          <a:prstGeom prst="roundRect">
            <a:avLst>
              <a:gd name="adj" fmla="val 8889"/>
            </a:avLst>
          </a:prstGeom>
          <a:solidFill>
            <a:schemeClr val="bg2"/>
          </a:solidFill>
          <a:ln/>
        </p:spPr>
      </p:sp>
      <p:sp>
        <p:nvSpPr>
          <p:cNvPr id="37" name="Level badge 8"/>
          <p:cNvSpPr txBox="1"/>
          <p:nvPr/>
        </p:nvSpPr>
        <p:spPr>
          <a:xfrm>
            <a:off x="5641848" y="2624328"/>
            <a:ext cx="457200" cy="457200"/>
          </a:xfrm>
          <a:prstGeom prst="ellipse">
            <a:avLst/>
          </a:prstGeom>
          <a:solidFill>
            <a:srgbClr val="F472B6"/>
          </a:solidFill>
          <a:ln/>
        </p:spPr>
        <p:txBody>
          <a:bodyPr wrap="square" lIns="0" tIns="0" rIns="0" bIns="0" rtlCol="0" anchor="ctr"/>
          <a:lstStyle/>
          <a:p>
            <a:pPr algn="ctr" indent="0" marL="0">
              <a:buNone/>
            </a:pPr>
            <a:r>
              <a:rPr lang="en-US" sz="2000" b="1" dirty="0">
                <a:solidFill>
                  <a:schemeClr val="bg1"/>
                </a:solidFill>
              </a:rPr>
              <a:t>9</a:t>
            </a:r>
            <a:endParaRPr lang="en-US" sz="2000" dirty="0"/>
          </a:p>
        </p:txBody>
      </p:sp>
      <p:sp>
        <p:nvSpPr>
          <p:cNvPr id="38" name="Level name 8"/>
          <p:cNvSpPr txBox="1"/>
          <p:nvPr/>
        </p:nvSpPr>
        <p:spPr>
          <a:xfrm>
            <a:off x="6172200" y="2624328"/>
            <a:ext cx="822960" cy="457200"/>
          </a:xfrm>
          <a:prstGeom prst="rect">
            <a:avLst/>
          </a:prstGeom>
          <a:noFill/>
          <a:ln/>
        </p:spPr>
        <p:txBody>
          <a:bodyPr wrap="square" lIns="0" tIns="0" rIns="0" bIns="0" rtlCol="0" anchor="ctr"/>
          <a:lstStyle/>
          <a:p>
            <a:pPr indent="0" marL="0">
              <a:buNone/>
            </a:pPr>
            <a:r>
              <a:rPr lang="en-US" sz="1400" b="1" dirty="0">
                <a:solidFill>
                  <a:srgbClr val="F472B6"/>
                </a:solidFill>
              </a:rPr>
              <a:t>Wizard</a:t>
            </a:r>
            <a:endParaRPr lang="en-US" sz="1400" dirty="0"/>
          </a:p>
        </p:txBody>
      </p:sp>
      <p:sp>
        <p:nvSpPr>
          <p:cNvPr id="39" name="Level desc 8"/>
          <p:cNvSpPr txBox="1"/>
          <p:nvPr/>
        </p:nvSpPr>
        <p:spPr>
          <a:xfrm>
            <a:off x="5669280" y="3172968"/>
            <a:ext cx="1261872" cy="548640"/>
          </a:xfrm>
          <a:prstGeom prst="rect">
            <a:avLst/>
          </a:prstGeom>
          <a:noFill/>
          <a:ln/>
        </p:spPr>
        <p:txBody>
          <a:bodyPr wrap="square" lIns="0" tIns="0" rIns="0" bIns="0" rtlCol="0" anchor="t"/>
          <a:lstStyle/>
          <a:p>
            <a:pPr indent="0" marL="0">
              <a:buNone/>
            </a:pPr>
            <a:r>
              <a:rPr lang="en-US" sz="1200" dirty="0">
                <a:solidFill>
                  <a:schemeClr val="tx2"/>
                </a:solidFill>
              </a:rPr>
              <a:t>Races and design flaws</a:t>
            </a:r>
            <a:endParaRPr lang="en-US" sz="1200" dirty="0"/>
          </a:p>
        </p:txBody>
      </p:sp>
      <p:sp>
        <p:nvSpPr>
          <p:cNvPr id="40" name="Level card 9"/>
          <p:cNvSpPr/>
          <p:nvPr/>
        </p:nvSpPr>
        <p:spPr>
          <a:xfrm>
            <a:off x="7223760" y="2514600"/>
            <a:ext cx="1481328" cy="1234440"/>
          </a:xfrm>
          <a:prstGeom prst="roundRect">
            <a:avLst>
              <a:gd name="adj" fmla="val 8889"/>
            </a:avLst>
          </a:prstGeom>
          <a:solidFill>
            <a:schemeClr val="bg2"/>
          </a:solidFill>
          <a:ln/>
        </p:spPr>
      </p:sp>
      <p:sp>
        <p:nvSpPr>
          <p:cNvPr id="41" name="Level badge 9"/>
          <p:cNvSpPr txBox="1"/>
          <p:nvPr/>
        </p:nvSpPr>
        <p:spPr>
          <a:xfrm>
            <a:off x="7333488" y="2624328"/>
            <a:ext cx="457200" cy="457200"/>
          </a:xfrm>
          <a:prstGeom prst="ellipse">
            <a:avLst/>
          </a:prstGeom>
          <a:solidFill>
            <a:srgbClr val="FDE047"/>
          </a:solidFill>
          <a:ln/>
        </p:spPr>
        <p:txBody>
          <a:bodyPr wrap="square" lIns="0" tIns="0" rIns="0" bIns="0" rtlCol="0" anchor="ctr"/>
          <a:lstStyle/>
          <a:p>
            <a:pPr algn="ctr" indent="0" marL="0">
              <a:buNone/>
            </a:pPr>
            <a:r>
              <a:rPr lang="en-US" sz="1600" b="1" dirty="0">
                <a:solidFill>
                  <a:schemeClr val="bg1"/>
                </a:solidFill>
              </a:rPr>
              <a:t>10</a:t>
            </a:r>
            <a:endParaRPr lang="en-US" sz="1600" dirty="0"/>
          </a:p>
        </p:txBody>
      </p:sp>
      <p:sp>
        <p:nvSpPr>
          <p:cNvPr id="42" name="Level name 9"/>
          <p:cNvSpPr txBox="1"/>
          <p:nvPr/>
        </p:nvSpPr>
        <p:spPr>
          <a:xfrm>
            <a:off x="7863840" y="2624328"/>
            <a:ext cx="822960" cy="457200"/>
          </a:xfrm>
          <a:prstGeom prst="rect">
            <a:avLst/>
          </a:prstGeom>
          <a:noFill/>
          <a:ln/>
        </p:spPr>
        <p:txBody>
          <a:bodyPr wrap="square" lIns="0" tIns="0" rIns="0" bIns="0" rtlCol="0" anchor="ctr"/>
          <a:lstStyle/>
          <a:p>
            <a:pPr indent="0" marL="0">
              <a:buNone/>
            </a:pPr>
            <a:r>
              <a:rPr lang="en-US" sz="1400" b="1" dirty="0">
                <a:solidFill>
                  <a:srgbClr val="FDE047"/>
                </a:solidFill>
              </a:rPr>
              <a:t>Legend</a:t>
            </a:r>
            <a:endParaRPr lang="en-US" sz="1400" dirty="0"/>
          </a:p>
        </p:txBody>
      </p:sp>
      <p:sp>
        <p:nvSpPr>
          <p:cNvPr id="43" name="Level desc 9"/>
          <p:cNvSpPr txBox="1"/>
          <p:nvPr/>
        </p:nvSpPr>
        <p:spPr>
          <a:xfrm>
            <a:off x="7360920" y="3172968"/>
            <a:ext cx="1261872" cy="548640"/>
          </a:xfrm>
          <a:prstGeom prst="rect">
            <a:avLst/>
          </a:prstGeom>
          <a:noFill/>
          <a:ln/>
        </p:spPr>
        <p:txBody>
          <a:bodyPr wrap="square" lIns="0" tIns="0" rIns="0" bIns="0" rtlCol="0" anchor="t"/>
          <a:lstStyle/>
          <a:p>
            <a:pPr indent="0" marL="0">
              <a:buNone/>
            </a:pPr>
            <a:r>
              <a:rPr lang="en-US" sz="1200" dirty="0">
                <a:solidFill>
                  <a:schemeClr val="tx2"/>
                </a:solidFill>
              </a:rPr>
              <a:t>For the very best</a:t>
            </a:r>
            <a:endParaRPr lang="en-US" sz="1200" dirty="0"/>
          </a:p>
        </p:txBody>
      </p:sp>
      <p:sp>
        <p:nvSpPr>
          <p:cNvPr id="44" name="Arena hint"/>
          <p:cNvSpPr txBox="1"/>
          <p:nvPr/>
        </p:nvSpPr>
        <p:spPr>
          <a:xfrm>
            <a:off x="1737360" y="4023360"/>
            <a:ext cx="6766560" cy="548640"/>
          </a:xfrm>
          <a:prstGeom prst="rect">
            <a:avLst/>
          </a:prstGeom>
          <a:noFill/>
          <a:ln/>
        </p:spPr>
        <p:txBody>
          <a:bodyPr wrap="square" lIns="0" tIns="0" rIns="0" bIns="0" rtlCol="0" anchor="ctr"/>
          <a:lstStyle/>
          <a:p>
            <a:pPr indent="0" marL="0">
              <a:buNone/>
            </a:pPr>
            <a:r>
              <a:rPr lang="en-US" sz="2000" b="1" dirty="0">
                <a:solidFill>
                  <a:schemeClr val="accent1"/>
                </a:solidFill>
              </a:rPr>
              <a:t>Pick a topic. Click to reveal each answer.</a:t>
            </a:r>
            <a:endParaRPr lang="en-US" sz="2000" dirty="0"/>
          </a:p>
        </p:txBody>
      </p:sp>
      <p:pic>
        <p:nvPicPr>
          <p:cNvPr id="45" name="Hacker" descr="Hacker cartoon">    </p:cNvPr>
          <p:cNvPicPr>
            <a:picLocks noChangeAspect="1"/>
          </p:cNvPicPr>
          <p:nvPr/>
        </p:nvPicPr>
        <p:blipFill>
          <a:blip r:embed="rId1"/>
          <a:stretch>
            <a:fillRect/>
          </a:stretch>
        </p:blipFill>
        <p:spPr>
          <a:xfrm>
            <a:off x="457200" y="3840480"/>
            <a:ext cx="1051560" cy="105156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73" fill="hold">
                      <p:stCondLst>
                        <p:cond delay="indefinite"/>
                        <p:cond evt="onBegin" delay="0">
                          <p:tn val="2"/>
                        </p:cond>
                      </p:stCondLst>
                      <p:childTnLst>
                        <p:par>
                          <p:cTn id="174" fill="hold">
                            <p:stCondLst>
                              <p:cond delay="0"/>
                            </p:stCondLst>
                            <p:childTnLst>
                              <p:par>
                                <p:cTn id="6" presetID="2" presetClass="entr" presetSubtype="4" fill="hold" grpId="0" nodeType="afterEffect">
                                  <p:stCondLst>
                                    <p:cond delay="0"/>
                                  </p:stCondLst>
                                  <p:childTnLst>
                                    <p:set>
                                      <p:cBhvr>
                                        <p:cTn id="3" dur="1" fill="hold">
                                          <p:stCondLst>
                                            <p:cond delay="0"/>
                                          </p:stCondLst>
                                        </p:cTn>
                                        <p:tgtEl>
                                          <p:spTgt spid="4"/>
                                        </p:tgtEl>
                                        <p:attrNameLst>
                                          <p:attrName>style.visibility</p:attrName>
                                        </p:attrNameLst>
                                      </p:cBhvr>
                                      <p:to>
                                        <p:strVal val="visible"/>
                                      </p:to>
                                    </p:set>
                                    <p:anim calcmode="lin" valueType="num">
                                      <p:cBhvr additive="base">
                                        <p:cTn id="4" dur="450" fill="hold"/>
                                        <p:tgtEl>
                                          <p:spTgt spid="4"/>
                                        </p:tgtEl>
                                        <p:attrNameLst>
                                          <p:attrName>ppt_x</p:attrName>
                                        </p:attrNameLst>
                                      </p:cBhvr>
                                      <p:tavLst>
                                        <p:tav tm="0">
                                          <p:val>
                                            <p:strVal val="#ppt_x"/>
                                          </p:val>
                                        </p:tav>
                                        <p:tav tm="100000">
                                          <p:val>
                                            <p:strVal val="#ppt_x"/>
                                          </p:val>
                                        </p:tav>
                                      </p:tavLst>
                                    </p:anim>
                                    <p:anim calcmode="lin" valueType="num">
                                      <p:cBhvr additive="base">
                                        <p:cTn id="5" dur="450" fill="hold"/>
                                        <p:tgtEl>
                                          <p:spTgt spid="4"/>
                                        </p:tgtEl>
                                        <p:attrNameLst>
                                          <p:attrName>ppt_y</p:attrName>
                                        </p:attrNameLst>
                                      </p:cBhvr>
                                      <p:tavLst>
                                        <p:tav tm="0">
                                          <p:val>
                                            <p:strVal val="1+#ppt_h/2"/>
                                          </p:val>
                                        </p:tav>
                                        <p:tav tm="100000">
                                          <p:val>
                                            <p:strVal val="#ppt_y"/>
                                          </p:val>
                                        </p:tav>
                                      </p:tavLst>
                                    </p:anim>
                                  </p:childTnLst>
                                </p:cTn>
                              </p:par>
                              <p:par>
                                <p:cTn id="10" presetID="2" presetClass="entr" presetSubtype="4"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 calcmode="lin" valueType="num">
                                      <p:cBhvr additive="base">
                                        <p:cTn id="8" dur="450" fill="hold"/>
                                        <p:tgtEl>
                                          <p:spTgt spid="5"/>
                                        </p:tgtEl>
                                        <p:attrNameLst>
                                          <p:attrName>ppt_x</p:attrName>
                                        </p:attrNameLst>
                                      </p:cBhvr>
                                      <p:tavLst>
                                        <p:tav tm="0">
                                          <p:val>
                                            <p:strVal val="#ppt_x"/>
                                          </p:val>
                                        </p:tav>
                                        <p:tav tm="100000">
                                          <p:val>
                                            <p:strVal val="#ppt_x"/>
                                          </p:val>
                                        </p:tav>
                                      </p:tavLst>
                                    </p:anim>
                                    <p:anim calcmode="lin" valueType="num">
                                      <p:cBhvr additive="base">
                                        <p:cTn id="9" dur="450" fill="hold"/>
                                        <p:tgtEl>
                                          <p:spTgt spid="5"/>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450" fill="hold"/>
                                        <p:tgtEl>
                                          <p:spTgt spid="6"/>
                                        </p:tgtEl>
                                        <p:attrNameLst>
                                          <p:attrName>ppt_x</p:attrName>
                                        </p:attrNameLst>
                                      </p:cBhvr>
                                      <p:tavLst>
                                        <p:tav tm="0">
                                          <p:val>
                                            <p:strVal val="#ppt_x"/>
                                          </p:val>
                                        </p:tav>
                                        <p:tav tm="100000">
                                          <p:val>
                                            <p:strVal val="#ppt_x"/>
                                          </p:val>
                                        </p:tav>
                                      </p:tavLst>
                                    </p:anim>
                                    <p:anim calcmode="lin" valueType="num">
                                      <p:cBhvr additive="base">
                                        <p:cTn id="13" dur="450" fill="hold"/>
                                        <p:tgtEl>
                                          <p:spTgt spid="6"/>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450" fill="hold"/>
                                        <p:tgtEl>
                                          <p:spTgt spid="7"/>
                                        </p:tgtEl>
                                        <p:attrNameLst>
                                          <p:attrName>ppt_x</p:attrName>
                                        </p:attrNameLst>
                                      </p:cBhvr>
                                      <p:tavLst>
                                        <p:tav tm="0">
                                          <p:val>
                                            <p:strVal val="#ppt_x"/>
                                          </p:val>
                                        </p:tav>
                                        <p:tav tm="100000">
                                          <p:val>
                                            <p:strVal val="#ppt_x"/>
                                          </p:val>
                                        </p:tav>
                                      </p:tavLst>
                                    </p:anim>
                                    <p:anim calcmode="lin" valueType="num">
                                      <p:cBhvr additive="base">
                                        <p:cTn id="17" dur="450" fill="hold"/>
                                        <p:tgtEl>
                                          <p:spTgt spid="7"/>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22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450" fill="hold"/>
                                        <p:tgtEl>
                                          <p:spTgt spid="8"/>
                                        </p:tgtEl>
                                        <p:attrNameLst>
                                          <p:attrName>ppt_x</p:attrName>
                                        </p:attrNameLst>
                                      </p:cBhvr>
                                      <p:tavLst>
                                        <p:tav tm="0">
                                          <p:val>
                                            <p:strVal val="#ppt_x"/>
                                          </p:val>
                                        </p:tav>
                                        <p:tav tm="100000">
                                          <p:val>
                                            <p:strVal val="#ppt_x"/>
                                          </p:val>
                                        </p:tav>
                                      </p:tavLst>
                                    </p:anim>
                                    <p:anim calcmode="lin" valueType="num">
                                      <p:cBhvr additive="base">
                                        <p:cTn id="21" dur="450" fill="hold"/>
                                        <p:tgtEl>
                                          <p:spTgt spid="8"/>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22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450" fill="hold"/>
                                        <p:tgtEl>
                                          <p:spTgt spid="9"/>
                                        </p:tgtEl>
                                        <p:attrNameLst>
                                          <p:attrName>ppt_x</p:attrName>
                                        </p:attrNameLst>
                                      </p:cBhvr>
                                      <p:tavLst>
                                        <p:tav tm="0">
                                          <p:val>
                                            <p:strVal val="#ppt_x"/>
                                          </p:val>
                                        </p:tav>
                                        <p:tav tm="100000">
                                          <p:val>
                                            <p:strVal val="#ppt_x"/>
                                          </p:val>
                                        </p:tav>
                                      </p:tavLst>
                                    </p:anim>
                                    <p:anim calcmode="lin" valueType="num">
                                      <p:cBhvr additive="base">
                                        <p:cTn id="25" dur="450" fill="hold"/>
                                        <p:tgtEl>
                                          <p:spTgt spid="9"/>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22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450" fill="hold"/>
                                        <p:tgtEl>
                                          <p:spTgt spid="10"/>
                                        </p:tgtEl>
                                        <p:attrNameLst>
                                          <p:attrName>ppt_x</p:attrName>
                                        </p:attrNameLst>
                                      </p:cBhvr>
                                      <p:tavLst>
                                        <p:tav tm="0">
                                          <p:val>
                                            <p:strVal val="#ppt_x"/>
                                          </p:val>
                                        </p:tav>
                                        <p:tav tm="100000">
                                          <p:val>
                                            <p:strVal val="#ppt_x"/>
                                          </p:val>
                                        </p:tav>
                                      </p:tavLst>
                                    </p:anim>
                                    <p:anim calcmode="lin" valueType="num">
                                      <p:cBhvr additive="base">
                                        <p:cTn id="29" dur="450" fill="hold"/>
                                        <p:tgtEl>
                                          <p:spTgt spid="10"/>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22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450" fill="hold"/>
                                        <p:tgtEl>
                                          <p:spTgt spid="11"/>
                                        </p:tgtEl>
                                        <p:attrNameLst>
                                          <p:attrName>ppt_x</p:attrName>
                                        </p:attrNameLst>
                                      </p:cBhvr>
                                      <p:tavLst>
                                        <p:tav tm="0">
                                          <p:val>
                                            <p:strVal val="#ppt_x"/>
                                          </p:val>
                                        </p:tav>
                                        <p:tav tm="100000">
                                          <p:val>
                                            <p:strVal val="#ppt_x"/>
                                          </p:val>
                                        </p:tav>
                                      </p:tavLst>
                                    </p:anim>
                                    <p:anim calcmode="lin" valueType="num">
                                      <p:cBhvr additive="base">
                                        <p:cTn id="33" dur="450" fill="hold"/>
                                        <p:tgtEl>
                                          <p:spTgt spid="11"/>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44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450" fill="hold"/>
                                        <p:tgtEl>
                                          <p:spTgt spid="12"/>
                                        </p:tgtEl>
                                        <p:attrNameLst>
                                          <p:attrName>ppt_x</p:attrName>
                                        </p:attrNameLst>
                                      </p:cBhvr>
                                      <p:tavLst>
                                        <p:tav tm="0">
                                          <p:val>
                                            <p:strVal val="#ppt_x"/>
                                          </p:val>
                                        </p:tav>
                                        <p:tav tm="100000">
                                          <p:val>
                                            <p:strVal val="#ppt_x"/>
                                          </p:val>
                                        </p:tav>
                                      </p:tavLst>
                                    </p:anim>
                                    <p:anim calcmode="lin" valueType="num">
                                      <p:cBhvr additive="base">
                                        <p:cTn id="37" dur="450" fill="hold"/>
                                        <p:tgtEl>
                                          <p:spTgt spid="12"/>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440"/>
                                  </p:stCondLst>
                                  <p:childTnLst>
                                    <p:set>
                                      <p:cBhvr>
                                        <p:cTn id="39" dur="1" fill="hold">
                                          <p:stCondLst>
                                            <p:cond delay="0"/>
                                          </p:stCondLst>
                                        </p:cTn>
                                        <p:tgtEl>
                                          <p:spTgt spid="13"/>
                                        </p:tgtEl>
                                        <p:attrNameLst>
                                          <p:attrName>style.visibility</p:attrName>
                                        </p:attrNameLst>
                                      </p:cBhvr>
                                      <p:to>
                                        <p:strVal val="visible"/>
                                      </p:to>
                                    </p:set>
                                    <p:anim calcmode="lin" valueType="num">
                                      <p:cBhvr additive="base">
                                        <p:cTn id="40" dur="450" fill="hold"/>
                                        <p:tgtEl>
                                          <p:spTgt spid="13"/>
                                        </p:tgtEl>
                                        <p:attrNameLst>
                                          <p:attrName>ppt_x</p:attrName>
                                        </p:attrNameLst>
                                      </p:cBhvr>
                                      <p:tavLst>
                                        <p:tav tm="0">
                                          <p:val>
                                            <p:strVal val="#ppt_x"/>
                                          </p:val>
                                        </p:tav>
                                        <p:tav tm="100000">
                                          <p:val>
                                            <p:strVal val="#ppt_x"/>
                                          </p:val>
                                        </p:tav>
                                      </p:tavLst>
                                    </p:anim>
                                    <p:anim calcmode="lin" valueType="num">
                                      <p:cBhvr additive="base">
                                        <p:cTn id="41" dur="450" fill="hold"/>
                                        <p:tgtEl>
                                          <p:spTgt spid="13"/>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44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450" fill="hold"/>
                                        <p:tgtEl>
                                          <p:spTgt spid="14"/>
                                        </p:tgtEl>
                                        <p:attrNameLst>
                                          <p:attrName>ppt_x</p:attrName>
                                        </p:attrNameLst>
                                      </p:cBhvr>
                                      <p:tavLst>
                                        <p:tav tm="0">
                                          <p:val>
                                            <p:strVal val="#ppt_x"/>
                                          </p:val>
                                        </p:tav>
                                        <p:tav tm="100000">
                                          <p:val>
                                            <p:strVal val="#ppt_x"/>
                                          </p:val>
                                        </p:tav>
                                      </p:tavLst>
                                    </p:anim>
                                    <p:anim calcmode="lin" valueType="num">
                                      <p:cBhvr additive="base">
                                        <p:cTn id="45" dur="450" fill="hold"/>
                                        <p:tgtEl>
                                          <p:spTgt spid="14"/>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440"/>
                                  </p:stCondLst>
                                  <p:childTnLst>
                                    <p:set>
                                      <p:cBhvr>
                                        <p:cTn id="47" dur="1" fill="hold">
                                          <p:stCondLst>
                                            <p:cond delay="0"/>
                                          </p:stCondLst>
                                        </p:cTn>
                                        <p:tgtEl>
                                          <p:spTgt spid="15"/>
                                        </p:tgtEl>
                                        <p:attrNameLst>
                                          <p:attrName>style.visibility</p:attrName>
                                        </p:attrNameLst>
                                      </p:cBhvr>
                                      <p:to>
                                        <p:strVal val="visible"/>
                                      </p:to>
                                    </p:set>
                                    <p:anim calcmode="lin" valueType="num">
                                      <p:cBhvr additive="base">
                                        <p:cTn id="48" dur="450" fill="hold"/>
                                        <p:tgtEl>
                                          <p:spTgt spid="15"/>
                                        </p:tgtEl>
                                        <p:attrNameLst>
                                          <p:attrName>ppt_x</p:attrName>
                                        </p:attrNameLst>
                                      </p:cBhvr>
                                      <p:tavLst>
                                        <p:tav tm="0">
                                          <p:val>
                                            <p:strVal val="#ppt_x"/>
                                          </p:val>
                                        </p:tav>
                                        <p:tav tm="100000">
                                          <p:val>
                                            <p:strVal val="#ppt_x"/>
                                          </p:val>
                                        </p:tav>
                                      </p:tavLst>
                                    </p:anim>
                                    <p:anim calcmode="lin" valueType="num">
                                      <p:cBhvr additive="base">
                                        <p:cTn id="49" dur="450" fill="hold"/>
                                        <p:tgtEl>
                                          <p:spTgt spid="15"/>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660"/>
                                  </p:stCondLst>
                                  <p:childTnLst>
                                    <p:set>
                                      <p:cBhvr>
                                        <p:cTn id="51" dur="1" fill="hold">
                                          <p:stCondLst>
                                            <p:cond delay="0"/>
                                          </p:stCondLst>
                                        </p:cTn>
                                        <p:tgtEl>
                                          <p:spTgt spid="16"/>
                                        </p:tgtEl>
                                        <p:attrNameLst>
                                          <p:attrName>style.visibility</p:attrName>
                                        </p:attrNameLst>
                                      </p:cBhvr>
                                      <p:to>
                                        <p:strVal val="visible"/>
                                      </p:to>
                                    </p:set>
                                    <p:anim calcmode="lin" valueType="num">
                                      <p:cBhvr additive="base">
                                        <p:cTn id="52" dur="450" fill="hold"/>
                                        <p:tgtEl>
                                          <p:spTgt spid="16"/>
                                        </p:tgtEl>
                                        <p:attrNameLst>
                                          <p:attrName>ppt_x</p:attrName>
                                        </p:attrNameLst>
                                      </p:cBhvr>
                                      <p:tavLst>
                                        <p:tav tm="0">
                                          <p:val>
                                            <p:strVal val="#ppt_x"/>
                                          </p:val>
                                        </p:tav>
                                        <p:tav tm="100000">
                                          <p:val>
                                            <p:strVal val="#ppt_x"/>
                                          </p:val>
                                        </p:tav>
                                      </p:tavLst>
                                    </p:anim>
                                    <p:anim calcmode="lin" valueType="num">
                                      <p:cBhvr additive="base">
                                        <p:cTn id="53" dur="450" fill="hold"/>
                                        <p:tgtEl>
                                          <p:spTgt spid="16"/>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660"/>
                                  </p:stCondLst>
                                  <p:childTnLst>
                                    <p:set>
                                      <p:cBhvr>
                                        <p:cTn id="55" dur="1" fill="hold">
                                          <p:stCondLst>
                                            <p:cond delay="0"/>
                                          </p:stCondLst>
                                        </p:cTn>
                                        <p:tgtEl>
                                          <p:spTgt spid="17"/>
                                        </p:tgtEl>
                                        <p:attrNameLst>
                                          <p:attrName>style.visibility</p:attrName>
                                        </p:attrNameLst>
                                      </p:cBhvr>
                                      <p:to>
                                        <p:strVal val="visible"/>
                                      </p:to>
                                    </p:set>
                                    <p:anim calcmode="lin" valueType="num">
                                      <p:cBhvr additive="base">
                                        <p:cTn id="56" dur="450" fill="hold"/>
                                        <p:tgtEl>
                                          <p:spTgt spid="17"/>
                                        </p:tgtEl>
                                        <p:attrNameLst>
                                          <p:attrName>ppt_x</p:attrName>
                                        </p:attrNameLst>
                                      </p:cBhvr>
                                      <p:tavLst>
                                        <p:tav tm="0">
                                          <p:val>
                                            <p:strVal val="#ppt_x"/>
                                          </p:val>
                                        </p:tav>
                                        <p:tav tm="100000">
                                          <p:val>
                                            <p:strVal val="#ppt_x"/>
                                          </p:val>
                                        </p:tav>
                                      </p:tavLst>
                                    </p:anim>
                                    <p:anim calcmode="lin" valueType="num">
                                      <p:cBhvr additive="base">
                                        <p:cTn id="57" dur="450" fill="hold"/>
                                        <p:tgtEl>
                                          <p:spTgt spid="17"/>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660"/>
                                  </p:stCondLst>
                                  <p:childTnLst>
                                    <p:set>
                                      <p:cBhvr>
                                        <p:cTn id="59" dur="1" fill="hold">
                                          <p:stCondLst>
                                            <p:cond delay="0"/>
                                          </p:stCondLst>
                                        </p:cTn>
                                        <p:tgtEl>
                                          <p:spTgt spid="18"/>
                                        </p:tgtEl>
                                        <p:attrNameLst>
                                          <p:attrName>style.visibility</p:attrName>
                                        </p:attrNameLst>
                                      </p:cBhvr>
                                      <p:to>
                                        <p:strVal val="visible"/>
                                      </p:to>
                                    </p:set>
                                    <p:anim calcmode="lin" valueType="num">
                                      <p:cBhvr additive="base">
                                        <p:cTn id="60" dur="450" fill="hold"/>
                                        <p:tgtEl>
                                          <p:spTgt spid="18"/>
                                        </p:tgtEl>
                                        <p:attrNameLst>
                                          <p:attrName>ppt_x</p:attrName>
                                        </p:attrNameLst>
                                      </p:cBhvr>
                                      <p:tavLst>
                                        <p:tav tm="0">
                                          <p:val>
                                            <p:strVal val="#ppt_x"/>
                                          </p:val>
                                        </p:tav>
                                        <p:tav tm="100000">
                                          <p:val>
                                            <p:strVal val="#ppt_x"/>
                                          </p:val>
                                        </p:tav>
                                      </p:tavLst>
                                    </p:anim>
                                    <p:anim calcmode="lin" valueType="num">
                                      <p:cBhvr additive="base">
                                        <p:cTn id="61" dur="450" fill="hold"/>
                                        <p:tgtEl>
                                          <p:spTgt spid="18"/>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660"/>
                                  </p:stCondLst>
                                  <p:childTnLst>
                                    <p:set>
                                      <p:cBhvr>
                                        <p:cTn id="63" dur="1" fill="hold">
                                          <p:stCondLst>
                                            <p:cond delay="0"/>
                                          </p:stCondLst>
                                        </p:cTn>
                                        <p:tgtEl>
                                          <p:spTgt spid="19"/>
                                        </p:tgtEl>
                                        <p:attrNameLst>
                                          <p:attrName>style.visibility</p:attrName>
                                        </p:attrNameLst>
                                      </p:cBhvr>
                                      <p:to>
                                        <p:strVal val="visible"/>
                                      </p:to>
                                    </p:set>
                                    <p:anim calcmode="lin" valueType="num">
                                      <p:cBhvr additive="base">
                                        <p:cTn id="64" dur="450" fill="hold"/>
                                        <p:tgtEl>
                                          <p:spTgt spid="19"/>
                                        </p:tgtEl>
                                        <p:attrNameLst>
                                          <p:attrName>ppt_x</p:attrName>
                                        </p:attrNameLst>
                                      </p:cBhvr>
                                      <p:tavLst>
                                        <p:tav tm="0">
                                          <p:val>
                                            <p:strVal val="#ppt_x"/>
                                          </p:val>
                                        </p:tav>
                                        <p:tav tm="100000">
                                          <p:val>
                                            <p:strVal val="#ppt_x"/>
                                          </p:val>
                                        </p:tav>
                                      </p:tavLst>
                                    </p:anim>
                                    <p:anim calcmode="lin" valueType="num">
                                      <p:cBhvr additive="base">
                                        <p:cTn id="65" dur="450" fill="hold"/>
                                        <p:tgtEl>
                                          <p:spTgt spid="19"/>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880"/>
                                  </p:stCondLst>
                                  <p:childTnLst>
                                    <p:set>
                                      <p:cBhvr>
                                        <p:cTn id="67" dur="1" fill="hold">
                                          <p:stCondLst>
                                            <p:cond delay="0"/>
                                          </p:stCondLst>
                                        </p:cTn>
                                        <p:tgtEl>
                                          <p:spTgt spid="20"/>
                                        </p:tgtEl>
                                        <p:attrNameLst>
                                          <p:attrName>style.visibility</p:attrName>
                                        </p:attrNameLst>
                                      </p:cBhvr>
                                      <p:to>
                                        <p:strVal val="visible"/>
                                      </p:to>
                                    </p:set>
                                    <p:anim calcmode="lin" valueType="num">
                                      <p:cBhvr additive="base">
                                        <p:cTn id="68" dur="450" fill="hold"/>
                                        <p:tgtEl>
                                          <p:spTgt spid="20"/>
                                        </p:tgtEl>
                                        <p:attrNameLst>
                                          <p:attrName>ppt_x</p:attrName>
                                        </p:attrNameLst>
                                      </p:cBhvr>
                                      <p:tavLst>
                                        <p:tav tm="0">
                                          <p:val>
                                            <p:strVal val="#ppt_x"/>
                                          </p:val>
                                        </p:tav>
                                        <p:tav tm="100000">
                                          <p:val>
                                            <p:strVal val="#ppt_x"/>
                                          </p:val>
                                        </p:tav>
                                      </p:tavLst>
                                    </p:anim>
                                    <p:anim calcmode="lin" valueType="num">
                                      <p:cBhvr additive="base">
                                        <p:cTn id="69" dur="450" fill="hold"/>
                                        <p:tgtEl>
                                          <p:spTgt spid="20"/>
                                        </p:tgtEl>
                                        <p:attrNameLst>
                                          <p:attrName>ppt_y</p:attrName>
                                        </p:attrNameLst>
                                      </p:cBhvr>
                                      <p:tavLst>
                                        <p:tav tm="0">
                                          <p:val>
                                            <p:strVal val="1+#ppt_h/2"/>
                                          </p:val>
                                        </p:tav>
                                        <p:tav tm="100000">
                                          <p:val>
                                            <p:strVal val="#ppt_y"/>
                                          </p:val>
                                        </p:tav>
                                      </p:tavLst>
                                    </p:anim>
                                  </p:childTnLst>
                                </p:cTn>
                              </p:par>
                              <p:par>
                                <p:cTn id="74" presetID="2" presetClass="entr" presetSubtype="4" fill="hold" grpId="0" nodeType="withEffect">
                                  <p:stCondLst>
                                    <p:cond delay="88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450" fill="hold"/>
                                        <p:tgtEl>
                                          <p:spTgt spid="21"/>
                                        </p:tgtEl>
                                        <p:attrNameLst>
                                          <p:attrName>ppt_x</p:attrName>
                                        </p:attrNameLst>
                                      </p:cBhvr>
                                      <p:tavLst>
                                        <p:tav tm="0">
                                          <p:val>
                                            <p:strVal val="#ppt_x"/>
                                          </p:val>
                                        </p:tav>
                                        <p:tav tm="100000">
                                          <p:val>
                                            <p:strVal val="#ppt_x"/>
                                          </p:val>
                                        </p:tav>
                                      </p:tavLst>
                                    </p:anim>
                                    <p:anim calcmode="lin" valueType="num">
                                      <p:cBhvr additive="base">
                                        <p:cTn id="73" dur="450" fill="hold"/>
                                        <p:tgtEl>
                                          <p:spTgt spid="21"/>
                                        </p:tgtEl>
                                        <p:attrNameLst>
                                          <p:attrName>ppt_y</p:attrName>
                                        </p:attrNameLst>
                                      </p:cBhvr>
                                      <p:tavLst>
                                        <p:tav tm="0">
                                          <p:val>
                                            <p:strVal val="1+#ppt_h/2"/>
                                          </p:val>
                                        </p:tav>
                                        <p:tav tm="100000">
                                          <p:val>
                                            <p:strVal val="#ppt_y"/>
                                          </p:val>
                                        </p:tav>
                                      </p:tavLst>
                                    </p:anim>
                                  </p:childTnLst>
                                </p:cTn>
                              </p:par>
                              <p:par>
                                <p:cTn id="78" presetID="2" presetClass="entr" presetSubtype="4" fill="hold" grpId="0" nodeType="withEffect">
                                  <p:stCondLst>
                                    <p:cond delay="880"/>
                                  </p:stCondLst>
                                  <p:childTnLst>
                                    <p:set>
                                      <p:cBhvr>
                                        <p:cTn id="75" dur="1" fill="hold">
                                          <p:stCondLst>
                                            <p:cond delay="0"/>
                                          </p:stCondLst>
                                        </p:cTn>
                                        <p:tgtEl>
                                          <p:spTgt spid="22"/>
                                        </p:tgtEl>
                                        <p:attrNameLst>
                                          <p:attrName>style.visibility</p:attrName>
                                        </p:attrNameLst>
                                      </p:cBhvr>
                                      <p:to>
                                        <p:strVal val="visible"/>
                                      </p:to>
                                    </p:set>
                                    <p:anim calcmode="lin" valueType="num">
                                      <p:cBhvr additive="base">
                                        <p:cTn id="76" dur="450" fill="hold"/>
                                        <p:tgtEl>
                                          <p:spTgt spid="22"/>
                                        </p:tgtEl>
                                        <p:attrNameLst>
                                          <p:attrName>ppt_x</p:attrName>
                                        </p:attrNameLst>
                                      </p:cBhvr>
                                      <p:tavLst>
                                        <p:tav tm="0">
                                          <p:val>
                                            <p:strVal val="#ppt_x"/>
                                          </p:val>
                                        </p:tav>
                                        <p:tav tm="100000">
                                          <p:val>
                                            <p:strVal val="#ppt_x"/>
                                          </p:val>
                                        </p:tav>
                                      </p:tavLst>
                                    </p:anim>
                                    <p:anim calcmode="lin" valueType="num">
                                      <p:cBhvr additive="base">
                                        <p:cTn id="77" dur="450" fill="hold"/>
                                        <p:tgtEl>
                                          <p:spTgt spid="22"/>
                                        </p:tgtEl>
                                        <p:attrNameLst>
                                          <p:attrName>ppt_y</p:attrName>
                                        </p:attrNameLst>
                                      </p:cBhvr>
                                      <p:tavLst>
                                        <p:tav tm="0">
                                          <p:val>
                                            <p:strVal val="1+#ppt_h/2"/>
                                          </p:val>
                                        </p:tav>
                                        <p:tav tm="100000">
                                          <p:val>
                                            <p:strVal val="#ppt_y"/>
                                          </p:val>
                                        </p:tav>
                                      </p:tavLst>
                                    </p:anim>
                                  </p:childTnLst>
                                </p:cTn>
                              </p:par>
                              <p:par>
                                <p:cTn id="82" presetID="2" presetClass="entr" presetSubtype="4" fill="hold" grpId="0" nodeType="withEffect">
                                  <p:stCondLst>
                                    <p:cond delay="880"/>
                                  </p:stCondLst>
                                  <p:childTnLst>
                                    <p:set>
                                      <p:cBhvr>
                                        <p:cTn id="79" dur="1" fill="hold">
                                          <p:stCondLst>
                                            <p:cond delay="0"/>
                                          </p:stCondLst>
                                        </p:cTn>
                                        <p:tgtEl>
                                          <p:spTgt spid="23"/>
                                        </p:tgtEl>
                                        <p:attrNameLst>
                                          <p:attrName>style.visibility</p:attrName>
                                        </p:attrNameLst>
                                      </p:cBhvr>
                                      <p:to>
                                        <p:strVal val="visible"/>
                                      </p:to>
                                    </p:set>
                                    <p:anim calcmode="lin" valueType="num">
                                      <p:cBhvr additive="base">
                                        <p:cTn id="80" dur="450" fill="hold"/>
                                        <p:tgtEl>
                                          <p:spTgt spid="23"/>
                                        </p:tgtEl>
                                        <p:attrNameLst>
                                          <p:attrName>ppt_x</p:attrName>
                                        </p:attrNameLst>
                                      </p:cBhvr>
                                      <p:tavLst>
                                        <p:tav tm="0">
                                          <p:val>
                                            <p:strVal val="#ppt_x"/>
                                          </p:val>
                                        </p:tav>
                                        <p:tav tm="100000">
                                          <p:val>
                                            <p:strVal val="#ppt_x"/>
                                          </p:val>
                                        </p:tav>
                                      </p:tavLst>
                                    </p:anim>
                                    <p:anim calcmode="lin" valueType="num">
                                      <p:cBhvr additive="base">
                                        <p:cTn id="81" dur="450" fill="hold"/>
                                        <p:tgtEl>
                                          <p:spTgt spid="23"/>
                                        </p:tgtEl>
                                        <p:attrNameLst>
                                          <p:attrName>ppt_y</p:attrName>
                                        </p:attrNameLst>
                                      </p:cBhvr>
                                      <p:tavLst>
                                        <p:tav tm="0">
                                          <p:val>
                                            <p:strVal val="1+#ppt_h/2"/>
                                          </p:val>
                                        </p:tav>
                                        <p:tav tm="100000">
                                          <p:val>
                                            <p:strVal val="#ppt_y"/>
                                          </p:val>
                                        </p:tav>
                                      </p:tavLst>
                                    </p:anim>
                                  </p:childTnLst>
                                </p:cTn>
                              </p:par>
                              <p:par>
                                <p:cTn id="86" presetID="2" presetClass="entr" presetSubtype="4" fill="hold" grpId="0" nodeType="withEffect">
                                  <p:stCondLst>
                                    <p:cond delay="1100"/>
                                  </p:stCondLst>
                                  <p:childTnLst>
                                    <p:set>
                                      <p:cBhvr>
                                        <p:cTn id="83" dur="1" fill="hold">
                                          <p:stCondLst>
                                            <p:cond delay="0"/>
                                          </p:stCondLst>
                                        </p:cTn>
                                        <p:tgtEl>
                                          <p:spTgt spid="24"/>
                                        </p:tgtEl>
                                        <p:attrNameLst>
                                          <p:attrName>style.visibility</p:attrName>
                                        </p:attrNameLst>
                                      </p:cBhvr>
                                      <p:to>
                                        <p:strVal val="visible"/>
                                      </p:to>
                                    </p:set>
                                    <p:anim calcmode="lin" valueType="num">
                                      <p:cBhvr additive="base">
                                        <p:cTn id="84" dur="450" fill="hold"/>
                                        <p:tgtEl>
                                          <p:spTgt spid="24"/>
                                        </p:tgtEl>
                                        <p:attrNameLst>
                                          <p:attrName>ppt_x</p:attrName>
                                        </p:attrNameLst>
                                      </p:cBhvr>
                                      <p:tavLst>
                                        <p:tav tm="0">
                                          <p:val>
                                            <p:strVal val="#ppt_x"/>
                                          </p:val>
                                        </p:tav>
                                        <p:tav tm="100000">
                                          <p:val>
                                            <p:strVal val="#ppt_x"/>
                                          </p:val>
                                        </p:tav>
                                      </p:tavLst>
                                    </p:anim>
                                    <p:anim calcmode="lin" valueType="num">
                                      <p:cBhvr additive="base">
                                        <p:cTn id="85" dur="450" fill="hold"/>
                                        <p:tgtEl>
                                          <p:spTgt spid="24"/>
                                        </p:tgtEl>
                                        <p:attrNameLst>
                                          <p:attrName>ppt_y</p:attrName>
                                        </p:attrNameLst>
                                      </p:cBhvr>
                                      <p:tavLst>
                                        <p:tav tm="0">
                                          <p:val>
                                            <p:strVal val="1+#ppt_h/2"/>
                                          </p:val>
                                        </p:tav>
                                        <p:tav tm="100000">
                                          <p:val>
                                            <p:strVal val="#ppt_y"/>
                                          </p:val>
                                        </p:tav>
                                      </p:tavLst>
                                    </p:anim>
                                  </p:childTnLst>
                                </p:cTn>
                              </p:par>
                              <p:par>
                                <p:cTn id="90" presetID="2" presetClass="entr" presetSubtype="4" fill="hold" grpId="0" nodeType="withEffect">
                                  <p:stCondLst>
                                    <p:cond delay="1100"/>
                                  </p:stCondLst>
                                  <p:childTnLst>
                                    <p:set>
                                      <p:cBhvr>
                                        <p:cTn id="87" dur="1" fill="hold">
                                          <p:stCondLst>
                                            <p:cond delay="0"/>
                                          </p:stCondLst>
                                        </p:cTn>
                                        <p:tgtEl>
                                          <p:spTgt spid="25"/>
                                        </p:tgtEl>
                                        <p:attrNameLst>
                                          <p:attrName>style.visibility</p:attrName>
                                        </p:attrNameLst>
                                      </p:cBhvr>
                                      <p:to>
                                        <p:strVal val="visible"/>
                                      </p:to>
                                    </p:set>
                                    <p:anim calcmode="lin" valueType="num">
                                      <p:cBhvr additive="base">
                                        <p:cTn id="88" dur="450" fill="hold"/>
                                        <p:tgtEl>
                                          <p:spTgt spid="25"/>
                                        </p:tgtEl>
                                        <p:attrNameLst>
                                          <p:attrName>ppt_x</p:attrName>
                                        </p:attrNameLst>
                                      </p:cBhvr>
                                      <p:tavLst>
                                        <p:tav tm="0">
                                          <p:val>
                                            <p:strVal val="#ppt_x"/>
                                          </p:val>
                                        </p:tav>
                                        <p:tav tm="100000">
                                          <p:val>
                                            <p:strVal val="#ppt_x"/>
                                          </p:val>
                                        </p:tav>
                                      </p:tavLst>
                                    </p:anim>
                                    <p:anim calcmode="lin" valueType="num">
                                      <p:cBhvr additive="base">
                                        <p:cTn id="89" dur="450" fill="hold"/>
                                        <p:tgtEl>
                                          <p:spTgt spid="25"/>
                                        </p:tgtEl>
                                        <p:attrNameLst>
                                          <p:attrName>ppt_y</p:attrName>
                                        </p:attrNameLst>
                                      </p:cBhvr>
                                      <p:tavLst>
                                        <p:tav tm="0">
                                          <p:val>
                                            <p:strVal val="1+#ppt_h/2"/>
                                          </p:val>
                                        </p:tav>
                                        <p:tav tm="100000">
                                          <p:val>
                                            <p:strVal val="#ppt_y"/>
                                          </p:val>
                                        </p:tav>
                                      </p:tavLst>
                                    </p:anim>
                                  </p:childTnLst>
                                </p:cTn>
                              </p:par>
                              <p:par>
                                <p:cTn id="94" presetID="2" presetClass="entr" presetSubtype="4" fill="hold" grpId="0" nodeType="withEffect">
                                  <p:stCondLst>
                                    <p:cond delay="1100"/>
                                  </p:stCondLst>
                                  <p:childTnLst>
                                    <p:set>
                                      <p:cBhvr>
                                        <p:cTn id="91" dur="1" fill="hold">
                                          <p:stCondLst>
                                            <p:cond delay="0"/>
                                          </p:stCondLst>
                                        </p:cTn>
                                        <p:tgtEl>
                                          <p:spTgt spid="26"/>
                                        </p:tgtEl>
                                        <p:attrNameLst>
                                          <p:attrName>style.visibility</p:attrName>
                                        </p:attrNameLst>
                                      </p:cBhvr>
                                      <p:to>
                                        <p:strVal val="visible"/>
                                      </p:to>
                                    </p:set>
                                    <p:anim calcmode="lin" valueType="num">
                                      <p:cBhvr additive="base">
                                        <p:cTn id="92" dur="450" fill="hold"/>
                                        <p:tgtEl>
                                          <p:spTgt spid="26"/>
                                        </p:tgtEl>
                                        <p:attrNameLst>
                                          <p:attrName>ppt_x</p:attrName>
                                        </p:attrNameLst>
                                      </p:cBhvr>
                                      <p:tavLst>
                                        <p:tav tm="0">
                                          <p:val>
                                            <p:strVal val="#ppt_x"/>
                                          </p:val>
                                        </p:tav>
                                        <p:tav tm="100000">
                                          <p:val>
                                            <p:strVal val="#ppt_x"/>
                                          </p:val>
                                        </p:tav>
                                      </p:tavLst>
                                    </p:anim>
                                    <p:anim calcmode="lin" valueType="num">
                                      <p:cBhvr additive="base">
                                        <p:cTn id="93" dur="450" fill="hold"/>
                                        <p:tgtEl>
                                          <p:spTgt spid="26"/>
                                        </p:tgtEl>
                                        <p:attrNameLst>
                                          <p:attrName>ppt_y</p:attrName>
                                        </p:attrNameLst>
                                      </p:cBhvr>
                                      <p:tavLst>
                                        <p:tav tm="0">
                                          <p:val>
                                            <p:strVal val="1+#ppt_h/2"/>
                                          </p:val>
                                        </p:tav>
                                        <p:tav tm="100000">
                                          <p:val>
                                            <p:strVal val="#ppt_y"/>
                                          </p:val>
                                        </p:tav>
                                      </p:tavLst>
                                    </p:anim>
                                  </p:childTnLst>
                                </p:cTn>
                              </p:par>
                              <p:par>
                                <p:cTn id="98" presetID="2" presetClass="entr" presetSubtype="4" fill="hold" grpId="0" nodeType="withEffect">
                                  <p:stCondLst>
                                    <p:cond delay="1100"/>
                                  </p:stCondLst>
                                  <p:childTnLst>
                                    <p:set>
                                      <p:cBhvr>
                                        <p:cTn id="95" dur="1" fill="hold">
                                          <p:stCondLst>
                                            <p:cond delay="0"/>
                                          </p:stCondLst>
                                        </p:cTn>
                                        <p:tgtEl>
                                          <p:spTgt spid="27"/>
                                        </p:tgtEl>
                                        <p:attrNameLst>
                                          <p:attrName>style.visibility</p:attrName>
                                        </p:attrNameLst>
                                      </p:cBhvr>
                                      <p:to>
                                        <p:strVal val="visible"/>
                                      </p:to>
                                    </p:set>
                                    <p:anim calcmode="lin" valueType="num">
                                      <p:cBhvr additive="base">
                                        <p:cTn id="96" dur="450" fill="hold"/>
                                        <p:tgtEl>
                                          <p:spTgt spid="27"/>
                                        </p:tgtEl>
                                        <p:attrNameLst>
                                          <p:attrName>ppt_x</p:attrName>
                                        </p:attrNameLst>
                                      </p:cBhvr>
                                      <p:tavLst>
                                        <p:tav tm="0">
                                          <p:val>
                                            <p:strVal val="#ppt_x"/>
                                          </p:val>
                                        </p:tav>
                                        <p:tav tm="100000">
                                          <p:val>
                                            <p:strVal val="#ppt_x"/>
                                          </p:val>
                                        </p:tav>
                                      </p:tavLst>
                                    </p:anim>
                                    <p:anim calcmode="lin" valueType="num">
                                      <p:cBhvr additive="base">
                                        <p:cTn id="97" dur="450" fill="hold"/>
                                        <p:tgtEl>
                                          <p:spTgt spid="27"/>
                                        </p:tgtEl>
                                        <p:attrNameLst>
                                          <p:attrName>ppt_y</p:attrName>
                                        </p:attrNameLst>
                                      </p:cBhvr>
                                      <p:tavLst>
                                        <p:tav tm="0">
                                          <p:val>
                                            <p:strVal val="1+#ppt_h/2"/>
                                          </p:val>
                                        </p:tav>
                                        <p:tav tm="100000">
                                          <p:val>
                                            <p:strVal val="#ppt_y"/>
                                          </p:val>
                                        </p:tav>
                                      </p:tavLst>
                                    </p:anim>
                                  </p:childTnLst>
                                </p:cTn>
                              </p:par>
                              <p:par>
                                <p:cTn id="102" presetID="2" presetClass="entr" presetSubtype="4" fill="hold" grpId="0" nodeType="withEffect">
                                  <p:stCondLst>
                                    <p:cond delay="1320"/>
                                  </p:stCondLst>
                                  <p:childTnLst>
                                    <p:set>
                                      <p:cBhvr>
                                        <p:cTn id="99" dur="1" fill="hold">
                                          <p:stCondLst>
                                            <p:cond delay="0"/>
                                          </p:stCondLst>
                                        </p:cTn>
                                        <p:tgtEl>
                                          <p:spTgt spid="28"/>
                                        </p:tgtEl>
                                        <p:attrNameLst>
                                          <p:attrName>style.visibility</p:attrName>
                                        </p:attrNameLst>
                                      </p:cBhvr>
                                      <p:to>
                                        <p:strVal val="visible"/>
                                      </p:to>
                                    </p:set>
                                    <p:anim calcmode="lin" valueType="num">
                                      <p:cBhvr additive="base">
                                        <p:cTn id="100" dur="450" fill="hold"/>
                                        <p:tgtEl>
                                          <p:spTgt spid="28"/>
                                        </p:tgtEl>
                                        <p:attrNameLst>
                                          <p:attrName>ppt_x</p:attrName>
                                        </p:attrNameLst>
                                      </p:cBhvr>
                                      <p:tavLst>
                                        <p:tav tm="0">
                                          <p:val>
                                            <p:strVal val="#ppt_x"/>
                                          </p:val>
                                        </p:tav>
                                        <p:tav tm="100000">
                                          <p:val>
                                            <p:strVal val="#ppt_x"/>
                                          </p:val>
                                        </p:tav>
                                      </p:tavLst>
                                    </p:anim>
                                    <p:anim calcmode="lin" valueType="num">
                                      <p:cBhvr additive="base">
                                        <p:cTn id="101" dur="450" fill="hold"/>
                                        <p:tgtEl>
                                          <p:spTgt spid="28"/>
                                        </p:tgtEl>
                                        <p:attrNameLst>
                                          <p:attrName>ppt_y</p:attrName>
                                        </p:attrNameLst>
                                      </p:cBhvr>
                                      <p:tavLst>
                                        <p:tav tm="0">
                                          <p:val>
                                            <p:strVal val="1+#ppt_h/2"/>
                                          </p:val>
                                        </p:tav>
                                        <p:tav tm="100000">
                                          <p:val>
                                            <p:strVal val="#ppt_y"/>
                                          </p:val>
                                        </p:tav>
                                      </p:tavLst>
                                    </p:anim>
                                  </p:childTnLst>
                                </p:cTn>
                              </p:par>
                              <p:par>
                                <p:cTn id="106" presetID="2" presetClass="entr" presetSubtype="4" fill="hold" grpId="0" nodeType="withEffect">
                                  <p:stCondLst>
                                    <p:cond delay="1320"/>
                                  </p:stCondLst>
                                  <p:childTnLst>
                                    <p:set>
                                      <p:cBhvr>
                                        <p:cTn id="103" dur="1" fill="hold">
                                          <p:stCondLst>
                                            <p:cond delay="0"/>
                                          </p:stCondLst>
                                        </p:cTn>
                                        <p:tgtEl>
                                          <p:spTgt spid="29"/>
                                        </p:tgtEl>
                                        <p:attrNameLst>
                                          <p:attrName>style.visibility</p:attrName>
                                        </p:attrNameLst>
                                      </p:cBhvr>
                                      <p:to>
                                        <p:strVal val="visible"/>
                                      </p:to>
                                    </p:set>
                                    <p:anim calcmode="lin" valueType="num">
                                      <p:cBhvr additive="base">
                                        <p:cTn id="104" dur="450" fill="hold"/>
                                        <p:tgtEl>
                                          <p:spTgt spid="29"/>
                                        </p:tgtEl>
                                        <p:attrNameLst>
                                          <p:attrName>ppt_x</p:attrName>
                                        </p:attrNameLst>
                                      </p:cBhvr>
                                      <p:tavLst>
                                        <p:tav tm="0">
                                          <p:val>
                                            <p:strVal val="#ppt_x"/>
                                          </p:val>
                                        </p:tav>
                                        <p:tav tm="100000">
                                          <p:val>
                                            <p:strVal val="#ppt_x"/>
                                          </p:val>
                                        </p:tav>
                                      </p:tavLst>
                                    </p:anim>
                                    <p:anim calcmode="lin" valueType="num">
                                      <p:cBhvr additive="base">
                                        <p:cTn id="105" dur="450" fill="hold"/>
                                        <p:tgtEl>
                                          <p:spTgt spid="29"/>
                                        </p:tgtEl>
                                        <p:attrNameLst>
                                          <p:attrName>ppt_y</p:attrName>
                                        </p:attrNameLst>
                                      </p:cBhvr>
                                      <p:tavLst>
                                        <p:tav tm="0">
                                          <p:val>
                                            <p:strVal val="1+#ppt_h/2"/>
                                          </p:val>
                                        </p:tav>
                                        <p:tav tm="100000">
                                          <p:val>
                                            <p:strVal val="#ppt_y"/>
                                          </p:val>
                                        </p:tav>
                                      </p:tavLst>
                                    </p:anim>
                                  </p:childTnLst>
                                </p:cTn>
                              </p:par>
                              <p:par>
                                <p:cTn id="110" presetID="2" presetClass="entr" presetSubtype="4" fill="hold" grpId="0" nodeType="withEffect">
                                  <p:stCondLst>
                                    <p:cond delay="1320"/>
                                  </p:stCondLst>
                                  <p:childTnLst>
                                    <p:set>
                                      <p:cBhvr>
                                        <p:cTn id="107" dur="1" fill="hold">
                                          <p:stCondLst>
                                            <p:cond delay="0"/>
                                          </p:stCondLst>
                                        </p:cTn>
                                        <p:tgtEl>
                                          <p:spTgt spid="30"/>
                                        </p:tgtEl>
                                        <p:attrNameLst>
                                          <p:attrName>style.visibility</p:attrName>
                                        </p:attrNameLst>
                                      </p:cBhvr>
                                      <p:to>
                                        <p:strVal val="visible"/>
                                      </p:to>
                                    </p:set>
                                    <p:anim calcmode="lin" valueType="num">
                                      <p:cBhvr additive="base">
                                        <p:cTn id="108" dur="450" fill="hold"/>
                                        <p:tgtEl>
                                          <p:spTgt spid="30"/>
                                        </p:tgtEl>
                                        <p:attrNameLst>
                                          <p:attrName>ppt_x</p:attrName>
                                        </p:attrNameLst>
                                      </p:cBhvr>
                                      <p:tavLst>
                                        <p:tav tm="0">
                                          <p:val>
                                            <p:strVal val="#ppt_x"/>
                                          </p:val>
                                        </p:tav>
                                        <p:tav tm="100000">
                                          <p:val>
                                            <p:strVal val="#ppt_x"/>
                                          </p:val>
                                        </p:tav>
                                      </p:tavLst>
                                    </p:anim>
                                    <p:anim calcmode="lin" valueType="num">
                                      <p:cBhvr additive="base">
                                        <p:cTn id="109" dur="450" fill="hold"/>
                                        <p:tgtEl>
                                          <p:spTgt spid="30"/>
                                        </p:tgtEl>
                                        <p:attrNameLst>
                                          <p:attrName>ppt_y</p:attrName>
                                        </p:attrNameLst>
                                      </p:cBhvr>
                                      <p:tavLst>
                                        <p:tav tm="0">
                                          <p:val>
                                            <p:strVal val="1+#ppt_h/2"/>
                                          </p:val>
                                        </p:tav>
                                        <p:tav tm="100000">
                                          <p:val>
                                            <p:strVal val="#ppt_y"/>
                                          </p:val>
                                        </p:tav>
                                      </p:tavLst>
                                    </p:anim>
                                  </p:childTnLst>
                                </p:cTn>
                              </p:par>
                              <p:par>
                                <p:cTn id="114" presetID="2" presetClass="entr" presetSubtype="4" fill="hold" grpId="0" nodeType="withEffect">
                                  <p:stCondLst>
                                    <p:cond delay="1320"/>
                                  </p:stCondLst>
                                  <p:childTnLst>
                                    <p:set>
                                      <p:cBhvr>
                                        <p:cTn id="111" dur="1" fill="hold">
                                          <p:stCondLst>
                                            <p:cond delay="0"/>
                                          </p:stCondLst>
                                        </p:cTn>
                                        <p:tgtEl>
                                          <p:spTgt spid="31"/>
                                        </p:tgtEl>
                                        <p:attrNameLst>
                                          <p:attrName>style.visibility</p:attrName>
                                        </p:attrNameLst>
                                      </p:cBhvr>
                                      <p:to>
                                        <p:strVal val="visible"/>
                                      </p:to>
                                    </p:set>
                                    <p:anim calcmode="lin" valueType="num">
                                      <p:cBhvr additive="base">
                                        <p:cTn id="112" dur="450" fill="hold"/>
                                        <p:tgtEl>
                                          <p:spTgt spid="31"/>
                                        </p:tgtEl>
                                        <p:attrNameLst>
                                          <p:attrName>ppt_x</p:attrName>
                                        </p:attrNameLst>
                                      </p:cBhvr>
                                      <p:tavLst>
                                        <p:tav tm="0">
                                          <p:val>
                                            <p:strVal val="#ppt_x"/>
                                          </p:val>
                                        </p:tav>
                                        <p:tav tm="100000">
                                          <p:val>
                                            <p:strVal val="#ppt_x"/>
                                          </p:val>
                                        </p:tav>
                                      </p:tavLst>
                                    </p:anim>
                                    <p:anim calcmode="lin" valueType="num">
                                      <p:cBhvr additive="base">
                                        <p:cTn id="113" dur="450" fill="hold"/>
                                        <p:tgtEl>
                                          <p:spTgt spid="31"/>
                                        </p:tgtEl>
                                        <p:attrNameLst>
                                          <p:attrName>ppt_y</p:attrName>
                                        </p:attrNameLst>
                                      </p:cBhvr>
                                      <p:tavLst>
                                        <p:tav tm="0">
                                          <p:val>
                                            <p:strVal val="1+#ppt_h/2"/>
                                          </p:val>
                                        </p:tav>
                                        <p:tav tm="100000">
                                          <p:val>
                                            <p:strVal val="#ppt_y"/>
                                          </p:val>
                                        </p:tav>
                                      </p:tavLst>
                                    </p:anim>
                                  </p:childTnLst>
                                </p:cTn>
                              </p:par>
                              <p:par>
                                <p:cTn id="118" presetID="2" presetClass="entr" presetSubtype="4" fill="hold" grpId="0" nodeType="withEffect">
                                  <p:stCondLst>
                                    <p:cond delay="1540"/>
                                  </p:stCondLst>
                                  <p:childTnLst>
                                    <p:set>
                                      <p:cBhvr>
                                        <p:cTn id="115" dur="1" fill="hold">
                                          <p:stCondLst>
                                            <p:cond delay="0"/>
                                          </p:stCondLst>
                                        </p:cTn>
                                        <p:tgtEl>
                                          <p:spTgt spid="32"/>
                                        </p:tgtEl>
                                        <p:attrNameLst>
                                          <p:attrName>style.visibility</p:attrName>
                                        </p:attrNameLst>
                                      </p:cBhvr>
                                      <p:to>
                                        <p:strVal val="visible"/>
                                      </p:to>
                                    </p:set>
                                    <p:anim calcmode="lin" valueType="num">
                                      <p:cBhvr additive="base">
                                        <p:cTn id="116" dur="450" fill="hold"/>
                                        <p:tgtEl>
                                          <p:spTgt spid="32"/>
                                        </p:tgtEl>
                                        <p:attrNameLst>
                                          <p:attrName>ppt_x</p:attrName>
                                        </p:attrNameLst>
                                      </p:cBhvr>
                                      <p:tavLst>
                                        <p:tav tm="0">
                                          <p:val>
                                            <p:strVal val="#ppt_x"/>
                                          </p:val>
                                        </p:tav>
                                        <p:tav tm="100000">
                                          <p:val>
                                            <p:strVal val="#ppt_x"/>
                                          </p:val>
                                        </p:tav>
                                      </p:tavLst>
                                    </p:anim>
                                    <p:anim calcmode="lin" valueType="num">
                                      <p:cBhvr additive="base">
                                        <p:cTn id="117" dur="450" fill="hold"/>
                                        <p:tgtEl>
                                          <p:spTgt spid="32"/>
                                        </p:tgtEl>
                                        <p:attrNameLst>
                                          <p:attrName>ppt_y</p:attrName>
                                        </p:attrNameLst>
                                      </p:cBhvr>
                                      <p:tavLst>
                                        <p:tav tm="0">
                                          <p:val>
                                            <p:strVal val="1+#ppt_h/2"/>
                                          </p:val>
                                        </p:tav>
                                        <p:tav tm="100000">
                                          <p:val>
                                            <p:strVal val="#ppt_y"/>
                                          </p:val>
                                        </p:tav>
                                      </p:tavLst>
                                    </p:anim>
                                  </p:childTnLst>
                                </p:cTn>
                              </p:par>
                              <p:par>
                                <p:cTn id="122" presetID="2" presetClass="entr" presetSubtype="4" fill="hold" grpId="0" nodeType="withEffect">
                                  <p:stCondLst>
                                    <p:cond delay="1540"/>
                                  </p:stCondLst>
                                  <p:childTnLst>
                                    <p:set>
                                      <p:cBhvr>
                                        <p:cTn id="119" dur="1" fill="hold">
                                          <p:stCondLst>
                                            <p:cond delay="0"/>
                                          </p:stCondLst>
                                        </p:cTn>
                                        <p:tgtEl>
                                          <p:spTgt spid="33"/>
                                        </p:tgtEl>
                                        <p:attrNameLst>
                                          <p:attrName>style.visibility</p:attrName>
                                        </p:attrNameLst>
                                      </p:cBhvr>
                                      <p:to>
                                        <p:strVal val="visible"/>
                                      </p:to>
                                    </p:set>
                                    <p:anim calcmode="lin" valueType="num">
                                      <p:cBhvr additive="base">
                                        <p:cTn id="120" dur="450" fill="hold"/>
                                        <p:tgtEl>
                                          <p:spTgt spid="33"/>
                                        </p:tgtEl>
                                        <p:attrNameLst>
                                          <p:attrName>ppt_x</p:attrName>
                                        </p:attrNameLst>
                                      </p:cBhvr>
                                      <p:tavLst>
                                        <p:tav tm="0">
                                          <p:val>
                                            <p:strVal val="#ppt_x"/>
                                          </p:val>
                                        </p:tav>
                                        <p:tav tm="100000">
                                          <p:val>
                                            <p:strVal val="#ppt_x"/>
                                          </p:val>
                                        </p:tav>
                                      </p:tavLst>
                                    </p:anim>
                                    <p:anim calcmode="lin" valueType="num">
                                      <p:cBhvr additive="base">
                                        <p:cTn id="121" dur="450" fill="hold"/>
                                        <p:tgtEl>
                                          <p:spTgt spid="33"/>
                                        </p:tgtEl>
                                        <p:attrNameLst>
                                          <p:attrName>ppt_y</p:attrName>
                                        </p:attrNameLst>
                                      </p:cBhvr>
                                      <p:tavLst>
                                        <p:tav tm="0">
                                          <p:val>
                                            <p:strVal val="1+#ppt_h/2"/>
                                          </p:val>
                                        </p:tav>
                                        <p:tav tm="100000">
                                          <p:val>
                                            <p:strVal val="#ppt_y"/>
                                          </p:val>
                                        </p:tav>
                                      </p:tavLst>
                                    </p:anim>
                                  </p:childTnLst>
                                </p:cTn>
                              </p:par>
                              <p:par>
                                <p:cTn id="126" presetID="2" presetClass="entr" presetSubtype="4" fill="hold" grpId="0" nodeType="withEffect">
                                  <p:stCondLst>
                                    <p:cond delay="1540"/>
                                  </p:stCondLst>
                                  <p:childTnLst>
                                    <p:set>
                                      <p:cBhvr>
                                        <p:cTn id="123" dur="1" fill="hold">
                                          <p:stCondLst>
                                            <p:cond delay="0"/>
                                          </p:stCondLst>
                                        </p:cTn>
                                        <p:tgtEl>
                                          <p:spTgt spid="34"/>
                                        </p:tgtEl>
                                        <p:attrNameLst>
                                          <p:attrName>style.visibility</p:attrName>
                                        </p:attrNameLst>
                                      </p:cBhvr>
                                      <p:to>
                                        <p:strVal val="visible"/>
                                      </p:to>
                                    </p:set>
                                    <p:anim calcmode="lin" valueType="num">
                                      <p:cBhvr additive="base">
                                        <p:cTn id="124" dur="450" fill="hold"/>
                                        <p:tgtEl>
                                          <p:spTgt spid="34"/>
                                        </p:tgtEl>
                                        <p:attrNameLst>
                                          <p:attrName>ppt_x</p:attrName>
                                        </p:attrNameLst>
                                      </p:cBhvr>
                                      <p:tavLst>
                                        <p:tav tm="0">
                                          <p:val>
                                            <p:strVal val="#ppt_x"/>
                                          </p:val>
                                        </p:tav>
                                        <p:tav tm="100000">
                                          <p:val>
                                            <p:strVal val="#ppt_x"/>
                                          </p:val>
                                        </p:tav>
                                      </p:tavLst>
                                    </p:anim>
                                    <p:anim calcmode="lin" valueType="num">
                                      <p:cBhvr additive="base">
                                        <p:cTn id="125" dur="450" fill="hold"/>
                                        <p:tgtEl>
                                          <p:spTgt spid="34"/>
                                        </p:tgtEl>
                                        <p:attrNameLst>
                                          <p:attrName>ppt_y</p:attrName>
                                        </p:attrNameLst>
                                      </p:cBhvr>
                                      <p:tavLst>
                                        <p:tav tm="0">
                                          <p:val>
                                            <p:strVal val="1+#ppt_h/2"/>
                                          </p:val>
                                        </p:tav>
                                        <p:tav tm="100000">
                                          <p:val>
                                            <p:strVal val="#ppt_y"/>
                                          </p:val>
                                        </p:tav>
                                      </p:tavLst>
                                    </p:anim>
                                  </p:childTnLst>
                                </p:cTn>
                              </p:par>
                              <p:par>
                                <p:cTn id="130" presetID="2" presetClass="entr" presetSubtype="4" fill="hold" grpId="0" nodeType="withEffect">
                                  <p:stCondLst>
                                    <p:cond delay="1540"/>
                                  </p:stCondLst>
                                  <p:childTnLst>
                                    <p:set>
                                      <p:cBhvr>
                                        <p:cTn id="127" dur="1" fill="hold">
                                          <p:stCondLst>
                                            <p:cond delay="0"/>
                                          </p:stCondLst>
                                        </p:cTn>
                                        <p:tgtEl>
                                          <p:spTgt spid="35"/>
                                        </p:tgtEl>
                                        <p:attrNameLst>
                                          <p:attrName>style.visibility</p:attrName>
                                        </p:attrNameLst>
                                      </p:cBhvr>
                                      <p:to>
                                        <p:strVal val="visible"/>
                                      </p:to>
                                    </p:set>
                                    <p:anim calcmode="lin" valueType="num">
                                      <p:cBhvr additive="base">
                                        <p:cTn id="128" dur="450" fill="hold"/>
                                        <p:tgtEl>
                                          <p:spTgt spid="35"/>
                                        </p:tgtEl>
                                        <p:attrNameLst>
                                          <p:attrName>ppt_x</p:attrName>
                                        </p:attrNameLst>
                                      </p:cBhvr>
                                      <p:tavLst>
                                        <p:tav tm="0">
                                          <p:val>
                                            <p:strVal val="#ppt_x"/>
                                          </p:val>
                                        </p:tav>
                                        <p:tav tm="100000">
                                          <p:val>
                                            <p:strVal val="#ppt_x"/>
                                          </p:val>
                                        </p:tav>
                                      </p:tavLst>
                                    </p:anim>
                                    <p:anim calcmode="lin" valueType="num">
                                      <p:cBhvr additive="base">
                                        <p:cTn id="129" dur="450" fill="hold"/>
                                        <p:tgtEl>
                                          <p:spTgt spid="35"/>
                                        </p:tgtEl>
                                        <p:attrNameLst>
                                          <p:attrName>ppt_y</p:attrName>
                                        </p:attrNameLst>
                                      </p:cBhvr>
                                      <p:tavLst>
                                        <p:tav tm="0">
                                          <p:val>
                                            <p:strVal val="1+#ppt_h/2"/>
                                          </p:val>
                                        </p:tav>
                                        <p:tav tm="100000">
                                          <p:val>
                                            <p:strVal val="#ppt_y"/>
                                          </p:val>
                                        </p:tav>
                                      </p:tavLst>
                                    </p:anim>
                                  </p:childTnLst>
                                </p:cTn>
                              </p:par>
                              <p:par>
                                <p:cTn id="134" presetID="2" presetClass="entr" presetSubtype="4" fill="hold" grpId="0" nodeType="withEffect">
                                  <p:stCondLst>
                                    <p:cond delay="1760"/>
                                  </p:stCondLst>
                                  <p:childTnLst>
                                    <p:set>
                                      <p:cBhvr>
                                        <p:cTn id="131" dur="1" fill="hold">
                                          <p:stCondLst>
                                            <p:cond delay="0"/>
                                          </p:stCondLst>
                                        </p:cTn>
                                        <p:tgtEl>
                                          <p:spTgt spid="36"/>
                                        </p:tgtEl>
                                        <p:attrNameLst>
                                          <p:attrName>style.visibility</p:attrName>
                                        </p:attrNameLst>
                                      </p:cBhvr>
                                      <p:to>
                                        <p:strVal val="visible"/>
                                      </p:to>
                                    </p:set>
                                    <p:anim calcmode="lin" valueType="num">
                                      <p:cBhvr additive="base">
                                        <p:cTn id="132" dur="450" fill="hold"/>
                                        <p:tgtEl>
                                          <p:spTgt spid="36"/>
                                        </p:tgtEl>
                                        <p:attrNameLst>
                                          <p:attrName>ppt_x</p:attrName>
                                        </p:attrNameLst>
                                      </p:cBhvr>
                                      <p:tavLst>
                                        <p:tav tm="0">
                                          <p:val>
                                            <p:strVal val="#ppt_x"/>
                                          </p:val>
                                        </p:tav>
                                        <p:tav tm="100000">
                                          <p:val>
                                            <p:strVal val="#ppt_x"/>
                                          </p:val>
                                        </p:tav>
                                      </p:tavLst>
                                    </p:anim>
                                    <p:anim calcmode="lin" valueType="num">
                                      <p:cBhvr additive="base">
                                        <p:cTn id="133" dur="450" fill="hold"/>
                                        <p:tgtEl>
                                          <p:spTgt spid="36"/>
                                        </p:tgtEl>
                                        <p:attrNameLst>
                                          <p:attrName>ppt_y</p:attrName>
                                        </p:attrNameLst>
                                      </p:cBhvr>
                                      <p:tavLst>
                                        <p:tav tm="0">
                                          <p:val>
                                            <p:strVal val="1+#ppt_h/2"/>
                                          </p:val>
                                        </p:tav>
                                        <p:tav tm="100000">
                                          <p:val>
                                            <p:strVal val="#ppt_y"/>
                                          </p:val>
                                        </p:tav>
                                      </p:tavLst>
                                    </p:anim>
                                  </p:childTnLst>
                                </p:cTn>
                              </p:par>
                              <p:par>
                                <p:cTn id="138" presetID="2" presetClass="entr" presetSubtype="4" fill="hold" grpId="0" nodeType="withEffect">
                                  <p:stCondLst>
                                    <p:cond delay="1760"/>
                                  </p:stCondLst>
                                  <p:childTnLst>
                                    <p:set>
                                      <p:cBhvr>
                                        <p:cTn id="135" dur="1" fill="hold">
                                          <p:stCondLst>
                                            <p:cond delay="0"/>
                                          </p:stCondLst>
                                        </p:cTn>
                                        <p:tgtEl>
                                          <p:spTgt spid="37"/>
                                        </p:tgtEl>
                                        <p:attrNameLst>
                                          <p:attrName>style.visibility</p:attrName>
                                        </p:attrNameLst>
                                      </p:cBhvr>
                                      <p:to>
                                        <p:strVal val="visible"/>
                                      </p:to>
                                    </p:set>
                                    <p:anim calcmode="lin" valueType="num">
                                      <p:cBhvr additive="base">
                                        <p:cTn id="136" dur="450" fill="hold"/>
                                        <p:tgtEl>
                                          <p:spTgt spid="37"/>
                                        </p:tgtEl>
                                        <p:attrNameLst>
                                          <p:attrName>ppt_x</p:attrName>
                                        </p:attrNameLst>
                                      </p:cBhvr>
                                      <p:tavLst>
                                        <p:tav tm="0">
                                          <p:val>
                                            <p:strVal val="#ppt_x"/>
                                          </p:val>
                                        </p:tav>
                                        <p:tav tm="100000">
                                          <p:val>
                                            <p:strVal val="#ppt_x"/>
                                          </p:val>
                                        </p:tav>
                                      </p:tavLst>
                                    </p:anim>
                                    <p:anim calcmode="lin" valueType="num">
                                      <p:cBhvr additive="base">
                                        <p:cTn id="137" dur="450" fill="hold"/>
                                        <p:tgtEl>
                                          <p:spTgt spid="37"/>
                                        </p:tgtEl>
                                        <p:attrNameLst>
                                          <p:attrName>ppt_y</p:attrName>
                                        </p:attrNameLst>
                                      </p:cBhvr>
                                      <p:tavLst>
                                        <p:tav tm="0">
                                          <p:val>
                                            <p:strVal val="1+#ppt_h/2"/>
                                          </p:val>
                                        </p:tav>
                                        <p:tav tm="100000">
                                          <p:val>
                                            <p:strVal val="#ppt_y"/>
                                          </p:val>
                                        </p:tav>
                                      </p:tavLst>
                                    </p:anim>
                                  </p:childTnLst>
                                </p:cTn>
                              </p:par>
                              <p:par>
                                <p:cTn id="142" presetID="2" presetClass="entr" presetSubtype="4" fill="hold" grpId="0" nodeType="withEffect">
                                  <p:stCondLst>
                                    <p:cond delay="1760"/>
                                  </p:stCondLst>
                                  <p:childTnLst>
                                    <p:set>
                                      <p:cBhvr>
                                        <p:cTn id="139" dur="1" fill="hold">
                                          <p:stCondLst>
                                            <p:cond delay="0"/>
                                          </p:stCondLst>
                                        </p:cTn>
                                        <p:tgtEl>
                                          <p:spTgt spid="38"/>
                                        </p:tgtEl>
                                        <p:attrNameLst>
                                          <p:attrName>style.visibility</p:attrName>
                                        </p:attrNameLst>
                                      </p:cBhvr>
                                      <p:to>
                                        <p:strVal val="visible"/>
                                      </p:to>
                                    </p:set>
                                    <p:anim calcmode="lin" valueType="num">
                                      <p:cBhvr additive="base">
                                        <p:cTn id="140" dur="450" fill="hold"/>
                                        <p:tgtEl>
                                          <p:spTgt spid="38"/>
                                        </p:tgtEl>
                                        <p:attrNameLst>
                                          <p:attrName>ppt_x</p:attrName>
                                        </p:attrNameLst>
                                      </p:cBhvr>
                                      <p:tavLst>
                                        <p:tav tm="0">
                                          <p:val>
                                            <p:strVal val="#ppt_x"/>
                                          </p:val>
                                        </p:tav>
                                        <p:tav tm="100000">
                                          <p:val>
                                            <p:strVal val="#ppt_x"/>
                                          </p:val>
                                        </p:tav>
                                      </p:tavLst>
                                    </p:anim>
                                    <p:anim calcmode="lin" valueType="num">
                                      <p:cBhvr additive="base">
                                        <p:cTn id="141" dur="450" fill="hold"/>
                                        <p:tgtEl>
                                          <p:spTgt spid="38"/>
                                        </p:tgtEl>
                                        <p:attrNameLst>
                                          <p:attrName>ppt_y</p:attrName>
                                        </p:attrNameLst>
                                      </p:cBhvr>
                                      <p:tavLst>
                                        <p:tav tm="0">
                                          <p:val>
                                            <p:strVal val="1+#ppt_h/2"/>
                                          </p:val>
                                        </p:tav>
                                        <p:tav tm="100000">
                                          <p:val>
                                            <p:strVal val="#ppt_y"/>
                                          </p:val>
                                        </p:tav>
                                      </p:tavLst>
                                    </p:anim>
                                  </p:childTnLst>
                                </p:cTn>
                              </p:par>
                              <p:par>
                                <p:cTn id="146" presetID="2" presetClass="entr" presetSubtype="4" fill="hold" grpId="0" nodeType="withEffect">
                                  <p:stCondLst>
                                    <p:cond delay="1760"/>
                                  </p:stCondLst>
                                  <p:childTnLst>
                                    <p:set>
                                      <p:cBhvr>
                                        <p:cTn id="143" dur="1" fill="hold">
                                          <p:stCondLst>
                                            <p:cond delay="0"/>
                                          </p:stCondLst>
                                        </p:cTn>
                                        <p:tgtEl>
                                          <p:spTgt spid="39"/>
                                        </p:tgtEl>
                                        <p:attrNameLst>
                                          <p:attrName>style.visibility</p:attrName>
                                        </p:attrNameLst>
                                      </p:cBhvr>
                                      <p:to>
                                        <p:strVal val="visible"/>
                                      </p:to>
                                    </p:set>
                                    <p:anim calcmode="lin" valueType="num">
                                      <p:cBhvr additive="base">
                                        <p:cTn id="144" dur="450" fill="hold"/>
                                        <p:tgtEl>
                                          <p:spTgt spid="39"/>
                                        </p:tgtEl>
                                        <p:attrNameLst>
                                          <p:attrName>ppt_x</p:attrName>
                                        </p:attrNameLst>
                                      </p:cBhvr>
                                      <p:tavLst>
                                        <p:tav tm="0">
                                          <p:val>
                                            <p:strVal val="#ppt_x"/>
                                          </p:val>
                                        </p:tav>
                                        <p:tav tm="100000">
                                          <p:val>
                                            <p:strVal val="#ppt_x"/>
                                          </p:val>
                                        </p:tav>
                                      </p:tavLst>
                                    </p:anim>
                                    <p:anim calcmode="lin" valueType="num">
                                      <p:cBhvr additive="base">
                                        <p:cTn id="145" dur="450" fill="hold"/>
                                        <p:tgtEl>
                                          <p:spTgt spid="39"/>
                                        </p:tgtEl>
                                        <p:attrNameLst>
                                          <p:attrName>ppt_y</p:attrName>
                                        </p:attrNameLst>
                                      </p:cBhvr>
                                      <p:tavLst>
                                        <p:tav tm="0">
                                          <p:val>
                                            <p:strVal val="1+#ppt_h/2"/>
                                          </p:val>
                                        </p:tav>
                                        <p:tav tm="100000">
                                          <p:val>
                                            <p:strVal val="#ppt_y"/>
                                          </p:val>
                                        </p:tav>
                                      </p:tavLst>
                                    </p:anim>
                                  </p:childTnLst>
                                </p:cTn>
                              </p:par>
                              <p:par>
                                <p:cTn id="150" presetID="2" presetClass="entr" presetSubtype="4" fill="hold" grpId="0" nodeType="withEffect">
                                  <p:stCondLst>
                                    <p:cond delay="1980"/>
                                  </p:stCondLst>
                                  <p:childTnLst>
                                    <p:set>
                                      <p:cBhvr>
                                        <p:cTn id="147" dur="1" fill="hold">
                                          <p:stCondLst>
                                            <p:cond delay="0"/>
                                          </p:stCondLst>
                                        </p:cTn>
                                        <p:tgtEl>
                                          <p:spTgt spid="40"/>
                                        </p:tgtEl>
                                        <p:attrNameLst>
                                          <p:attrName>style.visibility</p:attrName>
                                        </p:attrNameLst>
                                      </p:cBhvr>
                                      <p:to>
                                        <p:strVal val="visible"/>
                                      </p:to>
                                    </p:set>
                                    <p:anim calcmode="lin" valueType="num">
                                      <p:cBhvr additive="base">
                                        <p:cTn id="148" dur="450" fill="hold"/>
                                        <p:tgtEl>
                                          <p:spTgt spid="40"/>
                                        </p:tgtEl>
                                        <p:attrNameLst>
                                          <p:attrName>ppt_x</p:attrName>
                                        </p:attrNameLst>
                                      </p:cBhvr>
                                      <p:tavLst>
                                        <p:tav tm="0">
                                          <p:val>
                                            <p:strVal val="#ppt_x"/>
                                          </p:val>
                                        </p:tav>
                                        <p:tav tm="100000">
                                          <p:val>
                                            <p:strVal val="#ppt_x"/>
                                          </p:val>
                                        </p:tav>
                                      </p:tavLst>
                                    </p:anim>
                                    <p:anim calcmode="lin" valueType="num">
                                      <p:cBhvr additive="base">
                                        <p:cTn id="149" dur="450" fill="hold"/>
                                        <p:tgtEl>
                                          <p:spTgt spid="40"/>
                                        </p:tgtEl>
                                        <p:attrNameLst>
                                          <p:attrName>ppt_y</p:attrName>
                                        </p:attrNameLst>
                                      </p:cBhvr>
                                      <p:tavLst>
                                        <p:tav tm="0">
                                          <p:val>
                                            <p:strVal val="1+#ppt_h/2"/>
                                          </p:val>
                                        </p:tav>
                                        <p:tav tm="100000">
                                          <p:val>
                                            <p:strVal val="#ppt_y"/>
                                          </p:val>
                                        </p:tav>
                                      </p:tavLst>
                                    </p:anim>
                                  </p:childTnLst>
                                </p:cTn>
                              </p:par>
                              <p:par>
                                <p:cTn id="154" presetID="2" presetClass="entr" presetSubtype="4" fill="hold" grpId="0" nodeType="withEffect">
                                  <p:stCondLst>
                                    <p:cond delay="1980"/>
                                  </p:stCondLst>
                                  <p:childTnLst>
                                    <p:set>
                                      <p:cBhvr>
                                        <p:cTn id="151" dur="1" fill="hold">
                                          <p:stCondLst>
                                            <p:cond delay="0"/>
                                          </p:stCondLst>
                                        </p:cTn>
                                        <p:tgtEl>
                                          <p:spTgt spid="41"/>
                                        </p:tgtEl>
                                        <p:attrNameLst>
                                          <p:attrName>style.visibility</p:attrName>
                                        </p:attrNameLst>
                                      </p:cBhvr>
                                      <p:to>
                                        <p:strVal val="visible"/>
                                      </p:to>
                                    </p:set>
                                    <p:anim calcmode="lin" valueType="num">
                                      <p:cBhvr additive="base">
                                        <p:cTn id="152" dur="450" fill="hold"/>
                                        <p:tgtEl>
                                          <p:spTgt spid="41"/>
                                        </p:tgtEl>
                                        <p:attrNameLst>
                                          <p:attrName>ppt_x</p:attrName>
                                        </p:attrNameLst>
                                      </p:cBhvr>
                                      <p:tavLst>
                                        <p:tav tm="0">
                                          <p:val>
                                            <p:strVal val="#ppt_x"/>
                                          </p:val>
                                        </p:tav>
                                        <p:tav tm="100000">
                                          <p:val>
                                            <p:strVal val="#ppt_x"/>
                                          </p:val>
                                        </p:tav>
                                      </p:tavLst>
                                    </p:anim>
                                    <p:anim calcmode="lin" valueType="num">
                                      <p:cBhvr additive="base">
                                        <p:cTn id="153" dur="450" fill="hold"/>
                                        <p:tgtEl>
                                          <p:spTgt spid="41"/>
                                        </p:tgtEl>
                                        <p:attrNameLst>
                                          <p:attrName>ppt_y</p:attrName>
                                        </p:attrNameLst>
                                      </p:cBhvr>
                                      <p:tavLst>
                                        <p:tav tm="0">
                                          <p:val>
                                            <p:strVal val="1+#ppt_h/2"/>
                                          </p:val>
                                        </p:tav>
                                        <p:tav tm="100000">
                                          <p:val>
                                            <p:strVal val="#ppt_y"/>
                                          </p:val>
                                        </p:tav>
                                      </p:tavLst>
                                    </p:anim>
                                  </p:childTnLst>
                                </p:cTn>
                              </p:par>
                              <p:par>
                                <p:cTn id="158" presetID="2" presetClass="entr" presetSubtype="4" fill="hold" grpId="0" nodeType="withEffect">
                                  <p:stCondLst>
                                    <p:cond delay="1980"/>
                                  </p:stCondLst>
                                  <p:childTnLst>
                                    <p:set>
                                      <p:cBhvr>
                                        <p:cTn id="155" dur="1" fill="hold">
                                          <p:stCondLst>
                                            <p:cond delay="0"/>
                                          </p:stCondLst>
                                        </p:cTn>
                                        <p:tgtEl>
                                          <p:spTgt spid="42"/>
                                        </p:tgtEl>
                                        <p:attrNameLst>
                                          <p:attrName>style.visibility</p:attrName>
                                        </p:attrNameLst>
                                      </p:cBhvr>
                                      <p:to>
                                        <p:strVal val="visible"/>
                                      </p:to>
                                    </p:set>
                                    <p:anim calcmode="lin" valueType="num">
                                      <p:cBhvr additive="base">
                                        <p:cTn id="156" dur="450" fill="hold"/>
                                        <p:tgtEl>
                                          <p:spTgt spid="42"/>
                                        </p:tgtEl>
                                        <p:attrNameLst>
                                          <p:attrName>ppt_x</p:attrName>
                                        </p:attrNameLst>
                                      </p:cBhvr>
                                      <p:tavLst>
                                        <p:tav tm="0">
                                          <p:val>
                                            <p:strVal val="#ppt_x"/>
                                          </p:val>
                                        </p:tav>
                                        <p:tav tm="100000">
                                          <p:val>
                                            <p:strVal val="#ppt_x"/>
                                          </p:val>
                                        </p:tav>
                                      </p:tavLst>
                                    </p:anim>
                                    <p:anim calcmode="lin" valueType="num">
                                      <p:cBhvr additive="base">
                                        <p:cTn id="157" dur="450" fill="hold"/>
                                        <p:tgtEl>
                                          <p:spTgt spid="42"/>
                                        </p:tgtEl>
                                        <p:attrNameLst>
                                          <p:attrName>ppt_y</p:attrName>
                                        </p:attrNameLst>
                                      </p:cBhvr>
                                      <p:tavLst>
                                        <p:tav tm="0">
                                          <p:val>
                                            <p:strVal val="1+#ppt_h/2"/>
                                          </p:val>
                                        </p:tav>
                                        <p:tav tm="100000">
                                          <p:val>
                                            <p:strVal val="#ppt_y"/>
                                          </p:val>
                                        </p:tav>
                                      </p:tavLst>
                                    </p:anim>
                                  </p:childTnLst>
                                </p:cTn>
                              </p:par>
                              <p:par>
                                <p:cTn id="162" presetID="2" presetClass="entr" presetSubtype="4" fill="hold" grpId="0" nodeType="withEffect">
                                  <p:stCondLst>
                                    <p:cond delay="1980"/>
                                  </p:stCondLst>
                                  <p:childTnLst>
                                    <p:set>
                                      <p:cBhvr>
                                        <p:cTn id="159" dur="1" fill="hold">
                                          <p:stCondLst>
                                            <p:cond delay="0"/>
                                          </p:stCondLst>
                                        </p:cTn>
                                        <p:tgtEl>
                                          <p:spTgt spid="43"/>
                                        </p:tgtEl>
                                        <p:attrNameLst>
                                          <p:attrName>style.visibility</p:attrName>
                                        </p:attrNameLst>
                                      </p:cBhvr>
                                      <p:to>
                                        <p:strVal val="visible"/>
                                      </p:to>
                                    </p:set>
                                    <p:anim calcmode="lin" valueType="num">
                                      <p:cBhvr additive="base">
                                        <p:cTn id="160" dur="450" fill="hold"/>
                                        <p:tgtEl>
                                          <p:spTgt spid="43"/>
                                        </p:tgtEl>
                                        <p:attrNameLst>
                                          <p:attrName>ppt_x</p:attrName>
                                        </p:attrNameLst>
                                      </p:cBhvr>
                                      <p:tavLst>
                                        <p:tav tm="0">
                                          <p:val>
                                            <p:strVal val="#ppt_x"/>
                                          </p:val>
                                        </p:tav>
                                        <p:tav tm="100000">
                                          <p:val>
                                            <p:strVal val="#ppt_x"/>
                                          </p:val>
                                        </p:tav>
                                      </p:tavLst>
                                    </p:anim>
                                    <p:anim calcmode="lin" valueType="num">
                                      <p:cBhvr additive="base">
                                        <p:cTn id="161" dur="450" fill="hold"/>
                                        <p:tgtEl>
                                          <p:spTgt spid="43"/>
                                        </p:tgtEl>
                                        <p:attrNameLst>
                                          <p:attrName>ppt_y</p:attrName>
                                        </p:attrNameLst>
                                      </p:cBhvr>
                                      <p:tavLst>
                                        <p:tav tm="0">
                                          <p:val>
                                            <p:strVal val="1+#ppt_h/2"/>
                                          </p:val>
                                        </p:tav>
                                        <p:tav tm="100000">
                                          <p:val>
                                            <p:strVal val="#ppt_y"/>
                                          </p:val>
                                        </p:tav>
                                      </p:tavLst>
                                    </p:anim>
                                  </p:childTnLst>
                                </p:cTn>
                              </p:par>
                              <p:par>
                                <p:cTn id="167" presetID="53" presetClass="entr" presetSubtype="16" fill="hold" grpId="0" nodeType="withEffect">
                                  <p:stCondLst>
                                    <p:cond delay="2400"/>
                                  </p:stCondLst>
                                  <p:childTnLst>
                                    <p:set>
                                      <p:cBhvr>
                                        <p:cTn id="163" dur="1" fill="hold">
                                          <p:stCondLst>
                                            <p:cond delay="0"/>
                                          </p:stCondLst>
                                        </p:cTn>
                                        <p:tgtEl>
                                          <p:spTgt spid="44"/>
                                        </p:tgtEl>
                                        <p:attrNameLst>
                                          <p:attrName>style.visibility</p:attrName>
                                        </p:attrNameLst>
                                      </p:cBhvr>
                                      <p:to>
                                        <p:strVal val="visible"/>
                                      </p:to>
                                    </p:set>
                                    <p:anim calcmode="lin" valueType="num">
                                      <p:cBhvr additive="base">
                                        <p:cTn id="164" dur="500" fill="hold"/>
                                        <p:tgtEl>
                                          <p:spTgt spid="44"/>
                                        </p:tgtEl>
                                        <p:attrNameLst>
                                          <p:attrName>ppt_w</p:attrName>
                                        </p:attrNameLst>
                                      </p:cBhvr>
                                      <p:tavLst>
                                        <p:tav tm="0">
                                          <p:val>
                                            <p:fltVal val="0"/>
                                          </p:val>
                                        </p:tav>
                                        <p:tav tm="100000">
                                          <p:val>
                                            <p:strVal val="#ppt_w"/>
                                          </p:val>
                                        </p:tav>
                                      </p:tavLst>
                                    </p:anim>
                                    <p:anim calcmode="lin" valueType="num">
                                      <p:cBhvr additive="base">
                                        <p:cTn id="165" dur="500" fill="hold"/>
                                        <p:tgtEl>
                                          <p:spTgt spid="44"/>
                                        </p:tgtEl>
                                        <p:attrNameLst>
                                          <p:attrName>ppt_h</p:attrName>
                                        </p:attrNameLst>
                                      </p:cBhvr>
                                      <p:tavLst>
                                        <p:tav tm="0">
                                          <p:val>
                                            <p:fltVal val="0"/>
                                          </p:val>
                                        </p:tav>
                                        <p:tav tm="100000">
                                          <p:val>
                                            <p:strVal val="#ppt_h"/>
                                          </p:val>
                                        </p:tav>
                                      </p:tavLst>
                                    </p:anim>
                                    <p:animEffect transition="in" filter="fade">
                                      <p:cBhvr>
                                        <p:cTn id="166" dur="500"/>
                                        <p:tgtEl>
                                          <p:spTgt spid="44"/>
                                        </p:tgtEl>
                                      </p:cBhvr>
                                    </p:animEffect>
                                  </p:childTnLst>
                                </p:cTn>
                              </p:par>
                              <p:par>
                                <p:cTn id="170" presetID="10" presetClass="entr" presetSubtype="0" fill="hold" nodeType="withEffect">
                                  <p:stCondLst>
                                    <p:cond delay="2400"/>
                                  </p:stCondLst>
                                  <p:childTnLst>
                                    <p:set>
                                      <p:cBhvr>
                                        <p:cTn id="168" dur="1" fill="hold">
                                          <p:stCondLst>
                                            <p:cond delay="0"/>
                                          </p:stCondLst>
                                        </p:cTn>
                                        <p:tgtEl>
                                          <p:spTgt spid="45"/>
                                        </p:tgtEl>
                                        <p:attrNameLst>
                                          <p:attrName>style.visibility</p:attrName>
                                        </p:attrNameLst>
                                      </p:cBhvr>
                                      <p:to>
                                        <p:strVal val="visible"/>
                                      </p:to>
                                    </p:set>
                                    <p:animEffect transition="in" filter="fade">
                                      <p:cBhvr>
                                        <p:cTn id="169" dur="400"/>
                                        <p:tgtEl>
                                          <p:spTgt spid="45"/>
                                        </p:tgtEl>
                                      </p:cBhvr>
                                    </p:animEffect>
                                  </p:childTnLst>
                                </p:cTn>
                              </p:par>
                              <p:par>
                                <p:cTn id="172" presetID="0" presetClass="path" presetSubtype="0" fill="hold" nodeType="withEffect">
                                  <p:stCondLst>
                                    <p:cond delay="3000"/>
                                  </p:stCondLst>
                                  <p:childTnLst>
                                    <p:animMotion origin="layout" path="M 0 0 L 0.04 0 E" pathEditMode="relative">
                                      <p:cBhvr>
                                        <p:cTn id="171" dur="3000" fill="hold"/>
                                        <p:tgtEl>
                                          <p:spTgt spid="45"/>
                                        </p:tgtEl>
                                        <p:attrNameLst>
                                          <p:attrName>ppt_x</p:attrName>
                                          <p:attrName>ppt_y</p:attrName>
                                        </p:attrNameLst>
                                      </p:cBhvr>
                                      <p:rCtr x="0.02"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Warm-up: spot the bug #1</a:t>
            </a:r>
            <a:endParaRPr lang="en-US" sz="3000" dirty="0"/>
          </a:p>
        </p:txBody>
      </p:sp>
      <p:sp>
        <p:nvSpPr>
          <p:cNvPr id="4" name="Quiz code"/>
          <p:cNvSpPr/>
          <p:nvPr/>
        </p:nvSpPr>
        <p:spPr>
          <a:xfrm>
            <a:off x="457200" y="1280160"/>
            <a:ext cx="5120640" cy="2743200"/>
          </a:xfrm>
          <a:prstGeom prst="roundRect">
            <a:avLst>
              <a:gd name="adj" fmla="val 4000"/>
            </a:avLst>
          </a:prstGeom>
          <a:solidFill>
            <a:schemeClr val="accent4">
              <a:alpha val="12000"/>
            </a:schemeClr>
          </a:solidFill>
          <a:ln w="12700">
            <a:solidFill>
              <a:schemeClr val="accent4"/>
            </a:solidFill>
            <a:prstDash val="solid"/>
          </a:ln>
        </p:spPr>
      </p:sp>
      <p:sp>
        <p:nvSpPr>
          <p:cNvPr id="5" name="Quiz code label"/>
          <p:cNvSpPr txBox="1"/>
          <p:nvPr/>
        </p:nvSpPr>
        <p:spPr>
          <a:xfrm>
            <a:off x="640080" y="1417320"/>
            <a:ext cx="475488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6" name="Quiz code code"/>
          <p:cNvSpPr txBox="1"/>
          <p:nvPr/>
        </p:nvSpPr>
        <p:spPr>
          <a:xfrm>
            <a:off x="640080" y="1828800"/>
            <a:ext cx="4754880" cy="201168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[Authorize]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app.MapGet("/docs", (string q, Db db)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db.Query("SELECT * FROM docs WHERE "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"title LIKE '%" + q + "%'"));</a:t>
            </a:r>
            <a:endParaRPr lang="en-US" sz="1300" dirty="0"/>
          </a:p>
        </p:txBody>
      </p:sp>
      <p:sp>
        <p:nvSpPr>
          <p:cNvPr id="7" name="Question mark"/>
          <p:cNvSpPr txBox="1"/>
          <p:nvPr/>
        </p:nvSpPr>
        <p:spPr>
          <a:xfrm>
            <a:off x="6583680" y="1463040"/>
            <a:ext cx="1463040" cy="1463040"/>
          </a:xfrm>
          <a:prstGeom prst="ellipse">
            <a:avLst/>
          </a:prstGeom>
          <a:solidFill>
            <a:schemeClr val="accent4"/>
          </a:solidFill>
          <a:ln/>
        </p:spPr>
        <p:txBody>
          <a:bodyPr wrap="square" lIns="0" tIns="0" rIns="0" bIns="0" rtlCol="0" anchor="ctr"/>
          <a:lstStyle/>
          <a:p>
            <a:pPr algn="ctr" indent="0" marL="0">
              <a:buNone/>
            </a:pPr>
            <a:r>
              <a:rPr lang="en-US" sz="6000" b="1" dirty="0">
                <a:solidFill>
                  <a:schemeClr val="bg1"/>
                </a:solidFill>
              </a:rPr>
              <a:t>?</a:t>
            </a:r>
            <a:endParaRPr lang="en-US" sz="6000" dirty="0"/>
          </a:p>
        </p:txBody>
      </p:sp>
      <p:sp>
        <p:nvSpPr>
          <p:cNvPr id="8" name="Quiz prompt"/>
          <p:cNvSpPr txBox="1"/>
          <p:nvPr/>
        </p:nvSpPr>
        <p:spPr>
          <a:xfrm>
            <a:off x="6035040" y="3154680"/>
            <a:ext cx="2651760" cy="731520"/>
          </a:xfrm>
          <a:prstGeom prst="rect">
            <a:avLst/>
          </a:prstGeom>
          <a:noFill/>
          <a:ln/>
        </p:spPr>
        <p:txBody>
          <a:bodyPr wrap="square" lIns="0" tIns="0" rIns="0" bIns="0" rtlCol="0" anchor="t"/>
          <a:lstStyle/>
          <a:p>
            <a:pPr algn="ctr" indent="0" marL="0">
              <a:buNone/>
            </a:pPr>
            <a:r>
              <a:rPr lang="en-US" sz="1800" b="1" dirty="0">
                <a:solidFill>
                  <a:schemeClr val="tx1"/>
                </a:solidFill>
              </a:rPr>
              <a:t>Hands up before the reveal</a:t>
            </a:r>
            <a:endParaRPr lang="en-US" sz="1800" dirty="0"/>
          </a:p>
        </p:txBody>
      </p:sp>
      <p:sp>
        <p:nvSpPr>
          <p:cNvPr id="9" name="Answer card"/>
          <p:cNvSpPr/>
          <p:nvPr/>
        </p:nvSpPr>
        <p:spPr>
          <a:xfrm>
            <a:off x="5760720" y="1280160"/>
            <a:ext cx="2926080" cy="2743200"/>
          </a:xfrm>
          <a:prstGeom prst="roundRect">
            <a:avLst>
              <a:gd name="adj" fmla="val 4000"/>
            </a:avLst>
          </a:prstGeom>
          <a:solidFill>
            <a:schemeClr val="bg2"/>
          </a:solidFill>
          <a:ln w="19050">
            <a:solidFill>
              <a:schemeClr val="accent3"/>
            </a:solidFill>
            <a:prstDash val="solid"/>
          </a:ln>
        </p:spPr>
      </p:sp>
      <p:sp>
        <p:nvSpPr>
          <p:cNvPr id="10" name="Answer label"/>
          <p:cNvSpPr txBox="1"/>
          <p:nvPr/>
        </p:nvSpPr>
        <p:spPr>
          <a:xfrm>
            <a:off x="5943600" y="1417320"/>
            <a:ext cx="256032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ANSWER</a:t>
            </a:r>
            <a:endParaRPr lang="en-US" sz="1200" dirty="0"/>
          </a:p>
        </p:txBody>
      </p:sp>
      <p:sp>
        <p:nvSpPr>
          <p:cNvPr id="11" name="Answer text"/>
          <p:cNvSpPr txBox="1"/>
          <p:nvPr/>
        </p:nvSpPr>
        <p:spPr>
          <a:xfrm>
            <a:off x="5943600" y="1783080"/>
            <a:ext cx="2560320" cy="2148840"/>
          </a:xfrm>
          <a:prstGeom prst="rect">
            <a:avLst/>
          </a:prstGeom>
          <a:noFill/>
          <a:ln/>
        </p:spPr>
        <p:txBody>
          <a:bodyPr wrap="square" lIns="0" tIns="0" rIns="0" bIns="0" rtlCol="0" anchor="t"/>
          <a:lstStyle/>
          <a:p>
            <a:pPr indent="0" marL="0">
              <a:buNone/>
            </a:pPr>
            <a:r>
              <a:rPr lang="en-US" sz="1400" dirty="0">
                <a:solidFill>
                  <a:schemeClr val="tx1"/>
                </a:solidFill>
              </a:rPr>
              <a:t>SQL injection: q is concatenated into the query. Bonus: no owner filter, so every user's documents come back. [Authorize] only proves login. Fix: bind variable :q and WHERE owner = :user.</a:t>
            </a:r>
            <a:endParaRPr lang="en-US" sz="1400" dirty="0"/>
          </a:p>
        </p:txBody>
      </p:sp>
      <p:pic>
        <p:nvPicPr>
          <p:cNvPr id="12" name="Bug" descr="Bug cartoon">    </p:cNvPr>
          <p:cNvPicPr>
            <a:picLocks noChangeAspect="1"/>
          </p:cNvPicPr>
          <p:nvPr/>
        </p:nvPicPr>
        <p:blipFill>
          <a:blip r:embed="rId1"/>
          <a:stretch>
            <a:fillRect/>
          </a:stretch>
        </p:blipFill>
        <p:spPr>
          <a:xfrm>
            <a:off x="457200" y="4114800"/>
            <a:ext cx="822960" cy="82296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 fill="hold">
                      <p:stCondLst>
                        <p:cond delay="indefinite"/>
                        <p:cond evt="onBegin" delay="0">
                          <p:tn val="2"/>
                        </p:cond>
                      </p:stCondLst>
                      <p:childTnLst>
                        <p:par>
                          <p:cTn id="6" fill="hold">
                            <p:stCondLst>
                              <p:cond delay="0"/>
                            </p:stCondLst>
                            <p:childTnLst>
                              <p:par>
                                <p:cTn id="4" presetID="0" presetClass="path" presetSubtype="0" fill="hold" nodeType="afterEffect">
                                  <p:stCondLst>
                                    <p:cond delay="400"/>
                                  </p:stCondLst>
                                  <p:childTnLst>
                                    <p:animMotion origin="layout" path="M 0 0 L 0.8 0 E" pathEditMode="relative">
                                      <p:cBhvr>
                                        <p:cTn id="3" dur="7000" fill="hold"/>
                                        <p:tgtEl>
                                          <p:spTgt spid="12"/>
                                        </p:tgtEl>
                                        <p:attrNameLst>
                                          <p:attrName>ppt_x</p:attrName>
                                          <p:attrName>ppt_y</p:attrName>
                                        </p:attrNameLst>
                                      </p:cBhvr>
                                      <p:rCtr x="0.4" y="0"/>
                                    </p:animMotion>
                                  </p:childTnLst>
                                </p:cTn>
                              </p:par>
                            </p:childTnLst>
                          </p:cTn>
                        </p:par>
                      </p:childTnLst>
                    </p:cTn>
                  </p:par>
                  <p:par>
                    <p:cTn id="22" fill="hold">
                      <p:stCondLst>
                        <p:cond delay="indefinite"/>
                      </p:stCondLst>
                      <p:childTnLst>
                        <p:par>
                          <p:cTn id="23" fill="hold">
                            <p:stCondLst>
                              <p:cond delay="0"/>
                            </p:stCondLst>
                            <p:childTnLst>
                              <p:par>
                                <p:cTn id="11" presetID="5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 calcmode="lin" valueType="num">
                                      <p:cBhvr additive="base">
                                        <p:cTn id="8" dur="500" fill="hold"/>
                                        <p:tgtEl>
                                          <p:spTgt spid="9"/>
                                        </p:tgtEl>
                                        <p:attrNameLst>
                                          <p:attrName>ppt_w</p:attrName>
                                        </p:attrNameLst>
                                      </p:cBhvr>
                                      <p:tavLst>
                                        <p:tav tm="0">
                                          <p:val>
                                            <p:fltVal val="0"/>
                                          </p:val>
                                        </p:tav>
                                        <p:tav tm="100000">
                                          <p:val>
                                            <p:strVal val="#ppt_w"/>
                                          </p:val>
                                        </p:tav>
                                      </p:tavLst>
                                    </p:anim>
                                    <p:anim calcmode="lin" valueType="num">
                                      <p:cBhvr additive="base">
                                        <p:cTn id="9" dur="500" fill="hold"/>
                                        <p:tgtEl>
                                          <p:spTgt spid="9"/>
                                        </p:tgtEl>
                                        <p:attrNameLst>
                                          <p:attrName>ppt_h</p:attrName>
                                        </p:attrNameLst>
                                      </p:cBhvr>
                                      <p:tavLst>
                                        <p:tav tm="0">
                                          <p:val>
                                            <p:fltVal val="0"/>
                                          </p:val>
                                        </p:tav>
                                        <p:tav tm="100000">
                                          <p:val>
                                            <p:strVal val="#ppt_h"/>
                                          </p:val>
                                        </p:tav>
                                      </p:tavLst>
                                    </p:anim>
                                    <p:animEffect transition="in" filter="fade">
                                      <p:cBhvr>
                                        <p:cTn id="10" dur="500"/>
                                        <p:tgtEl>
                                          <p:spTgt spid="9"/>
                                        </p:tgtEl>
                                      </p:cBhvr>
                                    </p:animEffect>
                                  </p:childTnLst>
                                </p:cTn>
                              </p:par>
                              <p:par>
                                <p:cTn id="16" presetID="53" presetClass="entr" presetSubtype="16"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ppt_w</p:attrName>
                                        </p:attrNameLst>
                                      </p:cBhvr>
                                      <p:tavLst>
                                        <p:tav tm="0">
                                          <p:val>
                                            <p:fltVal val="0"/>
                                          </p:val>
                                        </p:tav>
                                        <p:tav tm="100000">
                                          <p:val>
                                            <p:strVal val="#ppt_w"/>
                                          </p:val>
                                        </p:tav>
                                      </p:tavLst>
                                    </p:anim>
                                    <p:anim calcmode="lin" valueType="num">
                                      <p:cBhvr additive="base">
                                        <p:cTn id="14" dur="500" fill="hold"/>
                                        <p:tgtEl>
                                          <p:spTgt spid="10"/>
                                        </p:tgtEl>
                                        <p:attrNameLst>
                                          <p:attrName>ppt_h</p:attrName>
                                        </p:attrNameLst>
                                      </p:cBhvr>
                                      <p:tavLst>
                                        <p:tav tm="0">
                                          <p:val>
                                            <p:fltVal val="0"/>
                                          </p:val>
                                        </p:tav>
                                        <p:tav tm="100000">
                                          <p:val>
                                            <p:strVal val="#ppt_h"/>
                                          </p:val>
                                        </p:tav>
                                      </p:tavLst>
                                    </p:anim>
                                    <p:animEffect transition="in" filter="fade">
                                      <p:cBhvr>
                                        <p:cTn id="15" dur="500"/>
                                        <p:tgtEl>
                                          <p:spTgt spid="10"/>
                                        </p:tgtEl>
                                      </p:cBhvr>
                                    </p:animEffect>
                                  </p:childTnLst>
                                </p:cTn>
                              </p:par>
                              <p:par>
                                <p:cTn id="21" presetID="53" presetClass="entr" presetSubtype="16"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ppt_w</p:attrName>
                                        </p:attrNameLst>
                                      </p:cBhvr>
                                      <p:tavLst>
                                        <p:tav tm="0">
                                          <p:val>
                                            <p:fltVal val="0"/>
                                          </p:val>
                                        </p:tav>
                                        <p:tav tm="100000">
                                          <p:val>
                                            <p:strVal val="#ppt_w"/>
                                          </p:val>
                                        </p:tav>
                                      </p:tavLst>
                                    </p:anim>
                                    <p:anim calcmode="lin" valueType="num">
                                      <p:cBhvr additive="base">
                                        <p:cTn id="19" dur="500" fill="hold"/>
                                        <p:tgtEl>
                                          <p:spTgt spid="11"/>
                                        </p:tgtEl>
                                        <p:attrNameLst>
                                          <p:attrName>ppt_h</p:attrName>
                                        </p:attrNameLst>
                                      </p:cBhvr>
                                      <p:tavLst>
                                        <p:tav tm="0">
                                          <p:val>
                                            <p:fltVal val="0"/>
                                          </p:val>
                                        </p:tav>
                                        <p:tav tm="100000">
                                          <p:val>
                                            <p:strVal val="#ppt_h"/>
                                          </p:val>
                                        </p:tav>
                                      </p:tavLst>
                                    </p:anim>
                                    <p:animEffect transition="in" filter="fade">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Warm-up: spot the bug #2</a:t>
            </a:r>
            <a:endParaRPr lang="en-US" sz="3000" dirty="0"/>
          </a:p>
        </p:txBody>
      </p:sp>
      <p:sp>
        <p:nvSpPr>
          <p:cNvPr id="4" name="Quiz code"/>
          <p:cNvSpPr/>
          <p:nvPr/>
        </p:nvSpPr>
        <p:spPr>
          <a:xfrm>
            <a:off x="457200" y="1280160"/>
            <a:ext cx="5120640" cy="2743200"/>
          </a:xfrm>
          <a:prstGeom prst="roundRect">
            <a:avLst>
              <a:gd name="adj" fmla="val 4000"/>
            </a:avLst>
          </a:prstGeom>
          <a:solidFill>
            <a:schemeClr val="accent4">
              <a:alpha val="12000"/>
            </a:schemeClr>
          </a:solidFill>
          <a:ln w="12700">
            <a:solidFill>
              <a:schemeClr val="accent4"/>
            </a:solidFill>
            <a:prstDash val="solid"/>
          </a:ln>
        </p:spPr>
      </p:sp>
      <p:sp>
        <p:nvSpPr>
          <p:cNvPr id="5" name="Quiz code label"/>
          <p:cNvSpPr txBox="1"/>
          <p:nvPr/>
        </p:nvSpPr>
        <p:spPr>
          <a:xfrm>
            <a:off x="640080" y="1417320"/>
            <a:ext cx="475488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6" name="Quiz code code"/>
          <p:cNvSpPr txBox="1"/>
          <p:nvPr/>
        </p:nvSpPr>
        <p:spPr>
          <a:xfrm>
            <a:off x="640080" y="1828800"/>
            <a:ext cx="4754880" cy="201168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this.html = this.sanitizer</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.bypassSecurityTrustHtml(comment);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localStorage.setItem('jwt', token);</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&lt;div [innerHTML]="html"&gt;&lt;/div&gt;</a:t>
            </a:r>
            <a:endParaRPr lang="en-US" sz="1300" dirty="0"/>
          </a:p>
        </p:txBody>
      </p:sp>
      <p:sp>
        <p:nvSpPr>
          <p:cNvPr id="7" name="Question mark"/>
          <p:cNvSpPr txBox="1"/>
          <p:nvPr/>
        </p:nvSpPr>
        <p:spPr>
          <a:xfrm>
            <a:off x="6583680" y="1463040"/>
            <a:ext cx="1463040" cy="1463040"/>
          </a:xfrm>
          <a:prstGeom prst="ellipse">
            <a:avLst/>
          </a:prstGeom>
          <a:solidFill>
            <a:schemeClr val="accent4"/>
          </a:solidFill>
          <a:ln/>
        </p:spPr>
        <p:txBody>
          <a:bodyPr wrap="square" lIns="0" tIns="0" rIns="0" bIns="0" rtlCol="0" anchor="ctr"/>
          <a:lstStyle/>
          <a:p>
            <a:pPr algn="ctr" indent="0" marL="0">
              <a:buNone/>
            </a:pPr>
            <a:r>
              <a:rPr lang="en-US" sz="6000" b="1" dirty="0">
                <a:solidFill>
                  <a:schemeClr val="bg1"/>
                </a:solidFill>
              </a:rPr>
              <a:t>?</a:t>
            </a:r>
            <a:endParaRPr lang="en-US" sz="6000" dirty="0"/>
          </a:p>
        </p:txBody>
      </p:sp>
      <p:sp>
        <p:nvSpPr>
          <p:cNvPr id="8" name="Quiz prompt"/>
          <p:cNvSpPr txBox="1"/>
          <p:nvPr/>
        </p:nvSpPr>
        <p:spPr>
          <a:xfrm>
            <a:off x="6035040" y="3154680"/>
            <a:ext cx="2651760" cy="731520"/>
          </a:xfrm>
          <a:prstGeom prst="rect">
            <a:avLst/>
          </a:prstGeom>
          <a:noFill/>
          <a:ln/>
        </p:spPr>
        <p:txBody>
          <a:bodyPr wrap="square" lIns="0" tIns="0" rIns="0" bIns="0" rtlCol="0" anchor="t"/>
          <a:lstStyle/>
          <a:p>
            <a:pPr algn="ctr" indent="0" marL="0">
              <a:buNone/>
            </a:pPr>
            <a:r>
              <a:rPr lang="en-US" sz="1800" b="1" dirty="0">
                <a:solidFill>
                  <a:schemeClr val="tx1"/>
                </a:solidFill>
              </a:rPr>
              <a:t>Hands up before the reveal</a:t>
            </a:r>
            <a:endParaRPr lang="en-US" sz="1800" dirty="0"/>
          </a:p>
        </p:txBody>
      </p:sp>
      <p:sp>
        <p:nvSpPr>
          <p:cNvPr id="9" name="Answer card"/>
          <p:cNvSpPr/>
          <p:nvPr/>
        </p:nvSpPr>
        <p:spPr>
          <a:xfrm>
            <a:off x="5760720" y="1280160"/>
            <a:ext cx="2926080" cy="2743200"/>
          </a:xfrm>
          <a:prstGeom prst="roundRect">
            <a:avLst>
              <a:gd name="adj" fmla="val 4000"/>
            </a:avLst>
          </a:prstGeom>
          <a:solidFill>
            <a:schemeClr val="bg2"/>
          </a:solidFill>
          <a:ln w="19050">
            <a:solidFill>
              <a:schemeClr val="accent3"/>
            </a:solidFill>
            <a:prstDash val="solid"/>
          </a:ln>
        </p:spPr>
      </p:sp>
      <p:sp>
        <p:nvSpPr>
          <p:cNvPr id="10" name="Answer label"/>
          <p:cNvSpPr txBox="1"/>
          <p:nvPr/>
        </p:nvSpPr>
        <p:spPr>
          <a:xfrm>
            <a:off x="5943600" y="1417320"/>
            <a:ext cx="256032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ANSWER</a:t>
            </a:r>
            <a:endParaRPr lang="en-US" sz="1200" dirty="0"/>
          </a:p>
        </p:txBody>
      </p:sp>
      <p:sp>
        <p:nvSpPr>
          <p:cNvPr id="11" name="Answer text"/>
          <p:cNvSpPr txBox="1"/>
          <p:nvPr/>
        </p:nvSpPr>
        <p:spPr>
          <a:xfrm>
            <a:off x="5943600" y="1783080"/>
            <a:ext cx="2560320" cy="2148840"/>
          </a:xfrm>
          <a:prstGeom prst="rect">
            <a:avLst/>
          </a:prstGeom>
          <a:noFill/>
          <a:ln/>
        </p:spPr>
        <p:txBody>
          <a:bodyPr wrap="square" lIns="0" tIns="0" rIns="0" bIns="0" rtlCol="0" anchor="t"/>
          <a:lstStyle/>
          <a:p>
            <a:pPr indent="0" marL="0">
              <a:buNone/>
            </a:pPr>
            <a:r>
              <a:rPr lang="en-US" sz="1400" dirty="0">
                <a:solidFill>
                  <a:schemeClr val="tx1"/>
                </a:solidFill>
              </a:rPr>
              <a:t>Two bugs. bypassSecurityTrustHtml switches off Angular's XSS protection, and the JWT in localStorage can then be stolen by that script. Fix: bind {{ comment }} and use an HttpOnly cookie.</a:t>
            </a:r>
            <a:endParaRPr lang="en-US" sz="1400" dirty="0"/>
          </a:p>
        </p:txBody>
      </p:sp>
      <p:pic>
        <p:nvPicPr>
          <p:cNvPr id="12" name="Bug" descr="Bug cartoon">    </p:cNvPr>
          <p:cNvPicPr>
            <a:picLocks noChangeAspect="1"/>
          </p:cNvPicPr>
          <p:nvPr/>
        </p:nvPicPr>
        <p:blipFill>
          <a:blip r:embed="rId1"/>
          <a:stretch>
            <a:fillRect/>
          </a:stretch>
        </p:blipFill>
        <p:spPr>
          <a:xfrm>
            <a:off x="457200" y="4114800"/>
            <a:ext cx="822960" cy="82296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 fill="hold">
                      <p:stCondLst>
                        <p:cond delay="indefinite"/>
                        <p:cond evt="onBegin" delay="0">
                          <p:tn val="2"/>
                        </p:cond>
                      </p:stCondLst>
                      <p:childTnLst>
                        <p:par>
                          <p:cTn id="6" fill="hold">
                            <p:stCondLst>
                              <p:cond delay="0"/>
                            </p:stCondLst>
                            <p:childTnLst>
                              <p:par>
                                <p:cTn id="4" presetID="0" presetClass="path" presetSubtype="0" fill="hold" nodeType="afterEffect">
                                  <p:stCondLst>
                                    <p:cond delay="400"/>
                                  </p:stCondLst>
                                  <p:childTnLst>
                                    <p:animMotion origin="layout" path="M 0 0 L 0.8 0 E" pathEditMode="relative">
                                      <p:cBhvr>
                                        <p:cTn id="3" dur="7000" fill="hold"/>
                                        <p:tgtEl>
                                          <p:spTgt spid="12"/>
                                        </p:tgtEl>
                                        <p:attrNameLst>
                                          <p:attrName>ppt_x</p:attrName>
                                          <p:attrName>ppt_y</p:attrName>
                                        </p:attrNameLst>
                                      </p:cBhvr>
                                      <p:rCtr x="0.4" y="0"/>
                                    </p:animMotion>
                                  </p:childTnLst>
                                </p:cTn>
                              </p:par>
                            </p:childTnLst>
                          </p:cTn>
                        </p:par>
                      </p:childTnLst>
                    </p:cTn>
                  </p:par>
                  <p:par>
                    <p:cTn id="22" fill="hold">
                      <p:stCondLst>
                        <p:cond delay="indefinite"/>
                      </p:stCondLst>
                      <p:childTnLst>
                        <p:par>
                          <p:cTn id="23" fill="hold">
                            <p:stCondLst>
                              <p:cond delay="0"/>
                            </p:stCondLst>
                            <p:childTnLst>
                              <p:par>
                                <p:cTn id="11" presetID="5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 calcmode="lin" valueType="num">
                                      <p:cBhvr additive="base">
                                        <p:cTn id="8" dur="500" fill="hold"/>
                                        <p:tgtEl>
                                          <p:spTgt spid="9"/>
                                        </p:tgtEl>
                                        <p:attrNameLst>
                                          <p:attrName>ppt_w</p:attrName>
                                        </p:attrNameLst>
                                      </p:cBhvr>
                                      <p:tavLst>
                                        <p:tav tm="0">
                                          <p:val>
                                            <p:fltVal val="0"/>
                                          </p:val>
                                        </p:tav>
                                        <p:tav tm="100000">
                                          <p:val>
                                            <p:strVal val="#ppt_w"/>
                                          </p:val>
                                        </p:tav>
                                      </p:tavLst>
                                    </p:anim>
                                    <p:anim calcmode="lin" valueType="num">
                                      <p:cBhvr additive="base">
                                        <p:cTn id="9" dur="500" fill="hold"/>
                                        <p:tgtEl>
                                          <p:spTgt spid="9"/>
                                        </p:tgtEl>
                                        <p:attrNameLst>
                                          <p:attrName>ppt_h</p:attrName>
                                        </p:attrNameLst>
                                      </p:cBhvr>
                                      <p:tavLst>
                                        <p:tav tm="0">
                                          <p:val>
                                            <p:fltVal val="0"/>
                                          </p:val>
                                        </p:tav>
                                        <p:tav tm="100000">
                                          <p:val>
                                            <p:strVal val="#ppt_h"/>
                                          </p:val>
                                        </p:tav>
                                      </p:tavLst>
                                    </p:anim>
                                    <p:animEffect transition="in" filter="fade">
                                      <p:cBhvr>
                                        <p:cTn id="10" dur="500"/>
                                        <p:tgtEl>
                                          <p:spTgt spid="9"/>
                                        </p:tgtEl>
                                      </p:cBhvr>
                                    </p:animEffect>
                                  </p:childTnLst>
                                </p:cTn>
                              </p:par>
                              <p:par>
                                <p:cTn id="16" presetID="53" presetClass="entr" presetSubtype="16"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ppt_w</p:attrName>
                                        </p:attrNameLst>
                                      </p:cBhvr>
                                      <p:tavLst>
                                        <p:tav tm="0">
                                          <p:val>
                                            <p:fltVal val="0"/>
                                          </p:val>
                                        </p:tav>
                                        <p:tav tm="100000">
                                          <p:val>
                                            <p:strVal val="#ppt_w"/>
                                          </p:val>
                                        </p:tav>
                                      </p:tavLst>
                                    </p:anim>
                                    <p:anim calcmode="lin" valueType="num">
                                      <p:cBhvr additive="base">
                                        <p:cTn id="14" dur="500" fill="hold"/>
                                        <p:tgtEl>
                                          <p:spTgt spid="10"/>
                                        </p:tgtEl>
                                        <p:attrNameLst>
                                          <p:attrName>ppt_h</p:attrName>
                                        </p:attrNameLst>
                                      </p:cBhvr>
                                      <p:tavLst>
                                        <p:tav tm="0">
                                          <p:val>
                                            <p:fltVal val="0"/>
                                          </p:val>
                                        </p:tav>
                                        <p:tav tm="100000">
                                          <p:val>
                                            <p:strVal val="#ppt_h"/>
                                          </p:val>
                                        </p:tav>
                                      </p:tavLst>
                                    </p:anim>
                                    <p:animEffect transition="in" filter="fade">
                                      <p:cBhvr>
                                        <p:cTn id="15" dur="500"/>
                                        <p:tgtEl>
                                          <p:spTgt spid="10"/>
                                        </p:tgtEl>
                                      </p:cBhvr>
                                    </p:animEffect>
                                  </p:childTnLst>
                                </p:cTn>
                              </p:par>
                              <p:par>
                                <p:cTn id="21" presetID="53" presetClass="entr" presetSubtype="16"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ppt_w</p:attrName>
                                        </p:attrNameLst>
                                      </p:cBhvr>
                                      <p:tavLst>
                                        <p:tav tm="0">
                                          <p:val>
                                            <p:fltVal val="0"/>
                                          </p:val>
                                        </p:tav>
                                        <p:tav tm="100000">
                                          <p:val>
                                            <p:strVal val="#ppt_w"/>
                                          </p:val>
                                        </p:tav>
                                      </p:tavLst>
                                    </p:anim>
                                    <p:anim calcmode="lin" valueType="num">
                                      <p:cBhvr additive="base">
                                        <p:cTn id="19" dur="500" fill="hold"/>
                                        <p:tgtEl>
                                          <p:spTgt spid="11"/>
                                        </p:tgtEl>
                                        <p:attrNameLst>
                                          <p:attrName>ppt_h</p:attrName>
                                        </p:attrNameLst>
                                      </p:cBhvr>
                                      <p:tavLst>
                                        <p:tav tm="0">
                                          <p:val>
                                            <p:fltVal val="0"/>
                                          </p:val>
                                        </p:tav>
                                        <p:tav tm="100000">
                                          <p:val>
                                            <p:strVal val="#ppt_h"/>
                                          </p:val>
                                        </p:tav>
                                      </p:tavLst>
                                    </p:anim>
                                    <p:animEffect transition="in" filter="fade">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Warm-up: spot the bug #3</a:t>
            </a:r>
            <a:endParaRPr lang="en-US" sz="3000" dirty="0"/>
          </a:p>
        </p:txBody>
      </p:sp>
      <p:sp>
        <p:nvSpPr>
          <p:cNvPr id="4" name="Quiz code"/>
          <p:cNvSpPr/>
          <p:nvPr/>
        </p:nvSpPr>
        <p:spPr>
          <a:xfrm>
            <a:off x="457200" y="1280160"/>
            <a:ext cx="5120640" cy="2743200"/>
          </a:xfrm>
          <a:prstGeom prst="roundRect">
            <a:avLst>
              <a:gd name="adj" fmla="val 4000"/>
            </a:avLst>
          </a:prstGeom>
          <a:solidFill>
            <a:schemeClr val="accent4">
              <a:alpha val="12000"/>
            </a:schemeClr>
          </a:solidFill>
          <a:ln w="12700">
            <a:solidFill>
              <a:schemeClr val="accent4"/>
            </a:solidFill>
            <a:prstDash val="solid"/>
          </a:ln>
        </p:spPr>
      </p:sp>
      <p:sp>
        <p:nvSpPr>
          <p:cNvPr id="5" name="Quiz code label"/>
          <p:cNvSpPr txBox="1"/>
          <p:nvPr/>
        </p:nvSpPr>
        <p:spPr>
          <a:xfrm>
            <a:off x="640080" y="1417320"/>
            <a:ext cx="475488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6" name="Quiz code code"/>
          <p:cNvSpPr txBox="1"/>
          <p:nvPr/>
        </p:nvSpPr>
        <p:spPr>
          <a:xfrm>
            <a:off x="640080" y="1828800"/>
            <a:ext cx="4754880" cy="201168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"Logging": { "LogLevel": "Debug"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"ConnectionStrings":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"Oracle": "User=sys;Password=Pa55w0rd"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"AllowedHosts": "*"</a:t>
            </a:r>
            <a:endParaRPr lang="en-US" sz="1300" dirty="0"/>
          </a:p>
        </p:txBody>
      </p:sp>
      <p:sp>
        <p:nvSpPr>
          <p:cNvPr id="7" name="Question mark"/>
          <p:cNvSpPr txBox="1"/>
          <p:nvPr/>
        </p:nvSpPr>
        <p:spPr>
          <a:xfrm>
            <a:off x="6583680" y="1463040"/>
            <a:ext cx="1463040" cy="1463040"/>
          </a:xfrm>
          <a:prstGeom prst="ellipse">
            <a:avLst/>
          </a:prstGeom>
          <a:solidFill>
            <a:schemeClr val="accent4"/>
          </a:solidFill>
          <a:ln/>
        </p:spPr>
        <p:txBody>
          <a:bodyPr wrap="square" lIns="0" tIns="0" rIns="0" bIns="0" rtlCol="0" anchor="ctr"/>
          <a:lstStyle/>
          <a:p>
            <a:pPr algn="ctr" indent="0" marL="0">
              <a:buNone/>
            </a:pPr>
            <a:r>
              <a:rPr lang="en-US" sz="6000" b="1" dirty="0">
                <a:solidFill>
                  <a:schemeClr val="bg1"/>
                </a:solidFill>
              </a:rPr>
              <a:t>?</a:t>
            </a:r>
            <a:endParaRPr lang="en-US" sz="6000" dirty="0"/>
          </a:p>
        </p:txBody>
      </p:sp>
      <p:sp>
        <p:nvSpPr>
          <p:cNvPr id="8" name="Quiz prompt"/>
          <p:cNvSpPr txBox="1"/>
          <p:nvPr/>
        </p:nvSpPr>
        <p:spPr>
          <a:xfrm>
            <a:off x="6035040" y="3154680"/>
            <a:ext cx="2651760" cy="731520"/>
          </a:xfrm>
          <a:prstGeom prst="rect">
            <a:avLst/>
          </a:prstGeom>
          <a:noFill/>
          <a:ln/>
        </p:spPr>
        <p:txBody>
          <a:bodyPr wrap="square" lIns="0" tIns="0" rIns="0" bIns="0" rtlCol="0" anchor="t"/>
          <a:lstStyle/>
          <a:p>
            <a:pPr algn="ctr" indent="0" marL="0">
              <a:buNone/>
            </a:pPr>
            <a:r>
              <a:rPr lang="en-US" sz="1800" b="1" dirty="0">
                <a:solidFill>
                  <a:schemeClr val="tx1"/>
                </a:solidFill>
              </a:rPr>
              <a:t>Hands up before the reveal</a:t>
            </a:r>
            <a:endParaRPr lang="en-US" sz="1800" dirty="0"/>
          </a:p>
        </p:txBody>
      </p:sp>
      <p:sp>
        <p:nvSpPr>
          <p:cNvPr id="9" name="Answer card"/>
          <p:cNvSpPr/>
          <p:nvPr/>
        </p:nvSpPr>
        <p:spPr>
          <a:xfrm>
            <a:off x="5760720" y="1280160"/>
            <a:ext cx="2926080" cy="2743200"/>
          </a:xfrm>
          <a:prstGeom prst="roundRect">
            <a:avLst>
              <a:gd name="adj" fmla="val 4000"/>
            </a:avLst>
          </a:prstGeom>
          <a:solidFill>
            <a:schemeClr val="bg2"/>
          </a:solidFill>
          <a:ln w="19050">
            <a:solidFill>
              <a:schemeClr val="accent3"/>
            </a:solidFill>
            <a:prstDash val="solid"/>
          </a:ln>
        </p:spPr>
      </p:sp>
      <p:sp>
        <p:nvSpPr>
          <p:cNvPr id="10" name="Answer label"/>
          <p:cNvSpPr txBox="1"/>
          <p:nvPr/>
        </p:nvSpPr>
        <p:spPr>
          <a:xfrm>
            <a:off x="5943600" y="1417320"/>
            <a:ext cx="256032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ANSWER</a:t>
            </a:r>
            <a:endParaRPr lang="en-US" sz="1200" dirty="0"/>
          </a:p>
        </p:txBody>
      </p:sp>
      <p:sp>
        <p:nvSpPr>
          <p:cNvPr id="11" name="Answer text"/>
          <p:cNvSpPr txBox="1"/>
          <p:nvPr/>
        </p:nvSpPr>
        <p:spPr>
          <a:xfrm>
            <a:off x="5943600" y="1783080"/>
            <a:ext cx="2560320" cy="2148840"/>
          </a:xfrm>
          <a:prstGeom prst="rect">
            <a:avLst/>
          </a:prstGeom>
          <a:noFill/>
          <a:ln/>
        </p:spPr>
        <p:txBody>
          <a:bodyPr wrap="square" lIns="0" tIns="0" rIns="0" bIns="0" rtlCol="0" anchor="t"/>
          <a:lstStyle/>
          <a:p>
            <a:pPr indent="0" marL="0">
              <a:buNone/>
            </a:pPr>
            <a:r>
              <a:rPr lang="en-US" sz="1400" dirty="0">
                <a:solidFill>
                  <a:schemeClr val="tx1"/>
                </a:solidFill>
              </a:rPr>
              <a:t>Three bugs. A password in a config file in source control, a privileged sys account instead of least privilege, and Debug logging in production. Fix: secret store, low-privilege account, Information level.</a:t>
            </a:r>
            <a:endParaRPr lang="en-US" sz="1400" dirty="0"/>
          </a:p>
        </p:txBody>
      </p:sp>
      <p:pic>
        <p:nvPicPr>
          <p:cNvPr id="12" name="Bug" descr="Bug cartoon">    </p:cNvPr>
          <p:cNvPicPr>
            <a:picLocks noChangeAspect="1"/>
          </p:cNvPicPr>
          <p:nvPr/>
        </p:nvPicPr>
        <p:blipFill>
          <a:blip r:embed="rId1"/>
          <a:stretch>
            <a:fillRect/>
          </a:stretch>
        </p:blipFill>
        <p:spPr>
          <a:xfrm>
            <a:off x="457200" y="4114800"/>
            <a:ext cx="822960" cy="82296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 fill="hold">
                      <p:stCondLst>
                        <p:cond delay="indefinite"/>
                        <p:cond evt="onBegin" delay="0">
                          <p:tn val="2"/>
                        </p:cond>
                      </p:stCondLst>
                      <p:childTnLst>
                        <p:par>
                          <p:cTn id="6" fill="hold">
                            <p:stCondLst>
                              <p:cond delay="0"/>
                            </p:stCondLst>
                            <p:childTnLst>
                              <p:par>
                                <p:cTn id="4" presetID="0" presetClass="path" presetSubtype="0" fill="hold" nodeType="afterEffect">
                                  <p:stCondLst>
                                    <p:cond delay="400"/>
                                  </p:stCondLst>
                                  <p:childTnLst>
                                    <p:animMotion origin="layout" path="M 0 0 L 0.8 0 E" pathEditMode="relative">
                                      <p:cBhvr>
                                        <p:cTn id="3" dur="7000" fill="hold"/>
                                        <p:tgtEl>
                                          <p:spTgt spid="12"/>
                                        </p:tgtEl>
                                        <p:attrNameLst>
                                          <p:attrName>ppt_x</p:attrName>
                                          <p:attrName>ppt_y</p:attrName>
                                        </p:attrNameLst>
                                      </p:cBhvr>
                                      <p:rCtr x="0.4" y="0"/>
                                    </p:animMotion>
                                  </p:childTnLst>
                                </p:cTn>
                              </p:par>
                            </p:childTnLst>
                          </p:cTn>
                        </p:par>
                      </p:childTnLst>
                    </p:cTn>
                  </p:par>
                  <p:par>
                    <p:cTn id="22" fill="hold">
                      <p:stCondLst>
                        <p:cond delay="indefinite"/>
                      </p:stCondLst>
                      <p:childTnLst>
                        <p:par>
                          <p:cTn id="23" fill="hold">
                            <p:stCondLst>
                              <p:cond delay="0"/>
                            </p:stCondLst>
                            <p:childTnLst>
                              <p:par>
                                <p:cTn id="11" presetID="5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 calcmode="lin" valueType="num">
                                      <p:cBhvr additive="base">
                                        <p:cTn id="8" dur="500" fill="hold"/>
                                        <p:tgtEl>
                                          <p:spTgt spid="9"/>
                                        </p:tgtEl>
                                        <p:attrNameLst>
                                          <p:attrName>ppt_w</p:attrName>
                                        </p:attrNameLst>
                                      </p:cBhvr>
                                      <p:tavLst>
                                        <p:tav tm="0">
                                          <p:val>
                                            <p:fltVal val="0"/>
                                          </p:val>
                                        </p:tav>
                                        <p:tav tm="100000">
                                          <p:val>
                                            <p:strVal val="#ppt_w"/>
                                          </p:val>
                                        </p:tav>
                                      </p:tavLst>
                                    </p:anim>
                                    <p:anim calcmode="lin" valueType="num">
                                      <p:cBhvr additive="base">
                                        <p:cTn id="9" dur="500" fill="hold"/>
                                        <p:tgtEl>
                                          <p:spTgt spid="9"/>
                                        </p:tgtEl>
                                        <p:attrNameLst>
                                          <p:attrName>ppt_h</p:attrName>
                                        </p:attrNameLst>
                                      </p:cBhvr>
                                      <p:tavLst>
                                        <p:tav tm="0">
                                          <p:val>
                                            <p:fltVal val="0"/>
                                          </p:val>
                                        </p:tav>
                                        <p:tav tm="100000">
                                          <p:val>
                                            <p:strVal val="#ppt_h"/>
                                          </p:val>
                                        </p:tav>
                                      </p:tavLst>
                                    </p:anim>
                                    <p:animEffect transition="in" filter="fade">
                                      <p:cBhvr>
                                        <p:cTn id="10" dur="500"/>
                                        <p:tgtEl>
                                          <p:spTgt spid="9"/>
                                        </p:tgtEl>
                                      </p:cBhvr>
                                    </p:animEffect>
                                  </p:childTnLst>
                                </p:cTn>
                              </p:par>
                              <p:par>
                                <p:cTn id="16" presetID="53" presetClass="entr" presetSubtype="16"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ppt_w</p:attrName>
                                        </p:attrNameLst>
                                      </p:cBhvr>
                                      <p:tavLst>
                                        <p:tav tm="0">
                                          <p:val>
                                            <p:fltVal val="0"/>
                                          </p:val>
                                        </p:tav>
                                        <p:tav tm="100000">
                                          <p:val>
                                            <p:strVal val="#ppt_w"/>
                                          </p:val>
                                        </p:tav>
                                      </p:tavLst>
                                    </p:anim>
                                    <p:anim calcmode="lin" valueType="num">
                                      <p:cBhvr additive="base">
                                        <p:cTn id="14" dur="500" fill="hold"/>
                                        <p:tgtEl>
                                          <p:spTgt spid="10"/>
                                        </p:tgtEl>
                                        <p:attrNameLst>
                                          <p:attrName>ppt_h</p:attrName>
                                        </p:attrNameLst>
                                      </p:cBhvr>
                                      <p:tavLst>
                                        <p:tav tm="0">
                                          <p:val>
                                            <p:fltVal val="0"/>
                                          </p:val>
                                        </p:tav>
                                        <p:tav tm="100000">
                                          <p:val>
                                            <p:strVal val="#ppt_h"/>
                                          </p:val>
                                        </p:tav>
                                      </p:tavLst>
                                    </p:anim>
                                    <p:animEffect transition="in" filter="fade">
                                      <p:cBhvr>
                                        <p:cTn id="15" dur="500"/>
                                        <p:tgtEl>
                                          <p:spTgt spid="10"/>
                                        </p:tgtEl>
                                      </p:cBhvr>
                                    </p:animEffect>
                                  </p:childTnLst>
                                </p:cTn>
                              </p:par>
                              <p:par>
                                <p:cTn id="21" presetID="53" presetClass="entr" presetSubtype="16"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ppt_w</p:attrName>
                                        </p:attrNameLst>
                                      </p:cBhvr>
                                      <p:tavLst>
                                        <p:tav tm="0">
                                          <p:val>
                                            <p:fltVal val="0"/>
                                          </p:val>
                                        </p:tav>
                                        <p:tav tm="100000">
                                          <p:val>
                                            <p:strVal val="#ppt_w"/>
                                          </p:val>
                                        </p:tav>
                                      </p:tavLst>
                                    </p:anim>
                                    <p:anim calcmode="lin" valueType="num">
                                      <p:cBhvr additive="base">
                                        <p:cTn id="19" dur="500" fill="hold"/>
                                        <p:tgtEl>
                                          <p:spTgt spid="11"/>
                                        </p:tgtEl>
                                        <p:attrNameLst>
                                          <p:attrName>ppt_h</p:attrName>
                                        </p:attrNameLst>
                                      </p:cBhvr>
                                      <p:tavLst>
                                        <p:tav tm="0">
                                          <p:val>
                                            <p:fltVal val="0"/>
                                          </p:val>
                                        </p:tav>
                                        <p:tav tm="100000">
                                          <p:val>
                                            <p:strVal val="#ppt_h"/>
                                          </p:val>
                                        </p:tav>
                                      </p:tavLst>
                                    </p:anim>
                                    <p:animEffect transition="in" filter="fade">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A01 · Level 1 · Rookie</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Angular · HTML template  ·  Broken Access Control</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&lt;button *ngIf="user.isAdmin"</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(click)="deleteUser(id)"&gt;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Delete user</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&lt;/button&gt;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Only the button is hidden.</a:t>
            </a:r>
            <a:endParaRPr lang="en-US" sz="1500" dirty="0"/>
          </a:p>
          <a:p>
            <a:pPr indent="0" marL="0">
              <a:buNone/>
            </a:pPr>
            <a:r>
              <a:rPr lang="en-US" sz="1300" dirty="0">
                <a:solidFill>
                  <a:schemeClr val="tx1"/>
                </a:solidFill>
              </a:rPr>
              <a:t>*ngIf is UX, not security. Anyone can call DELETE /api/users/{id} directly. The .NET endpoint must require the Admin role.</a:t>
            </a:r>
            <a:endParaRPr lang="en-US" sz="1500" dirty="0"/>
          </a:p>
        </p:txBody>
      </p:sp>
      <p:sp>
        <p:nvSpPr>
          <p:cNvPr id="12" name="Level badge"/>
          <p:cNvSpPr txBox="1"/>
          <p:nvPr/>
        </p:nvSpPr>
        <p:spPr>
          <a:xfrm>
            <a:off x="457200" y="4224528"/>
            <a:ext cx="457200" cy="457200"/>
          </a:xfrm>
          <a:prstGeom prst="ellipse">
            <a:avLst/>
          </a:prstGeom>
          <a:solidFill>
            <a:schemeClr val="accent3"/>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3"/>
                </a:solidFill>
              </a:rPr>
              <a:t>Level 1 of 10 · Rookie</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A01 · Level 2 · Junior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ASP.NET Core minimal API  ·  Broken Access Control</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app.MapDelete("/api/users/{id}",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(int id, Db db)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db.Users.Remove(db.Users.Find(id));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db.SaveChanges();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return Results.NoContent();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No authorization at all.</a:t>
            </a:r>
            <a:endParaRPr lang="en-US" sz="1500" dirty="0"/>
          </a:p>
          <a:p>
            <a:pPr indent="0" marL="0">
              <a:buNone/>
            </a:pPr>
            <a:r>
              <a:rPr lang="en-US" sz="1300" dirty="0">
                <a:solidFill>
                  <a:schemeClr val="tx1"/>
                </a:solidFill>
              </a:rPr>
              <a:t>Anyone, even anonymous, can delete users. Add .RequireAuthorization("AdminOnly") and return NotFound when the user does not exist.</a:t>
            </a:r>
            <a:endParaRPr lang="en-US" sz="1500" dirty="0"/>
          </a:p>
        </p:txBody>
      </p:sp>
      <p:sp>
        <p:nvSpPr>
          <p:cNvPr id="12" name="Level badge"/>
          <p:cNvSpPr txBox="1"/>
          <p:nvPr/>
        </p:nvSpPr>
        <p:spPr>
          <a:xfrm>
            <a:off x="457200" y="4224528"/>
            <a:ext cx="457200" cy="45720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1"/>
                </a:solidFill>
              </a:rPr>
              <a:t>Level 2 of 10 · Junior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A01 · Level 3 · Developer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ASP.NET Core controller  ·  Broken Access Control</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[Authorize]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[HttpGet("orders/{id}")]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public Order Get(int id)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_db.Orders.Single(o =&gt; o.Id == id);</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Logged in is not enough (IDOR).</a:t>
            </a:r>
            <a:endParaRPr lang="en-US" sz="1500" dirty="0"/>
          </a:p>
          <a:p>
            <a:pPr indent="0" marL="0">
              <a:buNone/>
            </a:pPr>
            <a:r>
              <a:rPr lang="en-US" sz="1300" dirty="0">
                <a:solidFill>
                  <a:schemeClr val="tx1"/>
                </a:solidFill>
              </a:rPr>
              <a:t>Any user can read any order by changing the ID. Filter by owner: o.Id == id &amp;&amp; o.OwnerId == UserId, and return NotFound if there is no match.</a:t>
            </a:r>
            <a:endParaRPr lang="en-US" sz="1500" dirty="0"/>
          </a:p>
        </p:txBody>
      </p:sp>
      <p:sp>
        <p:nvSpPr>
          <p:cNvPr id="12" name="Level badge"/>
          <p:cNvSpPr txBox="1"/>
          <p:nvPr/>
        </p:nvSpPr>
        <p:spPr>
          <a:xfrm>
            <a:off x="457200" y="4224528"/>
            <a:ext cx="457200" cy="45720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5"/>
                </a:solidFill>
              </a:rPr>
              <a:t>Level 3 of 10 · Developer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A01 · Level 4 · Senior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Program.cs  ·  Broken Access Control</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GOOD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builder.Services.AddAuthorization(o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o.FallbackPolicy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new AuthorizationPolicyBuilder()</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.RequireAuthenticatedUser()</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.Build();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3"/>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GOOD</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Deny by default.</a:t>
            </a:r>
            <a:endParaRPr lang="en-US" sz="1500" dirty="0"/>
          </a:p>
          <a:p>
            <a:pPr indent="0" marL="0">
              <a:buNone/>
            </a:pPr>
            <a:r>
              <a:rPr lang="en-US" sz="1300" dirty="0">
                <a:solidFill>
                  <a:schemeClr val="tx1"/>
                </a:solidFill>
              </a:rPr>
              <a:t>The fallback policy protects every endpoint unless it is marked [AllowAnonymous]. Still add resource checks for per-record rules.</a:t>
            </a:r>
            <a:endParaRPr lang="en-US" sz="1500" dirty="0"/>
          </a:p>
        </p:txBody>
      </p:sp>
      <p:sp>
        <p:nvSpPr>
          <p:cNvPr id="12" name="Level badge"/>
          <p:cNvSpPr txBox="1"/>
          <p:nvPr/>
        </p:nvSpPr>
        <p:spPr>
          <a:xfrm>
            <a:off x="457200" y="4224528"/>
            <a:ext cx="457200" cy="457200"/>
          </a:xfrm>
          <a:prstGeom prst="ellipse">
            <a:avLst/>
          </a:prstGeom>
          <a:solidFill>
            <a:schemeClr val="accent4"/>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4"/>
                </a:solidFill>
              </a:rPr>
              <a:t>Level 4 of 10 · Senior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A01 · Level 5 · Expert</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role check on a record  ·  Broken Access Control</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order = await _db.Orders.FindAsync(id);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if (order is null) return Results.NotFound();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if (User.IsInRole("Manager"))</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return Results.Ok(order);</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return Results.Forbid();</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Role only, not the resource.</a:t>
            </a:r>
            <a:endParaRPr lang="en-US" sz="1500" dirty="0"/>
          </a:p>
          <a:p>
            <a:pPr indent="0" marL="0">
              <a:buNone/>
            </a:pPr>
            <a:r>
              <a:rPr lang="en-US" sz="1300" dirty="0">
                <a:solidFill>
                  <a:schemeClr val="tx1"/>
                </a:solidFill>
              </a:rPr>
              <a:t>Any manager reads every order, and Forbid reveals that the order exists. Use IAuthorizationService.AuthorizeAsync(User, order, "SameDepartment") and return NotFound on failure.</a:t>
            </a:r>
            <a:endParaRPr lang="en-US" sz="1500" dirty="0"/>
          </a:p>
        </p:txBody>
      </p:sp>
      <p:sp>
        <p:nvSpPr>
          <p:cNvPr id="12" name="Level badge"/>
          <p:cNvSpPr txBox="1"/>
          <p:nvPr/>
        </p:nvSpPr>
        <p:spPr>
          <a:xfrm>
            <a:off x="457200" y="4224528"/>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2"/>
                </a:solidFill>
              </a:rPr>
              <a:t>Level 5 of 10 · Expert</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A01 · Level 6 · Master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EF Core global query filter  ·  Broken Access Control</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modelBuilder.Entity&lt;Doc&gt;()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.HasQueryFilter(d =&gt; d.TenantId == _tenant);</a:t>
            </a:r>
            <a:endParaRPr lang="en-US" sz="1300" dirty="0"/>
          </a:p>
          <a:p>
            <a:pPr indent="0" marL="0">
              <a:spcAft>
                <a:spcPts val="400"/>
              </a:spcAft>
              <a:buNone/>
            </a:pP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reporting endpoint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open = db.Docs.IgnoreQueryFilters()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.Count(d =&gt; d.Status == "Open");</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return Results.Ok(open);</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The tenant filter is switched off.</a:t>
            </a:r>
            <a:endParaRPr lang="en-US" sz="1500" dirty="0"/>
          </a:p>
          <a:p>
            <a:pPr indent="0" marL="0">
              <a:buNone/>
            </a:pPr>
            <a:r>
              <a:rPr lang="en-US" sz="1300" dirty="0">
                <a:solidFill>
                  <a:schemeClr val="tx1"/>
                </a:solidFill>
              </a:rPr>
              <a:t>IgnoreQueryFilters removes the tenant rule, so the count spans every tenant. Add the tenant predicate explicitly, or avoid the call, and review every IgnoreQueryFilters in code review.</a:t>
            </a:r>
            <a:endParaRPr lang="en-US" sz="1500" dirty="0"/>
          </a:p>
        </p:txBody>
      </p:sp>
      <p:sp>
        <p:nvSpPr>
          <p:cNvPr id="12" name="Level badge"/>
          <p:cNvSpPr txBox="1"/>
          <p:nvPr/>
        </p:nvSpPr>
        <p:spPr>
          <a:xfrm>
            <a:off x="457200" y="4224528"/>
            <a:ext cx="457200" cy="457200"/>
          </a:xfrm>
          <a:prstGeom prst="ellipse">
            <a:avLst/>
          </a:prstGeom>
          <a:solidFill>
            <a:srgbClr val="A78BFA"/>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A78BFA"/>
                </a:solidFill>
              </a:rPr>
              <a:t>Level 6 of 10 · Master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A01 · Level 7 · Guru</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over-posting  ·  Broken Access Control</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public class UserDto</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public string Name; public string Role; }</a:t>
            </a:r>
            <a:endParaRPr lang="en-US" sz="1200" dirty="0"/>
          </a:p>
          <a:p>
            <a:pPr indent="0" marL="0">
              <a:buNone/>
            </a:pP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[HttpPut("me")]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public IActionResult Update(UserDto d)</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var u = _db.Users.Find(UserId);</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_db.Entry(u).CurrentValues.SetValues(d);</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_db.SaveChanges();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return NoContent();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Mass assignment: the client sets its own role.</a:t>
            </a:r>
            <a:endParaRPr lang="en-US" sz="1500" dirty="0"/>
          </a:p>
          <a:p>
            <a:pPr indent="0" marL="0">
              <a:buNone/>
            </a:pPr>
            <a:r>
              <a:rPr lang="en-US" sz="1300" dirty="0">
                <a:solidFill>
                  <a:schemeClr val="tx1"/>
                </a:solidFill>
              </a:rPr>
              <a:t>Sending Role=Admin in the body makes the caller an admin. Bind a DTO with only the allowed fields (Name) and map them explicitly. Role changes belong to an admin-only endpoint.</a:t>
            </a:r>
            <a:endParaRPr lang="en-US" sz="1500" dirty="0"/>
          </a:p>
        </p:txBody>
      </p:sp>
      <p:sp>
        <p:nvSpPr>
          <p:cNvPr id="12" name="Level badge"/>
          <p:cNvSpPr txBox="1"/>
          <p:nvPr/>
        </p:nvSpPr>
        <p:spPr>
          <a:xfrm>
            <a:off x="457200" y="4224528"/>
            <a:ext cx="457200" cy="457200"/>
          </a:xfrm>
          <a:prstGeom prst="ellipse">
            <a:avLst/>
          </a:prstGeom>
          <a:solidFill>
            <a:srgbClr val="C084FC"/>
          </a:solid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C084FC"/>
                </a:solidFill>
              </a:rPr>
              <a:t>Level 7 of 10 · Guru</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A01 · Level 8 · Hacker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file download  ·  Broken Access Control</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app.MapGet("/files/{**name}", (string name)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var p = Path.Combine(@"D:\docs", name);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return Results.File(p);</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Path traversal.</a:t>
            </a:r>
            <a:endParaRPr lang="en-US" sz="1500" dirty="0"/>
          </a:p>
          <a:p>
            <a:pPr indent="0" marL="0">
              <a:buNone/>
            </a:pPr>
            <a:r>
              <a:rPr lang="en-US" sz="1300" dirty="0">
                <a:solidFill>
                  <a:schemeClr val="tx1"/>
                </a:solidFill>
              </a:rPr>
              <a:t>Path.Combine returns the second path if it is rooted, and ".." escapes the folder. Use Path.GetFullPath and check it starts with the base folder plus a separator, or map IDs to files in a table.</a:t>
            </a:r>
            <a:endParaRPr lang="en-US" sz="1500" dirty="0"/>
          </a:p>
        </p:txBody>
      </p:sp>
      <p:sp>
        <p:nvSpPr>
          <p:cNvPr id="12" name="Level badge"/>
          <p:cNvSpPr txBox="1"/>
          <p:nvPr/>
        </p:nvSpPr>
        <p:spPr>
          <a:xfrm>
            <a:off x="457200" y="4224528"/>
            <a:ext cx="457200" cy="457200"/>
          </a:xfrm>
          <a:prstGeom prst="ellipse">
            <a:avLst/>
          </a:prstGeom>
          <a:solidFill>
            <a:srgbClr val="E879F9"/>
          </a:solid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E879F9"/>
                </a:solidFill>
              </a:rPr>
              <a:t>Level 8 of 10 · Hacker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A01 · Level 9 · Wizard</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EF Core 8  ·  Broken Access Control</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GOOD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n = await db.Docs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.Where(d =&gt; d.Id == id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&amp;&amp; d.OwnerId == me)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.ExecuteUpdateAsync(s =&gt; 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.SetProperty(d =&gt; d.Text, dto.Text));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return n == 1 ? Results.NoContent()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 Results.NotFound();</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3"/>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GOOD</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Good: ownership is inside the atomic UPDATE.</a:t>
            </a:r>
            <a:endParaRPr lang="en-US" sz="1500" dirty="0"/>
          </a:p>
          <a:p>
            <a:pPr indent="0" marL="0">
              <a:buNone/>
            </a:pPr>
            <a:r>
              <a:rPr lang="en-US" sz="1200" dirty="0">
                <a:solidFill>
                  <a:schemeClr val="tx1"/>
                </a:solidFill>
              </a:rPr>
              <a:t>No check-then-act race, and 404 hides existence. Still missing: ExecuteUpdate skips change tracking, so SaveChanges interceptors (audit fields, validation) do not run. Add a concurrency token and explicit audit.</a:t>
            </a:r>
            <a:endParaRPr lang="en-US" sz="1500" dirty="0"/>
          </a:p>
        </p:txBody>
      </p:sp>
      <p:sp>
        <p:nvSpPr>
          <p:cNvPr id="12" name="Level badge"/>
          <p:cNvSpPr txBox="1"/>
          <p:nvPr/>
        </p:nvSpPr>
        <p:spPr>
          <a:xfrm>
            <a:off x="457200" y="4224528"/>
            <a:ext cx="457200" cy="457200"/>
          </a:xfrm>
          <a:prstGeom prst="ellipse">
            <a:avLst/>
          </a:prstGeom>
          <a:solidFill>
            <a:srgbClr val="F472B6"/>
          </a:solidFill>
          <a:ln/>
        </p:spPr>
        <p:txBody>
          <a:bodyPr wrap="square" lIns="0" tIns="0" rIns="0" bIns="0" rtlCol="0" anchor="ctr"/>
          <a:lstStyle/>
          <a:p>
            <a:pPr algn="ctr" indent="0" marL="0">
              <a:buNone/>
            </a:pPr>
            <a:r>
              <a:rPr lang="en-US" sz="1800" b="1" dirty="0">
                <a:solidFill>
                  <a:schemeClr val="bg1"/>
                </a:solidFill>
              </a:rPr>
              <a:t>9</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F472B6"/>
                </a:solidFill>
              </a:rPr>
              <a:t>Level 9 of 10 · Wizard</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A01 · Level 10 · Legend</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role claim in a JWT  ·  Broken Access Control</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 access token lifetime: 8 hours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"role": "Admin" is a claim in the token</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[Authorize(Roles = "Admin")]</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[HttpPost("users/{id}/disable")]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public IActionResult Disable(int id)</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_users.Disable(id);</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return NoContent();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09:00 the user is removed from Admin</a:t>
            </a:r>
            <a:endParaRPr lang="en-US" sz="12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Stale role: the token is a snapshot.</a:t>
            </a:r>
            <a:endParaRPr lang="en-US" sz="1500" dirty="0"/>
          </a:p>
          <a:p>
            <a:pPr indent="0" marL="0">
              <a:buNone/>
            </a:pPr>
            <a:r>
              <a:rPr lang="en-US" sz="1300" dirty="0">
                <a:solidFill>
                  <a:schemeClr val="tx1"/>
                </a:solidFill>
              </a:rPr>
              <a:t>The demoted admin keeps access until the token expires at up to 8 hours. Use short lifetimes plus a refresh, and re-check roles or a security stamp on sensitive actions. Allow revocation.</a:t>
            </a:r>
            <a:endParaRPr lang="en-US" sz="1500" dirty="0"/>
          </a:p>
        </p:txBody>
      </p:sp>
      <p:sp>
        <p:nvSpPr>
          <p:cNvPr id="12" name="Level badge"/>
          <p:cNvSpPr txBox="1"/>
          <p:nvPr/>
        </p:nvSpPr>
        <p:spPr>
          <a:xfrm>
            <a:off x="457200" y="4224528"/>
            <a:ext cx="457200" cy="457200"/>
          </a:xfrm>
          <a:prstGeom prst="ellipse">
            <a:avLst/>
          </a:prstGeom>
          <a:solidFill>
            <a:srgbClr val="FDE047"/>
          </a:solidFill>
          <a:ln/>
        </p:spPr>
        <p:txBody>
          <a:bodyPr wrap="square" lIns="0" tIns="0" rIns="0" bIns="0" rtlCol="0" anchor="ctr"/>
          <a:lstStyle/>
          <a:p>
            <a:pPr algn="ctr" indent="0" marL="0">
              <a:buNone/>
            </a:pPr>
            <a:r>
              <a:rPr lang="en-US" sz="1800" b="1" dirty="0">
                <a:solidFill>
                  <a:schemeClr val="bg1"/>
                </a:solidFill>
              </a:rPr>
              <a:t>10</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FDE047"/>
                </a:solidFill>
              </a:rPr>
              <a:t>Level 10 of 10 · Legend</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A02 · Level 1 · Rookie</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Angular · environment.prod.ts  ·  Security Misconfiguration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export const environment =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production: true,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apiUrl: 'https://api.gov.local',</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dbPassword: 'Oracle#2024',</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A secret in the browser bundle.</a:t>
            </a:r>
            <a:endParaRPr lang="en-US" sz="1500" dirty="0"/>
          </a:p>
          <a:p>
            <a:pPr indent="0" marL="0">
              <a:buNone/>
            </a:pPr>
            <a:r>
              <a:rPr lang="en-US" sz="1300" dirty="0">
                <a:solidFill>
                  <a:schemeClr val="tx1"/>
                </a:solidFill>
              </a:rPr>
              <a:t>Everything in environment files ships to every user. Remove dbPassword: the database password lives only on the server, in a protected store.</a:t>
            </a:r>
            <a:endParaRPr lang="en-US" sz="1500" dirty="0"/>
          </a:p>
        </p:txBody>
      </p:sp>
      <p:sp>
        <p:nvSpPr>
          <p:cNvPr id="12" name="Level badge"/>
          <p:cNvSpPr txBox="1"/>
          <p:nvPr/>
        </p:nvSpPr>
        <p:spPr>
          <a:xfrm>
            <a:off x="457200" y="4224528"/>
            <a:ext cx="457200" cy="457200"/>
          </a:xfrm>
          <a:prstGeom prst="ellipse">
            <a:avLst/>
          </a:prstGeom>
          <a:solidFill>
            <a:schemeClr val="accent3"/>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3"/>
                </a:solidFill>
              </a:rPr>
              <a:t>Level 1 of 10 · Rookie</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A02 · Level 2 · Junior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IIS · web.config  ·  Security Misconfiguration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&lt;aspNetCore processPath="dotnet"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arguments=".\Api.dll"&gt;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&lt;environmentVariables&gt;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&lt;environmentVariable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name="ASPNETCORE_ENVIRONMENT"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value="Development" /&gt;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Development mode on the production server.</a:t>
            </a:r>
            <a:endParaRPr lang="en-US" sz="1500" dirty="0"/>
          </a:p>
          <a:p>
            <a:pPr indent="0" marL="0">
              <a:buNone/>
            </a:pPr>
            <a:r>
              <a:rPr lang="en-US" sz="1300" dirty="0">
                <a:solidFill>
                  <a:schemeClr val="tx1"/>
                </a:solidFill>
              </a:rPr>
              <a:t>It turns on the developer exception page and verbose errors. Set ASPNETCORE_ENVIRONMENT to Production.</a:t>
            </a:r>
            <a:endParaRPr lang="en-US" sz="1500" dirty="0"/>
          </a:p>
        </p:txBody>
      </p:sp>
      <p:sp>
        <p:nvSpPr>
          <p:cNvPr id="12" name="Level badge"/>
          <p:cNvSpPr txBox="1"/>
          <p:nvPr/>
        </p:nvSpPr>
        <p:spPr>
          <a:xfrm>
            <a:off x="457200" y="4224528"/>
            <a:ext cx="457200" cy="45720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1"/>
                </a:solidFill>
              </a:rPr>
              <a:t>Level 2 of 10 · Junior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A02 · Level 3 · Developer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CORS  ·  Security Misconfiguration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builder.Services.AddCors(o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o.AddDefaultPolicy(p =&gt; p</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.AllowAnyOrigin()</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.AllowAnyHeader()</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.AllowAnyMethod()));</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Any website may call the API.</a:t>
            </a:r>
            <a:endParaRPr lang="en-US" sz="1500" dirty="0"/>
          </a:p>
          <a:p>
            <a:pPr indent="0" marL="0">
              <a:buNone/>
            </a:pPr>
            <a:r>
              <a:rPr lang="en-US" sz="1300" dirty="0">
                <a:solidFill>
                  <a:schemeClr val="tx1"/>
                </a:solidFill>
              </a:rPr>
              <a:t>Allow only known origins, for example WithOrigins("https://portal.gov.local"), and only the methods and headers you need.</a:t>
            </a:r>
            <a:endParaRPr lang="en-US" sz="1500" dirty="0"/>
          </a:p>
        </p:txBody>
      </p:sp>
      <p:sp>
        <p:nvSpPr>
          <p:cNvPr id="12" name="Level badge"/>
          <p:cNvSpPr txBox="1"/>
          <p:nvPr/>
        </p:nvSpPr>
        <p:spPr>
          <a:xfrm>
            <a:off x="457200" y="4224528"/>
            <a:ext cx="457200" cy="45720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5"/>
                </a:solidFill>
              </a:rPr>
              <a:t>Level 3 of 10 · Developer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A02 · Level 4 · Senior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IIS · web.config  ·  Security Misconfiguration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GOOD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&lt;httpProtocol&gt;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&lt;customHeaders&gt;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&lt;remove name="X-Powered-By"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&lt;add name="X-Content-Type-Options"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value="nosniff"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&lt;add name="Strict-Transport-Security"</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value="max-age=31536000" /&gt;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3"/>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GOOD</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Good hardening.</a:t>
            </a:r>
            <a:endParaRPr lang="en-US" sz="1500" dirty="0"/>
          </a:p>
          <a:p>
            <a:pPr indent="0" marL="0">
              <a:buNone/>
            </a:pPr>
            <a:r>
              <a:rPr lang="en-US" sz="1300" dirty="0">
                <a:solidFill>
                  <a:schemeClr val="tx1"/>
                </a:solidFill>
              </a:rPr>
              <a:t>It removes the version-leaking header and adds nosniff and HSTS. Still missing: Content-Security-Policy and frame-ancestors.</a:t>
            </a:r>
            <a:endParaRPr lang="en-US" sz="1500" dirty="0"/>
          </a:p>
        </p:txBody>
      </p:sp>
      <p:sp>
        <p:nvSpPr>
          <p:cNvPr id="12" name="Level badge"/>
          <p:cNvSpPr txBox="1"/>
          <p:nvPr/>
        </p:nvSpPr>
        <p:spPr>
          <a:xfrm>
            <a:off x="457200" y="4224528"/>
            <a:ext cx="457200" cy="457200"/>
          </a:xfrm>
          <a:prstGeom prst="ellipse">
            <a:avLst/>
          </a:prstGeom>
          <a:solidFill>
            <a:schemeClr val="accent4"/>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4"/>
                </a:solidFill>
              </a:rPr>
              <a:t>Level 4 of 10 · Senior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A02 · Level 5 · Expert</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Angular · angular.json  ·  Security Misconfiguration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"configurations":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"production":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"optimization": false,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"sourceMap": true,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"namedChunks": true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Source maps in production.</a:t>
            </a:r>
            <a:endParaRPr lang="en-US" sz="1500" dirty="0"/>
          </a:p>
          <a:p>
            <a:pPr indent="0" marL="0">
              <a:buNone/>
            </a:pPr>
            <a:r>
              <a:rPr lang="en-US" sz="1300" dirty="0">
                <a:solidFill>
                  <a:schemeClr val="tx1"/>
                </a:solidFill>
              </a:rPr>
              <a:t>Users can read your original TypeScript and look for weak spots. Set sourceMap to false (or hidden) and optimization to true.</a:t>
            </a:r>
            <a:endParaRPr lang="en-US" sz="1500" dirty="0"/>
          </a:p>
        </p:txBody>
      </p:sp>
      <p:sp>
        <p:nvSpPr>
          <p:cNvPr id="12" name="Level badge"/>
          <p:cNvSpPr txBox="1"/>
          <p:nvPr/>
        </p:nvSpPr>
        <p:spPr>
          <a:xfrm>
            <a:off x="457200" y="4224528"/>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2"/>
                </a:solidFill>
              </a:rPr>
              <a:t>Level 5 of 10 · Expert</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A02 · Level 6 · Master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CORS  ·  Security Misconfiguration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builder.Services.AddCors(o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o.AddPolicy("web", p =&gt; p</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.SetIsOriginAllowed(_ =&gt; true)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.AllowCredentials()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.AllowAnyHeader()</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.AllowAnyMethod()));</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Every origin is allowed, with cookies.</a:t>
            </a:r>
            <a:endParaRPr lang="en-US" sz="1500" dirty="0"/>
          </a:p>
          <a:p>
            <a:pPr indent="0" marL="0">
              <a:buNone/>
            </a:pPr>
            <a:r>
              <a:rPr lang="en-US" sz="1300" dirty="0">
                <a:solidFill>
                  <a:schemeClr val="tx1"/>
                </a:solidFill>
              </a:rPr>
              <a:t>SetIsOriginAllowed(_ =&gt; true) reflects any Origin and AllowCredentials sends cookies, so any website can call the API as the logged-in user. Use WithOrigins(explicit list).</a:t>
            </a:r>
            <a:endParaRPr lang="en-US" sz="1500" dirty="0"/>
          </a:p>
        </p:txBody>
      </p:sp>
      <p:sp>
        <p:nvSpPr>
          <p:cNvPr id="12" name="Level badge"/>
          <p:cNvSpPr txBox="1"/>
          <p:nvPr/>
        </p:nvSpPr>
        <p:spPr>
          <a:xfrm>
            <a:off x="457200" y="4224528"/>
            <a:ext cx="457200" cy="457200"/>
          </a:xfrm>
          <a:prstGeom prst="ellipse">
            <a:avLst/>
          </a:prstGeom>
          <a:solidFill>
            <a:srgbClr val="A78BFA"/>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A78BFA"/>
                </a:solidFill>
              </a:rPr>
              <a:t>Level 6 of 10 · Master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A02 · Level 7 · Guru</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forwarded headers  ·  Security Misconfiguration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builder.Services.Configure&lt;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ForwardedHeadersOptions&gt;(o =&gt;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o.ForwardedHeaders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ForwardedHeaders.XForwardedFor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ForwardedHeaders.XForwardedProto;</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o.KnownNetworks.Clear();</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o.KnownProxies.Clear();</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Anyone can spoof the client IP.</a:t>
            </a:r>
            <a:endParaRPr lang="en-US" sz="1500" dirty="0"/>
          </a:p>
          <a:p>
            <a:pPr indent="0" marL="0">
              <a:buNone/>
            </a:pPr>
            <a:r>
              <a:rPr lang="en-US" sz="1300" dirty="0">
                <a:solidFill>
                  <a:schemeClr val="tx1"/>
                </a:solidFill>
              </a:rPr>
              <a:t>Clearing the trusted proxies makes the app believe any X-Forwarded-For header. Attackers bypass IP allow-lists and rate limits and poison logs. Add only your reverse proxy to KnownProxies.</a:t>
            </a:r>
            <a:endParaRPr lang="en-US" sz="1500" dirty="0"/>
          </a:p>
        </p:txBody>
      </p:sp>
      <p:sp>
        <p:nvSpPr>
          <p:cNvPr id="12" name="Level badge"/>
          <p:cNvSpPr txBox="1"/>
          <p:nvPr/>
        </p:nvSpPr>
        <p:spPr>
          <a:xfrm>
            <a:off x="457200" y="4224528"/>
            <a:ext cx="457200" cy="457200"/>
          </a:xfrm>
          <a:prstGeom prst="ellipse">
            <a:avLst/>
          </a:prstGeom>
          <a:solidFill>
            <a:srgbClr val="C084FC"/>
          </a:solid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C084FC"/>
                </a:solidFill>
              </a:rPr>
              <a:t>Level 7 of 10 · Guru</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A02 · Level 8 · Hacker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IIS · web.config  ·  Security Misconfiguration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&lt;requestFiltering allowDoubleEscaping="true"&gt;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&lt;hiddenSegments&gt;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&lt;remove segment="bin"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&lt;/hiddenSegments&gt;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&lt;fileExtensions allowUnlisted="true"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&lt;/requestFiltering&gt;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Request filtering is weakened three ways.</a:t>
            </a:r>
            <a:endParaRPr lang="en-US" sz="1500" dirty="0"/>
          </a:p>
          <a:p>
            <a:pPr indent="0" marL="0">
              <a:buNone/>
            </a:pPr>
            <a:r>
              <a:rPr lang="en-US" sz="1300" dirty="0">
                <a:solidFill>
                  <a:schemeClr val="tx1"/>
                </a:solidFill>
              </a:rPr>
              <a:t>Double escaping lets encoded tricks pass URL rules, removing the hidden bin segment can expose DLLs, and allowUnlisted opens every extension. Keep the defaults and add deny rules instead.</a:t>
            </a:r>
            <a:endParaRPr lang="en-US" sz="1500" dirty="0"/>
          </a:p>
        </p:txBody>
      </p:sp>
      <p:sp>
        <p:nvSpPr>
          <p:cNvPr id="12" name="Level badge"/>
          <p:cNvSpPr txBox="1"/>
          <p:nvPr/>
        </p:nvSpPr>
        <p:spPr>
          <a:xfrm>
            <a:off x="457200" y="4224528"/>
            <a:ext cx="457200" cy="457200"/>
          </a:xfrm>
          <a:prstGeom prst="ellipse">
            <a:avLst/>
          </a:prstGeom>
          <a:solidFill>
            <a:srgbClr val="E879F9"/>
          </a:solid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E879F9"/>
                </a:solidFill>
              </a:rPr>
              <a:t>Level 8 of 10 · Hacker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A02 · Level 9 · Wizard</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HTTP header · CSP  ·  Security Misconfiguration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Content-Security-Policy:</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default-src 'self';</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script-src 'self' 'unsafe-inline'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'unsafe-eval' https://cdn.corp;</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style-src 'self' 'unsafe-inline'</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The CSP does not stop XSS.</a:t>
            </a:r>
            <a:endParaRPr lang="en-US" sz="1500" dirty="0"/>
          </a:p>
          <a:p>
            <a:pPr indent="0" marL="0">
              <a:buNone/>
            </a:pPr>
            <a:r>
              <a:rPr lang="en-US" sz="1300" dirty="0">
                <a:solidFill>
                  <a:schemeClr val="tx1"/>
                </a:solidFill>
              </a:rPr>
              <a:t>unsafe-inline and unsafe-eval in script-src let injected scripts run. Use nonces or hashes (Angular supports ngCspNonce), no eval, and avoid whole-host allowances that can serve gadgets.</a:t>
            </a:r>
            <a:endParaRPr lang="en-US" sz="1500" dirty="0"/>
          </a:p>
        </p:txBody>
      </p:sp>
      <p:sp>
        <p:nvSpPr>
          <p:cNvPr id="12" name="Level badge"/>
          <p:cNvSpPr txBox="1"/>
          <p:nvPr/>
        </p:nvSpPr>
        <p:spPr>
          <a:xfrm>
            <a:off x="457200" y="4224528"/>
            <a:ext cx="457200" cy="457200"/>
          </a:xfrm>
          <a:prstGeom prst="ellipse">
            <a:avLst/>
          </a:prstGeom>
          <a:solidFill>
            <a:srgbClr val="F472B6"/>
          </a:solidFill>
          <a:ln/>
        </p:spPr>
        <p:txBody>
          <a:bodyPr wrap="square" lIns="0" tIns="0" rIns="0" bIns="0" rtlCol="0" anchor="ctr"/>
          <a:lstStyle/>
          <a:p>
            <a:pPr algn="ctr" indent="0" marL="0">
              <a:buNone/>
            </a:pPr>
            <a:r>
              <a:rPr lang="en-US" sz="1800" b="1" dirty="0">
                <a:solidFill>
                  <a:schemeClr val="bg1"/>
                </a:solidFill>
              </a:rPr>
              <a:t>9</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F472B6"/>
                </a:solidFill>
              </a:rPr>
              <a:t>Level 9 of 10 · Wizard</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A02 · Level 10 · Legend</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Oracle · sqlnet.ora  ·  Security Misconfiguration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database server</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SQLNET.ENCRYPTION_SERVER = accepted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SQLNET.CRYPTO_CHECKSUM_SERVER = accepted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SQLNET.ENCRYPTION_TYPES_SERVER = (RC4_256)</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SQLNET.CRYPTO_CHECKSUM_TYPES_SERVER = (MD5)</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Encryption is optional and weak.</a:t>
            </a:r>
            <a:endParaRPr lang="en-US" sz="1500" dirty="0"/>
          </a:p>
          <a:p>
            <a:pPr indent="0" marL="0">
              <a:buNone/>
            </a:pPr>
            <a:r>
              <a:rPr lang="en-US" sz="1300" dirty="0">
                <a:solidFill>
                  <a:schemeClr val="tx1"/>
                </a:solidFill>
              </a:rPr>
              <a:t>"accepted" encrypts only if the client asks, so a downgrade or a misconfigured client sends clear text. RC4 and MD5 are obsolete. Use REQUIRED, AES256 and SHA256 or later, or TLS.</a:t>
            </a:r>
            <a:endParaRPr lang="en-US" sz="1500" dirty="0"/>
          </a:p>
        </p:txBody>
      </p:sp>
      <p:sp>
        <p:nvSpPr>
          <p:cNvPr id="12" name="Level badge"/>
          <p:cNvSpPr txBox="1"/>
          <p:nvPr/>
        </p:nvSpPr>
        <p:spPr>
          <a:xfrm>
            <a:off x="457200" y="4224528"/>
            <a:ext cx="457200" cy="457200"/>
          </a:xfrm>
          <a:prstGeom prst="ellipse">
            <a:avLst/>
          </a:prstGeom>
          <a:solidFill>
            <a:srgbClr val="FDE047"/>
          </a:solidFill>
          <a:ln/>
        </p:spPr>
        <p:txBody>
          <a:bodyPr wrap="square" lIns="0" tIns="0" rIns="0" bIns="0" rtlCol="0" anchor="ctr"/>
          <a:lstStyle/>
          <a:p>
            <a:pPr algn="ctr" indent="0" marL="0">
              <a:buNone/>
            </a:pPr>
            <a:r>
              <a:rPr lang="en-US" sz="1800" b="1" dirty="0">
                <a:solidFill>
                  <a:schemeClr val="bg1"/>
                </a:solidFill>
              </a:rPr>
              <a:t>10</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FDE047"/>
                </a:solidFill>
              </a:rPr>
              <a:t>Level 10 of 10 · Legend</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A03 · Level 1 · Rookie</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Angular · package.json  ·  Supply Chain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"dependencies":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"@angular/core": "latest",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"lodash":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"some-lib": "^2.0.0"</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Unpinned dependencies.</a:t>
            </a:r>
            <a:endParaRPr lang="en-US" sz="1500" dirty="0"/>
          </a:p>
          <a:p>
            <a:pPr indent="0" marL="0">
              <a:buNone/>
            </a:pPr>
            <a:r>
              <a:rPr lang="en-US" sz="1300" dirty="0">
                <a:solidFill>
                  <a:schemeClr val="tx1"/>
                </a:solidFill>
              </a:rPr>
              <a:t>Builds differ between machines and a bad release is pulled automatically. Pin exact versions and commit package-lock.json.</a:t>
            </a:r>
            <a:endParaRPr lang="en-US" sz="1500" dirty="0"/>
          </a:p>
        </p:txBody>
      </p:sp>
      <p:sp>
        <p:nvSpPr>
          <p:cNvPr id="12" name="Level badge"/>
          <p:cNvSpPr txBox="1"/>
          <p:nvPr/>
        </p:nvSpPr>
        <p:spPr>
          <a:xfrm>
            <a:off x="457200" y="4224528"/>
            <a:ext cx="457200" cy="457200"/>
          </a:xfrm>
          <a:prstGeom prst="ellipse">
            <a:avLst/>
          </a:prstGeom>
          <a:solidFill>
            <a:schemeClr val="accent3"/>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3"/>
                </a:solidFill>
              </a:rPr>
              <a:t>Level 1 of 10 · Rookie</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A03 · Level 2 · Junior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CI · shell script  ·  Supply Chain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GOOD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npm ci --ignore-scripts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dotnet restore --locked-mode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npm audit --omit=dev</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3"/>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GOOD</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Repeatable and cautious.</a:t>
            </a:r>
            <a:endParaRPr lang="en-US" sz="1500" dirty="0"/>
          </a:p>
          <a:p>
            <a:pPr indent="0" marL="0">
              <a:buNone/>
            </a:pPr>
            <a:r>
              <a:rPr lang="en-US" sz="1300" dirty="0">
                <a:solidFill>
                  <a:schemeClr val="tx1"/>
                </a:solidFill>
              </a:rPr>
              <a:t>npm ci installs exactly the lockfile, locked-mode does the same for NuGet, and --ignore-scripts blocks malicious install scripts. Run the audit on the online side.</a:t>
            </a:r>
            <a:endParaRPr lang="en-US" sz="1500" dirty="0"/>
          </a:p>
        </p:txBody>
      </p:sp>
      <p:sp>
        <p:nvSpPr>
          <p:cNvPr id="12" name="Level badge"/>
          <p:cNvSpPr txBox="1"/>
          <p:nvPr/>
        </p:nvSpPr>
        <p:spPr>
          <a:xfrm>
            <a:off x="457200" y="4224528"/>
            <a:ext cx="457200" cy="45720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1"/>
                </a:solidFill>
              </a:rPr>
              <a:t>Level 2 of 10 · Junior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A03 · Level 3 · Developer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NuGet.config on an offline network  ·  Supply Chain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&lt;packageSources&gt;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&lt;add key="nuget.org"</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value=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"https://api.nuget.org/v3/index.json"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&lt;/packageSources&gt;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Public feed on an air-gapped build.</a:t>
            </a:r>
            <a:endParaRPr lang="en-US" sz="1500" dirty="0"/>
          </a:p>
          <a:p>
            <a:pPr indent="0" marL="0">
              <a:buNone/>
            </a:pPr>
            <a:r>
              <a:rPr lang="en-US" sz="1300" dirty="0">
                <a:solidFill>
                  <a:schemeClr val="tx1"/>
                </a:solidFill>
              </a:rPr>
              <a:t>Use only the internal mirror: add &lt;clear /&gt; and then the internal source. Packages are reviewed before they are imported.</a:t>
            </a:r>
            <a:endParaRPr lang="en-US" sz="1500" dirty="0"/>
          </a:p>
        </p:txBody>
      </p:sp>
      <p:sp>
        <p:nvSpPr>
          <p:cNvPr id="12" name="Level badge"/>
          <p:cNvSpPr txBox="1"/>
          <p:nvPr/>
        </p:nvSpPr>
        <p:spPr>
          <a:xfrm>
            <a:off x="457200" y="4224528"/>
            <a:ext cx="457200" cy="45720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5"/>
                </a:solidFill>
              </a:rPr>
              <a:t>Level 3 of 10 · Developer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A03 · Level 4 · Senior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.csproj  ·  Supply Chain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&lt;PackageReference Include="Newtonsoft.Json"</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Version="*"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&lt;PackageReference Include="Serilog"</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Version="[2.0,)" /&gt;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Floating versions.</a:t>
            </a:r>
            <a:endParaRPr lang="en-US" sz="1500" dirty="0"/>
          </a:p>
          <a:p>
            <a:pPr indent="0" marL="0">
              <a:buNone/>
            </a:pPr>
            <a:r>
              <a:rPr lang="en-US" sz="1300" dirty="0">
                <a:solidFill>
                  <a:schemeClr val="tx1"/>
                </a:solidFill>
              </a:rPr>
              <a:t>Any new release, good or malicious, is pulled on the next restore. Pin exact versions and enable RestorePackagesWithLockFile.</a:t>
            </a:r>
            <a:endParaRPr lang="en-US" sz="1500" dirty="0"/>
          </a:p>
        </p:txBody>
      </p:sp>
      <p:sp>
        <p:nvSpPr>
          <p:cNvPr id="12" name="Level badge"/>
          <p:cNvSpPr txBox="1"/>
          <p:nvPr/>
        </p:nvSpPr>
        <p:spPr>
          <a:xfrm>
            <a:off x="457200" y="4224528"/>
            <a:ext cx="457200" cy="457200"/>
          </a:xfrm>
          <a:prstGeom prst="ellipse">
            <a:avLst/>
          </a:prstGeom>
          <a:solidFill>
            <a:schemeClr val="accent4"/>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4"/>
                </a:solidFill>
              </a:rPr>
              <a:t>Level 4 of 10 · Senior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A03 · Level 5 · Expert</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NuGet.config  ·  Supply Chain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GOOD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&lt;packageSources&gt;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&lt;clear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&lt;add key="internal"</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value="https://nuget.gov.local/v3"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&lt;/packageSources&gt;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&lt;packageSourceMapping&gt;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&lt;packageSource key="internal"&gt;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&lt;package pattern="*" /&gt;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3"/>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GOOD</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Internal feed only.</a:t>
            </a:r>
            <a:endParaRPr lang="en-US" sz="1500" dirty="0"/>
          </a:p>
          <a:p>
            <a:pPr indent="0" marL="0">
              <a:buNone/>
            </a:pPr>
            <a:r>
              <a:rPr lang="en-US" sz="1300" dirty="0">
                <a:solidFill>
                  <a:schemeClr val="tx1"/>
                </a:solidFill>
              </a:rPr>
              <a:t>&lt;clear /&gt; removes the public sources, and source mapping stops dependency confusion if more feeds are added later.</a:t>
            </a:r>
            <a:endParaRPr lang="en-US" sz="1500" dirty="0"/>
          </a:p>
        </p:txBody>
      </p:sp>
      <p:sp>
        <p:nvSpPr>
          <p:cNvPr id="12" name="Level badge"/>
          <p:cNvSpPr txBox="1"/>
          <p:nvPr/>
        </p:nvSpPr>
        <p:spPr>
          <a:xfrm>
            <a:off x="457200" y="4224528"/>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2"/>
                </a:solidFill>
              </a:rPr>
              <a:t>Level 5 of 10 · Expert</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A03 · Level 6 · Master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NuGet.config · dependency confusion  ·  Supply Chain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&lt;packageSources&gt;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&lt;add key="internal"</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value="https://nuget.corp/v3"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&lt;add key="public"</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value="https://nuget.org/v3"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&lt;/packageSources&gt;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&lt;!-- Corp.Billing.Core: internal only --&gt;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Dependency confusion.</a:t>
            </a:r>
            <a:endParaRPr lang="en-US" sz="1500" dirty="0"/>
          </a:p>
          <a:p>
            <a:pPr indent="0" marL="0">
              <a:buNone/>
            </a:pPr>
            <a:r>
              <a:rPr lang="en-US" sz="1300" dirty="0">
                <a:solidFill>
                  <a:schemeClr val="tx1"/>
                </a:solidFill>
              </a:rPr>
              <a:t>With two sources NuGet may pick the best version from either. An attacker publishes Corp.Billing.Core 99.0 on the public feed. Use packageSourceMapping so the internal prefix resolves only internally.</a:t>
            </a:r>
            <a:endParaRPr lang="en-US" sz="1500" dirty="0"/>
          </a:p>
        </p:txBody>
      </p:sp>
      <p:sp>
        <p:nvSpPr>
          <p:cNvPr id="12" name="Level badge"/>
          <p:cNvSpPr txBox="1"/>
          <p:nvPr/>
        </p:nvSpPr>
        <p:spPr>
          <a:xfrm>
            <a:off x="457200" y="4224528"/>
            <a:ext cx="457200" cy="457200"/>
          </a:xfrm>
          <a:prstGeom prst="ellipse">
            <a:avLst/>
          </a:prstGeom>
          <a:solidFill>
            <a:srgbClr val="A78BFA"/>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A78BFA"/>
                </a:solidFill>
              </a:rPr>
              <a:t>Level 6 of 10 · Master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A03 · Level 7 · Guru</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package-lock.json · pull request diff  ·  Supply Chain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"node_modules/left-pad":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"version": "1.3.0",</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"resolved":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"https://files.evil.example/lp-1.3.0.tgz",</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"integrity": "sha512-Zq9..."</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Lockfile poisoning.</a:t>
            </a:r>
            <a:endParaRPr lang="en-US" sz="1500" dirty="0"/>
          </a:p>
          <a:p>
            <a:pPr indent="0" marL="0">
              <a:buNone/>
            </a:pPr>
            <a:r>
              <a:rPr lang="en-US" sz="1300" dirty="0">
                <a:solidFill>
                  <a:schemeClr val="tx1"/>
                </a:solidFill>
              </a:rPr>
              <a:t>The version looks unchanged, but resolved points to a different host with its own integrity hash. Reviewers skip lockfile diffs. Enforce allowed hosts with lockfile-lint, add code owners and run npm ci.</a:t>
            </a:r>
            <a:endParaRPr lang="en-US" sz="1500" dirty="0"/>
          </a:p>
        </p:txBody>
      </p:sp>
      <p:sp>
        <p:nvSpPr>
          <p:cNvPr id="12" name="Level badge"/>
          <p:cNvSpPr txBox="1"/>
          <p:nvPr/>
        </p:nvSpPr>
        <p:spPr>
          <a:xfrm>
            <a:off x="457200" y="4224528"/>
            <a:ext cx="457200" cy="457200"/>
          </a:xfrm>
          <a:prstGeom prst="ellipse">
            <a:avLst/>
          </a:prstGeom>
          <a:solidFill>
            <a:srgbClr val="C084FC"/>
          </a:solid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C084FC"/>
                </a:solidFill>
              </a:rPr>
              <a:t>Level 7 of 10 · Guru</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A03 · Level 8 · Hacker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PowerShell · build.ps1  ·  Supply Chain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GOOD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dotnet restore --locked-mode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dotnet nuget verify (Get-ChildItem *.nupkg)</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dotnet build -c Release --no-restore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NuGet.config:</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signatureValidationMode = require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trustedSigners = internal repository</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3"/>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GOOD</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Good: locked graph and required signatures.</a:t>
            </a:r>
            <a:endParaRPr lang="en-US" sz="1500" dirty="0"/>
          </a:p>
          <a:p>
            <a:pPr indent="0" marL="0">
              <a:buNone/>
            </a:pPr>
            <a:r>
              <a:rPr lang="en-US" sz="1200" dirty="0">
                <a:solidFill>
                  <a:schemeClr val="tx1"/>
                </a:solidFill>
              </a:rPr>
              <a:t>Locked mode stops drift and require mode checks signatures against trusted signers. Still missing: a signature proves who published a package, not that it is safe. Scan, review new dependencies, build in a sandbox.</a:t>
            </a:r>
            <a:endParaRPr lang="en-US" sz="1500" dirty="0"/>
          </a:p>
        </p:txBody>
      </p:sp>
      <p:sp>
        <p:nvSpPr>
          <p:cNvPr id="12" name="Level badge"/>
          <p:cNvSpPr txBox="1"/>
          <p:nvPr/>
        </p:nvSpPr>
        <p:spPr>
          <a:xfrm>
            <a:off x="457200" y="4224528"/>
            <a:ext cx="457200" cy="457200"/>
          </a:xfrm>
          <a:prstGeom prst="ellipse">
            <a:avLst/>
          </a:prstGeom>
          <a:solidFill>
            <a:srgbClr val="E879F9"/>
          </a:solid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E879F9"/>
                </a:solidFill>
              </a:rPr>
              <a:t>Level 8 of 10 · Hacker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A03 · Level 9 · Wizard</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MSBuild · csproj  ·  Supply Chain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&lt;PackageReference Include="Corp.Tools"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Version="[1.2.3]"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&lt;!-- locked restore: on, hash: verified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&lt;!-- the package ships a build/*.targets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file with an &lt;Exec&gt; task --&gt;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Pinned, locked, and still runs its code.</a:t>
            </a:r>
            <a:endParaRPr lang="en-US" sz="1500" dirty="0"/>
          </a:p>
          <a:p>
            <a:pPr indent="0" marL="0">
              <a:buNone/>
            </a:pPr>
            <a:r>
              <a:rPr lang="en-US" sz="1200" dirty="0">
                <a:solidFill>
                  <a:schemeClr val="tx1"/>
                </a:solidFill>
              </a:rPr>
              <a:t>Packages can run code at build time through MSBuild targets, analyzers and source generators, on your build agent. Pinning does not help if the pinned package is hostile. Review such packages and build with least privilege.</a:t>
            </a:r>
            <a:endParaRPr lang="en-US" sz="1500" dirty="0"/>
          </a:p>
        </p:txBody>
      </p:sp>
      <p:sp>
        <p:nvSpPr>
          <p:cNvPr id="12" name="Level badge"/>
          <p:cNvSpPr txBox="1"/>
          <p:nvPr/>
        </p:nvSpPr>
        <p:spPr>
          <a:xfrm>
            <a:off x="457200" y="4224528"/>
            <a:ext cx="457200" cy="457200"/>
          </a:xfrm>
          <a:prstGeom prst="ellipse">
            <a:avLst/>
          </a:prstGeom>
          <a:solidFill>
            <a:srgbClr val="F472B6"/>
          </a:solidFill>
          <a:ln/>
        </p:spPr>
        <p:txBody>
          <a:bodyPr wrap="square" lIns="0" tIns="0" rIns="0" bIns="0" rtlCol="0" anchor="ctr"/>
          <a:lstStyle/>
          <a:p>
            <a:pPr algn="ctr" indent="0" marL="0">
              <a:buNone/>
            </a:pPr>
            <a:r>
              <a:rPr lang="en-US" sz="1800" b="1" dirty="0">
                <a:solidFill>
                  <a:schemeClr val="bg1"/>
                </a:solidFill>
              </a:rPr>
              <a:t>9</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F472B6"/>
                </a:solidFill>
              </a:rPr>
              <a:t>Level 9 of 10 · Wizard</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A03 · Level 10 · Legend</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Angular · package.json  ·  Supply Chain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"dependencies":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"@corp/ui": "^3.1.0",</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"chart-x":</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"github:dev42/chart-x#main"</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A moving git branch is a dependency.</a:t>
            </a:r>
            <a:endParaRPr lang="en-US" sz="1500" dirty="0"/>
          </a:p>
          <a:p>
            <a:pPr indent="0" marL="0">
              <a:buNone/>
            </a:pPr>
            <a:r>
              <a:rPr lang="en-US" sz="1300" dirty="0">
                <a:solidFill>
                  <a:schemeClr val="tx1"/>
                </a:solidFill>
              </a:rPr>
              <a:t>It bypasses the internal registry and its scanning, and each install can fetch different code from outside. Publish an exact version to the internal registry, and reject git and URL dependencies in CI.</a:t>
            </a:r>
            <a:endParaRPr lang="en-US" sz="1500" dirty="0"/>
          </a:p>
        </p:txBody>
      </p:sp>
      <p:sp>
        <p:nvSpPr>
          <p:cNvPr id="12" name="Level badge"/>
          <p:cNvSpPr txBox="1"/>
          <p:nvPr/>
        </p:nvSpPr>
        <p:spPr>
          <a:xfrm>
            <a:off x="457200" y="4224528"/>
            <a:ext cx="457200" cy="457200"/>
          </a:xfrm>
          <a:prstGeom prst="ellipse">
            <a:avLst/>
          </a:prstGeom>
          <a:solidFill>
            <a:srgbClr val="FDE047"/>
          </a:solidFill>
          <a:ln/>
        </p:spPr>
        <p:txBody>
          <a:bodyPr wrap="square" lIns="0" tIns="0" rIns="0" bIns="0" rtlCol="0" anchor="ctr"/>
          <a:lstStyle/>
          <a:p>
            <a:pPr algn="ctr" indent="0" marL="0">
              <a:buNone/>
            </a:pPr>
            <a:r>
              <a:rPr lang="en-US" sz="1800" b="1" dirty="0">
                <a:solidFill>
                  <a:schemeClr val="bg1"/>
                </a:solidFill>
              </a:rPr>
              <a:t>10</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FDE047"/>
                </a:solidFill>
              </a:rPr>
              <a:t>Level 10 of 10 · Legend</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A04 · Level 1 · Rookie</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password storage  ·  Cryptographic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hash = Convert.ToBase64String(</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MD5.HashData(</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Encoding.UTF8.GetBytes(password)));</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MD5 for passwords.</a:t>
            </a:r>
            <a:endParaRPr lang="en-US" sz="1500" dirty="0"/>
          </a:p>
          <a:p>
            <a:pPr indent="0" marL="0">
              <a:buNone/>
            </a:pPr>
            <a:r>
              <a:rPr lang="en-US" sz="1300" dirty="0">
                <a:solidFill>
                  <a:schemeClr val="tx1"/>
                </a:solidFill>
              </a:rPr>
              <a:t>It is fast and unsalted, so it is cracked in seconds. Use PasswordHasher&lt;T&gt; (PBKDF2), bcrypt or Argon2.</a:t>
            </a:r>
            <a:endParaRPr lang="en-US" sz="1500" dirty="0"/>
          </a:p>
        </p:txBody>
      </p:sp>
      <p:sp>
        <p:nvSpPr>
          <p:cNvPr id="12" name="Level badge"/>
          <p:cNvSpPr txBox="1"/>
          <p:nvPr/>
        </p:nvSpPr>
        <p:spPr>
          <a:xfrm>
            <a:off x="457200" y="4224528"/>
            <a:ext cx="457200" cy="457200"/>
          </a:xfrm>
          <a:prstGeom prst="ellipse">
            <a:avLst/>
          </a:prstGeom>
          <a:solidFill>
            <a:schemeClr val="accent3"/>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3"/>
                </a:solidFill>
              </a:rPr>
              <a:t>Level 1 of 10 · Rookie</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A04 · Level 2 · Junior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Angular · TypeScript  ·  Cryptographic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const SECRET = 'k3y-2024';</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const enc = CryptoJS.AES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.encrypt(JSON.stringify(form), SECRET)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.toString();</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http.post('/api/save', { enc });</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The key is public.</a:t>
            </a:r>
            <a:endParaRPr lang="en-US" sz="1500" dirty="0"/>
          </a:p>
          <a:p>
            <a:pPr indent="0" marL="0">
              <a:buNone/>
            </a:pPr>
            <a:r>
              <a:rPr lang="en-US" sz="1300" dirty="0">
                <a:solidFill>
                  <a:schemeClr val="tx1"/>
                </a:solidFill>
              </a:rPr>
              <a:t>Anyone can read SECRET in the bundle. Use HTTPS to protect data in transit and encrypt or hash on the server.</a:t>
            </a:r>
            <a:endParaRPr lang="en-US" sz="1500" dirty="0"/>
          </a:p>
        </p:txBody>
      </p:sp>
      <p:sp>
        <p:nvSpPr>
          <p:cNvPr id="12" name="Level badge"/>
          <p:cNvSpPr txBox="1"/>
          <p:nvPr/>
        </p:nvSpPr>
        <p:spPr>
          <a:xfrm>
            <a:off x="457200" y="4224528"/>
            <a:ext cx="457200" cy="45720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1"/>
                </a:solidFill>
              </a:rPr>
              <a:t>Level 2 of 10 · Junior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A04 · Level 3 · Developer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HttpClient  ·  Cryptographic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handler = new HttpClientHandler</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ServerCertificateCustomValidationCallback</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 (m, c, chain, errors) =&gt; true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Certificate validation turned off.</a:t>
            </a:r>
            <a:endParaRPr lang="en-US" sz="1500" dirty="0"/>
          </a:p>
          <a:p>
            <a:pPr indent="0" marL="0">
              <a:buNone/>
            </a:pPr>
            <a:r>
              <a:rPr lang="en-US" sz="1300" dirty="0">
                <a:solidFill>
                  <a:schemeClr val="tx1"/>
                </a:solidFill>
              </a:rPr>
              <a:t>A man-in-the-middle is accepted without a warning. Install the internal CA on the machine and keep normal validation.</a:t>
            </a:r>
            <a:endParaRPr lang="en-US" sz="1500" dirty="0"/>
          </a:p>
        </p:txBody>
      </p:sp>
      <p:sp>
        <p:nvSpPr>
          <p:cNvPr id="12" name="Level badge"/>
          <p:cNvSpPr txBox="1"/>
          <p:nvPr/>
        </p:nvSpPr>
        <p:spPr>
          <a:xfrm>
            <a:off x="457200" y="4224528"/>
            <a:ext cx="457200" cy="45720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5"/>
                </a:solidFill>
              </a:rPr>
              <a:t>Level 3 of 10 · Developer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A04 · Level 4 · Senior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ASP.NET Core Identity  ·  Cryptographic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GOOD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hasher = new PasswordHasher&lt;User&gt;();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user.PasswordHash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hasher.HashPassword(user, input);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r = hasher.VerifyHashedPassword(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user, user.PasswordHash, input);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3"/>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GOOD</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Salted, slow hashing.</a:t>
            </a:r>
            <a:endParaRPr lang="en-US" sz="1500" dirty="0"/>
          </a:p>
          <a:p>
            <a:pPr indent="0" marL="0">
              <a:buNone/>
            </a:pPr>
            <a:r>
              <a:rPr lang="en-US" sz="1300" dirty="0">
                <a:solidFill>
                  <a:schemeClr val="tx1"/>
                </a:solidFill>
              </a:rPr>
              <a:t>PasswordHasher uses PBKDF2 with a random salt. Check the result: SuccessRehashNeeded means the hash should be upgraded.</a:t>
            </a:r>
            <a:endParaRPr lang="en-US" sz="1500" dirty="0"/>
          </a:p>
        </p:txBody>
      </p:sp>
      <p:sp>
        <p:nvSpPr>
          <p:cNvPr id="12" name="Level badge"/>
          <p:cNvSpPr txBox="1"/>
          <p:nvPr/>
        </p:nvSpPr>
        <p:spPr>
          <a:xfrm>
            <a:off x="457200" y="4224528"/>
            <a:ext cx="457200" cy="457200"/>
          </a:xfrm>
          <a:prstGeom prst="ellipse">
            <a:avLst/>
          </a:prstGeom>
          <a:solidFill>
            <a:schemeClr val="accent4"/>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4"/>
                </a:solidFill>
              </a:rPr>
              <a:t>Level 4 of 10 · Senior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A04 · Level 5 · Expert</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AES  ·  Cryptographic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using var aes = Aes.Create();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aes.Key = key;</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aes.IV = new byte[16];</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aes.Mode = CipherMode.CBC;</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ct = aes.CreateEncryptor()</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.TransformFinalBlock(d, 0, d.Length);</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Fixed IV and no integrity check.</a:t>
            </a:r>
            <a:endParaRPr lang="en-US" sz="1500" dirty="0"/>
          </a:p>
          <a:p>
            <a:pPr indent="0" marL="0">
              <a:buNone/>
            </a:pPr>
            <a:r>
              <a:rPr lang="en-US" sz="1300" dirty="0">
                <a:solidFill>
                  <a:schemeClr val="tx1"/>
                </a:solidFill>
              </a:rPr>
              <a:t>An all-zero IV repeats patterns, and CBC does not detect tampering. Use AesGcm with a new random nonce for every message.</a:t>
            </a:r>
            <a:endParaRPr lang="en-US" sz="1500" dirty="0"/>
          </a:p>
        </p:txBody>
      </p:sp>
      <p:sp>
        <p:nvSpPr>
          <p:cNvPr id="12" name="Level badge"/>
          <p:cNvSpPr txBox="1"/>
          <p:nvPr/>
        </p:nvSpPr>
        <p:spPr>
          <a:xfrm>
            <a:off x="457200" y="4224528"/>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2"/>
                </a:solidFill>
              </a:rPr>
              <a:t>Level 5 of 10 · Expert</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A04 · Level 6 · Master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webhook signature  ·  Cryptographic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mac = hmac.ComputeHash(body);</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sent = Convert.FromBase64String(sig);</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if (mac.SequenceEqual(sent))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Process(body);</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else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return Results.Unauthorized();</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Timing leak in the comparison.</a:t>
            </a:r>
            <a:endParaRPr lang="en-US" sz="1500" dirty="0"/>
          </a:p>
          <a:p>
            <a:pPr indent="0" marL="0">
              <a:buNone/>
            </a:pPr>
            <a:r>
              <a:rPr lang="en-US" sz="1300" dirty="0">
                <a:solidFill>
                  <a:schemeClr val="tx1"/>
                </a:solidFill>
              </a:rPr>
              <a:t>SequenceEqual stops at the first different byte, so response time reveals how many bytes match and the MAC can be guessed byte by byte. Use CryptographicOperations.FixedTimeEquals.</a:t>
            </a:r>
            <a:endParaRPr lang="en-US" sz="1500" dirty="0"/>
          </a:p>
        </p:txBody>
      </p:sp>
      <p:sp>
        <p:nvSpPr>
          <p:cNvPr id="12" name="Level badge"/>
          <p:cNvSpPr txBox="1"/>
          <p:nvPr/>
        </p:nvSpPr>
        <p:spPr>
          <a:xfrm>
            <a:off x="457200" y="4224528"/>
            <a:ext cx="457200" cy="457200"/>
          </a:xfrm>
          <a:prstGeom prst="ellipse">
            <a:avLst/>
          </a:prstGeom>
          <a:solidFill>
            <a:srgbClr val="A78BFA"/>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A78BFA"/>
                </a:solidFill>
              </a:rPr>
              <a:t>Level 6 of 10 · Master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80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A04 · Level 7 · Guru</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AES-GCM  ·  Cryptographic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static readonly byte[] Nonce = new byte[12];</a:t>
            </a:r>
            <a:endParaRPr lang="en-US" sz="1200" dirty="0"/>
          </a:p>
          <a:p>
            <a:pPr indent="0" marL="0">
              <a:buNone/>
            </a:pP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byte[] Enc(byte[] key, byte[] data)</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using var g = new AesGcm(key, 16);</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var tag = new byte[16];</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var c = new byte[data.Length];</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g.Encrypt(Nonce, data, c, tag);</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return c.Concat(tag).ToArray();</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The same nonce is used every time.</a:t>
            </a:r>
            <a:endParaRPr lang="en-US" sz="1500" dirty="0"/>
          </a:p>
          <a:p>
            <a:pPr indent="0" marL="0">
              <a:buNone/>
            </a:pPr>
            <a:r>
              <a:rPr lang="en-US" sz="1300" dirty="0">
                <a:solidFill>
                  <a:schemeClr val="tx1"/>
                </a:solidFill>
              </a:rPr>
              <a:t>Nonce reuse breaks GCM completely: XOR of two ciphertexts leaks plaintext and the authentication key can be recovered, enabling forgeries. Use a fresh unique 12-byte nonce per message and store it with the data.</a:t>
            </a:r>
            <a:endParaRPr lang="en-US" sz="1500" dirty="0"/>
          </a:p>
        </p:txBody>
      </p:sp>
      <p:sp>
        <p:nvSpPr>
          <p:cNvPr id="12" name="Level badge"/>
          <p:cNvSpPr txBox="1"/>
          <p:nvPr/>
        </p:nvSpPr>
        <p:spPr>
          <a:xfrm>
            <a:off x="457200" y="4224528"/>
            <a:ext cx="457200" cy="457200"/>
          </a:xfrm>
          <a:prstGeom prst="ellipse">
            <a:avLst/>
          </a:prstGeom>
          <a:solidFill>
            <a:srgbClr val="C084FC"/>
          </a:solid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C084FC"/>
                </a:solidFill>
              </a:rPr>
              <a:t>Level 7 of 10 · Guru</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81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A04 · Level 8 · Hacker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JWT key resolver  ·  Cryptographic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IssuerSigningKeyResolver = (t, st, kid, p)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var sql = "SELECT k FROM keys WHERE id='"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 kid +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return new[] { LoadKey(sql)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The kid header is attacker input.</a:t>
            </a:r>
            <a:endParaRPr lang="en-US" sz="1500" dirty="0"/>
          </a:p>
          <a:p>
            <a:pPr indent="0" marL="0">
              <a:buNone/>
            </a:pPr>
            <a:r>
              <a:rPr lang="en-US" sz="1300" dirty="0">
                <a:solidFill>
                  <a:schemeClr val="tx1"/>
                </a:solidFill>
              </a:rPr>
              <a:t>It is read before the signature is verified, so it is both SQL injection and a way to pick a key the attacker controls. Look kid up in a fixed in-memory allow-list of trusted keys, never in a query built from it.</a:t>
            </a:r>
            <a:endParaRPr lang="en-US" sz="1500" dirty="0"/>
          </a:p>
        </p:txBody>
      </p:sp>
      <p:sp>
        <p:nvSpPr>
          <p:cNvPr id="12" name="Level badge"/>
          <p:cNvSpPr txBox="1"/>
          <p:nvPr/>
        </p:nvSpPr>
        <p:spPr>
          <a:xfrm>
            <a:off x="457200" y="4224528"/>
            <a:ext cx="457200" cy="457200"/>
          </a:xfrm>
          <a:prstGeom prst="ellipse">
            <a:avLst/>
          </a:prstGeom>
          <a:solidFill>
            <a:srgbClr val="E879F9"/>
          </a:solid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E879F9"/>
                </a:solidFill>
              </a:rPr>
              <a:t>Level 8 of 10 · Hacker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82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A04 · Level 9 · Wizard</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Oracle · DBMS_CRYPTO  ·  Cryptographic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SELECT k INTO v_key FROM app_keys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WHERE id = 1;</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v_enc := DBMS_CRYPTO.ENCRYPT(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UTL_RAW.CAST_TO_RAW(p_ssn),</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DBMS_CRYPTO.ENCRYPT_AES256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DBMS_CRYPTO.CHAIN_ECB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DBMS_CRYPTO.PAD_PKCS5,</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v_key);</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ECB mode, and the key sits next to the data.</a:t>
            </a:r>
            <a:endParaRPr lang="en-US" sz="1500" dirty="0"/>
          </a:p>
          <a:p>
            <a:pPr indent="0" marL="0">
              <a:buNone/>
            </a:pPr>
            <a:r>
              <a:rPr lang="en-US" sz="1200" dirty="0">
                <a:solidFill>
                  <a:schemeClr val="tx1"/>
                </a:solidFill>
              </a:rPr>
              <a:t>ECB gives equal ciphertext for equal values, which leaks patterns. A database dump contains both key and data. Use TDE with a wallet or HSM, or CBC with a random IV plus an HMAC, and keep keys outside the database.</a:t>
            </a:r>
            <a:endParaRPr lang="en-US" sz="1500" dirty="0"/>
          </a:p>
        </p:txBody>
      </p:sp>
      <p:sp>
        <p:nvSpPr>
          <p:cNvPr id="12" name="Level badge"/>
          <p:cNvSpPr txBox="1"/>
          <p:nvPr/>
        </p:nvSpPr>
        <p:spPr>
          <a:xfrm>
            <a:off x="457200" y="4224528"/>
            <a:ext cx="457200" cy="457200"/>
          </a:xfrm>
          <a:prstGeom prst="ellipse">
            <a:avLst/>
          </a:prstGeom>
          <a:solidFill>
            <a:srgbClr val="F472B6"/>
          </a:solidFill>
          <a:ln/>
        </p:spPr>
        <p:txBody>
          <a:bodyPr wrap="square" lIns="0" tIns="0" rIns="0" bIns="0" rtlCol="0" anchor="ctr"/>
          <a:lstStyle/>
          <a:p>
            <a:pPr algn="ctr" indent="0" marL="0">
              <a:buNone/>
            </a:pPr>
            <a:r>
              <a:rPr lang="en-US" sz="1800" b="1" dirty="0">
                <a:solidFill>
                  <a:schemeClr val="bg1"/>
                </a:solidFill>
              </a:rPr>
              <a:t>9</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F472B6"/>
                </a:solidFill>
              </a:rPr>
              <a:t>Level 9 of 10 · Wizard</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83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A04 · Level 10 · Legend</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password login  ·  Cryptographic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r = hasher.VerifyHashedPassword(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u, u.Hash, pw);</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if (r == PasswordVerificationResult.Failed)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return Results.Unauthorized();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return SignIn(u);</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Old weak hashes never get upgraded.</a:t>
            </a:r>
            <a:endParaRPr lang="en-US" sz="1500" dirty="0"/>
          </a:p>
          <a:p>
            <a:pPr indent="0" marL="0">
              <a:buNone/>
            </a:pPr>
            <a:r>
              <a:rPr lang="en-US" sz="1300" dirty="0">
                <a:solidFill>
                  <a:schemeClr val="tx1"/>
                </a:solidFill>
              </a:rPr>
              <a:t>SuccessRehashNeeded counts as success but the hash is not replaced, so weak legacy hashes live on forever. On SuccessRehashNeeded save a new hash, and keep timing equal for unknown users.</a:t>
            </a:r>
            <a:endParaRPr lang="en-US" sz="1500" dirty="0"/>
          </a:p>
        </p:txBody>
      </p:sp>
      <p:sp>
        <p:nvSpPr>
          <p:cNvPr id="12" name="Level badge"/>
          <p:cNvSpPr txBox="1"/>
          <p:nvPr/>
        </p:nvSpPr>
        <p:spPr>
          <a:xfrm>
            <a:off x="457200" y="4224528"/>
            <a:ext cx="457200" cy="457200"/>
          </a:xfrm>
          <a:prstGeom prst="ellipse">
            <a:avLst/>
          </a:prstGeom>
          <a:solidFill>
            <a:srgbClr val="FDE047"/>
          </a:solidFill>
          <a:ln/>
        </p:spPr>
        <p:txBody>
          <a:bodyPr wrap="square" lIns="0" tIns="0" rIns="0" bIns="0" rtlCol="0" anchor="ctr"/>
          <a:lstStyle/>
          <a:p>
            <a:pPr algn="ctr" indent="0" marL="0">
              <a:buNone/>
            </a:pPr>
            <a:r>
              <a:rPr lang="en-US" sz="1800" b="1" dirty="0">
                <a:solidFill>
                  <a:schemeClr val="bg1"/>
                </a:solidFill>
              </a:rPr>
              <a:t>10</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FDE047"/>
                </a:solidFill>
              </a:rPr>
              <a:t>Level 10 of 10 · Legend</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84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A05 · Level 1 · Rookie</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SQL Server  ·  Injection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sql = "SELECT * FROM Users "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"WHERE Name = '" + name +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cmd = new SqlCommand(sql, conn);</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SQL injection.</a:t>
            </a:r>
            <a:endParaRPr lang="en-US" sz="1500" dirty="0"/>
          </a:p>
          <a:p>
            <a:pPr indent="0" marL="0">
              <a:buNone/>
            </a:pPr>
            <a:r>
              <a:rPr lang="en-US" sz="1300" dirty="0">
                <a:solidFill>
                  <a:schemeClr val="tx1"/>
                </a:solidFill>
              </a:rPr>
              <a:t>Input becomes SQL: name = ' OR 1=1 -- returns every user. Use WHERE Name = @name and add a typed SqlParameter.</a:t>
            </a:r>
            <a:endParaRPr lang="en-US" sz="1500" dirty="0"/>
          </a:p>
        </p:txBody>
      </p:sp>
      <p:sp>
        <p:nvSpPr>
          <p:cNvPr id="12" name="Level badge"/>
          <p:cNvSpPr txBox="1"/>
          <p:nvPr/>
        </p:nvSpPr>
        <p:spPr>
          <a:xfrm>
            <a:off x="457200" y="4224528"/>
            <a:ext cx="457200" cy="457200"/>
          </a:xfrm>
          <a:prstGeom prst="ellipse">
            <a:avLst/>
          </a:prstGeom>
          <a:solidFill>
            <a:schemeClr val="accent3"/>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3"/>
                </a:solidFill>
              </a:rPr>
              <a:t>Level 1 of 10 · Rookie</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85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A05 · Level 2 · Junior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Oracle (ODP.NET)  ·  Injection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GOOD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cmd.BindByName = true;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cmd.CommandText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"SELECT id FROM docs WHERE owner = :o";</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cmd.Parameters.Add(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new OracleParameter(":o", userId));</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3"/>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GOOD</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Bind variable.</a:t>
            </a:r>
            <a:endParaRPr lang="en-US" sz="1500" dirty="0"/>
          </a:p>
          <a:p>
            <a:pPr indent="0" marL="0">
              <a:buNone/>
            </a:pPr>
            <a:r>
              <a:rPr lang="en-US" sz="1300" dirty="0">
                <a:solidFill>
                  <a:schemeClr val="tx1"/>
                </a:solidFill>
              </a:rPr>
              <a:t>The value is never part of the SQL text. BindByName = true makes named binds match by name instead of by position.</a:t>
            </a:r>
            <a:endParaRPr lang="en-US" sz="1500" dirty="0"/>
          </a:p>
        </p:txBody>
      </p:sp>
      <p:sp>
        <p:nvSpPr>
          <p:cNvPr id="12" name="Level badge"/>
          <p:cNvSpPr txBox="1"/>
          <p:nvPr/>
        </p:nvSpPr>
        <p:spPr>
          <a:xfrm>
            <a:off x="457200" y="4224528"/>
            <a:ext cx="457200" cy="45720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1"/>
                </a:solidFill>
              </a:rPr>
              <a:t>Level 2 of 10 · Junior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86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A05 · Level 3 · Developer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Angular · component  ·  Injection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@Component({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template: '&lt;p [innerHTML]="html"&gt;&lt;/p&gt;'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export class Note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html = this.sanitizer</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.bypassSecurityTrustHtml(this.text);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Sanitizer switched off (XSS).</a:t>
            </a:r>
            <a:endParaRPr lang="en-US" sz="1500" dirty="0"/>
          </a:p>
          <a:p>
            <a:pPr indent="0" marL="0">
              <a:buNone/>
            </a:pPr>
            <a:r>
              <a:rPr lang="en-US" sz="1300" dirty="0">
                <a:solidFill>
                  <a:schemeClr val="tx1"/>
                </a:solidFill>
              </a:rPr>
              <a:t>bypassSecurityTrustHtml lets script inside user text run. Remove it: Angular sanitizes [innerHTML] itself, or just use {{ text }}.</a:t>
            </a:r>
            <a:endParaRPr lang="en-US" sz="1500" dirty="0"/>
          </a:p>
        </p:txBody>
      </p:sp>
      <p:sp>
        <p:nvSpPr>
          <p:cNvPr id="12" name="Level badge"/>
          <p:cNvSpPr txBox="1"/>
          <p:nvPr/>
        </p:nvSpPr>
        <p:spPr>
          <a:xfrm>
            <a:off x="457200" y="4224528"/>
            <a:ext cx="457200" cy="45720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5"/>
                </a:solidFill>
              </a:rPr>
              <a:t>Level 3 of 10 · Developer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87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A05 · Level 4 · Senior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EF Core with SQLite  ·  Injection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rows = db.Notes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.FromSqlRaw(</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$"SELECT * FROM Notes WHERE T = '{t}'")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.ToList();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Interpolation inside FromSqlRaw.</a:t>
            </a:r>
            <a:endParaRPr lang="en-US" sz="1500" dirty="0"/>
          </a:p>
          <a:p>
            <a:pPr indent="0" marL="0">
              <a:buNone/>
            </a:pPr>
            <a:r>
              <a:rPr lang="en-US" sz="1300" dirty="0">
                <a:solidFill>
                  <a:schemeClr val="tx1"/>
                </a:solidFill>
              </a:rPr>
              <a:t>The $"..." string is built before EF sees it, so nothing is parameterized. Use FromSqlInterpolated, or {0} placeholders with parameters.</a:t>
            </a:r>
            <a:endParaRPr lang="en-US" sz="1500" dirty="0"/>
          </a:p>
        </p:txBody>
      </p:sp>
      <p:sp>
        <p:nvSpPr>
          <p:cNvPr id="12" name="Level badge"/>
          <p:cNvSpPr txBox="1"/>
          <p:nvPr/>
        </p:nvSpPr>
        <p:spPr>
          <a:xfrm>
            <a:off x="457200" y="4224528"/>
            <a:ext cx="457200" cy="457200"/>
          </a:xfrm>
          <a:prstGeom prst="ellipse">
            <a:avLst/>
          </a:prstGeom>
          <a:solidFill>
            <a:schemeClr val="accent4"/>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4"/>
                </a:solidFill>
              </a:rPr>
              <a:t>Level 4 of 10 · Senior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88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A05 · Level 5 · Expert</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Oracle · PL/SQL  ·  Injection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EXECUTE IMMEDIATE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'SELECT COUNT(*) FROM docs WHERE owner =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 p_owner</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INTO v_count;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Dynamic SQL built by concatenation.</a:t>
            </a:r>
            <a:endParaRPr lang="en-US" sz="1500" dirty="0"/>
          </a:p>
          <a:p>
            <a:pPr indent="0" marL="0">
              <a:buNone/>
            </a:pPr>
            <a:r>
              <a:rPr lang="en-US" sz="1300" dirty="0">
                <a:solidFill>
                  <a:schemeClr val="tx1"/>
                </a:solidFill>
              </a:rPr>
              <a:t>Pass the value as a bind: ... owner = :1 USING p_owner. For table or column names use DBMS_ASSERT or a fixed allow-list.</a:t>
            </a:r>
            <a:endParaRPr lang="en-US" sz="1500" dirty="0"/>
          </a:p>
        </p:txBody>
      </p:sp>
      <p:sp>
        <p:nvSpPr>
          <p:cNvPr id="12" name="Level badge"/>
          <p:cNvSpPr txBox="1"/>
          <p:nvPr/>
        </p:nvSpPr>
        <p:spPr>
          <a:xfrm>
            <a:off x="457200" y="4224528"/>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2"/>
                </a:solidFill>
              </a:rPr>
              <a:t>Level 5 of 10 · Expert</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89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A05 · Level 6 · Master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ODP.NET  ·  Injection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sql = "SELECT * FROM docs WHERE o = :o"</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 " ORDER BY " + sortCol + " " + dir;</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cmd.CommandText = sql;</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cmd.Parameters.Add(":o", owner);</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Bind variables cover values only.</a:t>
            </a:r>
            <a:endParaRPr lang="en-US" sz="1500" dirty="0"/>
          </a:p>
          <a:p>
            <a:pPr indent="0" marL="0">
              <a:buNone/>
            </a:pPr>
            <a:r>
              <a:rPr lang="en-US" sz="1300" dirty="0">
                <a:solidFill>
                  <a:schemeClr val="tx1"/>
                </a:solidFill>
              </a:rPr>
              <a:t>Column and direction are concatenated, so they are injectable (including blind attacks through CASE expressions). Map the sort field to an allow-list of column names and accept only ASC or DESC.</a:t>
            </a:r>
            <a:endParaRPr lang="en-US" sz="1500" dirty="0"/>
          </a:p>
        </p:txBody>
      </p:sp>
      <p:sp>
        <p:nvSpPr>
          <p:cNvPr id="12" name="Level badge"/>
          <p:cNvSpPr txBox="1"/>
          <p:nvPr/>
        </p:nvSpPr>
        <p:spPr>
          <a:xfrm>
            <a:off x="457200" y="4224528"/>
            <a:ext cx="457200" cy="457200"/>
          </a:xfrm>
          <a:prstGeom prst="ellipse">
            <a:avLst/>
          </a:prstGeom>
          <a:solidFill>
            <a:srgbClr val="A78BFA"/>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A78BFA"/>
                </a:solidFill>
              </a:rPr>
              <a:t>Level 6 of 10 · Master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90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A05 · Level 7 · Guru</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SQL Server · second-order injection  ·  Injection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-- 1) sign-up: parameterized, safe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INSERT INTO users(name) VALUES (@n);</a:t>
            </a:r>
            <a:endParaRPr lang="en-US" sz="1300" dirty="0"/>
          </a:p>
          <a:p>
            <a:pPr indent="0" marL="0">
              <a:spcAft>
                <a:spcPts val="400"/>
              </a:spcAft>
              <a:buNone/>
            </a:pP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-- 2) nightly job</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SET @sql = N'UPDATE stats SET c = c + 1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 N'WHERE u = ''' + @name + N'''';</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EXEC (@sql);</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Second-order injection.</a:t>
            </a:r>
            <a:endParaRPr lang="en-US" sz="1500" dirty="0"/>
          </a:p>
          <a:p>
            <a:pPr indent="0" marL="0">
              <a:buNone/>
            </a:pPr>
            <a:r>
              <a:rPr lang="en-US" sz="1300" dirty="0">
                <a:solidFill>
                  <a:schemeClr val="tx1"/>
                </a:solidFill>
              </a:rPr>
              <a:t>The stored name was safe on the way in, but the job trusts the database. A name such as x'; DROP TABLE... runs later. Use sp_executesql with parameters, and treat stored data as untrusted.</a:t>
            </a:r>
            <a:endParaRPr lang="en-US" sz="1500" dirty="0"/>
          </a:p>
        </p:txBody>
      </p:sp>
      <p:sp>
        <p:nvSpPr>
          <p:cNvPr id="12" name="Level badge"/>
          <p:cNvSpPr txBox="1"/>
          <p:nvPr/>
        </p:nvSpPr>
        <p:spPr>
          <a:xfrm>
            <a:off x="457200" y="4224528"/>
            <a:ext cx="457200" cy="457200"/>
          </a:xfrm>
          <a:prstGeom prst="ellipse">
            <a:avLst/>
          </a:prstGeom>
          <a:solidFill>
            <a:srgbClr val="C084FC"/>
          </a:solid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C084FC"/>
                </a:solidFill>
              </a:rPr>
              <a:t>Level 7 of 10 · Guru</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91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A05 · Level 8 · Hacker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System.Linq.Dynamic.Core  ·  Injection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q = db.Docs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.Where(filterFromQueryString)</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.OrderBy(sortFromQueryString);</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?filter=Owner == "bob"&amp;sort=Title</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Expression injection.</a:t>
            </a:r>
            <a:endParaRPr lang="en-US" sz="1500" dirty="0"/>
          </a:p>
          <a:p>
            <a:pPr indent="0" marL="0">
              <a:buNone/>
            </a:pPr>
            <a:r>
              <a:rPr lang="en-US" sz="1300" dirty="0">
                <a:solidFill>
                  <a:schemeClr val="tx1"/>
                </a:solidFill>
              </a:rPr>
              <a:t>Dynamic LINQ parses user text into code expressions. Attackers reach unintended members and methods and bypass filters, and some versions allowed code execution. Map allowed fields to typed expressions instead.</a:t>
            </a:r>
            <a:endParaRPr lang="en-US" sz="1500" dirty="0"/>
          </a:p>
        </p:txBody>
      </p:sp>
      <p:sp>
        <p:nvSpPr>
          <p:cNvPr id="12" name="Level badge"/>
          <p:cNvSpPr txBox="1"/>
          <p:nvPr/>
        </p:nvSpPr>
        <p:spPr>
          <a:xfrm>
            <a:off x="457200" y="4224528"/>
            <a:ext cx="457200" cy="457200"/>
          </a:xfrm>
          <a:prstGeom prst="ellipse">
            <a:avLst/>
          </a:prstGeom>
          <a:solidFill>
            <a:srgbClr val="E879F9"/>
          </a:solid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E879F9"/>
                </a:solidFill>
              </a:rPr>
              <a:t>Level 8 of 10 · Hacker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92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A05 · Level 9 · Wizard</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Angular · login.component.ts  ·  Injection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const next = this.route.snapshot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.queryParamMap.get('next');</a:t>
            </a:r>
            <a:endParaRPr lang="en-US" sz="1300" dirty="0"/>
          </a:p>
          <a:p>
            <a:pPr indent="0" marL="0">
              <a:spcAft>
                <a:spcPts val="400"/>
              </a:spcAft>
              <a:buNone/>
            </a:pP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this.auth.login(user, pass).subscribe(()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window.location.href = next!;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Open redirect and DOM XSS.</a:t>
            </a:r>
            <a:endParaRPr lang="en-US" sz="1500" dirty="0"/>
          </a:p>
          <a:p>
            <a:pPr indent="0" marL="0">
              <a:buNone/>
            </a:pPr>
            <a:r>
              <a:rPr lang="en-US" sz="1300" dirty="0">
                <a:solidFill>
                  <a:schemeClr val="tx1"/>
                </a:solidFill>
              </a:rPr>
              <a:t>A crafted link with next=javascript:... runs a script, and next=https://evil.example redirects after a real login. Accept only relative paths (starts with one slash, not //) and use router.navigateByUrl.</a:t>
            </a:r>
            <a:endParaRPr lang="en-US" sz="1500" dirty="0"/>
          </a:p>
        </p:txBody>
      </p:sp>
      <p:sp>
        <p:nvSpPr>
          <p:cNvPr id="12" name="Level badge"/>
          <p:cNvSpPr txBox="1"/>
          <p:nvPr/>
        </p:nvSpPr>
        <p:spPr>
          <a:xfrm>
            <a:off x="457200" y="4224528"/>
            <a:ext cx="457200" cy="457200"/>
          </a:xfrm>
          <a:prstGeom prst="ellipse">
            <a:avLst/>
          </a:prstGeom>
          <a:solidFill>
            <a:srgbClr val="F472B6"/>
          </a:solidFill>
          <a:ln/>
        </p:spPr>
        <p:txBody>
          <a:bodyPr wrap="square" lIns="0" tIns="0" rIns="0" bIns="0" rtlCol="0" anchor="ctr"/>
          <a:lstStyle/>
          <a:p>
            <a:pPr algn="ctr" indent="0" marL="0">
              <a:buNone/>
            </a:pPr>
            <a:r>
              <a:rPr lang="en-US" sz="1800" b="1" dirty="0">
                <a:solidFill>
                  <a:schemeClr val="bg1"/>
                </a:solidFill>
              </a:rPr>
              <a:t>9</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F472B6"/>
                </a:solidFill>
              </a:rPr>
              <a:t>Level 9 of 10 · Wizard</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93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A05 · Level 10 · Legend</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Oracle · PL/SQL  ·  Injection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v_t := DBMS_ASSERT.SIMPLE_SQL_NAME(p_tab);</a:t>
            </a:r>
            <a:endParaRPr lang="en-US" sz="1300" dirty="0"/>
          </a:p>
          <a:p>
            <a:pPr indent="0" marL="0">
              <a:spcAft>
                <a:spcPts val="400"/>
              </a:spcAft>
              <a:buNone/>
            </a:pP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EXECUTE IMMEDIATE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'SELECT COUNT(*) FROM ' || v_t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INTO v_n;</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procedure is AUTHID DEFINER</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Valid syntax is not permission.</a:t>
            </a:r>
            <a:endParaRPr lang="en-US" sz="1500" dirty="0"/>
          </a:p>
          <a:p>
            <a:pPr indent="0" marL="0">
              <a:buNone/>
            </a:pPr>
            <a:r>
              <a:rPr lang="en-US" sz="1300" dirty="0">
                <a:solidFill>
                  <a:schemeClr val="tx1"/>
                </a:solidFill>
              </a:rPr>
              <a:t>SIMPLE_SQL_NAME checks only the format, so the caller can name any table the owner can read, for example a salaries table. Use an allow-list, AUTHID CURRENT_USER, and treat validation as separate from authorization.</a:t>
            </a:r>
            <a:endParaRPr lang="en-US" sz="1500" dirty="0"/>
          </a:p>
        </p:txBody>
      </p:sp>
      <p:sp>
        <p:nvSpPr>
          <p:cNvPr id="12" name="Level badge"/>
          <p:cNvSpPr txBox="1"/>
          <p:nvPr/>
        </p:nvSpPr>
        <p:spPr>
          <a:xfrm>
            <a:off x="457200" y="4224528"/>
            <a:ext cx="457200" cy="457200"/>
          </a:xfrm>
          <a:prstGeom prst="ellipse">
            <a:avLst/>
          </a:prstGeom>
          <a:solidFill>
            <a:srgbClr val="FDE047"/>
          </a:solidFill>
          <a:ln/>
        </p:spPr>
        <p:txBody>
          <a:bodyPr wrap="square" lIns="0" tIns="0" rIns="0" bIns="0" rtlCol="0" anchor="ctr"/>
          <a:lstStyle/>
          <a:p>
            <a:pPr algn="ctr" indent="0" marL="0">
              <a:buNone/>
            </a:pPr>
            <a:r>
              <a:rPr lang="en-US" sz="1800" b="1" dirty="0">
                <a:solidFill>
                  <a:schemeClr val="bg1"/>
                </a:solidFill>
              </a:rPr>
              <a:t>10</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FDE047"/>
                </a:solidFill>
              </a:rPr>
              <a:t>Level 10 of 10 · Legend</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94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A06 · Level 1 · Rookie</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approval endpoint  ·  Insecure Design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app.MapPost("/requests/{id}/approve",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(int id, Db db)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var r = db.Requests.Find(id);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r.Status = "Approved";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db.SaveChanges();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}).RequireAuthorization();</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Any logged-in user can approve.</a:t>
            </a:r>
            <a:endParaRPr lang="en-US" sz="1500" dirty="0"/>
          </a:p>
          <a:p>
            <a:pPr indent="0" marL="0">
              <a:buNone/>
            </a:pPr>
            <a:r>
              <a:rPr lang="en-US" sz="1300" dirty="0">
                <a:solidFill>
                  <a:schemeClr val="tx1"/>
                </a:solidFill>
              </a:rPr>
              <a:t>That includes the requester. Enforce separation of duties on the server: Approver role and r.RequesterId != userId.</a:t>
            </a:r>
            <a:endParaRPr lang="en-US" sz="1500" dirty="0"/>
          </a:p>
        </p:txBody>
      </p:sp>
      <p:sp>
        <p:nvSpPr>
          <p:cNvPr id="12" name="Level badge"/>
          <p:cNvSpPr txBox="1"/>
          <p:nvPr/>
        </p:nvSpPr>
        <p:spPr>
          <a:xfrm>
            <a:off x="457200" y="4224528"/>
            <a:ext cx="457200" cy="457200"/>
          </a:xfrm>
          <a:prstGeom prst="ellipse">
            <a:avLst/>
          </a:prstGeom>
          <a:solidFill>
            <a:schemeClr val="accent3"/>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3"/>
                </a:solidFill>
              </a:rPr>
              <a:t>Level 1 of 10 · Rookie</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95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A06 · Level 2 · Junior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Angular · checkout  ·  Insecure Design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total = this.price * this.qty;</a:t>
            </a:r>
            <a:endParaRPr lang="en-US" sz="1300" dirty="0"/>
          </a:p>
          <a:p>
            <a:pPr indent="0" marL="0">
              <a:spcAft>
                <a:spcPts val="400"/>
              </a:spcAft>
              <a:buNone/>
            </a:pP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pay()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this.http.post('/api/pay',</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 total: this.total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The client decides the price.</a:t>
            </a:r>
            <a:endParaRPr lang="en-US" sz="1500" dirty="0"/>
          </a:p>
          <a:p>
            <a:pPr indent="0" marL="0">
              <a:buNone/>
            </a:pPr>
            <a:r>
              <a:rPr lang="en-US" sz="1300" dirty="0">
                <a:solidFill>
                  <a:schemeClr val="tx1"/>
                </a:solidFill>
              </a:rPr>
              <a:t>A user can edit the total in the dev tools. The server must read the price from the database and compute the total itself.</a:t>
            </a:r>
            <a:endParaRPr lang="en-US" sz="1500" dirty="0"/>
          </a:p>
        </p:txBody>
      </p:sp>
      <p:sp>
        <p:nvSpPr>
          <p:cNvPr id="12" name="Level badge"/>
          <p:cNvSpPr txBox="1"/>
          <p:nvPr/>
        </p:nvSpPr>
        <p:spPr>
          <a:xfrm>
            <a:off x="457200" y="4224528"/>
            <a:ext cx="457200" cy="45720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1"/>
                </a:solidFill>
              </a:rPr>
              <a:t>Level 2 of 10 · Junior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96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A06 · Level 3 · Developer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password reset  ·  Insecure Design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code = Random.Shared.Next(1000, 9999);</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store[email] = code;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await Send(email, code);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POST /verify: unlimited attempts,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code never expires</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Weak design.</a:t>
            </a:r>
            <a:endParaRPr lang="en-US" sz="1500" dirty="0"/>
          </a:p>
          <a:p>
            <a:pPr indent="0" marL="0">
              <a:buNone/>
            </a:pPr>
            <a:r>
              <a:rPr lang="en-US" sz="1300" dirty="0">
                <a:solidFill>
                  <a:schemeClr val="tx1"/>
                </a:solidFill>
              </a:rPr>
              <a:t>A guessable 4-digit code with no expiry and no attempt limit can be brute-forced. Use RandomNumberGenerator, a longer one-time code, expiry and lockout.</a:t>
            </a:r>
            <a:endParaRPr lang="en-US" sz="1500" dirty="0"/>
          </a:p>
        </p:txBody>
      </p:sp>
      <p:sp>
        <p:nvSpPr>
          <p:cNvPr id="12" name="Level badge"/>
          <p:cNvSpPr txBox="1"/>
          <p:nvPr/>
        </p:nvSpPr>
        <p:spPr>
          <a:xfrm>
            <a:off x="457200" y="4224528"/>
            <a:ext cx="457200" cy="45720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5"/>
                </a:solidFill>
              </a:rPr>
              <a:t>Level 3 of 10 · Developer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97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A06 · Level 4 · Senior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approval rule  ·  Insecure Design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GOOD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if (req.RequesterId == user.Id)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return Results.Forbid();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if (!user.IsInRole("Approver"))</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return Results.Forbid();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req.Approve(user.Id);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await db.SaveChangesAsync();</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3"/>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GOOD</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Separation of duties on the server.</a:t>
            </a:r>
            <a:endParaRPr lang="en-US" sz="1500" dirty="0"/>
          </a:p>
          <a:p>
            <a:pPr indent="0" marL="0">
              <a:buNone/>
            </a:pPr>
            <a:r>
              <a:rPr lang="en-US" sz="1300" dirty="0">
                <a:solidFill>
                  <a:schemeClr val="tx1"/>
                </a:solidFill>
              </a:rPr>
              <a:t>The requester cannot approve, only approvers can, and Approve records who did it. Also log the event for audit.</a:t>
            </a:r>
            <a:endParaRPr lang="en-US" sz="1500" dirty="0"/>
          </a:p>
        </p:txBody>
      </p:sp>
      <p:sp>
        <p:nvSpPr>
          <p:cNvPr id="12" name="Level badge"/>
          <p:cNvSpPr txBox="1"/>
          <p:nvPr/>
        </p:nvSpPr>
        <p:spPr>
          <a:xfrm>
            <a:off x="457200" y="4224528"/>
            <a:ext cx="457200" cy="457200"/>
          </a:xfrm>
          <a:prstGeom prst="ellipse">
            <a:avLst/>
          </a:prstGeom>
          <a:solidFill>
            <a:schemeClr val="accent4"/>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4"/>
                </a:solidFill>
              </a:rPr>
              <a:t>Level 4 of 10 · Senior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98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A06 · Level 5 · Expert</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EF Core  ·  Insecure Design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acct = await db.Accounts.FindAsync(id);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if (acct.Balance &gt;= amount)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acct.Balance -= amount;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await db.SaveChangesAsync();</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Race condition.</a:t>
            </a:r>
            <a:endParaRPr lang="en-US" sz="1500" dirty="0"/>
          </a:p>
          <a:p>
            <a:pPr indent="0" marL="0">
              <a:buNone/>
            </a:pPr>
            <a:r>
              <a:rPr lang="en-US" sz="1300" dirty="0">
                <a:solidFill>
                  <a:schemeClr val="tx1"/>
                </a:solidFill>
              </a:rPr>
              <a:t>Two parallel requests both pass the check and overdraw the account. Use a rowversion concurrency token, a transaction, or an atomic UPDATE ... WHERE Balance &gt;= @amount.</a:t>
            </a:r>
            <a:endParaRPr lang="en-US" sz="1500" dirty="0"/>
          </a:p>
        </p:txBody>
      </p:sp>
      <p:sp>
        <p:nvSpPr>
          <p:cNvPr id="12" name="Level badge"/>
          <p:cNvSpPr txBox="1"/>
          <p:nvPr/>
        </p:nvSpPr>
        <p:spPr>
          <a:xfrm>
            <a:off x="457200" y="4224528"/>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2"/>
                </a:solidFill>
              </a:rPr>
              <a:t>Level 5 of 10 · Expert</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99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A06 · Level 6 · Master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password reset  ·  Insecure Design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token = Convert.ToHexString(</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RandomNumberGenerator.GetBytes(16));</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db.Resets.Add(new Reset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 Token = token, UserId = user.Id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db.SaveChanges();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mail.Send(user.Email, baseUrl + token);</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Good randomness, weak design.</a:t>
            </a:r>
            <a:endParaRPr lang="en-US" sz="1500" dirty="0"/>
          </a:p>
          <a:p>
            <a:pPr indent="0" marL="0">
              <a:buNone/>
            </a:pPr>
            <a:r>
              <a:rPr lang="en-US" sz="1300" dirty="0">
                <a:solidFill>
                  <a:schemeClr val="tx1"/>
                </a:solidFill>
              </a:rPr>
              <a:t>No expiry, stored in clear text (a database read means account takeover), not single use, and not cancelled when the password changes. Store a hash, expire in minutes, use once, and rate limit requests.</a:t>
            </a:r>
            <a:endParaRPr lang="en-US" sz="1500" dirty="0"/>
          </a:p>
        </p:txBody>
      </p:sp>
      <p:sp>
        <p:nvSpPr>
          <p:cNvPr id="12" name="Level badge"/>
          <p:cNvSpPr txBox="1"/>
          <p:nvPr/>
        </p:nvSpPr>
        <p:spPr>
          <a:xfrm>
            <a:off x="457200" y="4224528"/>
            <a:ext cx="457200" cy="457200"/>
          </a:xfrm>
          <a:prstGeom prst="ellipse">
            <a:avLst/>
          </a:prstGeom>
          <a:solidFill>
            <a:srgbClr val="A78BFA"/>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A78BFA"/>
                </a:solidFill>
              </a:rPr>
              <a:t>Level 6 of 10 · Master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A06 · Level 7 · Guru</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checkout  ·  Insecure Design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total = items.Sum(i =&gt; i.Price * i.Qty);</a:t>
            </a:r>
            <a:endParaRPr lang="en-US" sz="1300" dirty="0"/>
          </a:p>
          <a:p>
            <a:pPr indent="0" marL="0">
              <a:spcAft>
                <a:spcPts val="400"/>
              </a:spcAft>
              <a:buNone/>
            </a:pP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if (total &lt;= acct.Balance)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acct.Balance -= total;</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Ship(items);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Negative quantity or price.</a:t>
            </a:r>
            <a:endParaRPr lang="en-US" sz="1500" dirty="0"/>
          </a:p>
          <a:p>
            <a:pPr indent="0" marL="0">
              <a:buNone/>
            </a:pPr>
            <a:r>
              <a:rPr lang="en-US" sz="1300" dirty="0">
                <a:solidFill>
                  <a:schemeClr val="tx1"/>
                </a:solidFill>
              </a:rPr>
              <a:t>Qty = -5 makes the total negative and increases the balance. Prices from the client are also untrusted. Validate Qty &gt; 0 on the server, read prices from the database, and use decimal with overflow checks.</a:t>
            </a:r>
            <a:endParaRPr lang="en-US" sz="1500" dirty="0"/>
          </a:p>
        </p:txBody>
      </p:sp>
      <p:sp>
        <p:nvSpPr>
          <p:cNvPr id="12" name="Level badge"/>
          <p:cNvSpPr txBox="1"/>
          <p:nvPr/>
        </p:nvSpPr>
        <p:spPr>
          <a:xfrm>
            <a:off x="457200" y="4224528"/>
            <a:ext cx="457200" cy="457200"/>
          </a:xfrm>
          <a:prstGeom prst="ellipse">
            <a:avLst/>
          </a:prstGeom>
          <a:solidFill>
            <a:srgbClr val="C084FC"/>
          </a:solid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C084FC"/>
                </a:solidFill>
              </a:rPr>
              <a:t>Level 7 of 10 · Guru</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A06 · Level 8 · Hacker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lockout rule  ·  Insecure Design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if (user.FailedLogins &gt;= 5)</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user.LockedUntil = DateTime.UtcNow</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.AddHours(24);</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five wrong passwords, from anyone,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lock the account for a day</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The security rule is a denial-of-service weapon.</a:t>
            </a:r>
            <a:endParaRPr lang="en-US" sz="1500" dirty="0"/>
          </a:p>
          <a:p>
            <a:pPr indent="0" marL="0">
              <a:buNone/>
            </a:pPr>
            <a:r>
              <a:rPr lang="en-US" sz="1300" dirty="0">
                <a:solidFill>
                  <a:schemeClr val="tx1"/>
                </a:solidFill>
              </a:rPr>
              <a:t>An attacker who knows the username locks out the on-duty officer or an admin at will. Prefer progressive delays, per-account plus per-IP throttling, step-up checks and alerts over long hard locks.</a:t>
            </a:r>
            <a:endParaRPr lang="en-US" sz="1500" dirty="0"/>
          </a:p>
        </p:txBody>
      </p:sp>
      <p:sp>
        <p:nvSpPr>
          <p:cNvPr id="12" name="Level badge"/>
          <p:cNvSpPr txBox="1"/>
          <p:nvPr/>
        </p:nvSpPr>
        <p:spPr>
          <a:xfrm>
            <a:off x="457200" y="4224528"/>
            <a:ext cx="457200" cy="457200"/>
          </a:xfrm>
          <a:prstGeom prst="ellipse">
            <a:avLst/>
          </a:prstGeom>
          <a:solidFill>
            <a:srgbClr val="E879F9"/>
          </a:solid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E879F9"/>
                </a:solidFill>
              </a:rPr>
              <a:t>Level 8 of 10 · Hacker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A06 · Level 9 · Wizard</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reset link  ·  Insecure Design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link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$"https://{Request.Host}/reset/{token}";</a:t>
            </a:r>
            <a:endParaRPr lang="en-US" sz="1300" dirty="0"/>
          </a:p>
          <a:p>
            <a:pPr indent="0" marL="0">
              <a:spcAft>
                <a:spcPts val="400"/>
              </a:spcAft>
              <a:buNone/>
            </a:pP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mail.Send(user.Email, link);</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Host header poisoning.</a:t>
            </a:r>
            <a:endParaRPr lang="en-US" sz="1500" dirty="0"/>
          </a:p>
          <a:p>
            <a:pPr indent="0" marL="0">
              <a:buNone/>
            </a:pPr>
            <a:r>
              <a:rPr lang="en-US" sz="1300" dirty="0">
                <a:solidFill>
                  <a:schemeClr val="tx1"/>
                </a:solidFill>
              </a:rPr>
              <a:t>The attacker sends the reset request with Host: evil.example. The victim gets a genuine email whose link goes to the attacker, who captures the token. Use a configured base URL and restrict AllowedHosts.</a:t>
            </a:r>
            <a:endParaRPr lang="en-US" sz="1500" dirty="0"/>
          </a:p>
        </p:txBody>
      </p:sp>
      <p:sp>
        <p:nvSpPr>
          <p:cNvPr id="12" name="Level badge"/>
          <p:cNvSpPr txBox="1"/>
          <p:nvPr/>
        </p:nvSpPr>
        <p:spPr>
          <a:xfrm>
            <a:off x="457200" y="4224528"/>
            <a:ext cx="457200" cy="457200"/>
          </a:xfrm>
          <a:prstGeom prst="ellipse">
            <a:avLst/>
          </a:prstGeom>
          <a:solidFill>
            <a:srgbClr val="F472B6"/>
          </a:solidFill>
          <a:ln/>
        </p:spPr>
        <p:txBody>
          <a:bodyPr wrap="square" lIns="0" tIns="0" rIns="0" bIns="0" rtlCol="0" anchor="ctr"/>
          <a:lstStyle/>
          <a:p>
            <a:pPr algn="ctr" indent="0" marL="0">
              <a:buNone/>
            </a:pPr>
            <a:r>
              <a:rPr lang="en-US" sz="1800" b="1" dirty="0">
                <a:solidFill>
                  <a:schemeClr val="bg1"/>
                </a:solidFill>
              </a:rPr>
              <a:t>9</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F472B6"/>
                </a:solidFill>
              </a:rPr>
              <a:t>Level 9 of 10 · Wizard</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A06 · Level 10 · Legend</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checkout workflow  ·  Insecure Design</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Angular wizard: Cart &gt; Address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Approval &gt; Pay</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[HttpPost("checkout/pay")]</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public IActionResult Pay(PayDto 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_pay.Charge(d.CardToken, d.Amount);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return Ok();</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The workflow exists only in the browser.</a:t>
            </a:r>
            <a:endParaRPr lang="en-US" sz="1500" dirty="0"/>
          </a:p>
          <a:p>
            <a:pPr indent="0" marL="0">
              <a:buNone/>
            </a:pPr>
            <a:r>
              <a:rPr lang="en-US" sz="1300" dirty="0">
                <a:solidFill>
                  <a:schemeClr val="tx1"/>
                </a:solidFill>
              </a:rPr>
              <a:t>Calling Pay directly skips Approval, and the amount comes from the client. Model the flow as a server-side state machine on the stored order, and verify the state and the amount there.</a:t>
            </a:r>
            <a:endParaRPr lang="en-US" sz="1500" dirty="0"/>
          </a:p>
        </p:txBody>
      </p:sp>
      <p:sp>
        <p:nvSpPr>
          <p:cNvPr id="12" name="Level badge"/>
          <p:cNvSpPr txBox="1"/>
          <p:nvPr/>
        </p:nvSpPr>
        <p:spPr>
          <a:xfrm>
            <a:off x="457200" y="4224528"/>
            <a:ext cx="457200" cy="457200"/>
          </a:xfrm>
          <a:prstGeom prst="ellipse">
            <a:avLst/>
          </a:prstGeom>
          <a:solidFill>
            <a:srgbClr val="FDE047"/>
          </a:solidFill>
          <a:ln/>
        </p:spPr>
        <p:txBody>
          <a:bodyPr wrap="square" lIns="0" tIns="0" rIns="0" bIns="0" rtlCol="0" anchor="ctr"/>
          <a:lstStyle/>
          <a:p>
            <a:pPr algn="ctr" indent="0" marL="0">
              <a:buNone/>
            </a:pPr>
            <a:r>
              <a:rPr lang="en-US" sz="1800" b="1" dirty="0">
                <a:solidFill>
                  <a:schemeClr val="bg1"/>
                </a:solidFill>
              </a:rPr>
              <a:t>10</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FDE047"/>
                </a:solidFill>
              </a:rPr>
              <a:t>Level 10 of 10 · Legend</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A07 · Level 1 · Rookie</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Angular · login  ·  Authentication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login()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this.http.post&lt;any&gt;('/api/login', this.f)</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.subscribe(r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localStorage.setItem('jwt', r.token));</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Token in localStorage.</a:t>
            </a:r>
            <a:endParaRPr lang="en-US" sz="1500" dirty="0"/>
          </a:p>
          <a:p>
            <a:pPr indent="0" marL="0">
              <a:buNone/>
            </a:pPr>
            <a:r>
              <a:rPr lang="en-US" sz="1300" dirty="0">
                <a:solidFill>
                  <a:schemeClr val="tx1"/>
                </a:solidFill>
              </a:rPr>
              <a:t>Any injected script can read it. Let the server set an HttpOnly, Secure, SameSite cookie instead.</a:t>
            </a:r>
            <a:endParaRPr lang="en-US" sz="1500" dirty="0"/>
          </a:p>
        </p:txBody>
      </p:sp>
      <p:sp>
        <p:nvSpPr>
          <p:cNvPr id="12" name="Level badge"/>
          <p:cNvSpPr txBox="1"/>
          <p:nvPr/>
        </p:nvSpPr>
        <p:spPr>
          <a:xfrm>
            <a:off x="457200" y="4224528"/>
            <a:ext cx="457200" cy="457200"/>
          </a:xfrm>
          <a:prstGeom prst="ellipse">
            <a:avLst/>
          </a:prstGeom>
          <a:solidFill>
            <a:schemeClr val="accent3"/>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3"/>
                </a:solidFill>
              </a:rPr>
              <a:t>Level 1 of 10 · Rookie</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A07 · Level 2 · Junior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login  ·  Authentication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u = await db.Users.SingleOrDefaultAsync(</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x =&gt; x.Name == name);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if (u == null)</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return Results.BadRequest("No such user");</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if (!Verify(u, pw))</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return Results.BadRequest("Bad password");</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Different messages leak accounts.</a:t>
            </a:r>
            <a:endParaRPr lang="en-US" sz="1500" dirty="0"/>
          </a:p>
          <a:p>
            <a:pPr indent="0" marL="0">
              <a:buNone/>
            </a:pPr>
            <a:r>
              <a:rPr lang="en-US" sz="1300" dirty="0">
                <a:solidFill>
                  <a:schemeClr val="tx1"/>
                </a:solidFill>
              </a:rPr>
              <a:t>Attackers learn which usernames exist. Return one generic message such as "Invalid credentials", and add lockout or throttling.</a:t>
            </a:r>
            <a:endParaRPr lang="en-US" sz="1500" dirty="0"/>
          </a:p>
        </p:txBody>
      </p:sp>
      <p:sp>
        <p:nvSpPr>
          <p:cNvPr id="12" name="Level badge"/>
          <p:cNvSpPr txBox="1"/>
          <p:nvPr/>
        </p:nvSpPr>
        <p:spPr>
          <a:xfrm>
            <a:off x="457200" y="4224528"/>
            <a:ext cx="457200" cy="45720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1"/>
                </a:solidFill>
              </a:rPr>
              <a:t>Level 2 of 10 · Junior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A07 · Level 3 · Developer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JWT bearer  ·  Authentication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options.TokenValidationParameters = new()</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ValidateIssuerSigningKey = true,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IssuerSigningKey = key,</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ValidateIssuer = false,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ValidateAudience = false,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ValidateLifetime = false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Validation switched off.</a:t>
            </a:r>
            <a:endParaRPr lang="en-US" sz="1500" dirty="0"/>
          </a:p>
          <a:p>
            <a:pPr indent="0" marL="0">
              <a:buNone/>
            </a:pPr>
            <a:r>
              <a:rPr lang="en-US" sz="1300" dirty="0">
                <a:solidFill>
                  <a:schemeClr val="tx1"/>
                </a:solidFill>
              </a:rPr>
              <a:t>Expired tokens work forever, and tokens from other issuers or for other apps are accepted. Turn on issuer, audience and lifetime checks.</a:t>
            </a:r>
            <a:endParaRPr lang="en-US" sz="1500" dirty="0"/>
          </a:p>
        </p:txBody>
      </p:sp>
      <p:sp>
        <p:nvSpPr>
          <p:cNvPr id="12" name="Level badge"/>
          <p:cNvSpPr txBox="1"/>
          <p:nvPr/>
        </p:nvSpPr>
        <p:spPr>
          <a:xfrm>
            <a:off x="457200" y="4224528"/>
            <a:ext cx="457200" cy="45720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5"/>
                </a:solidFill>
              </a:rPr>
              <a:t>Level 3 of 10 · Developer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A07 · Level 4 · Senior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Angular · HttpInterceptor  ·  Authentication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GOOD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intercept(req: HttpRequest&lt;any&gt;,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next: HttpHandler)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const r = req.clone({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withCredentials: true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return next.handle(r);</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3"/>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GOOD</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Cookie session, no token in JS.</a:t>
            </a:r>
            <a:endParaRPr lang="en-US" sz="1500" dirty="0"/>
          </a:p>
          <a:p>
            <a:pPr indent="0" marL="0">
              <a:buNone/>
            </a:pPr>
            <a:r>
              <a:rPr lang="en-US" sz="1300" dirty="0">
                <a:solidFill>
                  <a:schemeClr val="tx1"/>
                </a:solidFill>
              </a:rPr>
              <a:t>The browser sends the HttpOnly cookie, so scripts never see the token. Add CSRF protection (SameSite or an antiforgery token) on the API.</a:t>
            </a:r>
            <a:endParaRPr lang="en-US" sz="1500" dirty="0"/>
          </a:p>
        </p:txBody>
      </p:sp>
      <p:sp>
        <p:nvSpPr>
          <p:cNvPr id="12" name="Level badge"/>
          <p:cNvSpPr txBox="1"/>
          <p:nvPr/>
        </p:nvSpPr>
        <p:spPr>
          <a:xfrm>
            <a:off x="457200" y="4224528"/>
            <a:ext cx="457200" cy="457200"/>
          </a:xfrm>
          <a:prstGeom prst="ellipse">
            <a:avLst/>
          </a:prstGeom>
          <a:solidFill>
            <a:schemeClr val="accent4"/>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4"/>
                </a:solidFill>
              </a:rPr>
              <a:t>Level 4 of 10 · Senior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A07 · Level 5 · Expert</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refresh token  ·  Authentication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rt = Guid.NewGuid().ToString();</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db.RefreshTokens.Add(new RefreshToken</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Value = rt,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UserId = id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no expiry, reusable forever</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Weak, eternal refresh token.</a:t>
            </a:r>
            <a:endParaRPr lang="en-US" sz="1500" dirty="0"/>
          </a:p>
          <a:p>
            <a:pPr indent="0" marL="0">
              <a:buNone/>
            </a:pPr>
            <a:r>
              <a:rPr lang="en-US" sz="1300" dirty="0">
                <a:solidFill>
                  <a:schemeClr val="tx1"/>
                </a:solidFill>
              </a:rPr>
              <a:t>A GUID is not a secure random value, and the token never expires. Use 32 random bytes, store a hash, rotate on every use and revoke on reuse.</a:t>
            </a:r>
            <a:endParaRPr lang="en-US" sz="1500" dirty="0"/>
          </a:p>
        </p:txBody>
      </p:sp>
      <p:sp>
        <p:nvSpPr>
          <p:cNvPr id="12" name="Level badge"/>
          <p:cNvSpPr txBox="1"/>
          <p:nvPr/>
        </p:nvSpPr>
        <p:spPr>
          <a:xfrm>
            <a:off x="457200" y="4224528"/>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2"/>
                </a:solidFill>
              </a:rPr>
              <a:t>Level 5 of 10 · Expert</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A07 · Level 6 · Master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login  ·  Authentication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u = await db.Users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.SingleOrDefaultAsync(x =&gt; x.Name == name);</a:t>
            </a:r>
            <a:endParaRPr lang="en-US" sz="1300" dirty="0"/>
          </a:p>
          <a:p>
            <a:pPr indent="0" marL="0">
              <a:spcAft>
                <a:spcPts val="400"/>
              </a:spcAft>
              <a:buNone/>
            </a:pP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if (u == null)</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return Results.Unauthorized();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if (!Verify(u.Hash, pw))</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return Results.Unauthorized();</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Same message, different timing.</a:t>
            </a:r>
            <a:endParaRPr lang="en-US" sz="1500" dirty="0"/>
          </a:p>
          <a:p>
            <a:pPr indent="0" marL="0">
              <a:buNone/>
            </a:pPr>
            <a:r>
              <a:rPr lang="en-US" sz="1300" dirty="0">
                <a:solidFill>
                  <a:schemeClr val="tx1"/>
                </a:solidFill>
              </a:rPr>
              <a:t>For an unknown user no password hash is computed, so the answer arrives much faster. Attackers enumerate valid usernames by timing. Always run a hash check against a dummy hash, so both paths cost the same.</a:t>
            </a:r>
            <a:endParaRPr lang="en-US" sz="1500" dirty="0"/>
          </a:p>
        </p:txBody>
      </p:sp>
      <p:sp>
        <p:nvSpPr>
          <p:cNvPr id="12" name="Level badge"/>
          <p:cNvSpPr txBox="1"/>
          <p:nvPr/>
        </p:nvSpPr>
        <p:spPr>
          <a:xfrm>
            <a:off x="457200" y="4224528"/>
            <a:ext cx="457200" cy="457200"/>
          </a:xfrm>
          <a:prstGeom prst="ellipse">
            <a:avLst/>
          </a:prstGeom>
          <a:solidFill>
            <a:srgbClr val="A78BFA"/>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A78BFA"/>
                </a:solidFill>
              </a:rPr>
              <a:t>Level 6 of 10 · Master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A07 · Level 7 · Guru</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cookie authentication  ·  Authentication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options.Cookie.HttpOnly = true;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options.Cookie.SecurePolicy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CookieSecurePolicy.Always;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options.Cookie.SameSite = SameSiteMode.None;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POST /api/transfer (JSON, cookie auth)</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no antiforgery token</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HttpOnly does not stop CSRF.</a:t>
            </a:r>
            <a:endParaRPr lang="en-US" sz="1500" dirty="0"/>
          </a:p>
          <a:p>
            <a:pPr indent="0" marL="0">
              <a:buNone/>
            </a:pPr>
            <a:r>
              <a:rPr lang="en-US" sz="1300" dirty="0">
                <a:solidFill>
                  <a:schemeClr val="tx1"/>
                </a:solidFill>
              </a:rPr>
              <a:t>Scripts cannot read the cookie, but with SameSite=None other sites can still trigger authenticated requests. Use Lax or Strict, add an antiforgery token or Origin check, and keep the CORS list strict.</a:t>
            </a:r>
            <a:endParaRPr lang="en-US" sz="1500" dirty="0"/>
          </a:p>
        </p:txBody>
      </p:sp>
      <p:sp>
        <p:nvSpPr>
          <p:cNvPr id="12" name="Level badge"/>
          <p:cNvSpPr txBox="1"/>
          <p:nvPr/>
        </p:nvSpPr>
        <p:spPr>
          <a:xfrm>
            <a:off x="457200" y="4224528"/>
            <a:ext cx="457200" cy="457200"/>
          </a:xfrm>
          <a:prstGeom prst="ellipse">
            <a:avLst/>
          </a:prstGeom>
          <a:solidFill>
            <a:srgbClr val="C084FC"/>
          </a:solid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C084FC"/>
                </a:solidFill>
              </a:rPr>
              <a:t>Level 7 of 10 · Guru</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A07 · Level 8 · Hacker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JWT bearer  ·  Authentication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the central SSO issues tokens for ALL apps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o.TokenValidationParameters = new()</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ValidIssuer = "https://sso.corp",</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ValidateIssuerSigningKey = true,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IssuerSigningKey = ssoKey,</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ValidateAudience = false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Confused deputy.</a:t>
            </a:r>
            <a:endParaRPr lang="en-US" sz="1500" dirty="0"/>
          </a:p>
          <a:p>
            <a:pPr indent="0" marL="0">
              <a:buNone/>
            </a:pPr>
            <a:r>
              <a:rPr lang="en-US" sz="1300" dirty="0">
                <a:solidFill>
                  <a:schemeClr val="tx1"/>
                </a:solidFill>
              </a:rPr>
              <a:t>Signature and issuer are fine, but a token issued for another application is accepted here. Require this API's audience and check scope or role claims, so each token works only where it was meant.</a:t>
            </a:r>
            <a:endParaRPr lang="en-US" sz="1500" dirty="0"/>
          </a:p>
        </p:txBody>
      </p:sp>
      <p:sp>
        <p:nvSpPr>
          <p:cNvPr id="12" name="Level badge"/>
          <p:cNvSpPr txBox="1"/>
          <p:nvPr/>
        </p:nvSpPr>
        <p:spPr>
          <a:xfrm>
            <a:off x="457200" y="4224528"/>
            <a:ext cx="457200" cy="457200"/>
          </a:xfrm>
          <a:prstGeom prst="ellipse">
            <a:avLst/>
          </a:prstGeom>
          <a:solidFill>
            <a:srgbClr val="E879F9"/>
          </a:solid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E879F9"/>
                </a:solidFill>
              </a:rPr>
              <a:t>Level 8 of 10 · Hacker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A07 · Level 9 · Wizard</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refresh rotation  ·  Authentication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rt = db.Refresh.Single(r =&gt; r.Hash == h);</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if (rt.Used) return Results.Unauthorized();</a:t>
            </a:r>
            <a:endParaRPr lang="en-US" sz="1300" dirty="0"/>
          </a:p>
          <a:p>
            <a:pPr indent="0" marL="0">
              <a:spcAft>
                <a:spcPts val="400"/>
              </a:spcAft>
              <a:buNone/>
            </a:pP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rt.Used = true;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pair = Issue(rt.UserId);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db.SaveChanges();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return Results.Ok(pair);</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Race condition in rotation.</a:t>
            </a:r>
            <a:endParaRPr lang="en-US" sz="1500" dirty="0"/>
          </a:p>
          <a:p>
            <a:pPr indent="0" marL="0">
              <a:buNone/>
            </a:pPr>
            <a:r>
              <a:rPr lang="en-US" sz="1200" dirty="0">
                <a:solidFill>
                  <a:schemeClr val="tx1"/>
                </a:solidFill>
              </a:rPr>
              <a:t>Two parallel requests with one token both see Used = false and both receive valid pairs, so theft goes undetected. Flip the flag with an atomic UPDATE ... WHERE Used = 0, check one row changed, and revoke the whole family on reuse.</a:t>
            </a:r>
            <a:endParaRPr lang="en-US" sz="1500" dirty="0"/>
          </a:p>
        </p:txBody>
      </p:sp>
      <p:sp>
        <p:nvSpPr>
          <p:cNvPr id="12" name="Level badge"/>
          <p:cNvSpPr txBox="1"/>
          <p:nvPr/>
        </p:nvSpPr>
        <p:spPr>
          <a:xfrm>
            <a:off x="457200" y="4224528"/>
            <a:ext cx="457200" cy="457200"/>
          </a:xfrm>
          <a:prstGeom prst="ellipse">
            <a:avLst/>
          </a:prstGeom>
          <a:solidFill>
            <a:srgbClr val="F472B6"/>
          </a:solidFill>
          <a:ln/>
        </p:spPr>
        <p:txBody>
          <a:bodyPr wrap="square" lIns="0" tIns="0" rIns="0" bIns="0" rtlCol="0" anchor="ctr"/>
          <a:lstStyle/>
          <a:p>
            <a:pPr algn="ctr" indent="0" marL="0">
              <a:buNone/>
            </a:pPr>
            <a:r>
              <a:rPr lang="en-US" sz="1800" b="1" dirty="0">
                <a:solidFill>
                  <a:schemeClr val="bg1"/>
                </a:solidFill>
              </a:rPr>
              <a:t>9</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F472B6"/>
                </a:solidFill>
              </a:rPr>
              <a:t>Level 9 of 10 · Wizard</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A07 · Level 10 · Legend</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OAuth redirect  ·  Authentication Failures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if (!redirectUri.StartsWith(</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"https://app.corp"))</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return BadRequest();</a:t>
            </a:r>
            <a:endParaRPr lang="en-US" sz="1300" dirty="0"/>
          </a:p>
          <a:p>
            <a:pPr indent="0" marL="0">
              <a:spcAft>
                <a:spcPts val="400"/>
              </a:spcAft>
              <a:buNone/>
            </a:pP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return Redirect(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redirectUri + "?code=" + code);</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Prefix checks are not validation.</a:t>
            </a:r>
            <a:endParaRPr lang="en-US" sz="1500" dirty="0"/>
          </a:p>
          <a:p>
            <a:pPr indent="0" marL="0">
              <a:buNone/>
            </a:pPr>
            <a:r>
              <a:rPr lang="en-US" sz="1300" dirty="0">
                <a:solidFill>
                  <a:schemeClr val="tx1"/>
                </a:solidFill>
              </a:rPr>
              <a:t>https://app.corp.evil.com and https://app.corp@evil.com both pass, so the authorization code reaches the attacker. Compare against the exact registered URIs, and use state and PKCE.</a:t>
            </a:r>
            <a:endParaRPr lang="en-US" sz="1500" dirty="0"/>
          </a:p>
        </p:txBody>
      </p:sp>
      <p:sp>
        <p:nvSpPr>
          <p:cNvPr id="12" name="Level badge"/>
          <p:cNvSpPr txBox="1"/>
          <p:nvPr/>
        </p:nvSpPr>
        <p:spPr>
          <a:xfrm>
            <a:off x="457200" y="4224528"/>
            <a:ext cx="457200" cy="457200"/>
          </a:xfrm>
          <a:prstGeom prst="ellipse">
            <a:avLst/>
          </a:prstGeom>
          <a:solidFill>
            <a:srgbClr val="FDE047"/>
          </a:solidFill>
          <a:ln/>
        </p:spPr>
        <p:txBody>
          <a:bodyPr wrap="square" lIns="0" tIns="0" rIns="0" bIns="0" rtlCol="0" anchor="ctr"/>
          <a:lstStyle/>
          <a:p>
            <a:pPr algn="ctr" indent="0" marL="0">
              <a:buNone/>
            </a:pPr>
            <a:r>
              <a:rPr lang="en-US" sz="1800" b="1" dirty="0">
                <a:solidFill>
                  <a:schemeClr val="bg1"/>
                </a:solidFill>
              </a:rPr>
              <a:t>10</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FDE047"/>
                </a:solidFill>
              </a:rPr>
              <a:t>Level 10 of 10 · Legend</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A08 · Level 1 · Rookie</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Angular · index.html  ·  Software and Data Integrity</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&lt;script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src="https://cdn.example.com/lib.js"&gt;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&lt;/script&gt;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Unverified external script.</a:t>
            </a:r>
            <a:endParaRPr lang="en-US" sz="1500" dirty="0"/>
          </a:p>
          <a:p>
            <a:pPr indent="0" marL="0">
              <a:buNone/>
            </a:pPr>
            <a:r>
              <a:rPr lang="en-US" sz="1300" dirty="0">
                <a:solidFill>
                  <a:schemeClr val="tx1"/>
                </a:solidFill>
              </a:rPr>
              <a:t>It fails offline, and a changed file would run inside your app. Host the library internally; if external, add integrity and crossorigin attributes.</a:t>
            </a:r>
            <a:endParaRPr lang="en-US" sz="1500" dirty="0"/>
          </a:p>
        </p:txBody>
      </p:sp>
      <p:sp>
        <p:nvSpPr>
          <p:cNvPr id="12" name="Level badge"/>
          <p:cNvSpPr txBox="1"/>
          <p:nvPr/>
        </p:nvSpPr>
        <p:spPr>
          <a:xfrm>
            <a:off x="457200" y="4224528"/>
            <a:ext cx="457200" cy="457200"/>
          </a:xfrm>
          <a:prstGeom prst="ellipse">
            <a:avLst/>
          </a:prstGeom>
          <a:solidFill>
            <a:schemeClr val="accent3"/>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3"/>
                </a:solidFill>
              </a:rPr>
              <a:t>Level 1 of 10 · Rookie</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A08 · Level 2 · Junior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Newtonsoft.Json  ·  Software and Data Integrity</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settings = new JsonSerializerSettings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TypeNameHandling = TypeNameHandling.All</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obj = JsonConvert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.DeserializeObject(json, settings);</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The attacker chooses the types.</a:t>
            </a:r>
            <a:endParaRPr lang="en-US" sz="1500" dirty="0"/>
          </a:p>
          <a:p>
            <a:pPr indent="0" marL="0">
              <a:buNone/>
            </a:pPr>
            <a:r>
              <a:rPr lang="en-US" sz="1300" dirty="0">
                <a:solidFill>
                  <a:schemeClr val="tx1"/>
                </a:solidFill>
              </a:rPr>
              <a:t>Crafted JSON can create dangerous classes and run code. Deserialize into a fixed type and keep TypeNameHandling.None.</a:t>
            </a:r>
            <a:endParaRPr lang="en-US" sz="1500" dirty="0"/>
          </a:p>
        </p:txBody>
      </p:sp>
      <p:sp>
        <p:nvSpPr>
          <p:cNvPr id="12" name="Level badge"/>
          <p:cNvSpPr txBox="1"/>
          <p:nvPr/>
        </p:nvSpPr>
        <p:spPr>
          <a:xfrm>
            <a:off x="457200" y="4224528"/>
            <a:ext cx="457200" cy="45720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1"/>
                </a:solidFill>
              </a:rPr>
              <a:t>Level 2 of 10 · Junior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A08 · Level 3 · Developer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PowerShell · update install  ·  Software and Data Integrity</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GOOD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$h = Get-FileHash u.zip -Algorithm SHA256</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if ($h.Hash -ne $expected) { exit 1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Expand-Archive u.zip -DestinationPath .\app</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3"/>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GOOD</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Verifies before installing.</a:t>
            </a:r>
            <a:endParaRPr lang="en-US" sz="1500" dirty="0"/>
          </a:p>
          <a:p>
            <a:pPr indent="0" marL="0">
              <a:buNone/>
            </a:pPr>
            <a:r>
              <a:rPr lang="en-US" sz="1300" dirty="0">
                <a:solidFill>
                  <a:schemeClr val="tx1"/>
                </a:solidFill>
              </a:rPr>
              <a:t>It stops a damaged or swapped file. Better: also check a digital signature, and get the expected hash through a separate trusted channel.</a:t>
            </a:r>
            <a:endParaRPr lang="en-US" sz="1500" dirty="0"/>
          </a:p>
        </p:txBody>
      </p:sp>
      <p:sp>
        <p:nvSpPr>
          <p:cNvPr id="12" name="Level badge"/>
          <p:cNvSpPr txBox="1"/>
          <p:nvPr/>
        </p:nvSpPr>
        <p:spPr>
          <a:xfrm>
            <a:off x="457200" y="4224528"/>
            <a:ext cx="457200" cy="45720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5"/>
                </a:solidFill>
              </a:rPr>
              <a:t>Level 3 of 10 · Developer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A08 · Level 4 · Senior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CI · pipeline YAML  ·  Software and Data Integrity</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steps: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 script: npm install</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 script: curl https://get.tool.io | sh</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 script: dotnet publish -c Release</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Unverified code in the pipeline.</a:t>
            </a:r>
            <a:endParaRPr lang="en-US" sz="1500" dirty="0"/>
          </a:p>
          <a:p>
            <a:pPr indent="0" marL="0">
              <a:buNone/>
            </a:pPr>
            <a:r>
              <a:rPr lang="en-US" sz="1300" dirty="0">
                <a:solidFill>
                  <a:schemeClr val="tx1"/>
                </a:solidFill>
              </a:rPr>
              <a:t>Piping a download into a shell runs whatever the server sends, and npm install is unpinned. Pin versions, verify checksums, use the internal mirror.</a:t>
            </a:r>
            <a:endParaRPr lang="en-US" sz="1500" dirty="0"/>
          </a:p>
        </p:txBody>
      </p:sp>
      <p:sp>
        <p:nvSpPr>
          <p:cNvPr id="12" name="Level badge"/>
          <p:cNvSpPr txBox="1"/>
          <p:nvPr/>
        </p:nvSpPr>
        <p:spPr>
          <a:xfrm>
            <a:off x="457200" y="4224528"/>
            <a:ext cx="457200" cy="457200"/>
          </a:xfrm>
          <a:prstGeom prst="ellipse">
            <a:avLst/>
          </a:prstGeom>
          <a:solidFill>
            <a:schemeClr val="accent4"/>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4"/>
                </a:solidFill>
              </a:rPr>
              <a:t>Level 4 of 10 · Senior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A08 · Level 5 · Expert</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update manifest  ·  Software and Data Integrity</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m = JsonSerializer</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.Deserialize&lt;Manifest&gt;(json);</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File.WriteAllBytes(m.Path, m.Bytes);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Process.Start(m.Path);</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Runs whatever the manifest says.</a:t>
            </a:r>
            <a:endParaRPr lang="en-US" sz="1500" dirty="0"/>
          </a:p>
          <a:p>
            <a:pPr indent="0" marL="0">
              <a:buNone/>
            </a:pPr>
            <a:r>
              <a:rPr lang="en-US" sz="1300" dirty="0">
                <a:solidFill>
                  <a:schemeClr val="tx1"/>
                </a:solidFill>
              </a:rPr>
              <a:t>No signature check, and m.Path can point anywhere (path traversal). Verify a digital signature first and restrict paths to the install folder.</a:t>
            </a:r>
            <a:endParaRPr lang="en-US" sz="1500" dirty="0"/>
          </a:p>
        </p:txBody>
      </p:sp>
      <p:sp>
        <p:nvSpPr>
          <p:cNvPr id="12" name="Level badge"/>
          <p:cNvSpPr txBox="1"/>
          <p:nvPr/>
        </p:nvSpPr>
        <p:spPr>
          <a:xfrm>
            <a:off x="457200" y="4224528"/>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2"/>
                </a:solidFill>
              </a:rPr>
              <a:t>Level 5 of 10 · Expert</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A08 · Level 6 · Master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update unpacker  ·  Software and Data Integrity</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foreach (var e in zip.Entries)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var dest = Path.Combine(target,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e.FullName);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e.ExtractToFile(dest, true);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Zip Slip.</a:t>
            </a:r>
            <a:endParaRPr lang="en-US" sz="1500" dirty="0"/>
          </a:p>
          <a:p>
            <a:pPr indent="0" marL="0">
              <a:buNone/>
            </a:pPr>
            <a:r>
              <a:rPr lang="en-US" sz="1300" dirty="0">
                <a:solidFill>
                  <a:schemeClr val="tx1"/>
                </a:solidFill>
              </a:rPr>
              <a:t>Entry names such as ..\..\inetpub\wwwroot\x.aspx write outside the target folder. Check that GetFullPath(dest) starts with the full target path plus a separator, and reject the whole archive if not.</a:t>
            </a:r>
            <a:endParaRPr lang="en-US" sz="1500" dirty="0"/>
          </a:p>
        </p:txBody>
      </p:sp>
      <p:sp>
        <p:nvSpPr>
          <p:cNvPr id="12" name="Level badge"/>
          <p:cNvSpPr txBox="1"/>
          <p:nvPr/>
        </p:nvSpPr>
        <p:spPr>
          <a:xfrm>
            <a:off x="457200" y="4224528"/>
            <a:ext cx="457200" cy="457200"/>
          </a:xfrm>
          <a:prstGeom prst="ellipse">
            <a:avLst/>
          </a:prstGeom>
          <a:solidFill>
            <a:srgbClr val="A78BFA"/>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A78BFA"/>
                </a:solidFill>
              </a:rPr>
              <a:t>Level 6 of 10 · Master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A08 · Level 7 · Guru</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manifest check  ·  Software and Data Integrity</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raw = File.ReadAllBytes(path);</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if (!Verify(raw, sig, pubKey))</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throw new SecurityException();</a:t>
            </a:r>
            <a:endParaRPr lang="en-US" sz="1300" dirty="0"/>
          </a:p>
          <a:p>
            <a:pPr indent="0" marL="0">
              <a:spcAft>
                <a:spcPts val="400"/>
              </a:spcAft>
              <a:buNone/>
            </a:pP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doc = JsonDocument.Parse(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File.ReadAllText(path));</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Time-of-check to time-of-use.</a:t>
            </a:r>
            <a:endParaRPr lang="en-US" sz="1500" dirty="0"/>
          </a:p>
          <a:p>
            <a:pPr indent="0" marL="0">
              <a:buNone/>
            </a:pPr>
            <a:r>
              <a:rPr lang="en-US" sz="1300" dirty="0">
                <a:solidFill>
                  <a:schemeClr val="tx1"/>
                </a:solidFill>
              </a:rPr>
              <a:t>The file is read twice. On a shared folder it can be swapped between the check and the use. Parse exactly the bytes that were verified, and copy the file to a private location first.</a:t>
            </a:r>
            <a:endParaRPr lang="en-US" sz="1500" dirty="0"/>
          </a:p>
        </p:txBody>
      </p:sp>
      <p:sp>
        <p:nvSpPr>
          <p:cNvPr id="12" name="Level badge"/>
          <p:cNvSpPr txBox="1"/>
          <p:nvPr/>
        </p:nvSpPr>
        <p:spPr>
          <a:xfrm>
            <a:off x="457200" y="4224528"/>
            <a:ext cx="457200" cy="457200"/>
          </a:xfrm>
          <a:prstGeom prst="ellipse">
            <a:avLst/>
          </a:prstGeom>
          <a:solidFill>
            <a:srgbClr val="C084FC"/>
          </a:solid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C084FC"/>
                </a:solidFill>
              </a:rPr>
              <a:t>Level 7 of 10 · Guru</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121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A08 · Level 8 · Hacker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update signing  ·  Software and Data Integrity</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signature covers only the zip hash</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sig = Sign(Sha256(zipBytes));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manifest: version, zip, sig</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client: installs if signature is valid</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Rollback and downgrade attack.</a:t>
            </a:r>
            <a:endParaRPr lang="en-US" sz="1500" dirty="0"/>
          </a:p>
          <a:p>
            <a:pPr indent="0" marL="0">
              <a:buNone/>
            </a:pPr>
            <a:r>
              <a:rPr lang="en-US" sz="1300" dirty="0">
                <a:solidFill>
                  <a:schemeClr val="tx1"/>
                </a:solidFill>
              </a:rPr>
              <a:t>An attacker replays an older, validly signed package that has a known vulnerability. Sign the metadata too (version, target, expiry) and refuse versions lower than the installed one.</a:t>
            </a:r>
            <a:endParaRPr lang="en-US" sz="1500" dirty="0"/>
          </a:p>
        </p:txBody>
      </p:sp>
      <p:sp>
        <p:nvSpPr>
          <p:cNvPr id="12" name="Level badge"/>
          <p:cNvSpPr txBox="1"/>
          <p:nvPr/>
        </p:nvSpPr>
        <p:spPr>
          <a:xfrm>
            <a:off x="457200" y="4224528"/>
            <a:ext cx="457200" cy="457200"/>
          </a:xfrm>
          <a:prstGeom prst="ellipse">
            <a:avLst/>
          </a:prstGeom>
          <a:solidFill>
            <a:srgbClr val="E879F9"/>
          </a:solid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E879F9"/>
                </a:solidFill>
              </a:rPr>
              <a:t>Level 8 of 10 · Hacker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A08 · Level 9 · Wizard</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Azure DevOps · YAML pipeline  ·  Software and Data Integrity</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trigger: none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pr: [ main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steps: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script: ./build.sh</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env:</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SIGNING_KEY: $(signingKey)</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Untrusted code with the signing key.</a:t>
            </a:r>
            <a:endParaRPr lang="en-US" sz="1500" dirty="0"/>
          </a:p>
          <a:p>
            <a:pPr indent="0" marL="0">
              <a:buNone/>
            </a:pPr>
            <a:r>
              <a:rPr lang="en-US" sz="1300" dirty="0">
                <a:solidFill>
                  <a:schemeClr val="tx1"/>
                </a:solidFill>
              </a:rPr>
              <a:t>Anyone who can open a pull request changes build.sh and exfiltrates the key, then signs malware. Run PR validation without secrets, and sign only in a protected release pipeline with approvals.</a:t>
            </a:r>
            <a:endParaRPr lang="en-US" sz="1500" dirty="0"/>
          </a:p>
        </p:txBody>
      </p:sp>
      <p:sp>
        <p:nvSpPr>
          <p:cNvPr id="12" name="Level badge"/>
          <p:cNvSpPr txBox="1"/>
          <p:nvPr/>
        </p:nvSpPr>
        <p:spPr>
          <a:xfrm>
            <a:off x="457200" y="4224528"/>
            <a:ext cx="457200" cy="457200"/>
          </a:xfrm>
          <a:prstGeom prst="ellipse">
            <a:avLst/>
          </a:prstGeom>
          <a:solidFill>
            <a:srgbClr val="F472B6"/>
          </a:solidFill>
          <a:ln/>
        </p:spPr>
        <p:txBody>
          <a:bodyPr wrap="square" lIns="0" tIns="0" rIns="0" bIns="0" rtlCol="0" anchor="ctr"/>
          <a:lstStyle/>
          <a:p>
            <a:pPr algn="ctr" indent="0" marL="0">
              <a:buNone/>
            </a:pPr>
            <a:r>
              <a:rPr lang="en-US" sz="1800" b="1" dirty="0">
                <a:solidFill>
                  <a:schemeClr val="bg1"/>
                </a:solidFill>
              </a:rPr>
              <a:t>9</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F472B6"/>
                </a:solidFill>
              </a:rPr>
              <a:t>Level 9 of 10 · Wizard</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123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A08 · Level 10 · Legend</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Angular · TypeScript  ·  Software and Data Integrity</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function merge(t: any, s: any)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for (const k in s)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t[k] = typeof s[k] === 'object'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 merge(t[k] || {}, s[k]) : s[k];</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return 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merge(this.settings, JSON.parse(body));</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Prototype pollution.</a:t>
            </a:r>
            <a:endParaRPr lang="en-US" sz="1500" dirty="0"/>
          </a:p>
          <a:p>
            <a:pPr indent="0" marL="0">
              <a:buNone/>
            </a:pPr>
            <a:r>
              <a:rPr lang="en-US" sz="1300" dirty="0">
                <a:solidFill>
                  <a:schemeClr val="tx1"/>
                </a:solidFill>
              </a:rPr>
              <a:t>{"__proto__":{"isAdmin":true}} makes merge write into Object.prototype, so every object suddenly has isAdmin. Skip __proto__, constructor and prototype, use Map or Object.create(null), and validate against a schema.</a:t>
            </a:r>
            <a:endParaRPr lang="en-US" sz="1500" dirty="0"/>
          </a:p>
        </p:txBody>
      </p:sp>
      <p:sp>
        <p:nvSpPr>
          <p:cNvPr id="12" name="Level badge"/>
          <p:cNvSpPr txBox="1"/>
          <p:nvPr/>
        </p:nvSpPr>
        <p:spPr>
          <a:xfrm>
            <a:off x="457200" y="4224528"/>
            <a:ext cx="457200" cy="457200"/>
          </a:xfrm>
          <a:prstGeom prst="ellipse">
            <a:avLst/>
          </a:prstGeom>
          <a:solidFill>
            <a:srgbClr val="FDE047"/>
          </a:solidFill>
          <a:ln/>
        </p:spPr>
        <p:txBody>
          <a:bodyPr wrap="square" lIns="0" tIns="0" rIns="0" bIns="0" rtlCol="0" anchor="ctr"/>
          <a:lstStyle/>
          <a:p>
            <a:pPr algn="ctr" indent="0" marL="0">
              <a:buNone/>
            </a:pPr>
            <a:r>
              <a:rPr lang="en-US" sz="1800" b="1" dirty="0">
                <a:solidFill>
                  <a:schemeClr val="bg1"/>
                </a:solidFill>
              </a:rPr>
              <a:t>10</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FDE047"/>
                </a:solidFill>
              </a:rPr>
              <a:t>Level 10 of 10 · Legend</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124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A09 · Level 1 · Rookie</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logging  ·  Logging and Alerting</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_log.LogInformation(</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"Login: " + user + " / " + password);</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Password written to the log.</a:t>
            </a:r>
            <a:endParaRPr lang="en-US" sz="1500" dirty="0"/>
          </a:p>
          <a:p>
            <a:pPr indent="0" marL="0">
              <a:buNone/>
            </a:pPr>
            <a:r>
              <a:rPr lang="en-US" sz="1300" dirty="0">
                <a:solidFill>
                  <a:schemeClr val="tx1"/>
                </a:solidFill>
              </a:rPr>
              <a:t>Logs are widely readable and kept for years. Log only the user ID and the result, never secrets.</a:t>
            </a:r>
            <a:endParaRPr lang="en-US" sz="1500" dirty="0"/>
          </a:p>
        </p:txBody>
      </p:sp>
      <p:sp>
        <p:nvSpPr>
          <p:cNvPr id="12" name="Level badge"/>
          <p:cNvSpPr txBox="1"/>
          <p:nvPr/>
        </p:nvSpPr>
        <p:spPr>
          <a:xfrm>
            <a:off x="457200" y="4224528"/>
            <a:ext cx="457200" cy="457200"/>
          </a:xfrm>
          <a:prstGeom prst="ellipse">
            <a:avLst/>
          </a:prstGeom>
          <a:solidFill>
            <a:schemeClr val="accent3"/>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3"/>
                </a:solidFill>
              </a:rPr>
              <a:t>Level 1 of 10 · Rookie</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125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A09 · Level 2 · Junior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security log  ·  Logging and Alerting</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GOOD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_log.LogWarning(</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"Access denied {User} {Path} {Ip}",</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userId, path, ip);</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3"/>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GOOD</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Structured security event.</a:t>
            </a:r>
            <a:endParaRPr lang="en-US" sz="1500" dirty="0"/>
          </a:p>
          <a:p>
            <a:pPr indent="0" marL="0">
              <a:buNone/>
            </a:pPr>
            <a:r>
              <a:rPr lang="en-US" sz="1300" dirty="0">
                <a:solidFill>
                  <a:schemeClr val="tx1"/>
                </a:solidFill>
              </a:rPr>
              <a:t>Who, what and where are recorded without secrets, and the fields can be searched and alerted on.</a:t>
            </a:r>
            <a:endParaRPr lang="en-US" sz="1500" dirty="0"/>
          </a:p>
        </p:txBody>
      </p:sp>
      <p:sp>
        <p:nvSpPr>
          <p:cNvPr id="12" name="Level badge"/>
          <p:cNvSpPr txBox="1"/>
          <p:nvPr/>
        </p:nvSpPr>
        <p:spPr>
          <a:xfrm>
            <a:off x="457200" y="4224528"/>
            <a:ext cx="457200" cy="45720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1"/>
                </a:solidFill>
              </a:rPr>
              <a:t>Level 2 of 10 · Junior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A09 · Level 3 · Developer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search  ·  Logging and Alerting</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_log.LogInformation(</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$"Search for {Request.Query["q"]}");</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Interpolated log message.</a:t>
            </a:r>
            <a:endParaRPr lang="en-US" sz="1500" dirty="0"/>
          </a:p>
          <a:p>
            <a:pPr indent="0" marL="0">
              <a:buNone/>
            </a:pPr>
            <a:r>
              <a:rPr lang="en-US" sz="1300" dirty="0">
                <a:solidFill>
                  <a:schemeClr val="tx1"/>
                </a:solidFill>
              </a:rPr>
              <a:t>A value with new lines can forge fake log lines (log injection), and the message loses its structure. Use a template: "Search for {Query}".</a:t>
            </a:r>
            <a:endParaRPr lang="en-US" sz="1500" dirty="0"/>
          </a:p>
        </p:txBody>
      </p:sp>
      <p:sp>
        <p:nvSpPr>
          <p:cNvPr id="12" name="Level badge"/>
          <p:cNvSpPr txBox="1"/>
          <p:nvPr/>
        </p:nvSpPr>
        <p:spPr>
          <a:xfrm>
            <a:off x="457200" y="4224528"/>
            <a:ext cx="457200" cy="45720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5"/>
                </a:solidFill>
              </a:rPr>
              <a:t>Level 3 of 10 · Developer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127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A09 · Level 4 · Senior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login  ·  Logging and Alerting</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if (!await auth.CheckAsync(u, p))</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return Results.Unauthorized();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return Results.Ok(token);</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Failed logins leave no trace.</a:t>
            </a:r>
            <a:endParaRPr lang="en-US" sz="1500" dirty="0"/>
          </a:p>
          <a:p>
            <a:pPr indent="0" marL="0">
              <a:buNone/>
            </a:pPr>
            <a:r>
              <a:rPr lang="en-US" sz="1300" dirty="0">
                <a:solidFill>
                  <a:schemeClr val="tx1"/>
                </a:solidFill>
              </a:rPr>
              <a:t>A brute-force attack is invisible. Log each failure with user and IP, count them, and alert after a threshold.</a:t>
            </a:r>
            <a:endParaRPr lang="en-US" sz="1500" dirty="0"/>
          </a:p>
        </p:txBody>
      </p:sp>
      <p:sp>
        <p:nvSpPr>
          <p:cNvPr id="12" name="Level badge"/>
          <p:cNvSpPr txBox="1"/>
          <p:nvPr/>
        </p:nvSpPr>
        <p:spPr>
          <a:xfrm>
            <a:off x="457200" y="4224528"/>
            <a:ext cx="457200" cy="457200"/>
          </a:xfrm>
          <a:prstGeom prst="ellipse">
            <a:avLst/>
          </a:prstGeom>
          <a:solidFill>
            <a:schemeClr val="accent4"/>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4"/>
                </a:solidFill>
              </a:rPr>
              <a:t>Level 4 of 10 · Senior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128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A09 · Level 5 · Expert</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SQL Server · audit table  ·  Logging and Alerting</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the app account is db_owner</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INSERT INTO AuditLog (Msg)</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VALUES (@msg);</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same account can DELETE FROM AuditLog</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The attacker can erase the evidence.</a:t>
            </a:r>
            <a:endParaRPr lang="en-US" sz="1500" dirty="0"/>
          </a:p>
          <a:p>
            <a:pPr indent="0" marL="0">
              <a:buNone/>
            </a:pPr>
            <a:r>
              <a:rPr lang="en-US" sz="1300" dirty="0">
                <a:solidFill>
                  <a:schemeClr val="tx1"/>
                </a:solidFill>
              </a:rPr>
              <a:t>Give the app INSERT only, with no UPDATE or DELETE, and ship the logs to a separate protected store.</a:t>
            </a:r>
            <a:endParaRPr lang="en-US" sz="1500" dirty="0"/>
          </a:p>
        </p:txBody>
      </p:sp>
      <p:sp>
        <p:nvSpPr>
          <p:cNvPr id="12" name="Level badge"/>
          <p:cNvSpPr txBox="1"/>
          <p:nvPr/>
        </p:nvSpPr>
        <p:spPr>
          <a:xfrm>
            <a:off x="457200" y="4224528"/>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2"/>
                </a:solidFill>
              </a:rPr>
              <a:t>Level 5 of 10 · Expert</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129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A09 · Level 6 · Master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middleware  ·  Logging and Alerting</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ctx.Request.EnableBuffering();</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body = await new StreamReader(</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ctx.Request.Body).ReadToEndAsync();</a:t>
            </a:r>
            <a:endParaRPr lang="en-US" sz="1300" dirty="0"/>
          </a:p>
          <a:p>
            <a:pPr indent="0" marL="0">
              <a:spcAft>
                <a:spcPts val="400"/>
              </a:spcAft>
              <a:buNone/>
            </a:pP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_log.LogInformation("REQ {Path} {Body}",</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ctx.Request.Path, body);</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await next();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Logs every secret, and buffers every body.</a:t>
            </a:r>
            <a:endParaRPr lang="en-US" sz="1500" dirty="0"/>
          </a:p>
          <a:p>
            <a:pPr indent="0" marL="0">
              <a:buNone/>
            </a:pPr>
            <a:r>
              <a:rPr lang="en-US" sz="1300" dirty="0">
                <a:solidFill>
                  <a:schemeClr val="tx1"/>
                </a:solidFill>
              </a:rPr>
              <a:t>The login request body with the password, tokens and ID numbers ends up in the log files. Large uploads are also read into memory. Log an allow-list of fields, redact the rest, and limit sizes.</a:t>
            </a:r>
            <a:endParaRPr lang="en-US" sz="1500" dirty="0"/>
          </a:p>
        </p:txBody>
      </p:sp>
      <p:sp>
        <p:nvSpPr>
          <p:cNvPr id="12" name="Level badge"/>
          <p:cNvSpPr txBox="1"/>
          <p:nvPr/>
        </p:nvSpPr>
        <p:spPr>
          <a:xfrm>
            <a:off x="457200" y="4224528"/>
            <a:ext cx="457200" cy="457200"/>
          </a:xfrm>
          <a:prstGeom prst="ellipse">
            <a:avLst/>
          </a:prstGeom>
          <a:solidFill>
            <a:srgbClr val="A78BFA"/>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A78BFA"/>
                </a:solidFill>
              </a:rPr>
              <a:t>Level 6 of 10 · Master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130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A09 · Level 7 · Guru</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security log  ·  Logging and Alerting</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_log.LogWarning("{T} access denied: {U}",</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DateTime.Now, user);</a:t>
            </a:r>
            <a:endParaRPr lang="en-US" sz="1300" dirty="0"/>
          </a:p>
          <a:p>
            <a:pPr indent="0" marL="0">
              <a:spcAft>
                <a:spcPts val="400"/>
              </a:spcAft>
              <a:buNone/>
            </a:pP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servers: air-gapped, 6 machines,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no time source configured</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Local time and unsynchronized clocks.</a:t>
            </a:r>
            <a:endParaRPr lang="en-US" sz="1500" dirty="0"/>
          </a:p>
          <a:p>
            <a:pPr indent="0" marL="0">
              <a:buNone/>
            </a:pPr>
            <a:r>
              <a:rPr lang="en-US" sz="1300" dirty="0">
                <a:solidFill>
                  <a:schemeClr val="tx1"/>
                </a:solidFill>
              </a:rPr>
              <a:t>DateTime.Now has no zone and shifts with daylight saving, and without NTP the clocks of offline servers drift. Incident timelines cannot be correlated. Log UTC and run an internal time source.</a:t>
            </a:r>
            <a:endParaRPr lang="en-US" sz="1500" dirty="0"/>
          </a:p>
        </p:txBody>
      </p:sp>
      <p:sp>
        <p:nvSpPr>
          <p:cNvPr id="12" name="Level badge"/>
          <p:cNvSpPr txBox="1"/>
          <p:nvPr/>
        </p:nvSpPr>
        <p:spPr>
          <a:xfrm>
            <a:off x="457200" y="4224528"/>
            <a:ext cx="457200" cy="457200"/>
          </a:xfrm>
          <a:prstGeom prst="ellipse">
            <a:avLst/>
          </a:prstGeom>
          <a:solidFill>
            <a:srgbClr val="C084FC"/>
          </a:solid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C084FC"/>
                </a:solidFill>
              </a:rPr>
              <a:t>Level 7 of 10 · Guru</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131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A09 · Level 8 · Hacker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Serilog  ·  Logging and Alerting</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Log.Logger = new LoggerConfiguration()</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.WriteTo.File(@"C:\logs\app.log")</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.CreateLogger();</a:t>
            </a:r>
            <a:endParaRPr lang="en-US" sz="1300" dirty="0"/>
          </a:p>
          <a:p>
            <a:pPr indent="0" marL="0">
              <a:spcAft>
                <a:spcPts val="400"/>
              </a:spcAft>
              <a:buNone/>
            </a:pP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401 and 404 logged as Warning,</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one line per request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Log flooding.</a:t>
            </a:r>
            <a:endParaRPr lang="en-US" sz="1500" dirty="0"/>
          </a:p>
          <a:p>
            <a:pPr indent="0" marL="0">
              <a:buNone/>
            </a:pPr>
            <a:r>
              <a:rPr lang="en-US" sz="1200" dirty="0">
                <a:solidFill>
                  <a:schemeClr val="tx1"/>
                </a:solidFill>
              </a:rPr>
              <a:t>No rolling, size limit or retention. An attacker sending many requests fills the disk, which stops the app or the logging, or rotates evidence away. Use rolling files with limits, ship logs off the box, aggregate repeats and alert on disk space.</a:t>
            </a:r>
            <a:endParaRPr lang="en-US" sz="1500" dirty="0"/>
          </a:p>
        </p:txBody>
      </p:sp>
      <p:sp>
        <p:nvSpPr>
          <p:cNvPr id="12" name="Level badge"/>
          <p:cNvSpPr txBox="1"/>
          <p:nvPr/>
        </p:nvSpPr>
        <p:spPr>
          <a:xfrm>
            <a:off x="457200" y="4224528"/>
            <a:ext cx="457200" cy="457200"/>
          </a:xfrm>
          <a:prstGeom prst="ellipse">
            <a:avLst/>
          </a:prstGeom>
          <a:solidFill>
            <a:srgbClr val="E879F9"/>
          </a:solid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E879F9"/>
                </a:solidFill>
              </a:rPr>
              <a:t>Level 8 of 10 · Hacker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132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A09 · Level 9 · Wizard</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SQL Server · audit trigger  ·  Logging and Alerting</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CREATE TRIGGER trg_audit ON dbo.Payments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AFTER UPDATE AS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INSERT INTO dbo.Audit(who, what, at)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SELECT SUSER_SNAME(), 'upd',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SYSUTCDATETIME()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FROM inserted;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app login is db_owner</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The audit can be switched off.</a:t>
            </a:r>
            <a:endParaRPr lang="en-US" sz="1500" dirty="0"/>
          </a:p>
          <a:p>
            <a:pPr indent="0" marL="0">
              <a:buNone/>
            </a:pPr>
            <a:r>
              <a:rPr lang="en-US" sz="1300" dirty="0">
                <a:solidFill>
                  <a:schemeClr val="tx1"/>
                </a:solidFill>
              </a:rPr>
              <a:t>db_owner can disable or drop the trigger silently, and triggers do not record reads. Use SQL Server Audit (server level) to a protected target, give the app least privilege and alert on DDL changes.</a:t>
            </a:r>
            <a:endParaRPr lang="en-US" sz="1500" dirty="0"/>
          </a:p>
        </p:txBody>
      </p:sp>
      <p:sp>
        <p:nvSpPr>
          <p:cNvPr id="12" name="Level badge"/>
          <p:cNvSpPr txBox="1"/>
          <p:nvPr/>
        </p:nvSpPr>
        <p:spPr>
          <a:xfrm>
            <a:off x="457200" y="4224528"/>
            <a:ext cx="457200" cy="457200"/>
          </a:xfrm>
          <a:prstGeom prst="ellipse">
            <a:avLst/>
          </a:prstGeom>
          <a:solidFill>
            <a:srgbClr val="F472B6"/>
          </a:solidFill>
          <a:ln/>
        </p:spPr>
        <p:txBody>
          <a:bodyPr wrap="square" lIns="0" tIns="0" rIns="0" bIns="0" rtlCol="0" anchor="ctr"/>
          <a:lstStyle/>
          <a:p>
            <a:pPr algn="ctr" indent="0" marL="0">
              <a:buNone/>
            </a:pPr>
            <a:r>
              <a:rPr lang="en-US" sz="1800" b="1" dirty="0">
                <a:solidFill>
                  <a:schemeClr val="bg1"/>
                </a:solidFill>
              </a:rPr>
              <a:t>9</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F472B6"/>
                </a:solidFill>
              </a:rPr>
              <a:t>Level 9 of 10 · Wizard</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133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A09 · Level 10 · Legend</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brute-force alert  ·  Logging and Alerting</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ip = ctx.Connection.RemoteIpAddress;</a:t>
            </a:r>
            <a:endParaRPr lang="en-US" sz="1300" dirty="0"/>
          </a:p>
          <a:p>
            <a:pPr indent="0" marL="0">
              <a:spcAft>
                <a:spcPts val="400"/>
              </a:spcAft>
              <a:buNone/>
            </a:pP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if (++_fails[ip] &gt; 10)</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Alert("brute force from " + ip);</a:t>
            </a:r>
            <a:endParaRPr lang="en-US" sz="1300" dirty="0"/>
          </a:p>
          <a:p>
            <a:pPr indent="0" marL="0">
              <a:spcAft>
                <a:spcPts val="400"/>
              </a:spcAft>
              <a:buNone/>
            </a:pP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the app runs behind a reverse proxy</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The detection logic is blind.</a:t>
            </a:r>
            <a:endParaRPr lang="en-US" sz="1500" dirty="0"/>
          </a:p>
          <a:p>
            <a:pPr indent="0" marL="0">
              <a:buNone/>
            </a:pPr>
            <a:r>
              <a:rPr lang="en-US" sz="1200" dirty="0">
                <a:solidFill>
                  <a:schemeClr val="tx1"/>
                </a:solidFill>
              </a:rPr>
              <a:t>Behind a proxy, RemoteIpAddress is the proxy, so all users share one counter. A distributed attack, with few attempts per IP, never triggers it. Use trusted forwarded headers, per-account counters and a global failure-rate alert.</a:t>
            </a:r>
            <a:endParaRPr lang="en-US" sz="1500" dirty="0"/>
          </a:p>
        </p:txBody>
      </p:sp>
      <p:sp>
        <p:nvSpPr>
          <p:cNvPr id="12" name="Level badge"/>
          <p:cNvSpPr txBox="1"/>
          <p:nvPr/>
        </p:nvSpPr>
        <p:spPr>
          <a:xfrm>
            <a:off x="457200" y="4224528"/>
            <a:ext cx="457200" cy="457200"/>
          </a:xfrm>
          <a:prstGeom prst="ellipse">
            <a:avLst/>
          </a:prstGeom>
          <a:solidFill>
            <a:srgbClr val="FDE047"/>
          </a:solidFill>
          <a:ln/>
        </p:spPr>
        <p:txBody>
          <a:bodyPr wrap="square" lIns="0" tIns="0" rIns="0" bIns="0" rtlCol="0" anchor="ctr"/>
          <a:lstStyle/>
          <a:p>
            <a:pPr algn="ctr" indent="0" marL="0">
              <a:buNone/>
            </a:pPr>
            <a:r>
              <a:rPr lang="en-US" sz="1800" b="1" dirty="0">
                <a:solidFill>
                  <a:schemeClr val="bg1"/>
                </a:solidFill>
              </a:rPr>
              <a:t>10</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FDE047"/>
                </a:solidFill>
              </a:rPr>
              <a:t>Level 10 of 10 · Legend</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134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A10 · Level 1 · Rookie</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error handling  ·  Exceptional Conditions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catch (Exception ex)</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return Results.Text(ex.ToString());</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Stack trace sent to the user.</a:t>
            </a:r>
            <a:endParaRPr lang="en-US" sz="1500" dirty="0"/>
          </a:p>
          <a:p>
            <a:pPr indent="0" marL="0">
              <a:buNone/>
            </a:pPr>
            <a:r>
              <a:rPr lang="en-US" sz="1300" dirty="0">
                <a:solidFill>
                  <a:schemeClr val="tx1"/>
                </a:solidFill>
              </a:rPr>
              <a:t>It reveals paths, classes and SQL. Return a generic ProblemDetails with a trace ID and log the exception on the server.</a:t>
            </a:r>
            <a:endParaRPr lang="en-US" sz="1500" dirty="0"/>
          </a:p>
        </p:txBody>
      </p:sp>
      <p:sp>
        <p:nvSpPr>
          <p:cNvPr id="12" name="Level badge"/>
          <p:cNvSpPr txBox="1"/>
          <p:nvPr/>
        </p:nvSpPr>
        <p:spPr>
          <a:xfrm>
            <a:off x="457200" y="4224528"/>
            <a:ext cx="457200" cy="457200"/>
          </a:xfrm>
          <a:prstGeom prst="ellipse">
            <a:avLst/>
          </a:prstGeom>
          <a:solidFill>
            <a:schemeClr val="accent3"/>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3"/>
                </a:solidFill>
              </a:rPr>
              <a:t>Level 1 of 10 · Rookie</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135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A10 · Level 2 · Junior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permission check  ·  Exceptional Conditions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bool allowed;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try { allowed = CheckPermission(u, res);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catch { allowed = true;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if (allowed) return Results.Ok(data);</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Fails open.</a:t>
            </a:r>
            <a:endParaRPr lang="en-US" sz="1500" dirty="0"/>
          </a:p>
          <a:p>
            <a:pPr indent="0" marL="0">
              <a:buNone/>
            </a:pPr>
            <a:r>
              <a:rPr lang="en-US" sz="1300" dirty="0">
                <a:solidFill>
                  <a:schemeClr val="tx1"/>
                </a:solidFill>
              </a:rPr>
              <a:t>When the check breaks, access is granted. Fail closed: set allowed = false, log the error and return a generic response.</a:t>
            </a:r>
            <a:endParaRPr lang="en-US" sz="1500" dirty="0"/>
          </a:p>
        </p:txBody>
      </p:sp>
      <p:sp>
        <p:nvSpPr>
          <p:cNvPr id="12" name="Level badge"/>
          <p:cNvSpPr txBox="1"/>
          <p:nvPr/>
        </p:nvSpPr>
        <p:spPr>
          <a:xfrm>
            <a:off x="457200" y="4224528"/>
            <a:ext cx="457200" cy="45720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1"/>
                </a:solidFill>
              </a:rPr>
              <a:t>Level 2 of 10 · Junior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136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A10 · Level 3 · Developer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global handler  ·  Exceptional Conditions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GOOD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app.UseExceptionHandler(a =&gt; a.Run(</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async c =&gt;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c.Response.StatusCode = 500;</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await c.Response.WriteAsJsonAsync(new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error = "Unexpected error",</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traceId = c.TraceIdentifier }); }));</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3"/>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GOOD</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Generic message plus trace ID.</a:t>
            </a:r>
            <a:endParaRPr lang="en-US" sz="1500" dirty="0"/>
          </a:p>
          <a:p>
            <a:pPr indent="0" marL="0">
              <a:buNone/>
            </a:pPr>
            <a:r>
              <a:rPr lang="en-US" sz="1300" dirty="0">
                <a:solidFill>
                  <a:schemeClr val="tx1"/>
                </a:solidFill>
              </a:rPr>
              <a:t>The user sees nothing sensitive and support can find the log entry. Log the details inside the handler.</a:t>
            </a:r>
            <a:endParaRPr lang="en-US" sz="1500" dirty="0"/>
          </a:p>
        </p:txBody>
      </p:sp>
      <p:sp>
        <p:nvSpPr>
          <p:cNvPr id="12" name="Level badge"/>
          <p:cNvSpPr txBox="1"/>
          <p:nvPr/>
        </p:nvSpPr>
        <p:spPr>
          <a:xfrm>
            <a:off x="457200" y="4224528"/>
            <a:ext cx="457200" cy="45720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5"/>
                </a:solidFill>
              </a:rPr>
              <a:t>Level 3 of 10 · Developer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137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A10 · Level 4 · Senior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IIS · web.config  ·  Exceptional Conditions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&lt;system.webServer&gt;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&lt;httpErrors errorMode="Detailed" /&gt;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&lt;/system.webServer&gt;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Detailed errors for everyone.</a:t>
            </a:r>
            <a:endParaRPr lang="en-US" sz="1500" dirty="0"/>
          </a:p>
          <a:p>
            <a:pPr indent="0" marL="0">
              <a:buNone/>
            </a:pPr>
            <a:r>
              <a:rPr lang="en-US" sz="1300" dirty="0">
                <a:solidFill>
                  <a:schemeClr val="tx1"/>
                </a:solidFill>
              </a:rPr>
              <a:t>IIS shows paths and configuration to remote users. Use DetailedLocalOnly or Custom, with friendly error pages.</a:t>
            </a:r>
            <a:endParaRPr lang="en-US" sz="1500" dirty="0"/>
          </a:p>
        </p:txBody>
      </p:sp>
      <p:sp>
        <p:nvSpPr>
          <p:cNvPr id="12" name="Level badge"/>
          <p:cNvSpPr txBox="1"/>
          <p:nvPr/>
        </p:nvSpPr>
        <p:spPr>
          <a:xfrm>
            <a:off x="457200" y="4224528"/>
            <a:ext cx="457200" cy="457200"/>
          </a:xfrm>
          <a:prstGeom prst="ellipse">
            <a:avLst/>
          </a:prstGeom>
          <a:solidFill>
            <a:schemeClr val="accent4"/>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4"/>
                </a:solidFill>
              </a:rPr>
              <a:t>Level 4 of 10 · Senior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138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A10 · Level 5 · Expert</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ADO.NET  ·  Exceptional Conditions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Debit(conn, a, amount);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try { Credit(conn, b, amount);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catch (Exception e) { _log.LogError(e);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return Results.Ok();</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Partial failure reported as success.</a:t>
            </a:r>
            <a:endParaRPr lang="en-US" sz="1500" dirty="0"/>
          </a:p>
          <a:p>
            <a:pPr indent="0" marL="0">
              <a:buNone/>
            </a:pPr>
            <a:r>
              <a:rPr lang="en-US" sz="1300" dirty="0">
                <a:solidFill>
                  <a:schemeClr val="tx1"/>
                </a:solidFill>
              </a:rPr>
              <a:t>Money is debited but never credited, and the user is told OK. Use one transaction, roll back on error and return a failure.</a:t>
            </a:r>
            <a:endParaRPr lang="en-US" sz="1500" dirty="0"/>
          </a:p>
        </p:txBody>
      </p:sp>
      <p:sp>
        <p:nvSpPr>
          <p:cNvPr id="12" name="Level badge"/>
          <p:cNvSpPr txBox="1"/>
          <p:nvPr/>
        </p:nvSpPr>
        <p:spPr>
          <a:xfrm>
            <a:off x="457200" y="4224528"/>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chemeClr val="accent2"/>
                </a:solidFill>
              </a:rPr>
              <a:t>Level 5 of 10 · Expert</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139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A10 · Level 6 · Master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upload endpoint  ·  Exceptional Conditions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[HttpPost("import")]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public IActionResult Import(IFormFile f)</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_ = Task.Run(() =&gt; Process(f));</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return Accepted();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Fire and forget.</a:t>
            </a:r>
            <a:endParaRPr lang="en-US" sz="1500" dirty="0"/>
          </a:p>
          <a:p>
            <a:pPr indent="0" marL="0">
              <a:buNone/>
            </a:pPr>
            <a:r>
              <a:rPr lang="en-US" sz="1300" dirty="0">
                <a:solidFill>
                  <a:schemeClr val="tx1"/>
                </a:solidFill>
              </a:rPr>
              <a:t>Exceptions in the task are never observed, the user is told it worked, the import may be half done, and the uploaded stream is disposed when the request ends. Use a background queue that saves the status and logs errors.</a:t>
            </a:r>
            <a:endParaRPr lang="en-US" sz="1500" dirty="0"/>
          </a:p>
        </p:txBody>
      </p:sp>
      <p:sp>
        <p:nvSpPr>
          <p:cNvPr id="12" name="Level badge"/>
          <p:cNvSpPr txBox="1"/>
          <p:nvPr/>
        </p:nvSpPr>
        <p:spPr>
          <a:xfrm>
            <a:off x="457200" y="4224528"/>
            <a:ext cx="457200" cy="457200"/>
          </a:xfrm>
          <a:prstGeom prst="ellipse">
            <a:avLst/>
          </a:prstGeom>
          <a:solidFill>
            <a:srgbClr val="A78BFA"/>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A78BFA"/>
                </a:solidFill>
              </a:rPr>
              <a:t>Level 6 of 10 · Master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140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A10 · Level 7 · Guru</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Angular · route guard  ·  Exceptional Conditions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canActivate(): Observable&lt;boolean&gt;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return this.api.checkSession().pipe(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map(r =&gt; r.valid),</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catchError(() =&gt; of(true))</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Fail-open guard.</a:t>
            </a:r>
            <a:endParaRPr lang="en-US" sz="1500" dirty="0"/>
          </a:p>
          <a:p>
            <a:pPr indent="0" marL="0">
              <a:buNone/>
            </a:pPr>
            <a:r>
              <a:rPr lang="en-US" sz="1300" dirty="0">
                <a:solidFill>
                  <a:schemeClr val="tx1"/>
                </a:solidFill>
              </a:rPr>
              <a:t>When the check fails (network error, timeout, or an attacker blocking the call) the user gets access. On any error return of(false) and redirect to login. The API must still enforce access on every call.</a:t>
            </a:r>
            <a:endParaRPr lang="en-US" sz="1500" dirty="0"/>
          </a:p>
        </p:txBody>
      </p:sp>
      <p:sp>
        <p:nvSpPr>
          <p:cNvPr id="12" name="Level badge"/>
          <p:cNvSpPr txBox="1"/>
          <p:nvPr/>
        </p:nvSpPr>
        <p:spPr>
          <a:xfrm>
            <a:off x="457200" y="4224528"/>
            <a:ext cx="457200" cy="457200"/>
          </a:xfrm>
          <a:prstGeom prst="ellipse">
            <a:avLst/>
          </a:prstGeom>
          <a:solidFill>
            <a:srgbClr val="C084FC"/>
          </a:solid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C084FC"/>
                </a:solidFill>
              </a:rPr>
              <a:t>Level 7 of 10 · Guru</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141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A10 · Level 8 · Hacker</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Oracle · PL/SQL  ·  Exceptional Conditions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BEGIN</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UPDATE accounts SET bal = bal - p</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WHERE id = a;</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UPDATE accounts SET bal = bal + p</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WHERE id = b;</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COMMIT;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EXCEPTION WHEN OTHERS THEN NULL;</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END;</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Errors are swallowed.</a:t>
            </a:r>
            <a:endParaRPr lang="en-US" sz="1500" dirty="0"/>
          </a:p>
          <a:p>
            <a:pPr indent="0" marL="0">
              <a:buNone/>
            </a:pPr>
            <a:r>
              <a:rPr lang="en-US" sz="1300" dirty="0">
                <a:solidFill>
                  <a:schemeClr val="tx1"/>
                </a:solidFill>
              </a:rPr>
              <a:t>If the second update fails the caller thinks all is fine, and a later COMMIT can persist half a transfer. Use a SAVEPOINT, ROLLBACK, log SQLERRM with the backtrace, and re-raise with RAISE.</a:t>
            </a:r>
            <a:endParaRPr lang="en-US" sz="1500" dirty="0"/>
          </a:p>
        </p:txBody>
      </p:sp>
      <p:sp>
        <p:nvSpPr>
          <p:cNvPr id="12" name="Level badge"/>
          <p:cNvSpPr txBox="1"/>
          <p:nvPr/>
        </p:nvSpPr>
        <p:spPr>
          <a:xfrm>
            <a:off x="457200" y="4224528"/>
            <a:ext cx="457200" cy="457200"/>
          </a:xfrm>
          <a:prstGeom prst="ellipse">
            <a:avLst/>
          </a:prstGeom>
          <a:solidFill>
            <a:srgbClr val="E879F9"/>
          </a:solid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E879F9"/>
                </a:solidFill>
              </a:rPr>
              <a:t>Level 8 of 10 · Hacker</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142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A10 · Level 9 · Wizard</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validation  ·  Exceptional Conditions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var re = new Regex(@"^(\w+\s?)*$");</a:t>
            </a:r>
            <a:endParaRPr lang="en-US" sz="1300" dirty="0"/>
          </a:p>
          <a:p>
            <a:pPr indent="0" marL="0">
              <a:spcAft>
                <a:spcPts val="400"/>
              </a:spcAft>
              <a:buNone/>
            </a:pP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if (!re.IsMatch(input))</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return Results.BadRequest();</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Regex denial of service (ReDoS).</a:t>
            </a:r>
            <a:endParaRPr lang="en-US" sz="1500" dirty="0"/>
          </a:p>
          <a:p>
            <a:pPr indent="0" marL="0">
              <a:buNone/>
            </a:pPr>
            <a:r>
              <a:rPr lang="en-US" sz="1300" dirty="0">
                <a:solidFill>
                  <a:schemeClr val="tx1"/>
                </a:solidFill>
              </a:rPr>
              <a:t>Nested quantifiers cause catastrophic backtracking, so a short crafted string uses all CPU for minutes. Set a match timeout, use RegexOptions.NonBacktracking (.NET 7+), and limit the input length.</a:t>
            </a:r>
            <a:endParaRPr lang="en-US" sz="1500" dirty="0"/>
          </a:p>
        </p:txBody>
      </p:sp>
      <p:sp>
        <p:nvSpPr>
          <p:cNvPr id="12" name="Level badge"/>
          <p:cNvSpPr txBox="1"/>
          <p:nvPr/>
        </p:nvSpPr>
        <p:spPr>
          <a:xfrm>
            <a:off x="457200" y="4224528"/>
            <a:ext cx="457200" cy="457200"/>
          </a:xfrm>
          <a:prstGeom prst="ellipse">
            <a:avLst/>
          </a:prstGeom>
          <a:solidFill>
            <a:srgbClr val="F472B6"/>
          </a:solidFill>
          <a:ln/>
        </p:spPr>
        <p:txBody>
          <a:bodyPr wrap="square" lIns="0" tIns="0" rIns="0" bIns="0" rtlCol="0" anchor="ctr"/>
          <a:lstStyle/>
          <a:p>
            <a:pPr algn="ctr" indent="0" marL="0">
              <a:buNone/>
            </a:pPr>
            <a:r>
              <a:rPr lang="en-US" sz="1800" b="1" dirty="0">
                <a:solidFill>
                  <a:schemeClr val="bg1"/>
                </a:solidFill>
              </a:rPr>
              <a:t>9</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F472B6"/>
                </a:solidFill>
              </a:rPr>
              <a:t>Level 9 of 10 · Wizard</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143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A10 · Level 10 · Legend</a:t>
            </a:r>
            <a:endParaRPr lang="en-US" sz="3000" dirty="0"/>
          </a:p>
        </p:txBody>
      </p:sp>
      <p:sp>
        <p:nvSpPr>
          <p:cNvPr id="4" name="Lang"/>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300" b="1" dirty="0">
                <a:solidFill>
                  <a:schemeClr val="accent5"/>
                </a:solidFill>
              </a:rPr>
              <a:t>C# · Program.cs  ·  Exceptional Conditions</a:t>
            </a:r>
            <a:endParaRPr lang="en-US" sz="1300" dirty="0"/>
          </a:p>
        </p:txBody>
      </p:sp>
      <p:sp>
        <p:nvSpPr>
          <p:cNvPr id="5" name="Quiz code"/>
          <p:cNvSpPr/>
          <p:nvPr/>
        </p:nvSpPr>
        <p:spPr>
          <a:xfrm>
            <a:off x="457200" y="1371600"/>
            <a:ext cx="4937760" cy="2697480"/>
          </a:xfrm>
          <a:prstGeom prst="roundRect">
            <a:avLst>
              <a:gd name="adj" fmla="val 4068"/>
            </a:avLst>
          </a:prstGeom>
          <a:solidFill>
            <a:schemeClr val="accent4">
              <a:alpha val="12000"/>
            </a:schemeClr>
          </a:solidFill>
          <a:ln w="12700">
            <a:solidFill>
              <a:schemeClr val="accent4"/>
            </a:solidFill>
            <a:prstDash val="solid"/>
          </a:ln>
        </p:spPr>
      </p:sp>
      <p:sp>
        <p:nvSpPr>
          <p:cNvPr id="6" name="Quiz code label"/>
          <p:cNvSpPr txBox="1"/>
          <p:nvPr/>
        </p:nvSpPr>
        <p:spPr>
          <a:xfrm>
            <a:off x="640080" y="1508760"/>
            <a:ext cx="4572000" cy="256032"/>
          </a:xfrm>
          <a:prstGeom prst="rect">
            <a:avLst/>
          </a:prstGeom>
          <a:noFill/>
          <a:ln/>
        </p:spPr>
        <p:txBody>
          <a:bodyPr wrap="square" lIns="0" tIns="0" rIns="0" bIns="0" rtlCol="0" anchor="ctr"/>
          <a:lstStyle/>
          <a:p>
            <a:pPr indent="0" marL="0">
              <a:buNone/>
            </a:pPr>
            <a:r>
              <a:rPr lang="en-US" sz="1200" b="1" spc="200" kern="0" dirty="0">
                <a:solidFill>
                  <a:schemeClr val="accent4"/>
                </a:solidFill>
              </a:rPr>
              <a:t>WHAT IS WRONG HERE?</a:t>
            </a:r>
            <a:endParaRPr lang="en-US" sz="1200" dirty="0"/>
          </a:p>
        </p:txBody>
      </p:sp>
      <p:sp>
        <p:nvSpPr>
          <p:cNvPr id="7" name="Quiz code code"/>
          <p:cNvSpPr txBox="1"/>
          <p:nvPr/>
        </p:nvSpPr>
        <p:spPr>
          <a:xfrm>
            <a:off x="640080" y="1920240"/>
            <a:ext cx="4572000" cy="196596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app.UseAuthentication();</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app.UseAuthorization();</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app.UseExceptionHandler("/error");</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app.MapControllers();</a:t>
            </a:r>
            <a:endParaRPr lang="en-US" sz="1300" dirty="0"/>
          </a:p>
          <a:p>
            <a:pPr indent="0" marL="0">
              <a:spcAft>
                <a:spcPts val="400"/>
              </a:spcAft>
              <a:buNone/>
            </a:pP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 /error requires [Authorize]</a:t>
            </a:r>
            <a:endParaRPr lang="en-US" sz="1300" dirty="0"/>
          </a:p>
        </p:txBody>
      </p:sp>
      <p:sp>
        <p:nvSpPr>
          <p:cNvPr id="8" name="Answer slot"/>
          <p:cNvSpPr txBox="1"/>
          <p:nvPr/>
        </p:nvSpPr>
        <p:spPr>
          <a:xfrm>
            <a:off x="5577840" y="1371600"/>
            <a:ext cx="3108960" cy="2697480"/>
          </a:xfrm>
          <a:prstGeom prst="roundRect">
            <a:avLst>
              <a:gd name="adj" fmla="val 4068"/>
            </a:avLst>
          </a:prstGeom>
          <a:solidFill>
            <a:schemeClr val="bg2"/>
          </a:solidFill>
          <a:ln w="12700">
            <a:solidFill>
              <a:schemeClr val="tx2"/>
            </a:solidFill>
            <a:prstDash val="dash"/>
          </a:ln>
        </p:spPr>
        <p:txBody>
          <a:bodyPr wrap="square" lIns="101600" tIns="101600" rIns="101600" bIns="101600" rtlCol="0" anchor="ctr"/>
          <a:lstStyle/>
          <a:p>
            <a:pPr algn="ctr" indent="0" marL="0">
              <a:buNone/>
            </a:pPr>
            <a:r>
              <a:rPr lang="en-US" sz="1600" dirty="0">
                <a:solidFill>
                  <a:schemeClr val="tx2"/>
                </a:solidFill>
              </a:rPr>
              <a:t>What do you think?</a:t>
            </a:r>
            <a:endParaRPr lang="en-US" sz="1600" dirty="0"/>
          </a:p>
        </p:txBody>
      </p:sp>
      <p:sp>
        <p:nvSpPr>
          <p:cNvPr id="9" name="Answer card"/>
          <p:cNvSpPr/>
          <p:nvPr/>
        </p:nvSpPr>
        <p:spPr>
          <a:xfrm>
            <a:off x="5577840" y="1371600"/>
            <a:ext cx="3108960" cy="2697480"/>
          </a:xfrm>
          <a:prstGeom prst="roundRect">
            <a:avLst>
              <a:gd name="adj" fmla="val 4068"/>
            </a:avLst>
          </a:prstGeom>
          <a:solidFill>
            <a:schemeClr val="bg2"/>
          </a:solidFill>
          <a:ln w="19050">
            <a:solidFill>
              <a:schemeClr val="accent2"/>
            </a:solidFill>
            <a:prstDash val="solid"/>
          </a:ln>
        </p:spPr>
      </p:sp>
      <p:sp>
        <p:nvSpPr>
          <p:cNvPr id="10" name="Answer label"/>
          <p:cNvSpPr txBox="1"/>
          <p:nvPr/>
        </p:nvSpPr>
        <p:spPr>
          <a:xfrm>
            <a:off x="5760720" y="1508760"/>
            <a:ext cx="2743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WRONG</a:t>
            </a:r>
            <a:endParaRPr lang="en-US" sz="1200" dirty="0"/>
          </a:p>
        </p:txBody>
      </p:sp>
      <p:sp>
        <p:nvSpPr>
          <p:cNvPr id="11" name="Answer text"/>
          <p:cNvSpPr txBox="1"/>
          <p:nvPr/>
        </p:nvSpPr>
        <p:spPr>
          <a:xfrm>
            <a:off x="5760720" y="1874520"/>
            <a:ext cx="274320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The handler is in the wrong place.</a:t>
            </a:r>
            <a:endParaRPr lang="en-US" sz="1500" dirty="0"/>
          </a:p>
          <a:p>
            <a:pPr indent="0" marL="0">
              <a:buNone/>
            </a:pPr>
            <a:r>
              <a:rPr lang="en-US" sz="1300" dirty="0">
                <a:solidFill>
                  <a:schemeClr val="tx1"/>
                </a:solidFill>
              </a:rPr>
              <a:t>UseExceptionHandler catches only exceptions from components after it, so failures in earlier middleware leak default error pages. Put it first, and mark /error AllowAnonymous or the error page itself fails with 401.</a:t>
            </a:r>
            <a:endParaRPr lang="en-US" sz="1500" dirty="0"/>
          </a:p>
        </p:txBody>
      </p:sp>
      <p:sp>
        <p:nvSpPr>
          <p:cNvPr id="12" name="Level badge"/>
          <p:cNvSpPr txBox="1"/>
          <p:nvPr/>
        </p:nvSpPr>
        <p:spPr>
          <a:xfrm>
            <a:off x="457200" y="4224528"/>
            <a:ext cx="457200" cy="457200"/>
          </a:xfrm>
          <a:prstGeom prst="ellipse">
            <a:avLst/>
          </a:prstGeom>
          <a:solidFill>
            <a:srgbClr val="FDE047"/>
          </a:solidFill>
          <a:ln/>
        </p:spPr>
        <p:txBody>
          <a:bodyPr wrap="square" lIns="0" tIns="0" rIns="0" bIns="0" rtlCol="0" anchor="ctr"/>
          <a:lstStyle/>
          <a:p>
            <a:pPr algn="ctr" indent="0" marL="0">
              <a:buNone/>
            </a:pPr>
            <a:r>
              <a:rPr lang="en-US" sz="1800" b="1" dirty="0">
                <a:solidFill>
                  <a:schemeClr val="bg1"/>
                </a:solidFill>
              </a:rPr>
              <a:t>10</a:t>
            </a:r>
            <a:endParaRPr lang="en-US" sz="1800" dirty="0"/>
          </a:p>
        </p:txBody>
      </p:sp>
      <p:sp>
        <p:nvSpPr>
          <p:cNvPr id="13" name="Level name"/>
          <p:cNvSpPr txBox="1"/>
          <p:nvPr/>
        </p:nvSpPr>
        <p:spPr>
          <a:xfrm>
            <a:off x="1051560" y="4224528"/>
            <a:ext cx="2926080" cy="457200"/>
          </a:xfrm>
          <a:prstGeom prst="rect">
            <a:avLst/>
          </a:prstGeom>
          <a:noFill/>
          <a:ln/>
        </p:spPr>
        <p:txBody>
          <a:bodyPr wrap="square" lIns="0" tIns="0" rIns="0" bIns="0" rtlCol="0" anchor="ctr"/>
          <a:lstStyle/>
          <a:p>
            <a:pPr indent="0" marL="0">
              <a:buNone/>
            </a:pPr>
            <a:r>
              <a:rPr lang="en-US" sz="1600" b="1" dirty="0">
                <a:solidFill>
                  <a:srgbClr val="FDE047"/>
                </a:solidFill>
              </a:rPr>
              <a:t>Level 10 of 10 · Legend</a:t>
            </a:r>
            <a:endParaRPr lang="en-US" sz="1600" dirty="0"/>
          </a:p>
        </p:txBody>
      </p:sp>
      <p:sp>
        <p:nvSpPr>
          <p:cNvPr id="14" name="Hint"/>
          <p:cNvSpPr txBox="1"/>
          <p:nvPr/>
        </p:nvSpPr>
        <p:spPr>
          <a:xfrm>
            <a:off x="4023360" y="4224528"/>
            <a:ext cx="3200400" cy="457200"/>
          </a:xfrm>
          <a:prstGeom prst="rect">
            <a:avLst/>
          </a:prstGeom>
          <a:noFill/>
          <a:ln/>
        </p:spPr>
        <p:txBody>
          <a:bodyPr wrap="square" lIns="0" tIns="0" rIns="0" bIns="0" rtlCol="0" anchor="ctr"/>
          <a:lstStyle/>
          <a:p>
            <a:pPr indent="0" marL="0">
              <a:buNone/>
            </a:pPr>
            <a:r>
              <a:rPr lang="en-US" sz="1200" dirty="0">
                <a:solidFill>
                  <a:schemeClr val="tx2"/>
                </a:solidFill>
              </a:rPr>
              <a:t>Click to reveal the answer</a:t>
            </a:r>
            <a:endParaRPr lang="en-US" sz="1200" dirty="0"/>
          </a:p>
        </p:txBody>
      </p:sp>
      <p:pic>
        <p:nvPicPr>
          <p:cNvPr id="15" name="Mascot" descr="Mascot cartoon">    </p:cNvPr>
          <p:cNvPicPr>
            <a:picLocks noChangeAspect="1"/>
          </p:cNvPicPr>
          <p:nvPr/>
        </p:nvPicPr>
        <p:blipFill>
          <a:blip r:embed="rId1"/>
          <a:stretch>
            <a:fillRect/>
          </a:stretch>
        </p:blipFill>
        <p:spPr>
          <a:xfrm>
            <a:off x="7818120" y="4160520"/>
            <a:ext cx="777240" cy="777240"/>
          </a:xfrm>
          <a:prstGeom prst="rect">
            <a:avLst/>
          </a:prstGeom>
        </p:spPr>
      </p:pic>
      <p:sp>
        <p:nvSpPr>
          <p:cNvPr id="25" name="Slide Number Placeholder 0"/>
          <p:cNvSpPr>
            <a:spLocks noGrp="1"/>
          </p:cNvSpPr>
          <p:nvPr>
            <p:ph type="sldNum" sz="quarter" idx="4294967295"/>
          </p:nvPr>
        </p:nvSpPr>
        <p:spPr>
          <a:xfrm>
            <a:off x="859536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144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 calcmode="lin" valueType="num">
                                      <p:cBhvr additive="base">
                                        <p:cTn id="4" dur="500" fill="hold"/>
                                        <p:tgtEl>
                                          <p:spTgt spid="9"/>
                                        </p:tgtEl>
                                        <p:attrNameLst>
                                          <p:attrName>ppt_w</p:attrName>
                                        </p:attrNameLst>
                                      </p:cBhvr>
                                      <p:tavLst>
                                        <p:tav tm="0">
                                          <p:val>
                                            <p:fltVal val="0"/>
                                          </p:val>
                                        </p:tav>
                                        <p:tav tm="100000">
                                          <p:val>
                                            <p:strVal val="#ppt_w"/>
                                          </p:val>
                                        </p:tav>
                                      </p:tavLst>
                                    </p:anim>
                                    <p:anim calcmode="lin" valueType="num">
                                      <p:cBhvr additive="base">
                                        <p:cTn id="5" dur="500" fill="hold"/>
                                        <p:tgtEl>
                                          <p:spTgt spid="9"/>
                                        </p:tgtEl>
                                        <p:attrNameLst>
                                          <p:attrName>ppt_h</p:attrName>
                                        </p:attrNameLst>
                                      </p:cBhvr>
                                      <p:tavLst>
                                        <p:tav tm="0">
                                          <p:val>
                                            <p:fltVal val="0"/>
                                          </p:val>
                                        </p:tav>
                                        <p:tav tm="100000">
                                          <p:val>
                                            <p:strVal val="#ppt_h"/>
                                          </p:val>
                                        </p:tav>
                                      </p:tavLst>
                                    </p:anim>
                                    <p:animEffect transition="in" filter="fade">
                                      <p:cBhvr>
                                        <p:cTn id="6" dur="500"/>
                                        <p:tgtEl>
                                          <p:spTgt spid="9"/>
                                        </p:tgtEl>
                                      </p:cBhvr>
                                    </p:animEffect>
                                  </p:childTnLst>
                                </p:cTn>
                              </p:par>
                              <p:par>
                                <p:cTn id="12" presetID="53" presetClass="entr" presetSubtype="16"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additive="base">
                                        <p:cTn id="9" dur="500" fill="hold"/>
                                        <p:tgtEl>
                                          <p:spTgt spid="10"/>
                                        </p:tgtEl>
                                        <p:attrNameLst>
                                          <p:attrName>ppt_w</p:attrName>
                                        </p:attrNameLst>
                                      </p:cBhvr>
                                      <p:tavLst>
                                        <p:tav tm="0">
                                          <p:val>
                                            <p:fltVal val="0"/>
                                          </p:val>
                                        </p:tav>
                                        <p:tav tm="100000">
                                          <p:val>
                                            <p:strVal val="#ppt_w"/>
                                          </p:val>
                                        </p:tav>
                                      </p:tavLst>
                                    </p:anim>
                                    <p:anim calcmode="lin" valueType="num">
                                      <p:cBhvr additive="base">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ppt_w</p:attrName>
                                        </p:attrNameLst>
                                      </p:cBhvr>
                                      <p:tavLst>
                                        <p:tav tm="0">
                                          <p:val>
                                            <p:fltVal val="0"/>
                                          </p:val>
                                        </p:tav>
                                        <p:tav tm="100000">
                                          <p:val>
                                            <p:strVal val="#ppt_w"/>
                                          </p:val>
                                        </p:tav>
                                      </p:tavLst>
                                    </p:anim>
                                    <p:anim calcmode="lin" valueType="num">
                                      <p:cBhvr additive="base">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22" presetID="53"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ppt_w</p:attrName>
                                        </p:attrNameLst>
                                      </p:cBhvr>
                                      <p:tavLst>
                                        <p:tav tm="0">
                                          <p:val>
                                            <p:fltVal val="0"/>
                                          </p:val>
                                        </p:tav>
                                        <p:tav tm="100000">
                                          <p:val>
                                            <p:strVal val="#ppt_w"/>
                                          </p:val>
                                        </p:tav>
                                      </p:tavLst>
                                    </p:anim>
                                    <p:anim calcmode="lin" valueType="num">
                                      <p:cBhvr additive="base">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theme/theme1.xml><?xml version="1.0" encoding="utf-8"?>
<a:theme xmlns:a="http://schemas.openxmlformats.org/drawingml/2006/main" name="Secure Dev Dark">
  <a:themeElements>
    <a:clrScheme name="Secure Dev Dark">
      <a:dk1>
        <a:srgbClr val="F1F5F9"/>
      </a:dk1>
      <a:lt1>
        <a:srgbClr val="0B1220"/>
      </a:lt1>
      <a:dk2>
        <a:srgbClr val="94A3B8"/>
      </a:dk2>
      <a:lt2>
        <a:srgbClr val="16213A"/>
      </a:lt2>
      <a:accent1>
        <a:srgbClr val="2DD4BF"/>
      </a:accent1>
      <a:accent2>
        <a:srgbClr val="F87171"/>
      </a:accent2>
      <a:accent3>
        <a:srgbClr val="4ADE80"/>
      </a:accent3>
      <a:accent4>
        <a:srgbClr val="FBBF24"/>
      </a:accent4>
      <a:accent5>
        <a:srgbClr val="60A5FA"/>
      </a:accent5>
      <a:accent6>
        <a:srgbClr val="A78BFA"/>
      </a:accent6>
      <a:hlink>
        <a:srgbClr val="60A5FA"/>
      </a:hlink>
      <a:folHlink>
        <a:srgbClr val="A78BFA"/>
      </a:folHlink>
    </a:clrScheme>
    <a:fontScheme name="Secure Dev Dar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